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Relationship Id="rId74" Type="http://schemas.openxmlformats.org/officeDocument/2006/relationships/slide" Target="slides/slide11.xml"/><Relationship Id="rId7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Этот слайд представляет инициативу по внедрению ИИ-помощника для автоматизации ответов сотрудникам и сокращения времени поиска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информации занимает до 30 минут, что существенно замедляет работу сотрудников.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Значительная часть обращений дублирует вопросы по инструкциям, создавая лишнюю нагрузку на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Текущая ситуация приводит к значительным потерям времени сотрудников и избыточной нагрузке на службу поддержки, что негативно сказывается на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автоматически отвечает сотрудникам на вопросы по регламентам и предоставляет ссылку на исходный документ.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используем модель с открытыми весами, которая работает исключительно внутри контура компании, гарантируя, что документы не покидают внутреннюю инфраструктуру.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 отсутствии готового ответа в базе знаний система автоматически перенаправляет вопрос эксперту, передавая ему весь контекст диалога.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запуск охватывает два подразделения с общим количеством 150 сотрудников для проверки гипотезы.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Срок проведения пилота составляет шесть недель, что позволит получить достаточную статистическую выборку для оценки эффективности.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Успех пилота будет измеряться временем поиска ответа и долей обращений, закрытых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реализации проекта необходимо выделить команду из трех человек, которые займутся настройкой и мониторингом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реализации проекта требуется одобрение пилота и выделение команды из трех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2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53" r:id="rId6"/>
    <p:sldLayoutId id="2147483659" r:id="rId12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6.png"/><Relationship Id="rId3" Type="http://schemas.openxmlformats.org/officeDocument/2006/relationships/image" Target="../media/image258.jpeg"/><Relationship Id="rId4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6.png"/><Relationship Id="rId3" Type="http://schemas.openxmlformats.org/officeDocument/2006/relationships/image" Target="../media/image259.jpeg"/><Relationship Id="rId4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BrandDeck Text 236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600">
                <a:solidFill>
                  <a:srgbClr val="000000"/>
                </a:solidFill>
              </a:rPr>
              <a:t>Внедрение ИИ-помощника для автоматизации ответов сотрудникам</a:t>
            </a: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>
                <a:solidFill>
                  <a:srgbClr val="000000"/>
                </a:solidFill>
              </a:rPr>
              <a:t>Сокращение времени поиска инструкций до 30 минут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BrandDeck Text 10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Сотрудники теряют до 30 минут на поиск инструкций</a:t>
            </a:r>
            <a:endParaRPr/>
          </a:p>
        </p:txBody>
      </p:sp>
      <p:pic>
        <p:nvPicPr>
          <p:cNvPr id="1072" name="BrandDeck Image" descr="сотрудник специалист поддержки"/>
          <p:cNvPicPr>
            <a:picLocks noChangeAspect="1"/>
          </p:cNvPicPr>
          <p:nvPr/>
        </p:nvPicPr>
        <p:blipFill>
          <a:blip r:embed="rId3"/>
          <a:srcRect l="5955" r="5955"/>
          <a:stretch>
            <a:fillRect/>
          </a:stretch>
        </p:blipFill>
        <p:spPr>
          <a:xfrm>
            <a:off x="671514" y="1773238"/>
            <a:ext cx="6929992" cy="4427537"/>
          </a:xfrm>
          <a:prstGeom prst="rect">
            <a:avLst/>
          </a:prstGeom>
        </p:spPr>
      </p:pic>
      <p:sp>
        <p:nvSpPr>
          <p:cNvPr id="1069" name="Google Shape;1069;p83"/>
          <p:cNvSpPr txBox="1"/>
          <p:nvPr/>
        </p:nvSpPr>
        <p:spPr>
          <a:xfrm>
            <a:off x="8355728" y="627078"/>
            <a:ext cx="3409196" cy="395145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0" name="Google Shape;1070;p83"/>
          <p:cNvCxnSpPr/>
          <p:nvPr/>
        </p:nvCxnSpPr>
        <p:spPr>
          <a:xfrm flipH="1">
            <a:off x="8111315" y="692150"/>
            <a:ext cx="9261" cy="5508625"/>
          </a:xfrm>
          <a:prstGeom prst="straightConnector1">
            <a:avLst/>
          </a:prstGeom>
          <a:noFill/>
          <a:ln cap="flat" cmpd="sng" w="9525">
            <a:solidFill>
              <a:srgbClr val="F4F8F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1" name="BrandDeck Body"/>
          <p:cNvSpPr txBox="1"/>
          <p:nvPr/>
        </p:nvSpPr>
        <p:spPr>
          <a:xfrm>
            <a:off x="8355728" y="1473551"/>
            <a:ext cx="3409196" cy="31049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Сотрудники тратят до 30 минут на поиск нужной инструкции.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Ручной поиск регламентов снижает общую эффективность работы.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Длительное время поиска отвлекает от выполнения основных задач.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Треть обращений в поддержку — повторяющиеся вопросы</a:t>
            </a:r>
            <a:endParaRPr/>
          </a:p>
        </p:txBody>
      </p:sp>
      <p:grpSp>
        <p:nvGrpSpPr>
          <p:cNvPr id="2" name="BrandDeck Diagram icon_grid" descr="icon_grid: Треть обращений в поддержку — повторяющиеся вопросы.; Запросы касаются регламентов и инструкций.; Нагрузка на поддержку растет из-за дублирования."/>
          <p:cNvGrpSpPr/>
          <p:nvPr/>
        </p:nvGrpSpPr>
        <p:grpSpPr>
          <a:xfrm>
            <a:off x="677334" y="3040128"/>
            <a:ext cx="10855853" cy="2448253"/>
            <a:chOff x="677334" y="3040128"/>
            <a:chExt cx="10855853" cy="2448253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3040128"/>
              <a:ext cx="5319368" cy="1115568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61301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headset"/>
            <p:cNvSpPr/>
            <p:nvPr/>
          </p:nvSpPr>
          <p:spPr>
            <a:xfrm>
              <a:off x="1000898" y="3465410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171802"/>
              <a:ext cx="4275560" cy="85222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3040128"/>
              <a:ext cx="5319368" cy="1115568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61301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file-text"/>
            <p:cNvSpPr/>
            <p:nvPr/>
          </p:nvSpPr>
          <p:spPr>
            <a:xfrm>
              <a:off x="6537384" y="3465410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171802"/>
              <a:ext cx="4275560" cy="85222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Запросы касаются регламентов и инструкций.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372813"/>
              <a:ext cx="5319368" cy="1115568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693986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gauge"/>
            <p:cNvSpPr/>
            <p:nvPr/>
          </p:nvSpPr>
          <p:spPr>
            <a:xfrm>
              <a:off x="1000898" y="4798095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913" y="14797"/>
                    <a:pt x="1854" y="9459"/>
                    <a:pt x="5572" y="6339"/>
                  </a:cubicBezTo>
                  <a:cubicBezTo>
                    <a:pt x="9290" y="3220"/>
                    <a:pt x="14710" y="3220"/>
                    <a:pt x="18428" y="6339"/>
                  </a:cubicBezTo>
                  <a:cubicBezTo>
                    <a:pt x="22146" y="9459"/>
                    <a:pt x="23087" y="14797"/>
                    <a:pt x="20660" y="19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04487"/>
              <a:ext cx="4275560" cy="85222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Нагрузка на поддержку растет из-за дублирования.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Потеря времени и нагрузка на поддержку мешают бизнесу</a:t>
            </a:r>
            <a:endParaRPr/>
          </a:p>
        </p:txBody>
      </p:sp>
      <p:grpSp>
        <p:nvGrpSpPr>
          <p:cNvPr id="2" name="BrandDeck Diagram icon_grid" descr="icon_grid: До 30 минут тратится на поиск инструкции вместо работы.; Треть обращений — повторяющиеся вопросы, нагружающие поддержку.; Ручной поиск снижает общую эффективность внутренних процессов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clock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 30 минут тратится на поиск инструкции вместо работы.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headset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вопросы, нагружающие поддержку.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gauge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913" y="14797"/>
                    <a:pt x="1854" y="9459"/>
                    <a:pt x="5572" y="6339"/>
                  </a:cubicBezTo>
                  <a:cubicBezTo>
                    <a:pt x="9290" y="3220"/>
                    <a:pt x="14710" y="3220"/>
                    <a:pt x="18428" y="6339"/>
                  </a:cubicBezTo>
                  <a:cubicBezTo>
                    <a:pt x="22146" y="9459"/>
                    <a:pt x="23087" y="14797"/>
                    <a:pt x="20660" y="19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Ручной поиск снижает общую эффективность внутренних процессов.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ИИ-помощник отвечает на вопросы по регламентам и дает ссылку на документ</a:t>
            </a:r>
            <a:endParaRPr/>
          </a:p>
        </p:txBody>
      </p:sp>
      <p:grpSp>
        <p:nvGrpSpPr>
          <p:cNvPr id="2" name="BrandDeck Diagram icon_grid" descr="icon_grid: Система отвечает на вопросы по регламентам.; В ответе всегда указывается ссылка на документ.; Ответ формируется автоматически без участия людей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circle-help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Система отвечает на вопросы по регламентам.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file-text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ответе всегда указывается ссылка на документ.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users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формируется автоматически без участия людей.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BrandDeck Text 10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Модель с открытыми весами работает внутри контура компании</a:t>
            </a:r>
            <a:endParaRPr/>
          </a:p>
        </p:txBody>
      </p:sp>
      <p:pic>
        <p:nvPicPr>
          <p:cNvPr id="1072" name="BrandDeck Image" descr="внутренний контур серверная"/>
          <p:cNvPicPr>
            <a:picLocks noChangeAspect="1"/>
          </p:cNvPicPr>
          <p:nvPr/>
        </p:nvPicPr>
        <p:blipFill>
          <a:blip r:embed="rId3"/>
          <a:srcRect l="5955" r="5955"/>
          <a:stretch>
            <a:fillRect/>
          </a:stretch>
        </p:blipFill>
        <p:spPr>
          <a:xfrm>
            <a:off x="671514" y="1773238"/>
            <a:ext cx="6929992" cy="4427537"/>
          </a:xfrm>
          <a:prstGeom prst="rect">
            <a:avLst/>
          </a:prstGeom>
        </p:spPr>
      </p:pic>
      <p:sp>
        <p:nvSpPr>
          <p:cNvPr id="1069" name="Google Shape;1069;p83"/>
          <p:cNvSpPr txBox="1"/>
          <p:nvPr/>
        </p:nvSpPr>
        <p:spPr>
          <a:xfrm>
            <a:off x="8355728" y="627078"/>
            <a:ext cx="3409196" cy="395145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0" name="Google Shape;1070;p83"/>
          <p:cNvCxnSpPr/>
          <p:nvPr/>
        </p:nvCxnSpPr>
        <p:spPr>
          <a:xfrm flipH="1">
            <a:off x="8111315" y="692150"/>
            <a:ext cx="9261" cy="5508625"/>
          </a:xfrm>
          <a:prstGeom prst="straightConnector1">
            <a:avLst/>
          </a:prstGeom>
          <a:noFill/>
          <a:ln cap="flat" cmpd="sng" w="9525">
            <a:solidFill>
              <a:srgbClr val="F4F8F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1" name="BrandDeck Body"/>
          <p:cNvSpPr txBox="1"/>
          <p:nvPr/>
        </p:nvSpPr>
        <p:spPr>
          <a:xfrm>
            <a:off x="8355728" y="1473551"/>
            <a:ext cx="3409196" cy="31049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Модель с открытыми весами работает внутри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Документы не покидают внутреннюю инфраструктуру.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Обработка запросов происходит локально без передачи данных наружу.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Отсутствие подтвержденного ответа перенаправляет вопрос специалисту с контекстом</a:t>
            </a:r>
            <a:endParaRPr/>
          </a:p>
        </p:txBody>
      </p:sp>
      <p:grpSp>
        <p:nvGrpSpPr>
          <p:cNvPr id="2" name="BrandDeck Diagram icon_grid" descr="icon_grid: Вопросы без ответа в базе передаются специалисту.; Система отправляет контекст запроса вместе с эскаляцией.; Специалист получает полную информацию для решения задачи."/>
          <p:cNvGrpSpPr/>
          <p:nvPr/>
        </p:nvGrpSpPr>
        <p:grpSpPr>
          <a:xfrm>
            <a:off x="677334" y="3040128"/>
            <a:ext cx="10855853" cy="2448253"/>
            <a:chOff x="677334" y="3040128"/>
            <a:chExt cx="10855853" cy="2448253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3040128"/>
              <a:ext cx="5319368" cy="1115568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61301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circle-help"/>
            <p:cNvSpPr/>
            <p:nvPr/>
          </p:nvSpPr>
          <p:spPr>
            <a:xfrm>
              <a:off x="1000898" y="3465410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171802"/>
              <a:ext cx="4275560" cy="85222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Вопросы без ответа в базе передаются специалисту.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3040128"/>
              <a:ext cx="5319368" cy="1115568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61301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send"/>
            <p:cNvSpPr/>
            <p:nvPr/>
          </p:nvSpPr>
          <p:spPr>
            <a:xfrm>
              <a:off x="6537384" y="3465410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171802"/>
              <a:ext cx="4275560" cy="85222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Система отправляет контекст запроса вместе с эскаляцией.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372813"/>
              <a:ext cx="5319368" cy="1115568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693986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user"/>
            <p:cNvSpPr/>
            <p:nvPr/>
          </p:nvSpPr>
          <p:spPr>
            <a:xfrm>
              <a:off x="1000898" y="4798095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04487"/>
              <a:ext cx="4275560" cy="85222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 получает полную информацию для решения задачи.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Пилот охватывает 2 подразделения и 150 сотрудников</a:t>
            </a:r>
            <a:endParaRPr/>
          </a:p>
        </p:txBody>
      </p:sp>
      <p:grpSp>
        <p:nvGrpSpPr>
          <p:cNvPr id="2" name="BrandDeck Diagram icon_grid" descr="icon_grid: Пилот запускается в двух подразделениях.; В проекте участвуют 150 сотрудников.; Охват ограничен выбранными группами для теста."/>
          <p:cNvGrpSpPr/>
          <p:nvPr/>
        </p:nvGrpSpPr>
        <p:grpSpPr>
          <a:xfrm>
            <a:off x="677334" y="3170236"/>
            <a:ext cx="10855853" cy="2105863"/>
            <a:chOff x="677334" y="3170236"/>
            <a:chExt cx="10855853" cy="2105863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3170236"/>
              <a:ext cx="3473873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89" y="3389692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29560" y="352246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830953" y="4146816"/>
              <a:ext cx="3166634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запускается в двух подразделениях.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4368324" y="3170236"/>
              <a:ext cx="3473873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4587780" y="3389692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users"/>
            <p:cNvSpPr/>
            <p:nvPr/>
          </p:nvSpPr>
          <p:spPr>
            <a:xfrm>
              <a:off x="4720551" y="352246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4521943" y="4146816"/>
              <a:ext cx="3166634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проекте участвуют 150 сотрудников.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8059314" y="3170236"/>
              <a:ext cx="3473873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278770" y="3389692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ircle-dot"/>
            <p:cNvSpPr/>
            <p:nvPr/>
          </p:nvSpPr>
          <p:spPr>
            <a:xfrm>
              <a:off x="8411541" y="352246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3000" y="12000"/>
                  </a:moveTo>
                  <a:cubicBezTo>
                    <a:pt x="13000" y="12552"/>
                    <a:pt x="12552" y="13000"/>
                    <a:pt x="12000" y="13000"/>
                  </a:cubicBezTo>
                  <a:cubicBezTo>
                    <a:pt x="11448" y="13000"/>
                    <a:pt x="11000" y="12552"/>
                    <a:pt x="11000" y="12000"/>
                  </a:cubicBezTo>
                  <a:cubicBezTo>
                    <a:pt x="11000" y="11448"/>
                    <a:pt x="11448" y="11000"/>
                    <a:pt x="12000" y="11000"/>
                  </a:cubicBezTo>
                  <a:cubicBezTo>
                    <a:pt x="12552" y="11000"/>
                    <a:pt x="13000" y="11448"/>
                    <a:pt x="13000" y="12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8212933" y="4146816"/>
              <a:ext cx="3166634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Охват ограничен выбранными группами для теста.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Длительность пилотного проекта составляет 6 недель</a:t>
            </a:r>
            <a:endParaRPr/>
          </a:p>
        </p:txBody>
      </p:sp>
      <p:grpSp>
        <p:nvGrpSpPr>
          <p:cNvPr id="2" name="BrandDeck Diagram icon_grid" descr="icon_grid: Пилотный эксперимент длится 6 недель.; В этот период тестируется работа ИИ-помощника.; За это время оценивается эффективность решения."/>
          <p:cNvGrpSpPr/>
          <p:nvPr/>
        </p:nvGrpSpPr>
        <p:grpSpPr>
          <a:xfrm>
            <a:off x="677334" y="3170236"/>
            <a:ext cx="10855853" cy="2105863"/>
            <a:chOff x="677334" y="3170236"/>
            <a:chExt cx="10855853" cy="2105863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3170236"/>
              <a:ext cx="3473873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89" y="3389692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29560" y="352246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830953" y="4146816"/>
              <a:ext cx="3166634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Пилотный эксперимент длится 6 недель.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4368324" y="3170236"/>
              <a:ext cx="3473873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4587780" y="3389692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circle-dot"/>
            <p:cNvSpPr/>
            <p:nvPr/>
          </p:nvSpPr>
          <p:spPr>
            <a:xfrm>
              <a:off x="4720551" y="352246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3000" y="12000"/>
                  </a:moveTo>
                  <a:cubicBezTo>
                    <a:pt x="13000" y="12552"/>
                    <a:pt x="12552" y="13000"/>
                    <a:pt x="12000" y="13000"/>
                  </a:cubicBezTo>
                  <a:cubicBezTo>
                    <a:pt x="11448" y="13000"/>
                    <a:pt x="11000" y="12552"/>
                    <a:pt x="11000" y="12000"/>
                  </a:cubicBezTo>
                  <a:cubicBezTo>
                    <a:pt x="11000" y="11448"/>
                    <a:pt x="11448" y="11000"/>
                    <a:pt x="12000" y="11000"/>
                  </a:cubicBezTo>
                  <a:cubicBezTo>
                    <a:pt x="12552" y="11000"/>
                    <a:pt x="13000" y="11448"/>
                    <a:pt x="13000" y="12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4521943" y="4146816"/>
              <a:ext cx="3166634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этот период тестируется работа ИИ-помощника.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8059314" y="3170236"/>
              <a:ext cx="3473873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278770" y="3389692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lock"/>
            <p:cNvSpPr/>
            <p:nvPr/>
          </p:nvSpPr>
          <p:spPr>
            <a:xfrm>
              <a:off x="8411541" y="3522463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8212933" y="4146816"/>
              <a:ext cx="3166634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За это время оценивается эффективность решения.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Успех измеряется временем поиска ответа и долей закрытых обращений без специалиста</a:t>
            </a:r>
            <a:endParaRPr/>
          </a:p>
        </p:txBody>
      </p:sp>
      <p:grpSp>
        <p:nvGrpSpPr>
          <p:cNvPr id="2" name="BrandDeck Diagram icon_grid" descr="icon_grid: Время поиска ответа и доля закрытых обращений без специалиста.; Эти метрики подтвердят эффективность пилота за 6 недель.; Результаты покажут сокращение нагрузки на поддержку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clock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Время поиска ответа и доля закрытых обращений без специалиста.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chart-column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Эти метрики подтвердят эффективность пилота за 6 недель.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trophy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Результаты покажут сокращение нагрузки на поддержку.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Для реализации требуется команда из 3 человек</a:t>
            </a:r>
          </a:p>
        </p:txBody>
      </p:sp>
      <p:grpSp>
        <p:nvGrpSpPr>
          <p:cNvPr id="2" name="BrandDeck Diagram icon_grid" descr="icon_grid: Для запуска пилота требуется команда из 3 человек.; Специалисты займутся настройкой модели и интеграцией с порталом.; Команда будет отвечать на вопросы и анализировать результаты пилота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Для запуска пилота требуется команда из 3 человек.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займутся настройкой модели и интеграцией с порталом.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s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будет отвечать на вопросы и анализировать результаты пилота.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body" idx="1"/>
          </p:nvPr>
        </p:nvSpPr>
        <p:spPr>
          <a:xfrm>
            <a:off x="677334" y="1773238"/>
            <a:ext cx="5317065" cy="442753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Решение о старте проекта и выделении ресурсов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2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Одобрить запуск пилота для 2 подразделений и 150 сотрудников.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Выделить команду из 3 человек для реализации проекта.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Начать пилотный этап в течение 6 недель.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Одобрить пилот и выделить команду из 3 человек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2026-09-26T07:58:12Z</dcterms:modified>
  <dc:subject>Template-adaptive presentation</dc:subject>
  <cp:keywords>BrandDeck, template-adaptive, presentation</cp:keywords>
  <dc:creator/>
  <dc:description/>
</cp:coreProperties>
</file>