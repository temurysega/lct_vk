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1.xml"/><Relationship Id="rId65" Type="http://schemas.openxmlformats.org/officeDocument/2006/relationships/slide" Target="slides/slide2.xml"/><Relationship Id="rId66" Type="http://schemas.openxmlformats.org/officeDocument/2006/relationships/slide" Target="slides/slide3.xml"/><Relationship Id="rId67" Type="http://schemas.openxmlformats.org/officeDocument/2006/relationships/slide" Target="slides/slide4.xml"/><Relationship Id="rId68" Type="http://schemas.openxmlformats.org/officeDocument/2006/relationships/slide" Target="slides/slide5.xml"/><Relationship Id="rId69" Type="http://schemas.openxmlformats.org/officeDocument/2006/relationships/slide" Target="slides/slide6.xml"/><Relationship Id="rId70" Type="http://schemas.openxmlformats.org/officeDocument/2006/relationships/slide" Target="slides/slide7.xml"/><Relationship Id="rId71" Type="http://schemas.openxmlformats.org/officeDocument/2006/relationships/slide" Target="slides/slide8.xml"/><Relationship Id="rId72" Type="http://schemas.openxmlformats.org/officeDocument/2006/relationships/slide" Target="slides/slide9.xml"/><Relationship Id="rId73" Type="http://schemas.openxmlformats.org/officeDocument/2006/relationships/slide" Target="slides/slide10.xml"/><Relationship Id="rId74" Type="http://schemas.openxmlformats.org/officeDocument/2006/relationships/slide" Target="slides/slide11.xml"/><Relationship Id="rId75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 вводит инициативу по внедрению ИИ-помощника для автоматизации ответов сотрудникам на вопросы по регламентам.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поиск информации занимает до 30 минут, а треть обращений дублирует одни и те же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проект охватывает 150 сотрудников двух подразделений в течение шести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Функция автоматически отвечает сотрудникам на запросы по регламентам и сразу показывает ссылку на исходный документ.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Система обеспечивает безопасность, обрабатывая данные внутри контура без их вывода наружу.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подтверждённый ответ, запрос автоматически передаётся специалисту с полным контекстом диалога.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Эта слайд определяет ключевые метрики для оценки эффективности пилота ИИ-помощника.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 охватывает 150 сотрудников двух подразделений и длится 6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будем отслеживать время поиска инструкций и долю обращений, решенных без участия специалиста, чтобы оценить эффективность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используем модель с открытыми весами, которая работает исключительно внутри корпоративного контура, гарантируя, что документы не покидают периметр безопасности.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Нам необходимо ваше одобрение для старта пилота и выделение команды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просим одобрить пилот и выделить команду из трех человек для реализации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53" r:id="rId6"/>
    <p:sldLayoutId id="2147483659" r:id="rId12"/>
    <p:sldLayoutId id="2147483671" r:id="rId24"/>
    <p:sldLayoutId id="2147483672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6.png"/><Relationship Id="rId3" Type="http://schemas.openxmlformats.org/officeDocument/2006/relationships/image" Target="../media/image258.jpeg"/><Relationship Id="rId4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6.png"/><Relationship Id="rId3" Type="http://schemas.openxmlformats.org/officeDocument/2006/relationships/image" Target="../media/image259.jpeg"/><Relationship Id="rId4" Type="http://schemas.openxmlformats.org/officeDocument/2006/relationships/notesSlide" Target="../notesSlides/notesSlide6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BrandDeck Text 236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sz="1600">
                <a:solidFill>
                  <a:srgbClr val="000000"/>
                </a:solidFill>
              </a:rPr>
              <a:t>Автоматизация ответов сотрудников по регламентам</a:t>
            </a:r>
            <a:endParaRPr/>
          </a:p>
        </p:txBody>
      </p:sp>
      <p:sp>
        <p:nvSpPr>
          <p:cNvPr id="237" name="BrandDeck Text 237"/>
          <p:cNvSpPr txBox="1"/>
          <p:nvPr>
            <p:ph type="title"/>
          </p:nvPr>
        </p:nvSpPr>
        <p:spPr>
          <a:xfrm>
            <a:off x="622261" y="2921912"/>
            <a:ext cx="527373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Сокращение времени поиска инструкций и снижение нагрузки на поддержку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Сотрудники тратят до 30 минут на поиск инструкции, а треть обращений — повторяющиеся вопросы</a:t>
            </a:r>
            <a:endParaRPr/>
          </a:p>
        </p:txBody>
      </p:sp>
      <p:grpSp>
        <p:nvGrpSpPr>
          <p:cNvPr id="2" name="BrandDeck Diagram icon_grid" descr="icon_grid: Сотрудники тратят до 30 минут на поиск инструкции.; Треть всех обращений в поддержку — повторяющиеся вопросы.; Это создает высокую нагрузку на специалистов поддержки."/>
          <p:cNvGrpSpPr/>
          <p:nvPr/>
        </p:nvGrpSpPr>
        <p:grpSpPr>
          <a:xfrm>
            <a:off x="677334" y="2912953"/>
            <a:ext cx="10855853" cy="2782924"/>
            <a:chOff x="677334" y="2912953"/>
            <a:chExt cx="10855853" cy="2782924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90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users"/>
            <p:cNvSpPr/>
            <p:nvPr/>
          </p:nvSpPr>
          <p:spPr>
            <a:xfrm>
              <a:off x="1000898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1501685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Сотрудники тратят до 30 минут на поиск инструкции.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headset"/>
            <p:cNvSpPr/>
            <p:nvPr/>
          </p:nvSpPr>
          <p:spPr>
            <a:xfrm>
              <a:off x="6537384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7038171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Треть всех обращений в поддержку —</a:t>
              </a:r>
              <a:r>
                <a:rPr sz="1800" b="0">
                  <a:solidFill>
                    <a:srgbClr val="000000"/>
                  </a:solidFill>
                  <a:latin typeface="Play"/>
                </a:rPr>
                <a:t> повторяющиеся вопросы.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677334" y="4412974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96790" y="481781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gauge"/>
            <p:cNvSpPr/>
            <p:nvPr/>
          </p:nvSpPr>
          <p:spPr>
            <a:xfrm>
              <a:off x="1000898" y="492192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2000" y="14000"/>
                  </a:moveTo>
                  <a:lnTo>
                    <a:pt x="16000" y="10000"/>
                  </a:lnTo>
                </a:path>
                <a:path w="24000" h="24000" fill="none">
                  <a:moveTo>
                    <a:pt x="3340" y="19000"/>
                  </a:moveTo>
                  <a:cubicBezTo>
                    <a:pt x="913" y="14797"/>
                    <a:pt x="1854" y="9459"/>
                    <a:pt x="5572" y="6339"/>
                  </a:cubicBezTo>
                  <a:cubicBezTo>
                    <a:pt x="9290" y="3220"/>
                    <a:pt x="14710" y="3220"/>
                    <a:pt x="18428" y="6339"/>
                  </a:cubicBezTo>
                  <a:cubicBezTo>
                    <a:pt x="22146" y="9459"/>
                    <a:pt x="23087" y="14797"/>
                    <a:pt x="20660" y="19000"/>
                  </a:cubicBez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1501685" y="454464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Это создает высокую нагрузку на специалистов поддержки.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Влияет на 150 сотрудников двух подразделений при ежедневном обращении к регламентам</a:t>
            </a:r>
            <a:endParaRPr/>
          </a:p>
        </p:txBody>
      </p:sp>
      <p:grpSp>
        <p:nvGrpSpPr>
          <p:cNvPr id="2" name="BrandDeck Diagram icon_grid" descr="icon_grid: 150 сотрудников Два подразделения; 6 недель Период пилота"/>
          <p:cNvGrpSpPr/>
          <p:nvPr/>
        </p:nvGrpSpPr>
        <p:grpSpPr>
          <a:xfrm>
            <a:off x="677334" y="2603500"/>
            <a:ext cx="10855853" cy="3597276"/>
            <a:chOff x="677334" y="2603500"/>
            <a:chExt cx="10855853" cy="3597276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603500"/>
              <a:ext cx="5319368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89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users"/>
            <p:cNvSpPr/>
            <p:nvPr/>
          </p:nvSpPr>
          <p:spPr>
            <a:xfrm>
              <a:off x="1029560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830953" y="3580079"/>
              <a:ext cx="5012130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Два подразделения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2603500"/>
              <a:ext cx="5319368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calendar"/>
            <p:cNvSpPr/>
            <p:nvPr/>
          </p:nvSpPr>
          <p:spPr>
            <a:xfrm>
              <a:off x="6566046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8000" y="2000"/>
                  </a:moveTo>
                  <a:lnTo>
                    <a:pt x="8000" y="6000"/>
                  </a:lnTo>
                </a:path>
                <a:path w="24000" h="24000" fill="none">
                  <a:moveTo>
                    <a:pt x="16000" y="2000"/>
                  </a:moveTo>
                  <a:lnTo>
                    <a:pt x="16000" y="6000"/>
                  </a:lnTo>
                </a:path>
                <a:path w="24000" h="24000" fill="none">
                  <a:moveTo>
                    <a:pt x="5000" y="4000"/>
                  </a:moveTo>
                  <a:lnTo>
                    <a:pt x="19000" y="4000"/>
                  </a:lnTo>
                  <a:cubicBezTo>
                    <a:pt x="20105" y="4000"/>
                    <a:pt x="21000" y="4895"/>
                    <a:pt x="21000" y="6000"/>
                  </a:cubicBezTo>
                  <a:lnTo>
                    <a:pt x="21000" y="20000"/>
                  </a:lnTo>
                  <a:cubicBezTo>
                    <a:pt x="21000" y="21105"/>
                    <a:pt x="20105" y="22000"/>
                    <a:pt x="19000" y="22000"/>
                  </a:cubicBezTo>
                  <a:lnTo>
                    <a:pt x="5000" y="22000"/>
                  </a:lnTo>
                  <a:cubicBezTo>
                    <a:pt x="3895" y="22000"/>
                    <a:pt x="3000" y="21105"/>
                    <a:pt x="3000" y="20000"/>
                  </a:cubicBezTo>
                  <a:lnTo>
                    <a:pt x="3000" y="6000"/>
                  </a:lnTo>
                  <a:cubicBezTo>
                    <a:pt x="3000" y="4895"/>
                    <a:pt x="3895" y="4000"/>
                    <a:pt x="5000" y="4000"/>
                  </a:cubicBezTo>
                  <a:close/>
                </a:path>
                <a:path w="24000" h="24000" fill="none">
                  <a:moveTo>
                    <a:pt x="3000" y="10000"/>
                  </a:moveTo>
                  <a:lnTo>
                    <a:pt x="21000" y="10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6367438" y="3580079"/>
              <a:ext cx="5012130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6 недель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Период пилота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ИИ-помощник отвечает на вопросы по регламентам и сразу дает ссылку на документ-источник</a:t>
            </a:r>
            <a:endParaRPr/>
          </a:p>
        </p:txBody>
      </p:sp>
      <p:grpSp>
        <p:nvGrpSpPr>
          <p:cNvPr id="2" name="BrandDeck Diagram icon_grid" descr="icon_grid: ИИ-помощник отвечает на вопросы по регламентам и инструкциям.; Система сразу предоставляет ссылку на документ-источник.; Ответ формируется на основе внутренних корпоративных документов."/>
          <p:cNvGrpSpPr/>
          <p:nvPr/>
        </p:nvGrpSpPr>
        <p:grpSpPr>
          <a:xfrm>
            <a:off x="677334" y="2912953"/>
            <a:ext cx="10855853" cy="2782924"/>
            <a:chOff x="677334" y="2912953"/>
            <a:chExt cx="10855853" cy="2782924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90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file-text"/>
            <p:cNvSpPr/>
            <p:nvPr/>
          </p:nvSpPr>
          <p:spPr>
            <a:xfrm>
              <a:off x="1000898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1501685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ИИ-помощник отвечает на вопросы по регламентам и инструкциям.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link"/>
            <p:cNvSpPr/>
            <p:nvPr/>
          </p:nvSpPr>
          <p:spPr>
            <a:xfrm>
              <a:off x="6537384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13000"/>
                  </a:moveTo>
                  <a:cubicBezTo>
                    <a:pt x="10869" y="14162"/>
                    <a:pt x="12200" y="14889"/>
                    <a:pt x="13647" y="14992"/>
                  </a:cubicBezTo>
                  <a:cubicBezTo>
                    <a:pt x="15094" y="15096"/>
                    <a:pt x="16514" y="14566"/>
                    <a:pt x="17540" y="13540"/>
                  </a:cubicBezTo>
                  <a:lnTo>
                    <a:pt x="20540" y="10540"/>
                  </a:lnTo>
                  <a:cubicBezTo>
                    <a:pt x="22435" y="8578"/>
                    <a:pt x="22408" y="5460"/>
                    <a:pt x="20479" y="3531"/>
                  </a:cubicBezTo>
                  <a:cubicBezTo>
                    <a:pt x="18550" y="1602"/>
                    <a:pt x="15432" y="1575"/>
                    <a:pt x="13470" y="3470"/>
                  </a:cubicBezTo>
                  <a:lnTo>
                    <a:pt x="11750" y="5180"/>
                  </a:lnTo>
                </a:path>
                <a:path w="24000" h="24000" fill="none">
                  <a:moveTo>
                    <a:pt x="14000" y="11000"/>
                  </a:moveTo>
                  <a:cubicBezTo>
                    <a:pt x="13131" y="9838"/>
                    <a:pt x="11800" y="9111"/>
                    <a:pt x="10353" y="9008"/>
                  </a:cubicBezTo>
                  <a:cubicBezTo>
                    <a:pt x="8906" y="8904"/>
                    <a:pt x="7486" y="9434"/>
                    <a:pt x="6460" y="10460"/>
                  </a:cubicBezTo>
                  <a:lnTo>
                    <a:pt x="3460" y="13460"/>
                  </a:lnTo>
                  <a:cubicBezTo>
                    <a:pt x="1565" y="15422"/>
                    <a:pt x="1592" y="18540"/>
                    <a:pt x="3521" y="20469"/>
                  </a:cubicBezTo>
                  <a:cubicBezTo>
                    <a:pt x="5450" y="22398"/>
                    <a:pt x="8568" y="22425"/>
                    <a:pt x="10530" y="20530"/>
                  </a:cubicBezTo>
                  <a:lnTo>
                    <a:pt x="12240" y="1882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7038171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Система сразу предоставляет ссылку на документ-источник.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677334" y="4412974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96790" y="481781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building"/>
            <p:cNvSpPr/>
            <p:nvPr/>
          </p:nvSpPr>
          <p:spPr>
            <a:xfrm>
              <a:off x="1000898" y="492192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2000"/>
                  </a:moveTo>
                  <a:lnTo>
                    <a:pt x="18000" y="2000"/>
                  </a:lnTo>
                  <a:cubicBezTo>
                    <a:pt x="19105" y="2000"/>
                    <a:pt x="20000" y="2895"/>
                    <a:pt x="20000" y="4000"/>
                  </a:cubicBezTo>
                  <a:lnTo>
                    <a:pt x="20000" y="20000"/>
                  </a:lnTo>
                  <a:cubicBezTo>
                    <a:pt x="20000" y="21105"/>
                    <a:pt x="19105" y="22000"/>
                    <a:pt x="18000" y="22000"/>
                  </a:cubicBezTo>
                  <a:lnTo>
                    <a:pt x="6000" y="22000"/>
                  </a:lnTo>
                  <a:cubicBezTo>
                    <a:pt x="4895" y="22000"/>
                    <a:pt x="4000" y="21105"/>
                    <a:pt x="4000" y="20000"/>
                  </a:cubicBezTo>
                  <a:lnTo>
                    <a:pt x="4000" y="4000"/>
                  </a:lnTo>
                  <a:cubicBezTo>
                    <a:pt x="4000" y="2895"/>
                    <a:pt x="4895" y="2000"/>
                    <a:pt x="6000" y="2000"/>
                  </a:cubicBezTo>
                  <a:close/>
                </a:path>
                <a:path w="24000" h="24000" fill="none">
                  <a:moveTo>
                    <a:pt x="9000" y="22000"/>
                  </a:moveTo>
                  <a:lnTo>
                    <a:pt x="9000" y="18000"/>
                  </a:lnTo>
                  <a:lnTo>
                    <a:pt x="15000" y="18000"/>
                  </a:lnTo>
                  <a:lnTo>
                    <a:pt x="15000" y="22000"/>
                  </a:lnTo>
                </a:path>
                <a:path w="24000" h="24000" fill="none">
                  <a:moveTo>
                    <a:pt x="8000" y="6000"/>
                  </a:moveTo>
                  <a:lnTo>
                    <a:pt x="8010" y="6000"/>
                  </a:lnTo>
                </a:path>
                <a:path w="24000" h="24000" fill="none">
                  <a:moveTo>
                    <a:pt x="16000" y="6000"/>
                  </a:moveTo>
                  <a:lnTo>
                    <a:pt x="16010" y="6000"/>
                  </a:lnTo>
                </a:path>
                <a:path w="24000" h="24000" fill="none">
                  <a:moveTo>
                    <a:pt x="12000" y="6000"/>
                  </a:moveTo>
                  <a:lnTo>
                    <a:pt x="12010" y="6000"/>
                  </a:lnTo>
                </a:path>
                <a:path w="24000" h="24000" fill="none">
                  <a:moveTo>
                    <a:pt x="12000" y="10000"/>
                  </a:moveTo>
                  <a:lnTo>
                    <a:pt x="12010" y="10000"/>
                  </a:lnTo>
                </a:path>
                <a:path w="24000" h="24000" fill="none">
                  <a:moveTo>
                    <a:pt x="12000" y="14000"/>
                  </a:moveTo>
                  <a:lnTo>
                    <a:pt x="12010" y="14000"/>
                  </a:lnTo>
                </a:path>
                <a:path w="24000" h="24000" fill="none">
                  <a:moveTo>
                    <a:pt x="16000" y="10000"/>
                  </a:moveTo>
                  <a:lnTo>
                    <a:pt x="16010" y="10000"/>
                  </a:lnTo>
                </a:path>
                <a:path w="24000" h="24000" fill="none">
                  <a:moveTo>
                    <a:pt x="16000" y="14000"/>
                  </a:moveTo>
                  <a:lnTo>
                    <a:pt x="16010" y="14000"/>
                  </a:lnTo>
                </a:path>
                <a:path w="24000" h="24000" fill="none">
                  <a:moveTo>
                    <a:pt x="8000" y="10000"/>
                  </a:moveTo>
                  <a:lnTo>
                    <a:pt x="8010" y="10000"/>
                  </a:lnTo>
                </a:path>
                <a:path w="24000" h="24000" fill="none">
                  <a:moveTo>
                    <a:pt x="8000" y="14000"/>
                  </a:moveTo>
                  <a:lnTo>
                    <a:pt x="8010" y="14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1501685" y="454464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Ответ формируется на основе внутренних корпоративных документов.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60" name="BrandDeck Text 10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2000">
                <a:solidFill>
                  <a:srgbClr val="000000"/>
                </a:solidFill>
              </a:rPr>
              <a:t>Система работает внутри контура компании, не выводя документы наружу</a:t>
            </a:r>
            <a:endParaRPr/>
          </a:p>
        </p:txBody>
      </p:sp>
      <p:pic>
        <p:nvPicPr>
          <p:cNvPr id="1072" name="BrandDeck Image" descr="внутренний контур серверная"/>
          <p:cNvPicPr>
            <a:picLocks noChangeAspect="1"/>
          </p:cNvPicPr>
          <p:nvPr/>
        </p:nvPicPr>
        <p:blipFill>
          <a:blip r:embed="rId3"/>
          <a:srcRect l="5955" r="5955"/>
          <a:stretch>
            <a:fillRect/>
          </a:stretch>
        </p:blipFill>
        <p:spPr>
          <a:xfrm>
            <a:off x="671514" y="1773238"/>
            <a:ext cx="6929992" cy="4427537"/>
          </a:xfrm>
          <a:prstGeom prst="rect">
            <a:avLst/>
          </a:prstGeom>
        </p:spPr>
      </p:pic>
      <p:sp>
        <p:nvSpPr>
          <p:cNvPr id="1069" name="Google Shape;1069;p83"/>
          <p:cNvSpPr txBox="1"/>
          <p:nvPr/>
        </p:nvSpPr>
        <p:spPr>
          <a:xfrm>
            <a:off x="8355728" y="627078"/>
            <a:ext cx="3409196" cy="3951457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0" name="Google Shape;1070;p83"/>
          <p:cNvCxnSpPr/>
          <p:nvPr/>
        </p:nvCxnSpPr>
        <p:spPr>
          <a:xfrm flipH="1">
            <a:off x="8111315" y="692150"/>
            <a:ext cx="9261" cy="5508625"/>
          </a:xfrm>
          <a:prstGeom prst="straightConnector1">
            <a:avLst/>
          </a:prstGeom>
          <a:noFill/>
          <a:ln cap="flat" cmpd="sng" w="9525">
            <a:solidFill>
              <a:srgbClr val="F4F8F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071" name="BrandDeck Body"/>
          <p:cNvSpPr txBox="1"/>
          <p:nvPr/>
        </p:nvSpPr>
        <p:spPr>
          <a:xfrm>
            <a:off x="8355728" y="1473551"/>
            <a:ext cx="3409196" cy="31049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Модель с открытыми весами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Документы не покидают периметр и не уходят наружу.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Обработка запросов происходит локально без передачи данных.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При отсутствии подтвержденного ответа вопрос автоматически уходит специалисту с контекстом</a:t>
            </a:r>
            <a:endParaRPr/>
          </a:p>
        </p:txBody>
      </p:sp>
      <p:grpSp>
        <p:nvGrpSpPr>
          <p:cNvPr id="2" name="BrandDeck Diagram process" descr="process: Запрос сотрудника Отправляется в ИИ-помощник; Отсутствие ответа Нет подтверждённого факта в базе; Эскалация Переход к специалисту с контекстом"/>
          <p:cNvGrpSpPr/>
          <p:nvPr/>
        </p:nvGrpSpPr>
        <p:grpSpPr>
          <a:xfrm>
            <a:off x="677334" y="3235778"/>
            <a:ext cx="10855853" cy="1933385"/>
            <a:chOff x="677334" y="3235778"/>
            <a:chExt cx="10855853" cy="1933385"/>
          </a:xfrm>
        </p:grpSpPr>
        <p:sp>
          <p:nvSpPr>
            <p:cNvPr id="544" name="BrandDeck Diagram Step 1"/>
            <p:cNvSpPr/>
            <p:nvPr/>
          </p:nvSpPr>
          <p:spPr>
            <a:xfrm>
              <a:off x="677334" y="3235778"/>
              <a:ext cx="3778074" cy="791400"/>
            </a:xfrm>
            <a:prstGeom prst="homePlate">
              <a:avLst>
                <a:gd name="adj" fmla="val 36000"/>
              </a:avLst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tIns="18288" rIns="339768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45" name="BrandDeck Diagram Detail Card 1"/>
            <p:cNvSpPr/>
            <p:nvPr/>
          </p:nvSpPr>
          <p:spPr>
            <a:xfrm>
              <a:off x="713910" y="4136907"/>
              <a:ext cx="3545466" cy="1032256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Diagram Text 1"/>
            <p:cNvSpPr txBox="1"/>
            <p:nvPr/>
          </p:nvSpPr>
          <p:spPr>
            <a:xfrm>
              <a:off x="787062" y="4210059"/>
              <a:ext cx="3399162" cy="88595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Запрос сотрудника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Отправляется в ИИ-помощник</a:t>
              </a:r>
            </a:p>
          </p:txBody>
        </p:sp>
        <p:sp>
          <p:nvSpPr>
            <p:cNvPr id="547" name="BrandDeck Diagram Step 2"/>
            <p:cNvSpPr/>
            <p:nvPr/>
          </p:nvSpPr>
          <p:spPr>
            <a:xfrm>
              <a:off x="4216223" y="3235778"/>
              <a:ext cx="3778074" cy="791400"/>
            </a:xfrm>
            <a:prstGeom prst="chevron">
              <a:avLst>
                <a:gd name="adj" fmla="val 36000"/>
              </a:avLst>
            </a:prstGeom>
            <a:solidFill>
              <a:srgbClr val="2683EE"/>
            </a:solidFill>
            <a:ln>
              <a:noFill/>
            </a:ln>
          </p:spPr>
          <p:txBody>
            <a:bodyPr rtlCol="0" anchor="ctr" wrap="square" lIns="339768" tIns="18288" rIns="339768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548" name="BrandDeck Diagram Detail Card 2"/>
            <p:cNvSpPr/>
            <p:nvPr/>
          </p:nvSpPr>
          <p:spPr>
            <a:xfrm>
              <a:off x="4332528" y="4136907"/>
              <a:ext cx="3545466" cy="1032256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Text 2"/>
            <p:cNvSpPr txBox="1"/>
            <p:nvPr/>
          </p:nvSpPr>
          <p:spPr>
            <a:xfrm>
              <a:off x="4405680" y="4210059"/>
              <a:ext cx="3399162" cy="88595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Отсутствие ответа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000000"/>
                  </a:solidFill>
                  <a:latin typeface="Play"/>
                </a:rPr>
                <a:t>Нет подтверждённого факта в базе</a:t>
              </a:r>
            </a:p>
          </p:txBody>
        </p:sp>
        <p:sp>
          <p:nvSpPr>
            <p:cNvPr id="550" name="BrandDeck Diagram Step 3"/>
            <p:cNvSpPr/>
            <p:nvPr/>
          </p:nvSpPr>
          <p:spPr>
            <a:xfrm>
              <a:off x="7755113" y="3235778"/>
              <a:ext cx="3778074" cy="791400"/>
            </a:xfrm>
            <a:prstGeom prst="chevron">
              <a:avLst>
                <a:gd name="adj" fmla="val 36000"/>
              </a:avLst>
            </a:prstGeom>
            <a:solidFill>
              <a:srgbClr val="4C99F1"/>
            </a:solidFill>
            <a:ln>
              <a:noFill/>
            </a:ln>
          </p:spPr>
          <p:txBody>
            <a:bodyPr rtlCol="0" anchor="ctr" wrap="square" lIns="339768" tIns="18288" rIns="339768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03</a:t>
              </a:r>
            </a:p>
          </p:txBody>
        </p:sp>
        <p:sp>
          <p:nvSpPr>
            <p:cNvPr id="551" name="BrandDeck Diagram Detail Card 3"/>
            <p:cNvSpPr/>
            <p:nvPr/>
          </p:nvSpPr>
          <p:spPr>
            <a:xfrm>
              <a:off x="7951145" y="4136907"/>
              <a:ext cx="3545466" cy="1032256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2" name="BrandDeck Diagram Text 3"/>
            <p:cNvSpPr txBox="1"/>
            <p:nvPr/>
          </p:nvSpPr>
          <p:spPr>
            <a:xfrm>
              <a:off x="8024297" y="4210059"/>
              <a:ext cx="3399162" cy="88595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Эскалация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000000"/>
                  </a:solidFill>
                  <a:latin typeface="Play"/>
                </a:rPr>
                <a:t>Переход к специалисту с контекстом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Снижение времени поиска ответа и увеличение доли обращений, закрытых без участия специалиста</a:t>
            </a:r>
            <a:endParaRPr/>
          </a:p>
        </p:txBody>
      </p:sp>
      <p:grpSp>
        <p:nvGrpSpPr>
          <p:cNvPr id="2" name="BrandDeck Diagram pyramid" descr="pyramid: Критерии успеха Снижение времени поиска и рост автозакрытия; Время поиска Метрика времени ответа сотрудника; Доля автозакрытия Процент вопросов без участия специалиста"/>
          <p:cNvGrpSpPr/>
          <p:nvPr/>
        </p:nvGrpSpPr>
        <p:grpSpPr>
          <a:xfrm>
            <a:off x="694479" y="2642756"/>
            <a:ext cx="10838709" cy="3511295"/>
            <a:chOff x="694479" y="2642756"/>
            <a:chExt cx="10838709" cy="3511295"/>
          </a:xfrm>
        </p:grpSpPr>
        <p:sp>
          <p:nvSpPr>
            <p:cNvPr id="544" name="BrandDeck Diagram Level 1"/>
            <p:cNvSpPr/>
            <p:nvPr/>
          </p:nvSpPr>
          <p:spPr>
            <a:xfrm>
              <a:off x="2180379" y="2642756"/>
              <a:ext cx="1451609" cy="1133856"/>
            </a:xfrm>
            <a:custGeom>
              <a:avLst/>
              <a:gdLst/>
              <a:ahLst/>
              <a:cxnLst/>
              <a:rect l="l" t="t" r="r" b="b"/>
              <a:pathLst>
                <a:path w="1587" h="1240" stroke="0">
                  <a:moveTo>
                    <a:pt x="769" y="0"/>
                  </a:moveTo>
                  <a:lnTo>
                    <a:pt x="819" y="0"/>
                  </a:lnTo>
                  <a:lnTo>
                    <a:pt x="1587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b" wrap="square" lIns="18288" tIns="0" rIns="18288" bIns="7315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45" name="BrandDeck Diagram Text 1"/>
            <p:cNvSpPr txBox="1"/>
            <p:nvPr/>
          </p:nvSpPr>
          <p:spPr>
            <a:xfrm>
              <a:off x="5409354" y="2642756"/>
              <a:ext cx="6123834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Критерии успеха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Снижение времени поиска и рост автозакрытия</a:t>
              </a:r>
            </a:p>
          </p:txBody>
        </p:sp>
        <p:sp>
          <p:nvSpPr>
            <p:cNvPr id="546" name="BrandDeck Diagram Level 2"/>
            <p:cNvSpPr/>
            <p:nvPr/>
          </p:nvSpPr>
          <p:spPr>
            <a:xfrm>
              <a:off x="1437429" y="3831476"/>
              <a:ext cx="2937509" cy="1133855"/>
            </a:xfrm>
            <a:custGeom>
              <a:avLst/>
              <a:gdLst/>
              <a:ahLst/>
              <a:cxnLst/>
              <a:rect l="l" t="t" r="r" b="b"/>
              <a:pathLst>
                <a:path w="3212" h="1240" stroke="0">
                  <a:moveTo>
                    <a:pt x="775" y="0"/>
                  </a:moveTo>
                  <a:lnTo>
                    <a:pt x="2438" y="0"/>
                  </a:lnTo>
                  <a:lnTo>
                    <a:pt x="3212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4092F0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547" name="BrandDeck Diagram Text 2"/>
            <p:cNvSpPr txBox="1"/>
            <p:nvPr/>
          </p:nvSpPr>
          <p:spPr>
            <a:xfrm>
              <a:off x="5409354" y="3831476"/>
              <a:ext cx="6123834" cy="113385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Время поиска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Метрика времени ответа сотрудника</a:t>
              </a:r>
            </a:p>
          </p:txBody>
        </p:sp>
        <p:sp>
          <p:nvSpPr>
            <p:cNvPr id="548" name="BrandDeck Diagram Level 3"/>
            <p:cNvSpPr/>
            <p:nvPr/>
          </p:nvSpPr>
          <p:spPr>
            <a:xfrm>
              <a:off x="694479" y="5020196"/>
              <a:ext cx="4423409" cy="1133855"/>
            </a:xfrm>
            <a:custGeom>
              <a:avLst/>
              <a:gdLst/>
              <a:ahLst/>
              <a:cxnLst/>
              <a:rect l="l" t="t" r="r" b="b"/>
              <a:pathLst>
                <a:path w="4837" h="1240" stroke="0">
                  <a:moveTo>
                    <a:pt x="775" y="0"/>
                  </a:moveTo>
                  <a:lnTo>
                    <a:pt x="4062" y="0"/>
                  </a:lnTo>
                  <a:lnTo>
                    <a:pt x="4837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80B6F5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03</a:t>
              </a:r>
            </a:p>
          </p:txBody>
        </p:sp>
        <p:sp>
          <p:nvSpPr>
            <p:cNvPr id="549" name="BrandDeck Diagram Text 3"/>
            <p:cNvSpPr txBox="1"/>
            <p:nvPr/>
          </p:nvSpPr>
          <p:spPr>
            <a:xfrm>
              <a:off x="5409354" y="5020196"/>
              <a:ext cx="6123834" cy="113385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Доля автозакрытия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Процент вопросов без участия специалиста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2000">
                <a:solidFill>
                  <a:srgbClr val="000000"/>
                </a:solidFill>
              </a:rPr>
              <a:t>В пилоте участвуют 2 подразделения, 150 сотрудников и 6 недель работы</a:t>
            </a:r>
            <a:endParaRPr/>
          </a:p>
        </p:txBody>
      </p:sp>
      <p:grpSp>
        <p:nvGrpSpPr>
          <p:cNvPr id="2" name="BrandDeck Diagram pyramid" descr="pyramid: 6 недель Длительность пилотного запуска; 150 сотрудников Всего участников пилота; 2 подразделения Охват пилотной группы"/>
          <p:cNvGrpSpPr/>
          <p:nvPr/>
        </p:nvGrpSpPr>
        <p:grpSpPr>
          <a:xfrm>
            <a:off x="694479" y="2642756"/>
            <a:ext cx="10838709" cy="3511295"/>
            <a:chOff x="694479" y="2642756"/>
            <a:chExt cx="10838709" cy="3511295"/>
          </a:xfrm>
        </p:grpSpPr>
        <p:sp>
          <p:nvSpPr>
            <p:cNvPr id="544" name="BrandDeck Diagram Level 1"/>
            <p:cNvSpPr/>
            <p:nvPr/>
          </p:nvSpPr>
          <p:spPr>
            <a:xfrm>
              <a:off x="2180379" y="2642756"/>
              <a:ext cx="1451609" cy="1133856"/>
            </a:xfrm>
            <a:custGeom>
              <a:avLst/>
              <a:gdLst/>
              <a:ahLst/>
              <a:cxnLst/>
              <a:rect l="l" t="t" r="r" b="b"/>
              <a:pathLst>
                <a:path w="1587" h="1240" stroke="0">
                  <a:moveTo>
                    <a:pt x="769" y="0"/>
                  </a:moveTo>
                  <a:lnTo>
                    <a:pt x="819" y="0"/>
                  </a:lnTo>
                  <a:lnTo>
                    <a:pt x="1587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b" wrap="square" lIns="18288" tIns="0" rIns="18288" bIns="7315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45" name="BrandDeck Diagram Text 1"/>
            <p:cNvSpPr txBox="1"/>
            <p:nvPr/>
          </p:nvSpPr>
          <p:spPr>
            <a:xfrm>
              <a:off x="5409354" y="2642756"/>
              <a:ext cx="6123834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6 недель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Длительность пилотного запуска</a:t>
              </a:r>
            </a:p>
          </p:txBody>
        </p:sp>
        <p:sp>
          <p:nvSpPr>
            <p:cNvPr id="546" name="BrandDeck Diagram Level 2"/>
            <p:cNvSpPr/>
            <p:nvPr/>
          </p:nvSpPr>
          <p:spPr>
            <a:xfrm>
              <a:off x="1437429" y="3831476"/>
              <a:ext cx="2937509" cy="1133855"/>
            </a:xfrm>
            <a:custGeom>
              <a:avLst/>
              <a:gdLst/>
              <a:ahLst/>
              <a:cxnLst/>
              <a:rect l="l" t="t" r="r" b="b"/>
              <a:pathLst>
                <a:path w="3212" h="1240" stroke="0">
                  <a:moveTo>
                    <a:pt x="775" y="0"/>
                  </a:moveTo>
                  <a:lnTo>
                    <a:pt x="2438" y="0"/>
                  </a:lnTo>
                  <a:lnTo>
                    <a:pt x="3212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4092F0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547" name="BrandDeck Diagram Text 2"/>
            <p:cNvSpPr txBox="1"/>
            <p:nvPr/>
          </p:nvSpPr>
          <p:spPr>
            <a:xfrm>
              <a:off x="5409354" y="3831476"/>
              <a:ext cx="6123834" cy="113385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Всего участников пилота</a:t>
              </a:r>
            </a:p>
          </p:txBody>
        </p:sp>
        <p:sp>
          <p:nvSpPr>
            <p:cNvPr id="548" name="BrandDeck Diagram Level 3"/>
            <p:cNvSpPr/>
            <p:nvPr/>
          </p:nvSpPr>
          <p:spPr>
            <a:xfrm>
              <a:off x="694479" y="5020196"/>
              <a:ext cx="4423409" cy="1133855"/>
            </a:xfrm>
            <a:custGeom>
              <a:avLst/>
              <a:gdLst/>
              <a:ahLst/>
              <a:cxnLst/>
              <a:rect l="l" t="t" r="r" b="b"/>
              <a:pathLst>
                <a:path w="4837" h="1240" stroke="0">
                  <a:moveTo>
                    <a:pt x="775" y="0"/>
                  </a:moveTo>
                  <a:lnTo>
                    <a:pt x="4062" y="0"/>
                  </a:lnTo>
                  <a:lnTo>
                    <a:pt x="4837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80B6F5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03</a:t>
              </a:r>
            </a:p>
          </p:txBody>
        </p:sp>
        <p:sp>
          <p:nvSpPr>
            <p:cNvPr id="549" name="BrandDeck Diagram Text 3"/>
            <p:cNvSpPr txBox="1"/>
            <p:nvPr/>
          </p:nvSpPr>
          <p:spPr>
            <a:xfrm>
              <a:off x="5409354" y="5020196"/>
              <a:ext cx="6123834" cy="113385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2 подразделения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Охват пилотной группы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60" name="BrandDeck Text 10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Измерим время поиска ответа и долю обращений, закрытых без специалиста поддержки</a:t>
            </a:r>
            <a:endParaRPr/>
          </a:p>
        </p:txBody>
      </p:sp>
      <p:pic>
        <p:nvPicPr>
          <p:cNvPr id="1072" name="BrandDeck Image" descr="сотрудник специалист поддержки"/>
          <p:cNvPicPr>
            <a:picLocks noChangeAspect="1"/>
          </p:cNvPicPr>
          <p:nvPr/>
        </p:nvPicPr>
        <p:blipFill>
          <a:blip r:embed="rId3"/>
          <a:srcRect l="5955" r="5955"/>
          <a:stretch>
            <a:fillRect/>
          </a:stretch>
        </p:blipFill>
        <p:spPr>
          <a:xfrm>
            <a:off x="671514" y="1773238"/>
            <a:ext cx="6929992" cy="4427537"/>
          </a:xfrm>
          <a:prstGeom prst="rect">
            <a:avLst/>
          </a:prstGeom>
        </p:spPr>
      </p:pic>
      <p:sp>
        <p:nvSpPr>
          <p:cNvPr id="1069" name="Google Shape;1069;p83"/>
          <p:cNvSpPr txBox="1"/>
          <p:nvPr/>
        </p:nvSpPr>
        <p:spPr>
          <a:xfrm>
            <a:off x="8355728" y="627078"/>
            <a:ext cx="3409196" cy="3951457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0" name="Google Shape;1070;p83"/>
          <p:cNvCxnSpPr/>
          <p:nvPr/>
        </p:nvCxnSpPr>
        <p:spPr>
          <a:xfrm flipH="1">
            <a:off x="8111315" y="692150"/>
            <a:ext cx="9261" cy="5508625"/>
          </a:xfrm>
          <a:prstGeom prst="straightConnector1">
            <a:avLst/>
          </a:prstGeom>
          <a:noFill/>
          <a:ln cap="flat" cmpd="sng" w="9525">
            <a:solidFill>
              <a:srgbClr val="F4F8F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071" name="BrandDeck Body"/>
          <p:cNvSpPr txBox="1"/>
          <p:nvPr/>
        </p:nvSpPr>
        <p:spPr>
          <a:xfrm>
            <a:off x="8355728" y="1473551"/>
            <a:ext cx="3409196" cy="31049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Измерим время поиска ответа и долю закрытых обращений.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Снижение времени поиска и нагрузки на поддержку — критерии успеха.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Результаты пилота определят эффективность ИИ-помощника.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Модель с открытыми весами работает внутри контура, документы не покидают периметр</a:t>
            </a:r>
            <a:endParaRPr/>
          </a:p>
        </p:txBody>
      </p:sp>
      <p:grpSp>
        <p:nvGrpSpPr>
          <p:cNvPr id="2" name="BrandDeck Diagram icon_grid" descr="icon_grid: Модель с открытыми весами работает строго внутри контура компании.; Документы не покидают периметр и не уходят наружу.; Обеспечивается безопасность данных при обработке запросов."/>
          <p:cNvGrpSpPr/>
          <p:nvPr/>
        </p:nvGrpSpPr>
        <p:grpSpPr>
          <a:xfrm>
            <a:off x="677334" y="2912953"/>
            <a:ext cx="10855853" cy="2782924"/>
            <a:chOff x="677334" y="2912953"/>
            <a:chExt cx="10855853" cy="2782924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90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brain"/>
            <p:cNvSpPr/>
            <p:nvPr/>
          </p:nvSpPr>
          <p:spPr>
            <a:xfrm>
              <a:off x="1000898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2000" y="5000"/>
                  </a:moveTo>
                  <a:cubicBezTo>
                    <a:pt x="12003" y="3911"/>
                    <a:pt x="11416" y="2906"/>
                    <a:pt x="10466" y="2374"/>
                  </a:cubicBezTo>
                  <a:cubicBezTo>
                    <a:pt x="9516" y="1842"/>
                    <a:pt x="8353" y="1866"/>
                    <a:pt x="7426" y="2437"/>
                  </a:cubicBezTo>
                  <a:cubicBezTo>
                    <a:pt x="6499" y="3009"/>
                    <a:pt x="5954" y="4037"/>
                    <a:pt x="6003" y="5125"/>
                  </a:cubicBezTo>
                  <a:cubicBezTo>
                    <a:pt x="4812" y="5431"/>
                    <a:pt x="3828" y="6268"/>
                    <a:pt x="3335" y="7395"/>
                  </a:cubicBezTo>
                  <a:cubicBezTo>
                    <a:pt x="2842" y="8521"/>
                    <a:pt x="2894" y="9812"/>
                    <a:pt x="3477" y="10895"/>
                  </a:cubicBezTo>
                  <a:cubicBezTo>
                    <a:pt x="2450" y="11729"/>
                    <a:pt x="1902" y="13018"/>
                    <a:pt x="2013" y="14336"/>
                  </a:cubicBezTo>
                  <a:cubicBezTo>
                    <a:pt x="2125" y="15654"/>
                    <a:pt x="2881" y="16833"/>
                    <a:pt x="4033" y="17483"/>
                  </a:cubicBezTo>
                  <a:cubicBezTo>
                    <a:pt x="3842" y="18961"/>
                    <a:pt x="4488" y="20422"/>
                    <a:pt x="5710" y="21275"/>
                  </a:cubicBezTo>
                  <a:cubicBezTo>
                    <a:pt x="6931" y="22128"/>
                    <a:pt x="8526" y="22232"/>
                    <a:pt x="9847" y="21544"/>
                  </a:cubicBezTo>
                  <a:cubicBezTo>
                    <a:pt x="11169" y="20856"/>
                    <a:pt x="11998" y="19490"/>
                    <a:pt x="12000" y="18000"/>
                  </a:cubicBezTo>
                  <a:close/>
                </a:path>
                <a:path w="24000" h="24000" fill="none">
                  <a:moveTo>
                    <a:pt x="12000" y="5000"/>
                  </a:moveTo>
                  <a:cubicBezTo>
                    <a:pt x="11997" y="3911"/>
                    <a:pt x="12584" y="2906"/>
                    <a:pt x="13534" y="2374"/>
                  </a:cubicBezTo>
                  <a:cubicBezTo>
                    <a:pt x="14484" y="1842"/>
                    <a:pt x="15647" y="1866"/>
                    <a:pt x="16574" y="2437"/>
                  </a:cubicBezTo>
                  <a:cubicBezTo>
                    <a:pt x="17501" y="3009"/>
                    <a:pt x="18046" y="4037"/>
                    <a:pt x="17997" y="5125"/>
                  </a:cubicBezTo>
                  <a:cubicBezTo>
                    <a:pt x="19188" y="5431"/>
                    <a:pt x="20172" y="6268"/>
                    <a:pt x="20665" y="7395"/>
                  </a:cubicBezTo>
                  <a:cubicBezTo>
                    <a:pt x="21158" y="8521"/>
                    <a:pt x="21106" y="9812"/>
                    <a:pt x="20523" y="10895"/>
                  </a:cubicBezTo>
                  <a:cubicBezTo>
                    <a:pt x="21550" y="11729"/>
                    <a:pt x="22098" y="13018"/>
                    <a:pt x="21987" y="14336"/>
                  </a:cubicBezTo>
                  <a:cubicBezTo>
                    <a:pt x="21875" y="15654"/>
                    <a:pt x="21119" y="16833"/>
                    <a:pt x="19967" y="17483"/>
                  </a:cubicBezTo>
                  <a:cubicBezTo>
                    <a:pt x="20158" y="18961"/>
                    <a:pt x="19512" y="20422"/>
                    <a:pt x="18290" y="21275"/>
                  </a:cubicBezTo>
                  <a:cubicBezTo>
                    <a:pt x="17069" y="22128"/>
                    <a:pt x="15474" y="22232"/>
                    <a:pt x="14153" y="21544"/>
                  </a:cubicBezTo>
                  <a:cubicBezTo>
                    <a:pt x="12831" y="20856"/>
                    <a:pt x="12002" y="19490"/>
                    <a:pt x="12000" y="18000"/>
                  </a:cubicBezTo>
                  <a:close/>
                </a:path>
                <a:path w="24000" h="24000" fill="none">
                  <a:moveTo>
                    <a:pt x="15000" y="13000"/>
                  </a:moveTo>
                  <a:cubicBezTo>
                    <a:pt x="13283" y="12396"/>
                    <a:pt x="12099" y="10817"/>
                    <a:pt x="12000" y="9000"/>
                  </a:cubicBezTo>
                  <a:cubicBezTo>
                    <a:pt x="11901" y="10817"/>
                    <a:pt x="10717" y="12396"/>
                    <a:pt x="9000" y="13000"/>
                  </a:cubicBezTo>
                </a:path>
                <a:path w="24000" h="24000" fill="none">
                  <a:moveTo>
                    <a:pt x="17599" y="6500"/>
                  </a:moveTo>
                  <a:cubicBezTo>
                    <a:pt x="17841" y="6081"/>
                    <a:pt x="17978" y="5609"/>
                    <a:pt x="17998" y="5125"/>
                  </a:cubicBezTo>
                </a:path>
                <a:path w="24000" h="24000" fill="none">
                  <a:moveTo>
                    <a:pt x="6003" y="5125"/>
                  </a:moveTo>
                  <a:cubicBezTo>
                    <a:pt x="6023" y="5609"/>
                    <a:pt x="6159" y="6080"/>
                    <a:pt x="6401" y="6500"/>
                  </a:cubicBezTo>
                </a:path>
                <a:path w="24000" h="24000" fill="none">
                  <a:moveTo>
                    <a:pt x="3477" y="10896"/>
                  </a:moveTo>
                  <a:cubicBezTo>
                    <a:pt x="3660" y="10747"/>
                    <a:pt x="3856" y="10614"/>
                    <a:pt x="4062" y="10500"/>
                  </a:cubicBezTo>
                </a:path>
                <a:path w="24000" h="24000" fill="none">
                  <a:moveTo>
                    <a:pt x="19938" y="10500"/>
                  </a:moveTo>
                  <a:cubicBezTo>
                    <a:pt x="20144" y="10614"/>
                    <a:pt x="20340" y="10747"/>
                    <a:pt x="20523" y="10896"/>
                  </a:cubicBezTo>
                </a:path>
                <a:path w="24000" h="24000" fill="none">
                  <a:moveTo>
                    <a:pt x="6000" y="18000"/>
                  </a:moveTo>
                  <a:cubicBezTo>
                    <a:pt x="5311" y="18000"/>
                    <a:pt x="4633" y="17823"/>
                    <a:pt x="4033" y="17484"/>
                  </a:cubicBezTo>
                </a:path>
                <a:path w="24000" h="24000" fill="none">
                  <a:moveTo>
                    <a:pt x="19967" y="17484"/>
                  </a:moveTo>
                  <a:cubicBezTo>
                    <a:pt x="19367" y="17823"/>
                    <a:pt x="18689" y="18000"/>
                    <a:pt x="18000" y="18000"/>
                  </a:cubicBez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1501685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Модель с открытыми весами работает строго внутри контура компании.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file-text"/>
            <p:cNvSpPr/>
            <p:nvPr/>
          </p:nvSpPr>
          <p:spPr>
            <a:xfrm>
              <a:off x="6537384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7038171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Документы не покидают периметр и не уходят наружу.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677334" y="4412974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96790" y="481781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shield-check"/>
            <p:cNvSpPr/>
            <p:nvPr/>
          </p:nvSpPr>
          <p:spPr>
            <a:xfrm>
              <a:off x="1000898" y="492192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0000" y="13000"/>
                  </a:moveTo>
                  <a:cubicBezTo>
                    <a:pt x="20000" y="18000"/>
                    <a:pt x="16500" y="20500"/>
                    <a:pt x="12340" y="21950"/>
                  </a:cubicBezTo>
                  <a:cubicBezTo>
                    <a:pt x="12122" y="22024"/>
                    <a:pt x="11886" y="22020"/>
                    <a:pt x="11670" y="21940"/>
                  </a:cubicBezTo>
                  <a:cubicBezTo>
                    <a:pt x="7500" y="20500"/>
                    <a:pt x="4000" y="18000"/>
                    <a:pt x="4000" y="13000"/>
                  </a:cubicBezTo>
                  <a:lnTo>
                    <a:pt x="4000" y="6000"/>
                  </a:lnTo>
                  <a:cubicBezTo>
                    <a:pt x="4000" y="5448"/>
                    <a:pt x="4448" y="5000"/>
                    <a:pt x="5000" y="5000"/>
                  </a:cubicBezTo>
                  <a:cubicBezTo>
                    <a:pt x="7000" y="5000"/>
                    <a:pt x="9500" y="3800"/>
                    <a:pt x="11240" y="2280"/>
                  </a:cubicBezTo>
                  <a:cubicBezTo>
                    <a:pt x="11678" y="1906"/>
                    <a:pt x="12322" y="1906"/>
                    <a:pt x="12760" y="2280"/>
                  </a:cubicBezTo>
                  <a:cubicBezTo>
                    <a:pt x="14510" y="3810"/>
                    <a:pt x="17000" y="5000"/>
                    <a:pt x="19000" y="5000"/>
                  </a:cubicBezTo>
                  <a:cubicBezTo>
                    <a:pt x="19552" y="5000"/>
                    <a:pt x="20000" y="5448"/>
                    <a:pt x="20000" y="6000"/>
                  </a:cubicBezTo>
                  <a:close/>
                </a:path>
                <a:path w="24000" h="24000" fill="none">
                  <a:moveTo>
                    <a:pt x="9000" y="12000"/>
                  </a:moveTo>
                  <a:lnTo>
                    <a:pt x="11000" y="14000"/>
                  </a:lnTo>
                  <a:lnTo>
                    <a:pt x="15000" y="10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1501685" y="454464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Обеспечивается безопасность данных при обработке запросов.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>
                <a:solidFill>
                  <a:srgbClr val="000000"/>
                </a:solidFill>
              </a:rPr>
              <a:t>Требуется одобрение пилота и выделение команды из 3 человек для реализации</a:t>
            </a:r>
          </a:p>
        </p:txBody>
      </p:sp>
      <p:grpSp>
        <p:nvGrpSpPr>
          <p:cNvPr id="2" name="BrandDeck Diagram icon_grid" descr="icon_grid: Просим одобрить запуск пилота.; Требуется выделение команды из 3 человек.; Срок пилота: 6 недель."/>
          <p:cNvGrpSpPr/>
          <p:nvPr/>
        </p:nvGrpSpPr>
        <p:grpSpPr>
          <a:xfrm>
            <a:off x="658813" y="1773238"/>
            <a:ext cx="10874375" cy="4447949"/>
            <a:chOff x="658813" y="1773238"/>
            <a:chExt cx="10874375" cy="4447949"/>
          </a:xfrm>
        </p:grpSpPr>
        <p:sp>
          <p:nvSpPr>
            <p:cNvPr id="4" name="BrandDeck Diagram Card 1"/>
            <p:cNvSpPr/>
            <p:nvPr/>
          </p:nvSpPr>
          <p:spPr>
            <a:xfrm>
              <a:off x="658813" y="1773238"/>
              <a:ext cx="3479800" cy="4447949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878269" y="1992694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rocket"/>
            <p:cNvSpPr/>
            <p:nvPr/>
          </p:nvSpPr>
          <p:spPr>
            <a:xfrm>
              <a:off x="1011039" y="2125464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4500" y="16500"/>
                  </a:moveTo>
                  <a:cubicBezTo>
                    <a:pt x="3000" y="17760"/>
                    <a:pt x="2500" y="21500"/>
                    <a:pt x="2500" y="21500"/>
                  </a:cubicBezTo>
                  <a:cubicBezTo>
                    <a:pt x="2500" y="21500"/>
                    <a:pt x="6240" y="21000"/>
                    <a:pt x="7500" y="19500"/>
                  </a:cubicBezTo>
                  <a:cubicBezTo>
                    <a:pt x="8210" y="18660"/>
                    <a:pt x="8200" y="17370"/>
                    <a:pt x="7410" y="16590"/>
                  </a:cubicBezTo>
                  <a:cubicBezTo>
                    <a:pt x="6605" y="15822"/>
                    <a:pt x="5351" y="15783"/>
                    <a:pt x="4500" y="16500"/>
                  </a:cubicBezTo>
                  <a:close/>
                </a:path>
                <a:path w="24000" h="24000" fill="none">
                  <a:moveTo>
                    <a:pt x="12000" y="15000"/>
                  </a:moveTo>
                  <a:lnTo>
                    <a:pt x="9000" y="12000"/>
                  </a:lnTo>
                  <a:cubicBezTo>
                    <a:pt x="9532" y="10619"/>
                    <a:pt x="10202" y="9296"/>
                    <a:pt x="11000" y="8050"/>
                  </a:cubicBezTo>
                  <a:cubicBezTo>
                    <a:pt x="13369" y="4262"/>
                    <a:pt x="17532" y="1972"/>
                    <a:pt x="22000" y="2000"/>
                  </a:cubicBezTo>
                  <a:cubicBezTo>
                    <a:pt x="22000" y="4720"/>
                    <a:pt x="21220" y="9500"/>
                    <a:pt x="16000" y="13000"/>
                  </a:cubicBezTo>
                  <a:cubicBezTo>
                    <a:pt x="14737" y="13799"/>
                    <a:pt x="13397" y="14469"/>
                    <a:pt x="12000" y="15000"/>
                  </a:cubicBezTo>
                  <a:close/>
                </a:path>
                <a:path w="24000" h="24000" fill="none">
                  <a:moveTo>
                    <a:pt x="9000" y="12000"/>
                  </a:moveTo>
                  <a:lnTo>
                    <a:pt x="4000" y="12000"/>
                  </a:lnTo>
                  <a:cubicBezTo>
                    <a:pt x="4000" y="12000"/>
                    <a:pt x="4550" y="8970"/>
                    <a:pt x="6000" y="8000"/>
                  </a:cubicBezTo>
                  <a:cubicBezTo>
                    <a:pt x="7620" y="6920"/>
                    <a:pt x="11000" y="8000"/>
                    <a:pt x="11000" y="8000"/>
                  </a:cubicBezTo>
                </a:path>
                <a:path w="24000" h="24000" fill="none">
                  <a:moveTo>
                    <a:pt x="12000" y="15000"/>
                  </a:moveTo>
                  <a:lnTo>
                    <a:pt x="12000" y="20000"/>
                  </a:lnTo>
                  <a:cubicBezTo>
                    <a:pt x="12000" y="20000"/>
                    <a:pt x="15030" y="19450"/>
                    <a:pt x="16000" y="18000"/>
                  </a:cubicBezTo>
                  <a:cubicBezTo>
                    <a:pt x="17080" y="16380"/>
                    <a:pt x="16000" y="13000"/>
                    <a:pt x="16000" y="1300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812432" y="2749817"/>
              <a:ext cx="3172561" cy="3361641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Просим одобрить запуск пилота.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4356100" y="1773238"/>
              <a:ext cx="3479800" cy="4447949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4575556" y="1992694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users"/>
            <p:cNvSpPr/>
            <p:nvPr/>
          </p:nvSpPr>
          <p:spPr>
            <a:xfrm>
              <a:off x="4708327" y="2125464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4509719" y="2749817"/>
              <a:ext cx="3172561" cy="3361641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Требуется выделение команды из 3 человек.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8053388" y="1773238"/>
              <a:ext cx="3479800" cy="4447949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8272844" y="1992694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clock"/>
            <p:cNvSpPr/>
            <p:nvPr/>
          </p:nvSpPr>
          <p:spPr>
            <a:xfrm>
              <a:off x="8405614" y="2125464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8207007" y="2749817"/>
              <a:ext cx="3172561" cy="3361641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Срок пилота:</a:t>
              </a:r>
              <a:r>
                <a:rPr sz="1800" b="0">
                  <a:solidFill>
                    <a:srgbClr val="000000"/>
                  </a:solidFill>
                  <a:latin typeface="Play"/>
                </a:rPr>
                <a:t> 6 недель.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body" idx="1"/>
          </p:nvPr>
        </p:nvSpPr>
        <p:spPr>
          <a:xfrm>
            <a:off x="677334" y="1773238"/>
            <a:ext cx="5317065" cy="4427537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Решение о запуске пилота и выделении команды</a:t>
            </a:r>
          </a:p>
        </p:txBody>
      </p:sp>
      <p:sp>
        <p:nvSpPr>
          <p:cNvPr id="3" name="BrandDeck Text 3"/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Просим одобрить запуск пилота с командой из 3 человек.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Пилот продлится 6 недель в двух подразделениях.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Измерим время поиска ответа и долю закрытых обращений.</a:t>
            </a:r>
          </a:p>
        </p:txBody>
      </p:sp>
      <p:sp>
        <p:nvSpPr>
          <p:cNvPr id="4" name="BrandDeck Text 4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</a:pPr>
            <a:r>
              <a:rPr sz="2400">
                <a:solidFill>
                  <a:srgbClr val="000000"/>
                </a:solidFill>
              </a:rPr>
              <a:t>Просим одобрить пилот и выделить команду из 3 человек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2026-09-26T20:31:29Z</dcterms:modified>
  <dc:subject>Template-adaptive presentation</dc:subject>
  <cp:keywords>BrandDeck, template-adaptive, presentation</cp:keywords>
  <dc:creator/>
  <dc:description/>
</cp:coreProperties>
</file>