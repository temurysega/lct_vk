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1.xml"/><Relationship Id="rId65" Type="http://schemas.openxmlformats.org/officeDocument/2006/relationships/slide" Target="slides/slide2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6.xml"/><Relationship Id="rId70" Type="http://schemas.openxmlformats.org/officeDocument/2006/relationships/slide" Target="slides/slide7.xml"/><Relationship Id="rId71" Type="http://schemas.openxmlformats.org/officeDocument/2006/relationships/slide" Target="slides/slide8.xml"/><Relationship Id="rId72" Type="http://schemas.openxmlformats.org/officeDocument/2006/relationships/slide" Target="slides/slide9.xml"/><Relationship Id="rId7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Данный слайд представляет инициативу по внедрению ИИ-помощника во внутренний портал для автоматизации ответов сотрудникам.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инструкции занимает до 30 минут, а треть обращений в поддержку — повторяющиеся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сотрудники тратят до 30 минут на поиск инструкций, а треть обращений в поддержку — это повторяющиеся вопросы, что создает нагрузку на обе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отвечает на вопросы по регламентам, предоставляя ссылку на источник, а сложные запросы перенаправляет специалистам с полным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работает внутри контура, документы не покидают его, а сложные вопросы передаются специалистам с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проект охватывает 150 сотрудников из двух подразделений и длится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Эти две метрики позволяют оценить эффективность внедрения ИИ-помощника и снижение нагрузки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предусматривает запуск пилота в двух подразделениях и мониторинг метрик в течение шести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Архитектурное ограничение работы модели внутри контура компании минимизирует риски утечки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запуска пилота требуется ваше одобрение и выделение команды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53" r:id="rId6"/>
    <p:sldLayoutId id="2147483659" r:id="rId12"/>
    <p:sldLayoutId id="2147483671" r:id="rId24"/>
    <p:sldLayoutId id="2147483672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8.jpeg"/><Relationship Id="rId4" Type="http://schemas.openxmlformats.org/officeDocument/2006/relationships/notesSlide" Target="../notesSlides/notesSlide5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9.jpeg"/><Relationship Id="rId4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BrandDeck Text 236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600">
                <a:solidFill>
                  <a:srgbClr val="000000"/>
                </a:solidFill>
              </a:rPr>
              <a:t>Инициатива по внедрению ИИ-помощника для автоматизации ответов сотрудников</a:t>
            </a:r>
            <a:endParaRPr/>
          </a:p>
        </p:txBody>
      </p:sp>
      <p:sp>
        <p:nvSpPr>
          <p:cNvPr id="237" name="BrandDeck Text 237"/>
          <p:cNvSpPr txBox="1"/>
          <p:nvPr>
            <p:ph type="title"/>
          </p:nvPr>
        </p:nvSpPr>
        <p:spPr>
          <a:xfrm>
            <a:off x="622261" y="2921912"/>
            <a:ext cx="527373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Сокращение времени поиска инструкций и снижение нагрузки на поддержку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4"/>
              </a:spcAft>
            </a:pPr>
            <a:r>
              <a:rPr sz="1700">
                <a:solidFill>
                  <a:srgbClr val="000000"/>
                </a:solidFill>
              </a:rPr>
              <a:t>Поиск инструкции занимает до 30 минут, а треть обращений — повторяющиеся вопросы</a:t>
            </a:r>
          </a:p>
        </p:txBody>
      </p:sp>
      <p:grpSp>
        <p:nvGrpSpPr>
          <p:cNvPr id="2" name="BrandDeck Diagram icon_grid" descr="icon_grid: Время поиска до 30 минут; Повторяющиеся вопросы треть обращений"/>
          <p:cNvGrpSpPr/>
          <p:nvPr/>
        </p:nvGrpSpPr>
        <p:grpSpPr>
          <a:xfrm>
            <a:off x="658813" y="2625612"/>
            <a:ext cx="10874374" cy="2743200"/>
            <a:chOff x="658813" y="2625612"/>
            <a:chExt cx="10874374" cy="2743200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2625612"/>
              <a:ext cx="5328443" cy="274320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3695460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clock"/>
            <p:cNvSpPr/>
            <p:nvPr/>
          </p:nvSpPr>
          <p:spPr>
            <a:xfrm>
              <a:off x="1011039" y="3828231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1613446" y="2757286"/>
              <a:ext cx="4154354" cy="2479852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 30 минут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204744" y="2625612"/>
              <a:ext cx="5328443" cy="274320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424200" y="3695460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repeat"/>
            <p:cNvSpPr/>
            <p:nvPr/>
          </p:nvSpPr>
          <p:spPr>
            <a:xfrm>
              <a:off x="6556971" y="3828231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7000" y="2000"/>
                  </a:moveTo>
                  <a:lnTo>
                    <a:pt x="21000" y="6000"/>
                  </a:lnTo>
                  <a:lnTo>
                    <a:pt x="17000" y="10000"/>
                  </a:lnTo>
                </a:path>
                <a:path w="24000" h="24000" fill="none">
                  <a:moveTo>
                    <a:pt x="3000" y="11000"/>
                  </a:moveTo>
                  <a:lnTo>
                    <a:pt x="3000" y="10000"/>
                  </a:lnTo>
                  <a:cubicBezTo>
                    <a:pt x="3000" y="7791"/>
                    <a:pt x="4791" y="6000"/>
                    <a:pt x="7000" y="6000"/>
                  </a:cubicBezTo>
                  <a:lnTo>
                    <a:pt x="21000" y="6000"/>
                  </a:lnTo>
                </a:path>
                <a:path w="24000" h="24000" fill="none">
                  <a:moveTo>
                    <a:pt x="7000" y="22000"/>
                  </a:moveTo>
                  <a:lnTo>
                    <a:pt x="3000" y="18000"/>
                  </a:lnTo>
                  <a:lnTo>
                    <a:pt x="7000" y="14000"/>
                  </a:lnTo>
                </a:path>
                <a:path w="24000" h="24000" fill="none">
                  <a:moveTo>
                    <a:pt x="21000" y="13000"/>
                  </a:moveTo>
                  <a:lnTo>
                    <a:pt x="21000" y="14000"/>
                  </a:lnTo>
                  <a:cubicBezTo>
                    <a:pt x="21000" y="16209"/>
                    <a:pt x="19209" y="18000"/>
                    <a:pt x="17000" y="18000"/>
                  </a:cubicBezTo>
                  <a:lnTo>
                    <a:pt x="3000" y="18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7159377" y="2757286"/>
              <a:ext cx="4154354" cy="2479852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Повторяющиеся вопросы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треть обращений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Сотрудники тратят время на поиск, а поддержка обрабатывает повторяющиеся запросы</a:t>
            </a:r>
            <a:endParaRPr/>
          </a:p>
        </p:txBody>
      </p:sp>
      <p:pic>
        <p:nvPicPr>
          <p:cNvPr id="1072" name="BrandDeck Image" descr="сотрудник специалист поддержки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Сотрудники тратят до 30 минут на поиск инструкций.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Треть обращений в поддержку — повторяющиеся вопросы.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Инициатива направлена на сотрудников и специалистов поддержки.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ИИ-помощник отвечает на вопросы по регламентам и дает ссылку на документ-источник</a:t>
            </a:r>
            <a:endParaRPr/>
          </a:p>
        </p:txBody>
      </p:sp>
      <p:grpSp>
        <p:nvGrpSpPr>
          <p:cNvPr id="2" name="BrandDeck Diagram icon_grid" descr="icon_grid: Система отвечает на вопросы по регламентам и инструкциям.; При ответе предоставляется ссылка на документ-источник.; При отсутствии ответа вопрос перенаправляется специалисту.; Перенаправление включает контекст для быстрого решения."/>
          <p:cNvGrpSpPr/>
          <p:nvPr/>
        </p:nvGrpSpPr>
        <p:grpSpPr>
          <a:xfrm>
            <a:off x="677334" y="3040128"/>
            <a:ext cx="10855853" cy="2448253"/>
            <a:chOff x="677334" y="3040128"/>
            <a:chExt cx="10855853" cy="2448253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3040128"/>
              <a:ext cx="5319368" cy="1115568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415032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file-text"/>
            <p:cNvSpPr/>
            <p:nvPr/>
          </p:nvSpPr>
          <p:spPr>
            <a:xfrm>
              <a:off x="977257" y="3495499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394223" y="3171802"/>
              <a:ext cx="4383022" cy="85222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Система отвечает на вопросы по регламентам и инструкциям.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3040128"/>
              <a:ext cx="5319368" cy="1115568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415032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link"/>
            <p:cNvSpPr/>
            <p:nvPr/>
          </p:nvSpPr>
          <p:spPr>
            <a:xfrm>
              <a:off x="6513742" y="3495499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6930709" y="3171802"/>
              <a:ext cx="4383022" cy="85222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При ответе предоставляется ссылка на документ-источник.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372813"/>
              <a:ext cx="5319368" cy="1115568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747717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circle-help"/>
            <p:cNvSpPr/>
            <p:nvPr/>
          </p:nvSpPr>
          <p:spPr>
            <a:xfrm>
              <a:off x="977257" y="4828184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394223" y="4504487"/>
              <a:ext cx="4383022" cy="85222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При отсутствии ответа вопрос перенаправляется специалисту.</a:t>
              </a:r>
            </a:p>
          </p:txBody>
        </p:sp>
        <p:sp>
          <p:nvSpPr>
            <p:cNvPr id="556" name="BrandDeck Diagram Card 4"/>
            <p:cNvSpPr/>
            <p:nvPr/>
          </p:nvSpPr>
          <p:spPr>
            <a:xfrm>
              <a:off x="6213819" y="4372813"/>
              <a:ext cx="5319368" cy="1115568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BrandDeck Diagram Icon 4 Badge"/>
            <p:cNvSpPr/>
            <p:nvPr/>
          </p:nvSpPr>
          <p:spPr>
            <a:xfrm>
              <a:off x="6433275" y="4747717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BrandDeck Icon timer"/>
            <p:cNvSpPr/>
            <p:nvPr/>
          </p:nvSpPr>
          <p:spPr>
            <a:xfrm>
              <a:off x="6513742" y="4828184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2000"/>
                  </a:moveTo>
                  <a:lnTo>
                    <a:pt x="14000" y="2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5000" y="11000"/>
                  </a:lnTo>
                </a:path>
                <a:path w="24000" h="24000" fill="none">
                  <a:moveTo>
                    <a:pt x="20000" y="14000"/>
                  </a:moveTo>
                  <a:cubicBezTo>
                    <a:pt x="20000" y="18418"/>
                    <a:pt x="16418" y="22000"/>
                    <a:pt x="12000" y="22000"/>
                  </a:cubicBezTo>
                  <a:cubicBezTo>
                    <a:pt x="7582" y="22000"/>
                    <a:pt x="4000" y="18418"/>
                    <a:pt x="4000" y="14000"/>
                  </a:cubicBezTo>
                  <a:cubicBezTo>
                    <a:pt x="4000" y="9582"/>
                    <a:pt x="7582" y="6000"/>
                    <a:pt x="12000" y="6000"/>
                  </a:cubicBezTo>
                  <a:cubicBezTo>
                    <a:pt x="16418" y="6000"/>
                    <a:pt x="20000" y="9582"/>
                    <a:pt x="20000" y="14000"/>
                  </a:cubicBezTo>
                  <a:close/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BrandDeck Diagram Text 4"/>
            <p:cNvSpPr txBox="1"/>
            <p:nvPr/>
          </p:nvSpPr>
          <p:spPr>
            <a:xfrm>
              <a:off x="6930709" y="4504487"/>
              <a:ext cx="4383022" cy="85222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Перенаправление включает контекст для быстрого решения.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Модель работает внутри контура компании, а подтвержденные вопросы уходят к специалисту</a:t>
            </a:r>
            <a:endParaRPr/>
          </a:p>
        </p:txBody>
      </p:sp>
      <p:pic>
        <p:nvPicPr>
          <p:cNvPr id="1072" name="BrandDeck Image" descr="внутренний контур серверная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Документы не уходят наружу при обработке запросов.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Вопросы без подтверждённого ответа уходят специалисту с контекстом.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000">
                <a:solidFill>
                  <a:srgbClr val="000000"/>
                </a:solidFill>
              </a:rPr>
              <a:t>Пилот охватывает 2 подразделения и 150 сотрудников в течение 6 недель</a:t>
            </a:r>
            <a:endParaRPr/>
          </a:p>
        </p:txBody>
      </p:sp>
      <p:grpSp>
        <p:nvGrpSpPr>
          <p:cNvPr id="2" name="BrandDeck Diagram icon_grid" descr="icon_grid: Длительность 6 недель; Участники 150 сотрудников; Охват 2 подразделения"/>
          <p:cNvGrpSpPr/>
          <p:nvPr/>
        </p:nvGrpSpPr>
        <p:grpSpPr>
          <a:xfrm>
            <a:off x="677334" y="2603500"/>
            <a:ext cx="10855853" cy="3597276"/>
            <a:chOff x="677334" y="2603500"/>
            <a:chExt cx="10855853" cy="3597276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89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hourglass"/>
            <p:cNvSpPr/>
            <p:nvPr/>
          </p:nvSpPr>
          <p:spPr>
            <a:xfrm>
              <a:off x="1029560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5000" y="22000"/>
                  </a:moveTo>
                  <a:lnTo>
                    <a:pt x="19000" y="22000"/>
                  </a:lnTo>
                </a:path>
                <a:path w="24000" h="24000" fill="none">
                  <a:moveTo>
                    <a:pt x="5000" y="2000"/>
                  </a:moveTo>
                  <a:lnTo>
                    <a:pt x="19000" y="2000"/>
                  </a:lnTo>
                </a:path>
                <a:path w="24000" h="24000" fill="none">
                  <a:moveTo>
                    <a:pt x="17000" y="22000"/>
                  </a:moveTo>
                  <a:lnTo>
                    <a:pt x="17000" y="17828"/>
                  </a:lnTo>
                  <a:cubicBezTo>
                    <a:pt x="17000" y="17298"/>
                    <a:pt x="16789" y="16789"/>
                    <a:pt x="16414" y="16414"/>
                  </a:cubicBezTo>
                  <a:lnTo>
                    <a:pt x="12000" y="12000"/>
                  </a:lnTo>
                  <a:lnTo>
                    <a:pt x="7586" y="16414"/>
                  </a:lnTo>
                  <a:cubicBezTo>
                    <a:pt x="7211" y="16789"/>
                    <a:pt x="7000" y="17298"/>
                    <a:pt x="7000" y="17828"/>
                  </a:cubicBezTo>
                  <a:lnTo>
                    <a:pt x="7000" y="22000"/>
                  </a:lnTo>
                </a:path>
                <a:path w="24000" h="24000" fill="none">
                  <a:moveTo>
                    <a:pt x="7000" y="2000"/>
                  </a:moveTo>
                  <a:lnTo>
                    <a:pt x="7000" y="6172"/>
                  </a:lnTo>
                  <a:cubicBezTo>
                    <a:pt x="7000" y="6702"/>
                    <a:pt x="7211" y="7211"/>
                    <a:pt x="7586" y="7586"/>
                  </a:cubicBezTo>
                  <a:lnTo>
                    <a:pt x="12000" y="12000"/>
                  </a:lnTo>
                  <a:lnTo>
                    <a:pt x="16414" y="7586"/>
                  </a:lnTo>
                  <a:cubicBezTo>
                    <a:pt x="16789" y="7211"/>
                    <a:pt x="17000" y="6702"/>
                    <a:pt x="17000" y="6172"/>
                  </a:cubicBezTo>
                  <a:lnTo>
                    <a:pt x="17000" y="2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83095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Длительность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6 недель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436832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4587780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users"/>
            <p:cNvSpPr/>
            <p:nvPr/>
          </p:nvSpPr>
          <p:spPr>
            <a:xfrm>
              <a:off x="4720551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452194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Участники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805931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278770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building-2"/>
            <p:cNvSpPr/>
            <p:nvPr/>
          </p:nvSpPr>
          <p:spPr>
            <a:xfrm>
              <a:off x="8411541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2000"/>
                  </a:moveTo>
                  <a:lnTo>
                    <a:pt x="6000" y="4000"/>
                  </a:lnTo>
                  <a:cubicBezTo>
                    <a:pt x="6000" y="2895"/>
                    <a:pt x="6895" y="2000"/>
                    <a:pt x="8000" y="2000"/>
                  </a:cubicBezTo>
                  <a:lnTo>
                    <a:pt x="16000" y="2000"/>
                  </a:lnTo>
                  <a:cubicBezTo>
                    <a:pt x="17105" y="2000"/>
                    <a:pt x="18000" y="2895"/>
                    <a:pt x="18000" y="4000"/>
                  </a:cubicBezTo>
                  <a:lnTo>
                    <a:pt x="18000" y="22000"/>
                  </a:lnTo>
                  <a:close/>
                </a:path>
                <a:path w="24000" h="24000" fill="none">
                  <a:moveTo>
                    <a:pt x="6000" y="12000"/>
                  </a:moveTo>
                  <a:lnTo>
                    <a:pt x="4000" y="12000"/>
                  </a:lnTo>
                  <a:cubicBezTo>
                    <a:pt x="2895" y="12000"/>
                    <a:pt x="2000" y="12895"/>
                    <a:pt x="2000" y="14000"/>
                  </a:cubicBezTo>
                  <a:lnTo>
                    <a:pt x="2000" y="20000"/>
                  </a:lnTo>
                  <a:cubicBezTo>
                    <a:pt x="2000" y="21105"/>
                    <a:pt x="2895" y="22000"/>
                    <a:pt x="4000" y="22000"/>
                  </a:cubicBezTo>
                  <a:lnTo>
                    <a:pt x="6000" y="22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20000" y="9000"/>
                  </a:lnTo>
                  <a:cubicBezTo>
                    <a:pt x="21105" y="9000"/>
                    <a:pt x="22000" y="9895"/>
                    <a:pt x="22000" y="11000"/>
                  </a:cubicBezTo>
                  <a:lnTo>
                    <a:pt x="22000" y="20000"/>
                  </a:lnTo>
                  <a:cubicBezTo>
                    <a:pt x="22000" y="21105"/>
                    <a:pt x="21105" y="22000"/>
                    <a:pt x="20000" y="22000"/>
                  </a:cubicBezTo>
                  <a:lnTo>
                    <a:pt x="18000" y="22000"/>
                  </a:lnTo>
                </a:path>
                <a:path w="24000" h="24000" fill="none">
                  <a:moveTo>
                    <a:pt x="10000" y="6000"/>
                  </a:moveTo>
                  <a:lnTo>
                    <a:pt x="14000" y="6000"/>
                  </a:lnTo>
                </a:path>
                <a:path w="24000" h="24000" fill="none">
                  <a:moveTo>
                    <a:pt x="10000" y="10000"/>
                  </a:moveTo>
                  <a:lnTo>
                    <a:pt x="14000" y="10000"/>
                  </a:lnTo>
                </a:path>
                <a:path w="24000" h="24000" fill="none">
                  <a:moveTo>
                    <a:pt x="10000" y="14000"/>
                  </a:moveTo>
                  <a:lnTo>
                    <a:pt x="14000" y="14000"/>
                  </a:lnTo>
                </a:path>
                <a:path w="24000" h="24000" fill="none">
                  <a:moveTo>
                    <a:pt x="10000" y="18000"/>
                  </a:moveTo>
                  <a:lnTo>
                    <a:pt x="14000" y="18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821293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Охват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Успех пилота измеряется временем поиска ответа и долей обращений, закрытых без специалиста</a:t>
            </a:r>
            <a:endParaRPr/>
          </a:p>
        </p:txBody>
      </p:sp>
      <p:grpSp>
        <p:nvGrpSpPr>
          <p:cNvPr id="2" name="BrandDeck Diagram icon_grid" descr="icon_grid: Время поиска ответа измеряется для оценки скорости работы.; Доля обращений, закрытых без специалиста, отслеживается как метрика.; Эти показатели определяют успешность пилотного проекта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71525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clock"/>
            <p:cNvSpPr/>
            <p:nvPr/>
          </p:nvSpPr>
          <p:spPr>
            <a:xfrm>
              <a:off x="977257" y="3451992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394223" y="3044627"/>
              <a:ext cx="4383022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Время поиска ответа измеряется для оценки скорости работы.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71525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user"/>
            <p:cNvSpPr/>
            <p:nvPr/>
          </p:nvSpPr>
          <p:spPr>
            <a:xfrm>
              <a:off x="6513742" y="3451992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21000"/>
                  </a:moveTo>
                  <a:lnTo>
                    <a:pt x="19000" y="19000"/>
                  </a:lnTo>
                  <a:cubicBezTo>
                    <a:pt x="19000" y="16791"/>
                    <a:pt x="17209" y="15000"/>
                    <a:pt x="15000" y="15000"/>
                  </a:cubicBezTo>
                  <a:lnTo>
                    <a:pt x="9000" y="15000"/>
                  </a:lnTo>
                  <a:cubicBezTo>
                    <a:pt x="6791" y="15000"/>
                    <a:pt x="5000" y="16791"/>
                    <a:pt x="5000" y="19000"/>
                  </a:cubicBezTo>
                  <a:lnTo>
                    <a:pt x="5000" y="21000"/>
                  </a:lnTo>
                </a:path>
                <a:path w="24000" h="24000" fill="none">
                  <a:moveTo>
                    <a:pt x="16000" y="7000"/>
                  </a:moveTo>
                  <a:cubicBezTo>
                    <a:pt x="16000" y="9209"/>
                    <a:pt x="14209" y="11000"/>
                    <a:pt x="12000" y="11000"/>
                  </a:cubicBezTo>
                  <a:cubicBezTo>
                    <a:pt x="9791" y="11000"/>
                    <a:pt x="8000" y="9209"/>
                    <a:pt x="8000" y="7000"/>
                  </a:cubicBezTo>
                  <a:cubicBezTo>
                    <a:pt x="8000" y="4791"/>
                    <a:pt x="9791" y="3000"/>
                    <a:pt x="12000" y="3000"/>
                  </a:cubicBezTo>
                  <a:cubicBezTo>
                    <a:pt x="14209" y="3000"/>
                    <a:pt x="16000" y="4791"/>
                    <a:pt x="16000" y="7000"/>
                  </a:cubicBezTo>
                  <a:close/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6930709" y="3044627"/>
              <a:ext cx="4383022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Доля обращений, закрытых без специалиста, отслеживается как метрика.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71545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chart-column"/>
            <p:cNvSpPr/>
            <p:nvPr/>
          </p:nvSpPr>
          <p:spPr>
            <a:xfrm>
              <a:off x="977257" y="4952013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3000"/>
                  </a:moveTo>
                  <a:lnTo>
                    <a:pt x="3000" y="19000"/>
                  </a:lnTo>
                  <a:cubicBezTo>
                    <a:pt x="3000" y="20105"/>
                    <a:pt x="3895" y="21000"/>
                    <a:pt x="5000" y="21000"/>
                  </a:cubicBezTo>
                  <a:lnTo>
                    <a:pt x="21000" y="21000"/>
                  </a:lnTo>
                </a:path>
                <a:path w="24000" h="24000" fill="none">
                  <a:moveTo>
                    <a:pt x="18000" y="17000"/>
                  </a:moveTo>
                  <a:lnTo>
                    <a:pt x="18000" y="9000"/>
                  </a:lnTo>
                </a:path>
                <a:path w="24000" h="24000" fill="none">
                  <a:moveTo>
                    <a:pt x="13000" y="17000"/>
                  </a:moveTo>
                  <a:lnTo>
                    <a:pt x="13000" y="5000"/>
                  </a:lnTo>
                </a:path>
                <a:path w="24000" h="24000" fill="none">
                  <a:moveTo>
                    <a:pt x="8000" y="17000"/>
                  </a:moveTo>
                  <a:lnTo>
                    <a:pt x="8000" y="14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394223" y="4544647"/>
              <a:ext cx="4383022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Эти показатели определяют успешность пилотного проекта.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План включает запуск пилота в двух подразделениях и мониторинг метрик в течение 6 недель</a:t>
            </a:r>
          </a:p>
        </p:txBody>
      </p:sp>
      <p:grpSp>
        <p:nvGrpSpPr>
          <p:cNvPr id="2" name="BrandDeck Diagram cycle" descr="cycle: Запуск 2 подразделения; Мониторинг 6 недель; Анализ Время поиска и доля закрытых"/>
          <p:cNvGrpSpPr/>
          <p:nvPr/>
        </p:nvGrpSpPr>
        <p:grpSpPr>
          <a:xfrm>
            <a:off x="912666" y="1773238"/>
            <a:ext cx="10620521" cy="4402228"/>
            <a:chOff x="912666" y="1773238"/>
            <a:chExt cx="10620521" cy="4402228"/>
          </a:xfrm>
        </p:grpSpPr>
        <p:sp>
          <p:nvSpPr>
            <p:cNvPr id="4" name="BrandDeck Diagram Ring"/>
            <p:cNvSpPr/>
            <p:nvPr/>
          </p:nvSpPr>
          <p:spPr>
            <a:xfrm>
              <a:off x="987997" y="2102422"/>
              <a:ext cx="3789581" cy="3789581"/>
            </a:xfrm>
            <a:prstGeom prst="ellipse">
              <a:avLst/>
            </a:prstGeom>
            <a:noFill/>
            <a:ln w="28575">
              <a:solidFill>
                <a:srgbClr val="59A7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Arrow 1"/>
            <p:cNvSpPr/>
            <p:nvPr/>
          </p:nvSpPr>
          <p:spPr>
            <a:xfrm rot="9000000">
              <a:off x="4423140" y="2949233"/>
              <a:ext cx="201168" cy="201168"/>
            </a:xfrm>
            <a:prstGeom prst="triangle">
              <a:avLst/>
            </a:prstGeom>
            <a:solidFill>
              <a:srgbClr val="59A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Diagram Arrow 2"/>
            <p:cNvSpPr/>
            <p:nvPr/>
          </p:nvSpPr>
          <p:spPr>
            <a:xfrm rot="16200000">
              <a:off x="2782203" y="5791419"/>
              <a:ext cx="201168" cy="201168"/>
            </a:xfrm>
            <a:prstGeom prst="triangle">
              <a:avLst/>
            </a:prstGeom>
            <a:solidFill>
              <a:srgbClr val="59A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Arrow 3"/>
            <p:cNvSpPr/>
            <p:nvPr/>
          </p:nvSpPr>
          <p:spPr>
            <a:xfrm rot="1800000">
              <a:off x="1141266" y="2949233"/>
              <a:ext cx="201168" cy="201168"/>
            </a:xfrm>
            <a:prstGeom prst="triangle">
              <a:avLst/>
            </a:prstGeom>
            <a:solidFill>
              <a:srgbClr val="59A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randDeck Diagram Node 1 Badge"/>
            <p:cNvSpPr/>
            <p:nvPr/>
          </p:nvSpPr>
          <p:spPr>
            <a:xfrm>
              <a:off x="2553603" y="1773238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9" name="BrandDeck Diagram Node 2 Badge"/>
            <p:cNvSpPr/>
            <p:nvPr/>
          </p:nvSpPr>
          <p:spPr>
            <a:xfrm>
              <a:off x="4194540" y="4615423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0" name="BrandDeck Diagram Node 3 Badge"/>
            <p:cNvSpPr/>
            <p:nvPr/>
          </p:nvSpPr>
          <p:spPr>
            <a:xfrm>
              <a:off x="912666" y="4615423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1" name="BrandDeck Diagram Legend Card 1"/>
            <p:cNvSpPr/>
            <p:nvPr/>
          </p:nvSpPr>
          <p:spPr>
            <a:xfrm>
              <a:off x="5426801" y="1818958"/>
              <a:ext cx="6106386" cy="1391209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BrandDeck Diagram Legend 1 Badge"/>
            <p:cNvSpPr/>
            <p:nvPr/>
          </p:nvSpPr>
          <p:spPr>
            <a:xfrm>
              <a:off x="5554817" y="2359114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13" name="BrandDeck Diagram Text 1"/>
            <p:cNvSpPr txBox="1"/>
            <p:nvPr/>
          </p:nvSpPr>
          <p:spPr>
            <a:xfrm>
              <a:off x="6012017" y="1828102"/>
              <a:ext cx="5393154" cy="137292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Запуск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</p:txBody>
        </p:sp>
        <p:sp>
          <p:nvSpPr>
            <p:cNvPr id="14" name="BrandDeck Diagram Legend Card 2"/>
            <p:cNvSpPr/>
            <p:nvPr/>
          </p:nvSpPr>
          <p:spPr>
            <a:xfrm>
              <a:off x="5426801" y="3301607"/>
              <a:ext cx="6106386" cy="1391209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Legend 2 Badge"/>
            <p:cNvSpPr/>
            <p:nvPr/>
          </p:nvSpPr>
          <p:spPr>
            <a:xfrm>
              <a:off x="5554817" y="3841764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6" name="BrandDeck Diagram Text 2"/>
            <p:cNvSpPr txBox="1"/>
            <p:nvPr/>
          </p:nvSpPr>
          <p:spPr>
            <a:xfrm>
              <a:off x="6012017" y="3310751"/>
              <a:ext cx="5393154" cy="137292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Мониторинг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6 недель</a:t>
              </a:r>
            </a:p>
          </p:txBody>
        </p:sp>
        <p:sp>
          <p:nvSpPr>
            <p:cNvPr id="17" name="BrandDeck Diagram Legend Card 3"/>
            <p:cNvSpPr/>
            <p:nvPr/>
          </p:nvSpPr>
          <p:spPr>
            <a:xfrm>
              <a:off x="5426801" y="4784257"/>
              <a:ext cx="6106386" cy="1391209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randDeck Diagram Legend 3 Badge"/>
            <p:cNvSpPr/>
            <p:nvPr/>
          </p:nvSpPr>
          <p:spPr>
            <a:xfrm>
              <a:off x="5554817" y="5324414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9" name="BrandDeck Diagram Text 3"/>
            <p:cNvSpPr txBox="1"/>
            <p:nvPr/>
          </p:nvSpPr>
          <p:spPr>
            <a:xfrm>
              <a:off x="6012017" y="4793401"/>
              <a:ext cx="5393154" cy="137292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Анализ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Время поиска и доля закрытых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BrandDeck Text 4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Основные риски связаны с безопасностью данных, которые контролируются работой внутри контура</a:t>
            </a:r>
          </a:p>
        </p:txBody>
      </p:sp>
      <p:grpSp>
        <p:nvGrpSpPr>
          <p:cNvPr id="2" name="BrandDeck Diagram matrix" descr="matrix: Риск Утечка данных наружу; Мера Работа модели внутри контура; Риск Отсутствие контекста; Мера Передача вопроса специалисту"/>
          <p:cNvGrpSpPr/>
          <p:nvPr/>
        </p:nvGrpSpPr>
        <p:grpSpPr>
          <a:xfrm>
            <a:off x="677334" y="1773238"/>
            <a:ext cx="10837332" cy="4427537"/>
            <a:chOff x="677334" y="1773238"/>
            <a:chExt cx="10837332" cy="4427537"/>
          </a:xfrm>
        </p:grpSpPr>
        <p:sp>
          <p:nvSpPr>
            <p:cNvPr id="5" name="BrandDeck Diagram Axis Y"/>
            <p:cNvSpPr txBox="1"/>
            <p:nvPr/>
          </p:nvSpPr>
          <p:spPr>
            <a:xfrm>
              <a:off x="677334" y="1773238"/>
              <a:ext cx="10837332" cy="274320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200" b="0">
                  <a:solidFill>
                    <a:srgbClr val="000000"/>
                  </a:solidFill>
                  <a:latin typeface="Play"/>
                </a:rPr>
                <a:t>Риск</a:t>
              </a:r>
            </a:p>
          </p:txBody>
        </p:sp>
        <p:sp>
          <p:nvSpPr>
            <p:cNvPr id="6" name="BrandDeck Diagram Quadrant 1"/>
            <p:cNvSpPr/>
            <p:nvPr/>
          </p:nvSpPr>
          <p:spPr>
            <a:xfrm>
              <a:off x="677334" y="208413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Риск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Утечка данных наружу</a:t>
              </a:r>
            </a:p>
          </p:txBody>
        </p:sp>
        <p:sp>
          <p:nvSpPr>
            <p:cNvPr id="7" name="BrandDeck Diagram Quadrant 2"/>
            <p:cNvSpPr/>
            <p:nvPr/>
          </p:nvSpPr>
          <p:spPr>
            <a:xfrm>
              <a:off x="6160008" y="208413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358BEF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Мера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Работа модели внутри контура</a:t>
              </a:r>
            </a:p>
          </p:txBody>
        </p:sp>
        <p:sp>
          <p:nvSpPr>
            <p:cNvPr id="8" name="BrandDeck Diagram Quadrant 3"/>
            <p:cNvSpPr/>
            <p:nvPr/>
          </p:nvSpPr>
          <p:spPr>
            <a:xfrm>
              <a:off x="677334" y="405101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69A9F3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Риск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Отсутствие контекста</a:t>
              </a:r>
            </a:p>
          </p:txBody>
        </p:sp>
        <p:sp>
          <p:nvSpPr>
            <p:cNvPr id="9" name="BrandDeck Diagram Quadrant 4"/>
            <p:cNvSpPr/>
            <p:nvPr/>
          </p:nvSpPr>
          <p:spPr>
            <a:xfrm>
              <a:off x="6160008" y="405101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9EC8F7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Мера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Передача вопроса специалисту</a:t>
              </a:r>
            </a:p>
          </p:txBody>
        </p:sp>
        <p:sp>
          <p:nvSpPr>
            <p:cNvPr id="10" name="BrandDeck Diagram Axis X"/>
            <p:cNvSpPr txBox="1"/>
            <p:nvPr/>
          </p:nvSpPr>
          <p:spPr>
            <a:xfrm>
              <a:off x="677334" y="5926455"/>
              <a:ext cx="10837332" cy="274320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0">
                  <a:solidFill>
                    <a:srgbClr val="000000"/>
                  </a:solidFill>
                  <a:latin typeface="Play"/>
                </a:rPr>
                <a:t>Мера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1" name="BrandDeck Text 541"/>
          <p:cNvSpPr txBox="1"/>
          <p:nvPr>
            <p:ph idx="1" type="body"/>
          </p:nvPr>
        </p:nvSpPr>
        <p:spPr>
          <a:xfrm>
            <a:off x="677334" y="2603500"/>
            <a:ext cx="5304365" cy="3597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Запрос на одобрение пилота и выделение команды из 3 человек</a:t>
            </a:r>
            <a:endParaRPr/>
          </a:p>
        </p:txBody>
      </p:sp>
      <p:sp>
        <p:nvSpPr>
          <p:cNvPr id="542" name="BrandDeck Text 542"/>
          <p:cNvSpPr txBox="1"/>
          <p:nvPr>
            <p:ph idx="2" type="body"/>
          </p:nvPr>
        </p:nvSpPr>
        <p:spPr>
          <a:xfrm>
            <a:off x="6228824" y="2603501"/>
            <a:ext cx="5304364" cy="3597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Просим одобрить запуск пилота ИИ-помощника.</a:t>
            </a:r>
            <a:endParaRPr/>
          </a:p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Необходимо выделить команду из 3 человек для реализации.</a:t>
            </a:r>
          </a:p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Решение требуется для начала работ по пилоту.</a:t>
            </a:r>
          </a:p>
        </p:txBody>
      </p:sp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Одобрить пилот и выделить команду из 3 человек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2026-09-28T16:02:49Z</dcterms:modified>
  <dc:subject>Template-adaptive presentation</dc:subject>
  <cp:keywords>BrandDeck, template-adaptive, presentation</cp:keywords>
  <dc:creator/>
  <dc:description/>
</cp:coreProperties>
</file>