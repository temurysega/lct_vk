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1.xml"/><Relationship Id="rId65" Type="http://schemas.openxmlformats.org/officeDocument/2006/relationships/slide" Target="slides/slide2.xml"/><Relationship Id="rId66" Type="http://schemas.openxmlformats.org/officeDocument/2006/relationships/slide" Target="slides/slide3.xml"/><Relationship Id="rId67" Type="http://schemas.openxmlformats.org/officeDocument/2006/relationships/slide" Target="slides/slide4.xml"/><Relationship Id="rId68" Type="http://schemas.openxmlformats.org/officeDocument/2006/relationships/slide" Target="slides/slide5.xml"/><Relationship Id="rId69" Type="http://schemas.openxmlformats.org/officeDocument/2006/relationships/slide" Target="slides/slide6.xml"/><Relationship Id="rId70" Type="http://schemas.openxmlformats.org/officeDocument/2006/relationships/slide" Target="slides/slide7.xml"/><Relationship Id="rId71" Type="http://schemas.openxmlformats.org/officeDocument/2006/relationships/slide" Target="slides/slide8.xml"/><Relationship Id="rId72" Type="http://schemas.openxmlformats.org/officeDocument/2006/relationships/slide" Target="slides/slide9.xml"/><Relationship Id="rId73" Type="http://schemas.openxmlformats.org/officeDocument/2006/relationships/slide" Target="slides/slide10.xml"/><Relationship Id="rId74" Type="http://schemas.openxmlformats.org/officeDocument/2006/relationships/slide" Target="slides/slide11.xml"/><Relationship Id="rId75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Этот слайд представляет инициативу по внедрению ИИ-помощника для автоматизации ответов сотрудникам и сокращения времени поиска инструкций.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поиск информации занимает до 30 минут, что существенно замедляет работу сотрудников.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Значительная часть обращений дублирует вопросы по инструкциям, создавая лишнюю нагрузку на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Текущая ситуация приводит к значительным потерям времени сотрудников и избыточной нагрузке на службу поддержки, что негативно сказывается на бизнес-процессах.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автоматически отвечает сотрудникам на вопросы по регламентам и предоставляет ссылку на исходный документ.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используем модель с открытыми весами, которая работает исключительно внутри контура компании, гарантируя, что документы не покидают внутреннюю инфраструктуру.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 отсутствии готового ответа в базе знаний система автоматически перенаправляет вопрос эксперту, передавая ему весь контекст диалога.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запуск охватывает два подразделения с общим количеством 150 сотрудников для проверки гипотезы.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Срок проведения пилота составляет шесть недель, что позволит получить достаточную статистическую выборку для оценки эффективности.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Успех пилота будет измеряться временем поиска ответа и долей обращений, закрытых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реализации проекта необходимо выделить команду из трех человек, которые займутся настройкой и мониторингом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реализации проекта требуется одобрение пилота и выделение команды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52" r:id="rId5"/>
    <p:sldLayoutId id="2147483653" r:id="rId6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8.jpeg"/><Relationship Id="rId3" Type="http://schemas.openxmlformats.org/officeDocument/2006/relationships/notesSlide" Target="../notesSlides/notesSlide5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6.png"/><Relationship Id="rId3" Type="http://schemas.openxmlformats.org/officeDocument/2006/relationships/image" Target="../media/image259.jpeg"/><Relationship Id="rId4" Type="http://schemas.openxmlformats.org/officeDocument/2006/relationships/notesSlide" Target="../notesSlides/notesSlide6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BrandDeck Text 236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sz="1600">
                <a:solidFill>
                  <a:srgbClr val="000000"/>
                </a:solidFill>
              </a:rPr>
              <a:t>Внедрение ИИ-помощника для автоматизации ответов сотрудникам</a:t>
            </a:r>
            <a:endParaRPr/>
          </a:p>
        </p:txBody>
      </p:sp>
      <p:sp>
        <p:nvSpPr>
          <p:cNvPr id="237" name="BrandDeck Text 237"/>
          <p:cNvSpPr txBox="1"/>
          <p:nvPr>
            <p:ph type="title"/>
          </p:nvPr>
        </p:nvSpPr>
        <p:spPr>
          <a:xfrm>
            <a:off x="622261" y="2921912"/>
            <a:ext cx="527373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3200">
                <a:solidFill>
                  <a:srgbClr val="000000"/>
                </a:solidFill>
              </a:rPr>
              <a:t>Сокращение времени поиска инструкций до 30 минут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658813" y="692150"/>
            <a:ext cx="5254307" cy="1380285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</a:pPr>
            <a:r>
              <a:rPr sz="2400">
                <a:solidFill>
                  <a:srgbClr val="000000"/>
                </a:solidFill>
              </a:rPr>
              <a:t>Сотрудники теряют до 30 минут на поиск инструкций</a:t>
            </a:r>
          </a:p>
        </p:txBody>
      </p:sp>
      <p:sp>
        <p:nvSpPr>
          <p:cNvPr id="3" name="BrandDeck Text 3"/>
          <p:cNvSpPr>
            <a:spLocks noGrp="1"/>
          </p:cNvSpPr>
          <p:nvPr>
            <p:ph type="body" idx="1"/>
          </p:nvPr>
        </p:nvSpPr>
        <p:spPr/>
        <p:txBody>
          <a:bodyPr wrap="square" anchor="t">
            <a:norm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>
                <a:solidFill>
                  <a:srgbClr val="000000"/>
                </a:solidFill>
              </a:rPr>
              <a:t>Сотрудники тратят до 30 минут на поиск нужной инструкции.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>
                <a:solidFill>
                  <a:srgbClr val="000000"/>
                </a:solidFill>
              </a:rPr>
              <a:t>Ручной поиск регламентов снижает общую эффективность работы.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>
                <a:solidFill>
                  <a:srgbClr val="000000"/>
                </a:solidFill>
              </a:rPr>
              <a:t>Длительное время поиска отвлекает от выполнения основных задач.</a:t>
            </a:r>
          </a:p>
        </p:txBody>
      </p:sp>
      <p:pic>
        <p:nvPicPr>
          <p:cNvPr id="4" name="BrandDeck Image" descr="сотрудник специалист поддержки"/>
          <p:cNvPicPr>
            <a:picLocks noGrp="1" noChangeAspect="1"/>
          </p:cNvPicPr>
          <p:nvPr>
            <p:ph type="pic" idx="2"/>
          </p:nvPr>
        </p:nvPicPr>
        <p:blipFill>
          <a:blip r:embed="rId2"/>
          <a:srcRect l="24987" r="24987"/>
          <a:stretch>
            <a:fillRect/>
          </a:stretch>
        </p:blipFill>
        <p:spPr/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Треть обращений в поддержку — повторяющиеся вопросы</a:t>
            </a:r>
            <a:endParaRPr/>
          </a:p>
        </p:txBody>
      </p:sp>
      <p:grpSp>
        <p:nvGrpSpPr>
          <p:cNvPr id="2" name="BrandDeck Diagram icon_grid" descr="icon_grid: Треть обращений в поддержку — повторяющиеся вопросы.; Запросы касаются регламентов и инструкций.; Нагрузка на поддержку растет из-за дублирования."/>
          <p:cNvGrpSpPr/>
          <p:nvPr/>
        </p:nvGrpSpPr>
        <p:grpSpPr>
          <a:xfrm>
            <a:off x="677334" y="3040128"/>
            <a:ext cx="10855853" cy="2448253"/>
            <a:chOff x="677334" y="3040128"/>
            <a:chExt cx="10855853" cy="2448253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3040128"/>
              <a:ext cx="5319368" cy="1115568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90" y="3361301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headset"/>
            <p:cNvSpPr/>
            <p:nvPr/>
          </p:nvSpPr>
          <p:spPr>
            <a:xfrm>
              <a:off x="1000898" y="3465410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1501685" y="3171802"/>
              <a:ext cx="4275560" cy="85222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Треть обращений в поддержку —</a:t>
              </a:r>
              <a:r>
                <a:rPr sz="1800" b="0">
                  <a:solidFill>
                    <a:srgbClr val="000000"/>
                  </a:solidFill>
                  <a:latin typeface="Play"/>
                </a:rPr>
                <a:t> повторяющиеся вопросы.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3040128"/>
              <a:ext cx="5319368" cy="1115568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3361301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file-text"/>
            <p:cNvSpPr/>
            <p:nvPr/>
          </p:nvSpPr>
          <p:spPr>
            <a:xfrm>
              <a:off x="6537384" y="3465410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7038171" y="3171802"/>
              <a:ext cx="4275560" cy="85222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Запросы касаются регламентов и инструкций.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677334" y="4372813"/>
              <a:ext cx="5319368" cy="1115568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96790" y="4693986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gauge"/>
            <p:cNvSpPr/>
            <p:nvPr/>
          </p:nvSpPr>
          <p:spPr>
            <a:xfrm>
              <a:off x="1000898" y="4798095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2000" y="14000"/>
                  </a:moveTo>
                  <a:lnTo>
                    <a:pt x="16000" y="10000"/>
                  </a:lnTo>
                </a:path>
                <a:path w="24000" h="24000" fill="none">
                  <a:moveTo>
                    <a:pt x="3340" y="19000"/>
                  </a:moveTo>
                  <a:cubicBezTo>
                    <a:pt x="913" y="14797"/>
                    <a:pt x="1854" y="9459"/>
                    <a:pt x="5572" y="6339"/>
                  </a:cubicBezTo>
                  <a:cubicBezTo>
                    <a:pt x="9290" y="3220"/>
                    <a:pt x="14710" y="3220"/>
                    <a:pt x="18428" y="6339"/>
                  </a:cubicBezTo>
                  <a:cubicBezTo>
                    <a:pt x="22146" y="9459"/>
                    <a:pt x="23087" y="14797"/>
                    <a:pt x="20660" y="19000"/>
                  </a:cubicBez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1501685" y="4504487"/>
              <a:ext cx="4275560" cy="85222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Нагрузка на поддержку растет из-за дублирования.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Потеря времени и нагрузка на поддержку мешают бизнесу</a:t>
            </a:r>
            <a:endParaRPr/>
          </a:p>
        </p:txBody>
      </p:sp>
      <p:grpSp>
        <p:nvGrpSpPr>
          <p:cNvPr id="2" name="BrandDeck Diagram icon_grid" descr="icon_grid: До 30 минут тратится на поиск инструкции вместо работы.; Треть обращений — повторяющиеся вопросы, нагружающие поддержку.; Ручной поиск снижает общую эффективность внутренних процессов."/>
          <p:cNvGrpSpPr/>
          <p:nvPr/>
        </p:nvGrpSpPr>
        <p:grpSpPr>
          <a:xfrm>
            <a:off x="677334" y="2912953"/>
            <a:ext cx="10855853" cy="2782924"/>
            <a:chOff x="677334" y="2912953"/>
            <a:chExt cx="10855853" cy="2782924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90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clock"/>
            <p:cNvSpPr/>
            <p:nvPr/>
          </p:nvSpPr>
          <p:spPr>
            <a:xfrm>
              <a:off x="1000898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1501685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До 30 минут тратится на поиск инструкции вместо работы.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headset"/>
            <p:cNvSpPr/>
            <p:nvPr/>
          </p:nvSpPr>
          <p:spPr>
            <a:xfrm>
              <a:off x="6537384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7038171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Треть обращений —</a:t>
              </a:r>
              <a:r>
                <a:rPr sz="1800" b="0">
                  <a:solidFill>
                    <a:srgbClr val="000000"/>
                  </a:solidFill>
                  <a:latin typeface="Play"/>
                </a:rPr>
                <a:t> повторяющиеся вопросы, нагружающие поддержку.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677334" y="4412974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96790" y="481781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gauge"/>
            <p:cNvSpPr/>
            <p:nvPr/>
          </p:nvSpPr>
          <p:spPr>
            <a:xfrm>
              <a:off x="1000898" y="492192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2000" y="14000"/>
                  </a:moveTo>
                  <a:lnTo>
                    <a:pt x="16000" y="10000"/>
                  </a:lnTo>
                </a:path>
                <a:path w="24000" h="24000" fill="none">
                  <a:moveTo>
                    <a:pt x="3340" y="19000"/>
                  </a:moveTo>
                  <a:cubicBezTo>
                    <a:pt x="913" y="14797"/>
                    <a:pt x="1854" y="9459"/>
                    <a:pt x="5572" y="6339"/>
                  </a:cubicBezTo>
                  <a:cubicBezTo>
                    <a:pt x="9290" y="3220"/>
                    <a:pt x="14710" y="3220"/>
                    <a:pt x="18428" y="6339"/>
                  </a:cubicBezTo>
                  <a:cubicBezTo>
                    <a:pt x="22146" y="9459"/>
                    <a:pt x="23087" y="14797"/>
                    <a:pt x="20660" y="19000"/>
                  </a:cubicBez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1501685" y="454464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Ручной поиск снижает общую эффективность внутренних процессов.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ИИ-помощник отвечает на вопросы по регламентам и дает ссылку на документ</a:t>
            </a:r>
            <a:endParaRPr/>
          </a:p>
        </p:txBody>
      </p:sp>
      <p:grpSp>
        <p:nvGrpSpPr>
          <p:cNvPr id="2" name="BrandDeck Diagram icon_grid" descr="icon_grid: Система отвечает на вопросы по регламентам.; В ответе всегда указывается ссылка на документ.; Ответ формируется автоматически без участия людей."/>
          <p:cNvGrpSpPr/>
          <p:nvPr/>
        </p:nvGrpSpPr>
        <p:grpSpPr>
          <a:xfrm>
            <a:off x="677334" y="2912953"/>
            <a:ext cx="10855853" cy="2782924"/>
            <a:chOff x="677334" y="2912953"/>
            <a:chExt cx="10855853" cy="2782924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90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circle-help"/>
            <p:cNvSpPr/>
            <p:nvPr/>
          </p:nvSpPr>
          <p:spPr>
            <a:xfrm>
              <a:off x="1000898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9090" y="9000"/>
                  </a:moveTo>
                  <a:cubicBezTo>
                    <a:pt x="9575" y="7620"/>
                    <a:pt x="10985" y="6791"/>
                    <a:pt x="12427" y="7039"/>
                  </a:cubicBezTo>
                  <a:cubicBezTo>
                    <a:pt x="13869" y="7286"/>
                    <a:pt x="14922" y="8537"/>
                    <a:pt x="14920" y="10000"/>
                  </a:cubicBezTo>
                  <a:cubicBezTo>
                    <a:pt x="14920" y="12000"/>
                    <a:pt x="11920" y="13000"/>
                    <a:pt x="11920" y="13000"/>
                  </a:cubicBezTo>
                </a:path>
                <a:path w="24000" h="24000" fill="none">
                  <a:moveTo>
                    <a:pt x="12000" y="17000"/>
                  </a:moveTo>
                  <a:lnTo>
                    <a:pt x="12010" y="17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1501685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Система отвечает на вопросы по регламентам.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file-text"/>
            <p:cNvSpPr/>
            <p:nvPr/>
          </p:nvSpPr>
          <p:spPr>
            <a:xfrm>
              <a:off x="6537384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7038171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В ответе всегда указывается ссылка на документ.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677334" y="4412974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96790" y="481781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users"/>
            <p:cNvSpPr/>
            <p:nvPr/>
          </p:nvSpPr>
          <p:spPr>
            <a:xfrm>
              <a:off x="1000898" y="492192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1501685" y="454464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Ответ формируется автоматически без участия людей.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60" name="BrandDeck Text 10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Модель с открытыми весами работает внутри контура компании</a:t>
            </a:r>
            <a:endParaRPr/>
          </a:p>
        </p:txBody>
      </p:sp>
      <p:pic>
        <p:nvPicPr>
          <p:cNvPr id="1072" name="BrandDeck Image" descr="внутренний контур серверная"/>
          <p:cNvPicPr>
            <a:picLocks noChangeAspect="1"/>
          </p:cNvPicPr>
          <p:nvPr/>
        </p:nvPicPr>
        <p:blipFill>
          <a:blip r:embed="rId3"/>
          <a:srcRect l="5955" r="5955"/>
          <a:stretch>
            <a:fillRect/>
          </a:stretch>
        </p:blipFill>
        <p:spPr>
          <a:xfrm>
            <a:off x="671514" y="1773238"/>
            <a:ext cx="6929992" cy="4427537"/>
          </a:xfrm>
          <a:prstGeom prst="rect">
            <a:avLst/>
          </a:prstGeom>
        </p:spPr>
      </p:pic>
      <p:sp>
        <p:nvSpPr>
          <p:cNvPr id="1069" name="Google Shape;1069;p83"/>
          <p:cNvSpPr txBox="1"/>
          <p:nvPr/>
        </p:nvSpPr>
        <p:spPr>
          <a:xfrm>
            <a:off x="8355728" y="627078"/>
            <a:ext cx="3409196" cy="3951457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0" name="Google Shape;1070;p83"/>
          <p:cNvCxnSpPr/>
          <p:nvPr/>
        </p:nvCxnSpPr>
        <p:spPr>
          <a:xfrm flipH="1">
            <a:off x="8111315" y="692150"/>
            <a:ext cx="9261" cy="5508625"/>
          </a:xfrm>
          <a:prstGeom prst="straightConnector1">
            <a:avLst/>
          </a:prstGeom>
          <a:noFill/>
          <a:ln cap="flat" cmpd="sng" w="9525">
            <a:solidFill>
              <a:srgbClr val="F4F8F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071" name="BrandDeck Body"/>
          <p:cNvSpPr txBox="1"/>
          <p:nvPr/>
        </p:nvSpPr>
        <p:spPr>
          <a:xfrm>
            <a:off x="8355728" y="1473551"/>
            <a:ext cx="3409196" cy="31049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Модель с открытыми весами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Документы не покидают внутреннюю инфраструктуру.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Обработка запросов происходит локально без передачи данных наружу.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74" name="BrandDeck Text 274"/>
          <p:cNvSpPr/>
          <p:nvPr/>
        </p:nvSpPr>
        <p:spPr>
          <a:xfrm>
            <a:off x="671512" y="1773238"/>
            <a:ext cx="5365752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179388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latin typeface="Play"/>
                <a:solidFill>
                  <a:schemeClr val="dk1"/>
                </a:solidFill>
              </a:rPr>
              <a:t>Вопросы без ответа в базе передаются специалисту.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75" name="BrandDeck Text 275"/>
          <p:cNvSpPr/>
          <p:nvPr/>
        </p:nvSpPr>
        <p:spPr>
          <a:xfrm>
            <a:off x="6154737" y="1775553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179388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latin typeface="Play"/>
                <a:solidFill>
                  <a:schemeClr val="dk1"/>
                </a:solidFill>
              </a:rPr>
              <a:t>Система отправляет контекст запроса вместе с эскаляцией.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76" name="BrandDeck Text 27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Отсутствие подтвержденного ответа перенаправляет вопрос специалисту с контекстом</a:t>
            </a:r>
            <a:endParaRPr/>
          </a:p>
        </p:txBody>
      </p:sp>
      <p:sp>
        <p:nvSpPr>
          <p:cNvPr id="277" name="BrandDeck Text 277"/>
          <p:cNvSpPr/>
          <p:nvPr/>
        </p:nvSpPr>
        <p:spPr>
          <a:xfrm>
            <a:off x="671512" y="4044294"/>
            <a:ext cx="5365752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179388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latin typeface="Play"/>
                <a:solidFill>
                  <a:schemeClr val="dk1"/>
                </a:solidFill>
              </a:rPr>
              <a:t>Специалист получает полную информацию для решения задачи.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Пилот охватывает 2 подразделения и 150 сотрудников</a:t>
            </a:r>
            <a:endParaRPr/>
          </a:p>
        </p:txBody>
      </p:sp>
      <p:grpSp>
        <p:nvGrpSpPr>
          <p:cNvPr id="2" name="BrandDeck Diagram icon_grid" descr="icon_grid: Пилот запускается в двух подразделениях.; В проекте участвуют 150 сотрудников.; Охват ограничен выбранными группами для теста."/>
          <p:cNvGrpSpPr/>
          <p:nvPr/>
        </p:nvGrpSpPr>
        <p:grpSpPr>
          <a:xfrm>
            <a:off x="677334" y="3170236"/>
            <a:ext cx="10855853" cy="2105863"/>
            <a:chOff x="677334" y="3170236"/>
            <a:chExt cx="10855853" cy="2105863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3170236"/>
              <a:ext cx="3473873" cy="210586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89" y="3389692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rocket"/>
            <p:cNvSpPr/>
            <p:nvPr/>
          </p:nvSpPr>
          <p:spPr>
            <a:xfrm>
              <a:off x="1029560" y="3522463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4500" y="16500"/>
                  </a:moveTo>
                  <a:cubicBezTo>
                    <a:pt x="3000" y="17760"/>
                    <a:pt x="2500" y="21500"/>
                    <a:pt x="2500" y="21500"/>
                  </a:cubicBezTo>
                  <a:cubicBezTo>
                    <a:pt x="2500" y="21500"/>
                    <a:pt x="6240" y="21000"/>
                    <a:pt x="7500" y="19500"/>
                  </a:cubicBezTo>
                  <a:cubicBezTo>
                    <a:pt x="8210" y="18660"/>
                    <a:pt x="8200" y="17370"/>
                    <a:pt x="7410" y="16590"/>
                  </a:cubicBezTo>
                  <a:cubicBezTo>
                    <a:pt x="6605" y="15822"/>
                    <a:pt x="5351" y="15783"/>
                    <a:pt x="4500" y="16500"/>
                  </a:cubicBezTo>
                  <a:close/>
                </a:path>
                <a:path w="24000" h="24000" fill="none">
                  <a:moveTo>
                    <a:pt x="12000" y="15000"/>
                  </a:moveTo>
                  <a:lnTo>
                    <a:pt x="9000" y="12000"/>
                  </a:lnTo>
                  <a:cubicBezTo>
                    <a:pt x="9532" y="10619"/>
                    <a:pt x="10202" y="9296"/>
                    <a:pt x="11000" y="8050"/>
                  </a:cubicBezTo>
                  <a:cubicBezTo>
                    <a:pt x="13369" y="4262"/>
                    <a:pt x="17532" y="1972"/>
                    <a:pt x="22000" y="2000"/>
                  </a:cubicBezTo>
                  <a:cubicBezTo>
                    <a:pt x="22000" y="4720"/>
                    <a:pt x="21220" y="9500"/>
                    <a:pt x="16000" y="13000"/>
                  </a:cubicBezTo>
                  <a:cubicBezTo>
                    <a:pt x="14737" y="13799"/>
                    <a:pt x="13397" y="14469"/>
                    <a:pt x="12000" y="15000"/>
                  </a:cubicBezTo>
                  <a:close/>
                </a:path>
                <a:path w="24000" h="24000" fill="none">
                  <a:moveTo>
                    <a:pt x="9000" y="12000"/>
                  </a:moveTo>
                  <a:lnTo>
                    <a:pt x="4000" y="12000"/>
                  </a:lnTo>
                  <a:cubicBezTo>
                    <a:pt x="4000" y="12000"/>
                    <a:pt x="4550" y="8970"/>
                    <a:pt x="6000" y="8000"/>
                  </a:cubicBezTo>
                  <a:cubicBezTo>
                    <a:pt x="7620" y="6920"/>
                    <a:pt x="11000" y="8000"/>
                    <a:pt x="11000" y="8000"/>
                  </a:cubicBezTo>
                </a:path>
                <a:path w="24000" h="24000" fill="none">
                  <a:moveTo>
                    <a:pt x="12000" y="15000"/>
                  </a:moveTo>
                  <a:lnTo>
                    <a:pt x="12000" y="20000"/>
                  </a:lnTo>
                  <a:cubicBezTo>
                    <a:pt x="12000" y="20000"/>
                    <a:pt x="15030" y="19450"/>
                    <a:pt x="16000" y="18000"/>
                  </a:cubicBezTo>
                  <a:cubicBezTo>
                    <a:pt x="17080" y="16380"/>
                    <a:pt x="16000" y="13000"/>
                    <a:pt x="16000" y="1300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830953" y="4146816"/>
              <a:ext cx="3166634" cy="1019555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Пилот запускается в двух подразделениях.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4368324" y="3170236"/>
              <a:ext cx="3473873" cy="210586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4587780" y="3389692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users"/>
            <p:cNvSpPr/>
            <p:nvPr/>
          </p:nvSpPr>
          <p:spPr>
            <a:xfrm>
              <a:off x="4720551" y="3522463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4521943" y="4146816"/>
              <a:ext cx="3166634" cy="1019555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В проекте участвуют 150 сотрудников.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8059314" y="3170236"/>
              <a:ext cx="3473873" cy="210586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278770" y="3389692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circle-dot"/>
            <p:cNvSpPr/>
            <p:nvPr/>
          </p:nvSpPr>
          <p:spPr>
            <a:xfrm>
              <a:off x="8411541" y="3522463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3000" y="12000"/>
                  </a:moveTo>
                  <a:cubicBezTo>
                    <a:pt x="13000" y="12552"/>
                    <a:pt x="12552" y="13000"/>
                    <a:pt x="12000" y="13000"/>
                  </a:cubicBezTo>
                  <a:cubicBezTo>
                    <a:pt x="11448" y="13000"/>
                    <a:pt x="11000" y="12552"/>
                    <a:pt x="11000" y="12000"/>
                  </a:cubicBezTo>
                  <a:cubicBezTo>
                    <a:pt x="11000" y="11448"/>
                    <a:pt x="11448" y="11000"/>
                    <a:pt x="12000" y="11000"/>
                  </a:cubicBezTo>
                  <a:cubicBezTo>
                    <a:pt x="12552" y="11000"/>
                    <a:pt x="13000" y="11448"/>
                    <a:pt x="13000" y="12000"/>
                  </a:cubicBezTo>
                  <a:close/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8212933" y="4146816"/>
              <a:ext cx="3166634" cy="1019555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Охват ограничен выбранными группами для теста.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74" name="BrandDeck Text 274"/>
          <p:cNvSpPr/>
          <p:nvPr/>
        </p:nvSpPr>
        <p:spPr>
          <a:xfrm>
            <a:off x="671512" y="1773238"/>
            <a:ext cx="5365752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179388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latin typeface="Play"/>
                <a:solidFill>
                  <a:schemeClr val="dk1"/>
                </a:solidFill>
              </a:rPr>
              <a:t>Пилотный эксперимент длится 6 недель.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75" name="BrandDeck Text 275"/>
          <p:cNvSpPr/>
          <p:nvPr/>
        </p:nvSpPr>
        <p:spPr>
          <a:xfrm>
            <a:off x="6154737" y="1775553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179388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latin typeface="Play"/>
                <a:solidFill>
                  <a:schemeClr val="dk1"/>
                </a:solidFill>
              </a:rPr>
              <a:t>В этот период тестируется работа ИИ-помощника.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76" name="BrandDeck Text 27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Длительность пилотного проекта составляет 6 недель</a:t>
            </a:r>
            <a:endParaRPr/>
          </a:p>
        </p:txBody>
      </p:sp>
      <p:sp>
        <p:nvSpPr>
          <p:cNvPr id="277" name="BrandDeck Text 277"/>
          <p:cNvSpPr/>
          <p:nvPr/>
        </p:nvSpPr>
        <p:spPr>
          <a:xfrm>
            <a:off x="671512" y="4044294"/>
            <a:ext cx="5365752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179388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latin typeface="Play"/>
                <a:solidFill>
                  <a:schemeClr val="dk1"/>
                </a:solidFill>
              </a:rPr>
              <a:t>За это время оценивается эффективность решения.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4" name="BrandDeck Text 794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Успех измеряется временем поиска ответа и долей закрытых обращений без специалиста</a:t>
            </a:r>
            <a:endParaRPr/>
          </a:p>
        </p:txBody>
      </p:sp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" name="BrandDeck Diagram icon_grid" descr="icon_grid: Время поиска ответа и доля закрытых обращений без специалиста.; Эти метрики подтвердят эффективность пилота за 6 недель.; Результаты покажут сокращение нагрузки на поддержку."/>
          <p:cNvGrpSpPr/>
          <p:nvPr/>
        </p:nvGrpSpPr>
        <p:grpSpPr>
          <a:xfrm>
            <a:off x="658811" y="3425681"/>
            <a:ext cx="10333314" cy="2772473"/>
            <a:chOff x="658811" y="3425681"/>
            <a:chExt cx="10333314" cy="2772473"/>
          </a:xfrm>
        </p:grpSpPr>
        <p:sp>
          <p:nvSpPr>
            <p:cNvPr id="803" name="BrandDeck Diagram Card 1"/>
            <p:cNvSpPr/>
            <p:nvPr/>
          </p:nvSpPr>
          <p:spPr>
            <a:xfrm>
              <a:off x="658811" y="3425681"/>
              <a:ext cx="5063324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4" name="BrandDeck Diagram Icon 1 Badge"/>
            <p:cNvSpPr/>
            <p:nvPr/>
          </p:nvSpPr>
          <p:spPr>
            <a:xfrm>
              <a:off x="878267" y="3859485"/>
              <a:ext cx="415295" cy="41529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5" name="BrandDeck Icon clock"/>
            <p:cNvSpPr/>
            <p:nvPr/>
          </p:nvSpPr>
          <p:spPr>
            <a:xfrm>
              <a:off x="969631" y="3950850"/>
              <a:ext cx="232565" cy="23256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1938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6" name="BrandDeck Diagram Text 1"/>
            <p:cNvSpPr txBox="1"/>
            <p:nvPr/>
          </p:nvSpPr>
          <p:spPr>
            <a:xfrm>
              <a:off x="1425235" y="3557355"/>
              <a:ext cx="407744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Время поиска ответа и доля закрытых обращений без специалиста.</a:t>
              </a:r>
            </a:p>
          </p:txBody>
        </p:sp>
        <p:sp>
          <p:nvSpPr>
            <p:cNvPr id="807" name="BrandDeck Diagram Card 2"/>
            <p:cNvSpPr/>
            <p:nvPr/>
          </p:nvSpPr>
          <p:spPr>
            <a:xfrm>
              <a:off x="5928801" y="3425681"/>
              <a:ext cx="5063324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8" name="BrandDeck Diagram Icon 2 Badge"/>
            <p:cNvSpPr/>
            <p:nvPr/>
          </p:nvSpPr>
          <p:spPr>
            <a:xfrm>
              <a:off x="6148257" y="3859485"/>
              <a:ext cx="415295" cy="41529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9" name="BrandDeck Icon chart-column"/>
            <p:cNvSpPr/>
            <p:nvPr/>
          </p:nvSpPr>
          <p:spPr>
            <a:xfrm>
              <a:off x="6239622" y="3950850"/>
              <a:ext cx="232565" cy="23256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3000"/>
                  </a:moveTo>
                  <a:lnTo>
                    <a:pt x="3000" y="19000"/>
                  </a:lnTo>
                  <a:cubicBezTo>
                    <a:pt x="3000" y="20105"/>
                    <a:pt x="3895" y="21000"/>
                    <a:pt x="5000" y="21000"/>
                  </a:cubicBezTo>
                  <a:lnTo>
                    <a:pt x="21000" y="21000"/>
                  </a:lnTo>
                </a:path>
                <a:path w="24000" h="24000" fill="none">
                  <a:moveTo>
                    <a:pt x="18000" y="17000"/>
                  </a:moveTo>
                  <a:lnTo>
                    <a:pt x="18000" y="9000"/>
                  </a:lnTo>
                </a:path>
                <a:path w="24000" h="24000" fill="none">
                  <a:moveTo>
                    <a:pt x="13000" y="17000"/>
                  </a:moveTo>
                  <a:lnTo>
                    <a:pt x="13000" y="5000"/>
                  </a:lnTo>
                </a:path>
                <a:path w="24000" h="24000" fill="none">
                  <a:moveTo>
                    <a:pt x="8000" y="17000"/>
                  </a:moveTo>
                  <a:lnTo>
                    <a:pt x="8000" y="14000"/>
                  </a:lnTo>
                </a:path>
              </a:pathLst>
            </a:custGeom>
            <a:noFill/>
            <a:ln w="1938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0" name="BrandDeck Diagram Text 2"/>
            <p:cNvSpPr txBox="1"/>
            <p:nvPr/>
          </p:nvSpPr>
          <p:spPr>
            <a:xfrm>
              <a:off x="6695226" y="3557355"/>
              <a:ext cx="407744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Эти метрики подтвердят эффективность пилота за 6 недель.</a:t>
              </a:r>
            </a:p>
          </p:txBody>
        </p:sp>
        <p:sp>
          <p:nvSpPr>
            <p:cNvPr id="811" name="BrandDeck Diagram Card 3"/>
            <p:cNvSpPr/>
            <p:nvPr/>
          </p:nvSpPr>
          <p:spPr>
            <a:xfrm>
              <a:off x="658811" y="4915251"/>
              <a:ext cx="5063324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2" name="BrandDeck Diagram Icon 3 Badge"/>
            <p:cNvSpPr/>
            <p:nvPr/>
          </p:nvSpPr>
          <p:spPr>
            <a:xfrm>
              <a:off x="878267" y="5349055"/>
              <a:ext cx="415295" cy="41529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3" name="BrandDeck Icon trophy"/>
            <p:cNvSpPr/>
            <p:nvPr/>
          </p:nvSpPr>
          <p:spPr>
            <a:xfrm>
              <a:off x="969631" y="5440420"/>
              <a:ext cx="232565" cy="23256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9000"/>
                  </a:moveTo>
                  <a:lnTo>
                    <a:pt x="4500" y="9000"/>
                  </a:lnTo>
                  <a:cubicBezTo>
                    <a:pt x="3119" y="9000"/>
                    <a:pt x="2000" y="7881"/>
                    <a:pt x="2000" y="6500"/>
                  </a:cubicBezTo>
                  <a:cubicBezTo>
                    <a:pt x="2000" y="5119"/>
                    <a:pt x="3119" y="4000"/>
                    <a:pt x="4500" y="4000"/>
                  </a:cubicBezTo>
                  <a:lnTo>
                    <a:pt x="6000" y="4000"/>
                  </a:lnTo>
                </a:path>
                <a:path w="24000" h="24000" fill="none">
                  <a:moveTo>
                    <a:pt x="18000" y="9000"/>
                  </a:moveTo>
                  <a:lnTo>
                    <a:pt x="19500" y="9000"/>
                  </a:lnTo>
                  <a:cubicBezTo>
                    <a:pt x="20881" y="9000"/>
                    <a:pt x="22000" y="7881"/>
                    <a:pt x="22000" y="6500"/>
                  </a:cubicBezTo>
                  <a:cubicBezTo>
                    <a:pt x="22000" y="5119"/>
                    <a:pt x="20881" y="4000"/>
                    <a:pt x="19500" y="4000"/>
                  </a:cubicBezTo>
                  <a:lnTo>
                    <a:pt x="18000" y="4000"/>
                  </a:lnTo>
                </a:path>
                <a:path w="24000" h="24000" fill="none">
                  <a:moveTo>
                    <a:pt x="4000" y="22000"/>
                  </a:moveTo>
                  <a:lnTo>
                    <a:pt x="20000" y="22000"/>
                  </a:lnTo>
                </a:path>
                <a:path w="24000" h="24000" fill="none">
                  <a:moveTo>
                    <a:pt x="10000" y="14660"/>
                  </a:moveTo>
                  <a:lnTo>
                    <a:pt x="10000" y="17000"/>
                  </a:lnTo>
                  <a:cubicBezTo>
                    <a:pt x="10000" y="17550"/>
                    <a:pt x="9530" y="17980"/>
                    <a:pt x="9030" y="18210"/>
                  </a:cubicBezTo>
                  <a:cubicBezTo>
                    <a:pt x="7850" y="18750"/>
                    <a:pt x="7000" y="20240"/>
                    <a:pt x="7000" y="22000"/>
                  </a:cubicBezTo>
                </a:path>
                <a:path w="24000" h="24000" fill="none">
                  <a:moveTo>
                    <a:pt x="14000" y="14660"/>
                  </a:moveTo>
                  <a:lnTo>
                    <a:pt x="14000" y="17000"/>
                  </a:lnTo>
                  <a:cubicBezTo>
                    <a:pt x="14000" y="17550"/>
                    <a:pt x="14470" y="17980"/>
                    <a:pt x="14970" y="18210"/>
                  </a:cubicBezTo>
                  <a:cubicBezTo>
                    <a:pt x="16150" y="18750"/>
                    <a:pt x="17000" y="20240"/>
                    <a:pt x="17000" y="22000"/>
                  </a:cubicBezTo>
                </a:path>
                <a:path w="24000" h="24000" fill="none">
                  <a:moveTo>
                    <a:pt x="18000" y="2000"/>
                  </a:moveTo>
                  <a:lnTo>
                    <a:pt x="6000" y="2000"/>
                  </a:lnTo>
                  <a:lnTo>
                    <a:pt x="6000" y="9000"/>
                  </a:lnTo>
                  <a:cubicBezTo>
                    <a:pt x="6000" y="12314"/>
                    <a:pt x="8686" y="15000"/>
                    <a:pt x="12000" y="15000"/>
                  </a:cubicBezTo>
                  <a:cubicBezTo>
                    <a:pt x="15314" y="15000"/>
                    <a:pt x="18000" y="12314"/>
                    <a:pt x="18000" y="9000"/>
                  </a:cubicBezTo>
                  <a:lnTo>
                    <a:pt x="18000" y="2000"/>
                  </a:lnTo>
                  <a:close/>
                </a:path>
              </a:pathLst>
            </a:custGeom>
            <a:noFill/>
            <a:ln w="1938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4" name="BrandDeck Diagram Text 3"/>
            <p:cNvSpPr txBox="1"/>
            <p:nvPr/>
          </p:nvSpPr>
          <p:spPr>
            <a:xfrm>
              <a:off x="1425235" y="5046925"/>
              <a:ext cx="407744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Результаты покажут сокращение нагрузки на поддержку.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Для реализации требуется команда из 3 человек</a:t>
            </a:r>
            <a:endParaRPr/>
          </a:p>
        </p:txBody>
      </p:sp>
      <p:grpSp>
        <p:nvGrpSpPr>
          <p:cNvPr id="2" name="BrandDeck Diagram icon_grid" descr="icon_grid: Для запуска пилота требуется команда из 3 человек.; Специалисты займутся настройкой модели и интеграцией с порталом.; Команда будет отвечать на вопросы и анализировать результаты пилота."/>
          <p:cNvGrpSpPr/>
          <p:nvPr/>
        </p:nvGrpSpPr>
        <p:grpSpPr>
          <a:xfrm>
            <a:off x="677334" y="2912953"/>
            <a:ext cx="10855853" cy="2782924"/>
            <a:chOff x="677334" y="2912953"/>
            <a:chExt cx="10855853" cy="2782924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90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rocket"/>
            <p:cNvSpPr/>
            <p:nvPr/>
          </p:nvSpPr>
          <p:spPr>
            <a:xfrm>
              <a:off x="1000898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4500" y="16500"/>
                  </a:moveTo>
                  <a:cubicBezTo>
                    <a:pt x="3000" y="17760"/>
                    <a:pt x="2500" y="21500"/>
                    <a:pt x="2500" y="21500"/>
                  </a:cubicBezTo>
                  <a:cubicBezTo>
                    <a:pt x="2500" y="21500"/>
                    <a:pt x="6240" y="21000"/>
                    <a:pt x="7500" y="19500"/>
                  </a:cubicBezTo>
                  <a:cubicBezTo>
                    <a:pt x="8210" y="18660"/>
                    <a:pt x="8200" y="17370"/>
                    <a:pt x="7410" y="16590"/>
                  </a:cubicBezTo>
                  <a:cubicBezTo>
                    <a:pt x="6605" y="15822"/>
                    <a:pt x="5351" y="15783"/>
                    <a:pt x="4500" y="16500"/>
                  </a:cubicBezTo>
                  <a:close/>
                </a:path>
                <a:path w="24000" h="24000" fill="none">
                  <a:moveTo>
                    <a:pt x="12000" y="15000"/>
                  </a:moveTo>
                  <a:lnTo>
                    <a:pt x="9000" y="12000"/>
                  </a:lnTo>
                  <a:cubicBezTo>
                    <a:pt x="9532" y="10619"/>
                    <a:pt x="10202" y="9296"/>
                    <a:pt x="11000" y="8050"/>
                  </a:cubicBezTo>
                  <a:cubicBezTo>
                    <a:pt x="13369" y="4262"/>
                    <a:pt x="17532" y="1972"/>
                    <a:pt x="22000" y="2000"/>
                  </a:cubicBezTo>
                  <a:cubicBezTo>
                    <a:pt x="22000" y="4720"/>
                    <a:pt x="21220" y="9500"/>
                    <a:pt x="16000" y="13000"/>
                  </a:cubicBezTo>
                  <a:cubicBezTo>
                    <a:pt x="14737" y="13799"/>
                    <a:pt x="13397" y="14469"/>
                    <a:pt x="12000" y="15000"/>
                  </a:cubicBezTo>
                  <a:close/>
                </a:path>
                <a:path w="24000" h="24000" fill="none">
                  <a:moveTo>
                    <a:pt x="9000" y="12000"/>
                  </a:moveTo>
                  <a:lnTo>
                    <a:pt x="4000" y="12000"/>
                  </a:lnTo>
                  <a:cubicBezTo>
                    <a:pt x="4000" y="12000"/>
                    <a:pt x="4550" y="8970"/>
                    <a:pt x="6000" y="8000"/>
                  </a:cubicBezTo>
                  <a:cubicBezTo>
                    <a:pt x="7620" y="6920"/>
                    <a:pt x="11000" y="8000"/>
                    <a:pt x="11000" y="8000"/>
                  </a:cubicBezTo>
                </a:path>
                <a:path w="24000" h="24000" fill="none">
                  <a:moveTo>
                    <a:pt x="12000" y="15000"/>
                  </a:moveTo>
                  <a:lnTo>
                    <a:pt x="12000" y="20000"/>
                  </a:lnTo>
                  <a:cubicBezTo>
                    <a:pt x="12000" y="20000"/>
                    <a:pt x="15030" y="19450"/>
                    <a:pt x="16000" y="18000"/>
                  </a:cubicBezTo>
                  <a:cubicBezTo>
                    <a:pt x="17080" y="16380"/>
                    <a:pt x="16000" y="13000"/>
                    <a:pt x="16000" y="13000"/>
                  </a:cubicBez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1501685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Для запуска пилота требуется команда из 3 человек.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user"/>
            <p:cNvSpPr/>
            <p:nvPr/>
          </p:nvSpPr>
          <p:spPr>
            <a:xfrm>
              <a:off x="6537384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9000" y="21000"/>
                  </a:moveTo>
                  <a:lnTo>
                    <a:pt x="19000" y="19000"/>
                  </a:lnTo>
                  <a:cubicBezTo>
                    <a:pt x="19000" y="16791"/>
                    <a:pt x="17209" y="15000"/>
                    <a:pt x="15000" y="15000"/>
                  </a:cubicBezTo>
                  <a:lnTo>
                    <a:pt x="9000" y="15000"/>
                  </a:lnTo>
                  <a:cubicBezTo>
                    <a:pt x="6791" y="15000"/>
                    <a:pt x="5000" y="16791"/>
                    <a:pt x="5000" y="19000"/>
                  </a:cubicBezTo>
                  <a:lnTo>
                    <a:pt x="5000" y="21000"/>
                  </a:lnTo>
                </a:path>
                <a:path w="24000" h="24000" fill="none">
                  <a:moveTo>
                    <a:pt x="16000" y="7000"/>
                  </a:moveTo>
                  <a:cubicBezTo>
                    <a:pt x="16000" y="9209"/>
                    <a:pt x="14209" y="11000"/>
                    <a:pt x="12000" y="11000"/>
                  </a:cubicBezTo>
                  <a:cubicBezTo>
                    <a:pt x="9791" y="11000"/>
                    <a:pt x="8000" y="9209"/>
                    <a:pt x="8000" y="7000"/>
                  </a:cubicBezTo>
                  <a:cubicBezTo>
                    <a:pt x="8000" y="4791"/>
                    <a:pt x="9791" y="3000"/>
                    <a:pt x="12000" y="3000"/>
                  </a:cubicBezTo>
                  <a:cubicBezTo>
                    <a:pt x="14209" y="3000"/>
                    <a:pt x="16000" y="4791"/>
                    <a:pt x="16000" y="7000"/>
                  </a:cubicBezTo>
                  <a:close/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7038171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Специалисты займутся настройкой модели и интеграцией с порталом.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677334" y="4412974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96790" y="481781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users"/>
            <p:cNvSpPr/>
            <p:nvPr/>
          </p:nvSpPr>
          <p:spPr>
            <a:xfrm>
              <a:off x="1000898" y="492192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1501685" y="454464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Команда будет отвечать на вопросы и анализировать результаты пилота.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1" name="BrandDeck Text 541"/>
          <p:cNvSpPr txBox="1"/>
          <p:nvPr>
            <p:ph idx="1" type="body"/>
          </p:nvPr>
        </p:nvSpPr>
        <p:spPr>
          <a:xfrm>
            <a:off x="677334" y="2603500"/>
            <a:ext cx="5304365" cy="3597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55588" marL="255588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SzPts val="1600"/>
              <a:buChar char="•"/>
            </a:pPr>
            <a:r>
              <a:rPr sz="1600"/>
              <a:t>Решение о старте проекта и выделении ресурсов</a:t>
            </a:r>
            <a:endParaRPr/>
          </a:p>
        </p:txBody>
      </p:sp>
      <p:sp>
        <p:nvSpPr>
          <p:cNvPr id="542" name="BrandDeck Text 542"/>
          <p:cNvSpPr txBox="1"/>
          <p:nvPr>
            <p:ph idx="2" type="body"/>
          </p:nvPr>
        </p:nvSpPr>
        <p:spPr>
          <a:xfrm>
            <a:off x="6228824" y="2603501"/>
            <a:ext cx="5304364" cy="3597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55588" marL="255588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SzPts val="1600"/>
              <a:buChar char="•"/>
            </a:pPr>
            <a:r>
              <a:rPr sz="1600"/>
              <a:t>Одобрить запуск пилота для 2 подразделений и 150 сотрудников.</a:t>
            </a:r>
            <a:endParaRPr/>
          </a:p>
          <a:p>
            <a:pPr indent="-255588" marL="255588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SzPts val="1600"/>
              <a:buChar char="•"/>
            </a:pPr>
            <a:r>
              <a:rPr sz="1600"/>
              <a:t>Выделить команду из 3 человек для реализации проекта.</a:t>
            </a:r>
          </a:p>
          <a:p>
            <a:pPr indent="-255588" marL="255588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SzPts val="1600"/>
              <a:buChar char="•"/>
            </a:pPr>
            <a:r>
              <a:rPr sz="1600"/>
              <a:t>Начать пилотный этап в течение 6 недель.</a:t>
            </a:r>
          </a:p>
        </p:txBody>
      </p:sp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Одобрить пилот и выделить команду из 3 человек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2026-09-26T07:58:39Z</dcterms:modified>
  <dc:subject>Template-adaptive presentation</dc:subject>
  <cp:keywords>BrandDeck, template-adaptive, presentation</cp:keywords>
  <dc:creator/>
  <dc:description/>
</cp:coreProperties>
</file>