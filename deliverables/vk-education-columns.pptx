
<file path=[Content_Types].xml><?xml version="1.0" encoding="utf-8"?>
<Types xmlns="http://schemas.openxmlformats.org/package/2006/content-types">
  <Default Extension="jpeg" ContentType="image/jpeg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1.xml"/><Relationship Id="rId65" Type="http://schemas.openxmlformats.org/officeDocument/2006/relationships/slide" Target="slides/slide2.xml"/><Relationship Id="rId66" Type="http://schemas.openxmlformats.org/officeDocument/2006/relationships/slide" Target="slides/slide3.xml"/><Relationship Id="rId67" Type="http://schemas.openxmlformats.org/officeDocument/2006/relationships/slide" Target="slides/slide4.xml"/><Relationship Id="rId68" Type="http://schemas.openxmlformats.org/officeDocument/2006/relationships/slide" Target="slides/slide5.xml"/><Relationship Id="rId69" Type="http://schemas.openxmlformats.org/officeDocument/2006/relationships/slide" Target="slides/slide6.xml"/><Relationship Id="rId70" Type="http://schemas.openxmlformats.org/officeDocument/2006/relationships/slide" Target="slides/slide7.xml"/><Relationship Id="rId71" Type="http://schemas.openxmlformats.org/officeDocument/2006/relationships/slide" Target="slides/slide8.xml"/><Relationship Id="rId72" Type="http://schemas.openxmlformats.org/officeDocument/2006/relationships/slide" Target="slides/slide9.xml"/><Relationship Id="rId7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Данный слайд представляет инициативу по внедрению ИИ-помощника во внутренний портал для автоматизации ответов сотрудникам.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поиск инструкции занимает до 30 минут, а треть обращений в поддержку — повторяющиеся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сотрудники тратят до 30 минут на поиск инструкций, а треть обращений в поддержку — это повторяющиеся вопросы, что создает нагрузку на обе стороны.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ИИ-помощник автоматически отвечает на вопросы по регламентам, предоставляя ссылку на источник, а сложные запросы перенаправляет специалистам с полным контекстом.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Модель работает внутри контура, документы не покидают его, а сложные вопросы передаются специалистам с контекстом.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Пилотный проект охватывает 150 сотрудников из двух подразделений и длится 6 недель.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Эти две метрики позволяют оценить эффективность внедрения ИИ-помощника и снижение нагрузки на поддержку.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План предусматривает запуск пилота в двух подразделениях и мониторинг метрик в течение шести недель.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Архитектурное ограничение работы модели внутри контура компании минимизирует риски утечки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запуска пилота требуется ваше одобрение и выделение команды из трех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2.xml"/><Relationship Id="rId25" Type="http://schemas.openxmlformats.org/officeDocument/2006/relationships/slideLayout" Target="../slideLayouts/slideLayout25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52" r:id="rId5"/>
    <p:sldLayoutId id="2147483653" r:id="rId6"/>
    <p:sldLayoutId id="2147483657" r:id="rId10"/>
    <p:sldLayoutId id="2147483659" r:id="rId12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8.jpeg"/><Relationship Id="rId3" Type="http://schemas.openxmlformats.org/officeDocument/2006/relationships/notesSlide" Target="../notesSlides/notesSlide5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6.png"/><Relationship Id="rId3" Type="http://schemas.openxmlformats.org/officeDocument/2006/relationships/image" Target="../media/image259.jpeg"/><Relationship Id="rId4" Type="http://schemas.openxmlformats.org/officeDocument/2006/relationships/notesSlide" Target="../notesSlides/notesSlide6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BrandDeck Text 236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vert="horz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sz="1600">
                <a:solidFill>
                  <a:srgbClr val="000000"/>
                </a:solidFill>
              </a:rPr>
              <a:t>Инициатива по внедрению ИИ-помощника для автоматизации ответов сотрудников</a:t>
            </a:r>
            <a:endParaRPr/>
          </a:p>
        </p:txBody>
      </p:sp>
      <p:sp>
        <p:nvSpPr>
          <p:cNvPr id="237" name="BrandDeck Text 237"/>
          <p:cNvSpPr txBox="1"/>
          <p:nvPr>
            <p:ph type="title"/>
          </p:nvPr>
        </p:nvSpPr>
        <p:spPr>
          <a:xfrm>
            <a:off x="622261" y="2921912"/>
            <a:ext cx="527373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2400">
                <a:solidFill>
                  <a:srgbClr val="000000"/>
                </a:solidFill>
              </a:rPr>
              <a:t>Сокращение времени поиска инструкций и снижение нагрузки на поддержку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1800">
                <a:solidFill>
                  <a:srgbClr val="000000"/>
                </a:solidFill>
              </a:rPr>
              <a:t>Поиск инструкции занимает до 30 минут, а треть обращений — повторяющиеся вопросы</a:t>
            </a:r>
            <a:endParaRPr/>
          </a:p>
        </p:txBody>
      </p:sp>
      <p:grpSp>
        <p:nvGrpSpPr>
          <p:cNvPr id="2" name="BrandDeck Diagram icon_grid" descr="icon_grid: Время поиска до 30 минут; Повторяющиеся вопросы треть обращений"/>
          <p:cNvGrpSpPr/>
          <p:nvPr/>
        </p:nvGrpSpPr>
        <p:grpSpPr>
          <a:xfrm>
            <a:off x="677334" y="2603500"/>
            <a:ext cx="10855854" cy="3597275"/>
            <a:chOff x="677334" y="2603500"/>
            <a:chExt cx="10855854" cy="3597275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603500"/>
              <a:ext cx="10855854" cy="1690079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3211928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clock"/>
            <p:cNvSpPr/>
            <p:nvPr/>
          </p:nvSpPr>
          <p:spPr>
            <a:xfrm>
              <a:off x="1000898" y="3316037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501685" y="2735173"/>
              <a:ext cx="9812046" cy="1426732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Время поиска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 30 минут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77334" y="4510696"/>
              <a:ext cx="10855854" cy="1690079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896790" y="5119125"/>
              <a:ext cx="473222" cy="47322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repeat"/>
            <p:cNvSpPr/>
            <p:nvPr/>
          </p:nvSpPr>
          <p:spPr>
            <a:xfrm>
              <a:off x="1000898" y="5223234"/>
              <a:ext cx="265004" cy="265004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7000" y="2000"/>
                  </a:moveTo>
                  <a:lnTo>
                    <a:pt x="21000" y="6000"/>
                  </a:lnTo>
                  <a:lnTo>
                    <a:pt x="17000" y="10000"/>
                  </a:lnTo>
                </a:path>
                <a:path w="24000" h="24000" fill="none">
                  <a:moveTo>
                    <a:pt x="3000" y="11000"/>
                  </a:moveTo>
                  <a:lnTo>
                    <a:pt x="3000" y="10000"/>
                  </a:lnTo>
                  <a:cubicBezTo>
                    <a:pt x="3000" y="7791"/>
                    <a:pt x="4791" y="6000"/>
                    <a:pt x="7000" y="6000"/>
                  </a:cubicBezTo>
                  <a:lnTo>
                    <a:pt x="21000" y="6000"/>
                  </a:lnTo>
                </a:path>
                <a:path w="24000" h="24000" fill="none">
                  <a:moveTo>
                    <a:pt x="7000" y="22000"/>
                  </a:moveTo>
                  <a:lnTo>
                    <a:pt x="3000" y="18000"/>
                  </a:lnTo>
                  <a:lnTo>
                    <a:pt x="7000" y="14000"/>
                  </a:lnTo>
                </a:path>
                <a:path w="24000" h="24000" fill="none">
                  <a:moveTo>
                    <a:pt x="21000" y="13000"/>
                  </a:moveTo>
                  <a:lnTo>
                    <a:pt x="21000" y="14000"/>
                  </a:lnTo>
                  <a:cubicBezTo>
                    <a:pt x="21000" y="16209"/>
                    <a:pt x="19209" y="18000"/>
                    <a:pt x="17000" y="18000"/>
                  </a:cubicBezTo>
                  <a:lnTo>
                    <a:pt x="3000" y="18000"/>
                  </a:lnTo>
                </a:path>
              </a:pathLst>
            </a:custGeom>
            <a:noFill/>
            <a:ln w="2208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1501685" y="4642370"/>
              <a:ext cx="9812046" cy="1426732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Повторяющиеся вопросы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треть обращений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658813" y="692150"/>
            <a:ext cx="5254307" cy="1380285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>
                <a:solidFill>
                  <a:srgbClr val="000000"/>
                </a:solidFill>
              </a:rPr>
              <a:t>Сотрудники тратят время на поиск, а поддержка обрабатывает повторяющиеся запросы</a:t>
            </a:r>
          </a:p>
        </p:txBody>
      </p:sp>
      <p:sp>
        <p:nvSpPr>
          <p:cNvPr id="3" name="BrandDeck Text 3"/>
          <p:cNvSpPr>
            <a:spLocks noGrp="1"/>
          </p:cNvSpPr>
          <p:nvPr>
            <p:ph type="body" idx="1"/>
          </p:nvPr>
        </p:nvSpPr>
        <p:spPr/>
        <p:txBody>
          <a:bodyPr vert="horz"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>
                <a:solidFill>
                  <a:srgbClr val="000000"/>
                </a:solidFill>
              </a:rPr>
              <a:t>Сотрудники тратят до 30 минут на поиск инструкций.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>
                <a:solidFill>
                  <a:srgbClr val="000000"/>
                </a:solidFill>
              </a:rPr>
              <a:t>Треть обращений в поддержку — повторяющиеся вопросы.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>
                <a:solidFill>
                  <a:srgbClr val="000000"/>
                </a:solidFill>
              </a:rPr>
              <a:t>Инициатива направлена на сотрудников и специалистов поддержки.</a:t>
            </a:r>
          </a:p>
        </p:txBody>
      </p:sp>
      <p:pic>
        <p:nvPicPr>
          <p:cNvPr id="4" name="BrandDeck Image" descr="сотрудник специалист поддержки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36980" r="12993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4" name="BrandDeck Text 274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Система отвечает на вопросы по регламентам и инструкциям.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5" name="BrandDeck Text 275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При ответе предоставляется ссылка на документ-источник.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6" name="BrandDeck Text 2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1800">
                <a:solidFill>
                  <a:srgbClr val="000000"/>
                </a:solidFill>
              </a:rPr>
              <a:t>ИИ-помощник отвечает на вопросы по регламентам и дает ссылку на документ-источник</a:t>
            </a:r>
            <a:endParaRPr/>
          </a:p>
        </p:txBody>
      </p:sp>
      <p:sp>
        <p:nvSpPr>
          <p:cNvPr id="277" name="BrandDeck Text 277"/>
          <p:cNvSpPr/>
          <p:nvPr/>
        </p:nvSpPr>
        <p:spPr>
          <a:xfrm>
            <a:off x="671512" y="4044294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При отсутствии ответа вопрос перенаправляется специалисту.</a:t>
            </a:r>
            <a:endParaRPr/>
          </a:p>
        </p:txBody>
      </p:sp>
      <p:sp>
        <p:nvSpPr>
          <p:cNvPr id="278" name="BrandDeck Text 278"/>
          <p:cNvSpPr/>
          <p:nvPr/>
        </p:nvSpPr>
        <p:spPr>
          <a:xfrm>
            <a:off x="6154737" y="4044294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179388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latin typeface="Play"/>
                <a:solidFill>
                  <a:schemeClr val="dk1"/>
                </a:solidFill>
              </a:rPr>
              <a:t>Перенаправление включает контекст для быстрого решения.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60" name="BrandDeck Text 10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1800">
                <a:solidFill>
                  <a:srgbClr val="000000"/>
                </a:solidFill>
              </a:rPr>
              <a:t>Модель работает внутри контура компании, а подтвержденные вопросы уходят к специалисту</a:t>
            </a:r>
            <a:endParaRPr/>
          </a:p>
        </p:txBody>
      </p:sp>
      <p:pic>
        <p:nvPicPr>
          <p:cNvPr id="1072" name="BrandDeck Image" descr="внутренний контур серверная"/>
          <p:cNvPicPr>
            <a:picLocks noChangeAspect="1"/>
          </p:cNvPicPr>
          <p:nvPr/>
        </p:nvPicPr>
        <p:blipFill>
          <a:blip r:embed="rId3"/>
          <a:srcRect l="5955" r="5955"/>
          <a:stretch>
            <a:fillRect/>
          </a:stretch>
        </p:blipFill>
        <p:spPr>
          <a:xfrm>
            <a:off x="671514" y="1773238"/>
            <a:ext cx="6929992" cy="4427537"/>
          </a:xfrm>
          <a:prstGeom prst="rect">
            <a:avLst/>
          </a:prstGeom>
        </p:spPr>
      </p:pic>
      <p:sp>
        <p:nvSpPr>
          <p:cNvPr id="1069" name="Google Shape;1069;p83"/>
          <p:cNvSpPr txBox="1"/>
          <p:nvPr/>
        </p:nvSpPr>
        <p:spPr>
          <a:xfrm>
            <a:off x="8355728" y="627078"/>
            <a:ext cx="3409196" cy="3951457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70" name="Google Shape;1070;p83"/>
          <p:cNvCxnSpPr/>
          <p:nvPr/>
        </p:nvCxnSpPr>
        <p:spPr>
          <a:xfrm flipH="1">
            <a:off x="8111315" y="692150"/>
            <a:ext cx="9261" cy="5508625"/>
          </a:xfrm>
          <a:prstGeom prst="straightConnector1">
            <a:avLst/>
          </a:prstGeom>
          <a:noFill/>
          <a:ln cap="flat" cmpd="sng" w="9525">
            <a:solidFill>
              <a:srgbClr val="F4F8F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71" name="BrandDeck Body"/>
          <p:cNvSpPr txBox="1"/>
          <p:nvPr/>
        </p:nvSpPr>
        <p:spPr>
          <a:xfrm>
            <a:off x="8355728" y="1473551"/>
            <a:ext cx="3409196" cy="3104984"/>
          </a:xfrm>
          <a:prstGeom prst="rect">
            <a:avLst/>
          </a:prstGeom>
          <a:noFill/>
        </p:spPr>
        <p:txBody>
          <a:bodyPr wrap="square" vert="horz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400">
                <a:solidFill>
                  <a:srgbClr val="000000"/>
                </a:solidFill>
                <a:latin typeface="Play"/>
              </a:rPr>
              <a:t>• Модель с открытыми весами работает внутри контура компании.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400">
                <a:solidFill>
                  <a:srgbClr val="000000"/>
                </a:solidFill>
                <a:latin typeface="Play"/>
              </a:rPr>
              <a:t>• Документы не уходят наружу при обработке запросов.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</a:pPr>
            <a:r>
              <a:rPr sz="1400">
                <a:solidFill>
                  <a:srgbClr val="000000"/>
                </a:solidFill>
                <a:latin typeface="Play"/>
              </a:rPr>
              <a:t>• Вопросы без подтверждённого ответа уходят специалисту с контекстом.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2000">
                <a:solidFill>
                  <a:srgbClr val="000000"/>
                </a:solidFill>
              </a:rPr>
              <a:t>Пилот охватывает 2 подразделения и 150 сотрудников в течение 6 недель</a:t>
            </a:r>
            <a:endParaRPr/>
          </a:p>
        </p:txBody>
      </p:sp>
      <p:grpSp>
        <p:nvGrpSpPr>
          <p:cNvPr id="2" name="BrandDeck Diagram icon_grid" descr="icon_grid: Длительность 6 недель; Участники 150 сотрудников; Охват 2 подразделения"/>
          <p:cNvGrpSpPr/>
          <p:nvPr/>
        </p:nvGrpSpPr>
        <p:grpSpPr>
          <a:xfrm>
            <a:off x="677334" y="2603500"/>
            <a:ext cx="10855854" cy="3597275"/>
            <a:chOff x="677334" y="2603500"/>
            <a:chExt cx="10855854" cy="3597275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603500"/>
              <a:ext cx="10855854" cy="1054347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2947793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hourglass"/>
            <p:cNvSpPr/>
            <p:nvPr/>
          </p:nvSpPr>
          <p:spPr>
            <a:xfrm>
              <a:off x="977257" y="30282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394223" y="2735173"/>
              <a:ext cx="9919508" cy="791000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Длительность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6 недель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77334" y="3874964"/>
              <a:ext cx="10855854" cy="1054347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896790" y="4219258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users"/>
            <p:cNvSpPr/>
            <p:nvPr/>
          </p:nvSpPr>
          <p:spPr>
            <a:xfrm>
              <a:off x="977257" y="4299725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1394223" y="4006637"/>
              <a:ext cx="9919508" cy="791000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Участники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150 сотрудников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5146428"/>
              <a:ext cx="10855854" cy="1054347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5490722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building-2"/>
            <p:cNvSpPr/>
            <p:nvPr/>
          </p:nvSpPr>
          <p:spPr>
            <a:xfrm>
              <a:off x="977257" y="5571189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lnTo>
                    <a:pt x="6000" y="4000"/>
                  </a:lnTo>
                  <a:cubicBezTo>
                    <a:pt x="6000" y="2895"/>
                    <a:pt x="6895" y="2000"/>
                    <a:pt x="8000" y="2000"/>
                  </a:cubicBezTo>
                  <a:lnTo>
                    <a:pt x="16000" y="2000"/>
                  </a:lnTo>
                  <a:cubicBezTo>
                    <a:pt x="17105" y="2000"/>
                    <a:pt x="18000" y="2895"/>
                    <a:pt x="18000" y="4000"/>
                  </a:cubicBezTo>
                  <a:lnTo>
                    <a:pt x="18000" y="22000"/>
                  </a:lnTo>
                  <a:close/>
                </a:path>
                <a:path w="24000" h="24000" fill="none">
                  <a:moveTo>
                    <a:pt x="6000" y="12000"/>
                  </a:moveTo>
                  <a:lnTo>
                    <a:pt x="4000" y="12000"/>
                  </a:lnTo>
                  <a:cubicBezTo>
                    <a:pt x="2895" y="12000"/>
                    <a:pt x="2000" y="12895"/>
                    <a:pt x="2000" y="14000"/>
                  </a:cubicBezTo>
                  <a:lnTo>
                    <a:pt x="2000" y="20000"/>
                  </a:lnTo>
                  <a:cubicBezTo>
                    <a:pt x="2000" y="21105"/>
                    <a:pt x="2895" y="22000"/>
                    <a:pt x="4000" y="22000"/>
                  </a:cubicBezTo>
                  <a:lnTo>
                    <a:pt x="6000" y="22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20000" y="9000"/>
                  </a:lnTo>
                  <a:cubicBezTo>
                    <a:pt x="21105" y="9000"/>
                    <a:pt x="22000" y="9895"/>
                    <a:pt x="22000" y="11000"/>
                  </a:cubicBezTo>
                  <a:lnTo>
                    <a:pt x="22000" y="20000"/>
                  </a:lnTo>
                  <a:cubicBezTo>
                    <a:pt x="22000" y="21105"/>
                    <a:pt x="21105" y="22000"/>
                    <a:pt x="20000" y="22000"/>
                  </a:cubicBezTo>
                  <a:lnTo>
                    <a:pt x="18000" y="22000"/>
                  </a:lnTo>
                </a:path>
                <a:path w="24000" h="24000" fill="none">
                  <a:moveTo>
                    <a:pt x="10000" y="6000"/>
                  </a:moveTo>
                  <a:lnTo>
                    <a:pt x="14000" y="6000"/>
                  </a:lnTo>
                </a:path>
                <a:path w="24000" h="24000" fill="none">
                  <a:moveTo>
                    <a:pt x="10000" y="10000"/>
                  </a:moveTo>
                  <a:lnTo>
                    <a:pt x="14000" y="10000"/>
                  </a:lnTo>
                </a:path>
                <a:path w="24000" h="24000" fill="none">
                  <a:moveTo>
                    <a:pt x="10000" y="14000"/>
                  </a:moveTo>
                  <a:lnTo>
                    <a:pt x="14000" y="14000"/>
                  </a:lnTo>
                </a:path>
                <a:path w="24000" h="24000" fill="none">
                  <a:moveTo>
                    <a:pt x="10000" y="18000"/>
                  </a:moveTo>
                  <a:lnTo>
                    <a:pt x="14000" y="18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394223" y="5278102"/>
              <a:ext cx="9919508" cy="791000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Охват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2 подразделения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43" name="BrandDeck Text 54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1800">
                <a:solidFill>
                  <a:srgbClr val="000000"/>
                </a:solidFill>
              </a:rPr>
              <a:t>Успех пилота измеряется временем поиска ответа и долей обращений, закрытых без специалиста</a:t>
            </a:r>
            <a:endParaRPr/>
          </a:p>
        </p:txBody>
      </p:sp>
      <p:grpSp>
        <p:nvGrpSpPr>
          <p:cNvPr id="2" name="BrandDeck Diagram icon_grid" descr="icon_grid: Время поиска ответа измеряется для оценки скорости работы.; Доля обращений, закрытых без специалиста, отслеживается как метрика.; Эти показатели определяют успешность пилотного проекта."/>
          <p:cNvGrpSpPr/>
          <p:nvPr/>
        </p:nvGrpSpPr>
        <p:grpSpPr>
          <a:xfrm>
            <a:off x="677334" y="2603500"/>
            <a:ext cx="10855854" cy="3597275"/>
            <a:chOff x="677334" y="2603500"/>
            <a:chExt cx="10855854" cy="3597275"/>
          </a:xfrm>
        </p:grpSpPr>
        <p:sp>
          <p:nvSpPr>
            <p:cNvPr id="544" name="BrandDeck Diagram Card 1"/>
            <p:cNvSpPr/>
            <p:nvPr/>
          </p:nvSpPr>
          <p:spPr>
            <a:xfrm>
              <a:off x="677334" y="2603500"/>
              <a:ext cx="10855854" cy="1054347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BrandDeck Diagram Icon 1 Badge"/>
            <p:cNvSpPr/>
            <p:nvPr/>
          </p:nvSpPr>
          <p:spPr>
            <a:xfrm>
              <a:off x="896790" y="2947793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BrandDeck Icon clock"/>
            <p:cNvSpPr/>
            <p:nvPr/>
          </p:nvSpPr>
          <p:spPr>
            <a:xfrm>
              <a:off x="977257" y="30282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BrandDeck Diagram Text 1"/>
            <p:cNvSpPr txBox="1"/>
            <p:nvPr/>
          </p:nvSpPr>
          <p:spPr>
            <a:xfrm>
              <a:off x="1394223" y="2735173"/>
              <a:ext cx="9919508" cy="791000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Время поиска ответа измеряется для оценки скорости работы.</a:t>
              </a:r>
            </a:p>
          </p:txBody>
        </p:sp>
        <p:sp>
          <p:nvSpPr>
            <p:cNvPr id="548" name="BrandDeck Diagram Card 2"/>
            <p:cNvSpPr/>
            <p:nvPr/>
          </p:nvSpPr>
          <p:spPr>
            <a:xfrm>
              <a:off x="677334" y="3874964"/>
              <a:ext cx="10855854" cy="1054347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BrandDeck Diagram Icon 2 Badge"/>
            <p:cNvSpPr/>
            <p:nvPr/>
          </p:nvSpPr>
          <p:spPr>
            <a:xfrm>
              <a:off x="896790" y="4219258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BrandDeck Icon user"/>
            <p:cNvSpPr/>
            <p:nvPr/>
          </p:nvSpPr>
          <p:spPr>
            <a:xfrm>
              <a:off x="977257" y="4299725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BrandDeck Diagram Text 2"/>
            <p:cNvSpPr txBox="1"/>
            <p:nvPr/>
          </p:nvSpPr>
          <p:spPr>
            <a:xfrm>
              <a:off x="1394223" y="4006637"/>
              <a:ext cx="9919508" cy="791000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Доля обращений, закрытых без специалиста, отслеживается как метрика.</a:t>
              </a:r>
            </a:p>
          </p:txBody>
        </p:sp>
        <p:sp>
          <p:nvSpPr>
            <p:cNvPr id="552" name="BrandDeck Diagram Card 3"/>
            <p:cNvSpPr/>
            <p:nvPr/>
          </p:nvSpPr>
          <p:spPr>
            <a:xfrm>
              <a:off x="677334" y="5146428"/>
              <a:ext cx="10855854" cy="1054347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BrandDeck Diagram Icon 3 Badge"/>
            <p:cNvSpPr/>
            <p:nvPr/>
          </p:nvSpPr>
          <p:spPr>
            <a:xfrm>
              <a:off x="896790" y="5490722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BrandDeck Icon chart-column"/>
            <p:cNvSpPr/>
            <p:nvPr/>
          </p:nvSpPr>
          <p:spPr>
            <a:xfrm>
              <a:off x="977257" y="5571189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BrandDeck Diagram Text 3"/>
            <p:cNvSpPr txBox="1"/>
            <p:nvPr/>
          </p:nvSpPr>
          <p:spPr>
            <a:xfrm>
              <a:off x="1394223" y="5278102"/>
              <a:ext cx="9919508" cy="791000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Эти показатели определяют успешность пилотного проекта.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76" name="BrandDeck Text 27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1800">
                <a:solidFill>
                  <a:srgbClr val="000000"/>
                </a:solidFill>
              </a:rPr>
              <a:t>План включает запуск пилота в двух подразделениях и мониторинг метрик в течение 6 недель</a:t>
            </a:r>
            <a:endParaRPr/>
          </a:p>
        </p:txBody>
      </p:sp>
      <p:grpSp>
        <p:nvGrpSpPr>
          <p:cNvPr id="2" name="BrandDeck Diagram cycle" descr="cycle: Запуск 2 подразделения; Мониторинг 6 недель; Анализ Время поиска и доля закрытых"/>
          <p:cNvGrpSpPr/>
          <p:nvPr/>
        </p:nvGrpSpPr>
        <p:grpSpPr>
          <a:xfrm>
            <a:off x="923998" y="1773238"/>
            <a:ext cx="10621889" cy="4381816"/>
            <a:chOff x="923998" y="1773238"/>
            <a:chExt cx="10621889" cy="4381816"/>
          </a:xfrm>
        </p:grpSpPr>
        <p:sp>
          <p:nvSpPr>
            <p:cNvPr id="279" name="BrandDeck Diagram Ring"/>
            <p:cNvSpPr/>
            <p:nvPr/>
          </p:nvSpPr>
          <p:spPr>
            <a:xfrm>
              <a:off x="1000695" y="2102422"/>
              <a:ext cx="3769169" cy="3769169"/>
            </a:xfrm>
            <a:prstGeom prst="ellipse">
              <a:avLst/>
            </a:prstGeom>
            <a:noFill/>
            <a:ln w="28575">
              <a:solidFill>
                <a:srgbClr val="59A7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BrandDeck Diagram Arrow 1"/>
            <p:cNvSpPr/>
            <p:nvPr/>
          </p:nvSpPr>
          <p:spPr>
            <a:xfrm rot="9000000">
              <a:off x="4416794" y="2944130"/>
              <a:ext cx="201168" cy="201168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BrandDeck Diagram Arrow 2"/>
            <p:cNvSpPr/>
            <p:nvPr/>
          </p:nvSpPr>
          <p:spPr>
            <a:xfrm rot="16200000">
              <a:off x="2784696" y="5771007"/>
              <a:ext cx="201168" cy="201168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BrandDeck Diagram Arrow 3"/>
            <p:cNvSpPr/>
            <p:nvPr/>
          </p:nvSpPr>
          <p:spPr>
            <a:xfrm rot="1800000">
              <a:off x="1152598" y="2944130"/>
              <a:ext cx="201168" cy="201168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BrandDeck Diagram Node 1 Badge"/>
            <p:cNvSpPr/>
            <p:nvPr/>
          </p:nvSpPr>
          <p:spPr>
            <a:xfrm>
              <a:off x="2556096" y="1773238"/>
              <a:ext cx="658368" cy="658368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284" name="BrandDeck Diagram Node 2 Badge"/>
            <p:cNvSpPr/>
            <p:nvPr/>
          </p:nvSpPr>
          <p:spPr>
            <a:xfrm>
              <a:off x="4188194" y="4600114"/>
              <a:ext cx="658368" cy="658368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285" name="BrandDeck Diagram Node 3 Badge"/>
            <p:cNvSpPr/>
            <p:nvPr/>
          </p:nvSpPr>
          <p:spPr>
            <a:xfrm>
              <a:off x="923998" y="4600114"/>
              <a:ext cx="658368" cy="658368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286" name="BrandDeck Diagram Legend Card 1"/>
            <p:cNvSpPr/>
            <p:nvPr/>
          </p:nvSpPr>
          <p:spPr>
            <a:xfrm>
              <a:off x="5419089" y="1818958"/>
              <a:ext cx="6126798" cy="1384405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BrandDeck Diagram Legend 1 Badge"/>
            <p:cNvSpPr/>
            <p:nvPr/>
          </p:nvSpPr>
          <p:spPr>
            <a:xfrm>
              <a:off x="5547104" y="2355712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288" name="BrandDeck Diagram Text 1"/>
            <p:cNvSpPr txBox="1"/>
            <p:nvPr/>
          </p:nvSpPr>
          <p:spPr>
            <a:xfrm>
              <a:off x="6004304" y="1828102"/>
              <a:ext cx="5413566" cy="136611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000000"/>
                  </a:solidFill>
                  <a:latin typeface="Play"/>
                </a:rPr>
                <a:t>Запуск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2 подразделения</a:t>
              </a:r>
            </a:p>
          </p:txBody>
        </p:sp>
        <p:sp>
          <p:nvSpPr>
            <p:cNvPr id="289" name="BrandDeck Diagram Legend Card 2"/>
            <p:cNvSpPr/>
            <p:nvPr/>
          </p:nvSpPr>
          <p:spPr>
            <a:xfrm>
              <a:off x="5419089" y="3294803"/>
              <a:ext cx="6126798" cy="1384405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BrandDeck Diagram Legend 2 Badge"/>
            <p:cNvSpPr/>
            <p:nvPr/>
          </p:nvSpPr>
          <p:spPr>
            <a:xfrm>
              <a:off x="5547104" y="3831558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291" name="BrandDeck Diagram Text 2"/>
            <p:cNvSpPr txBox="1"/>
            <p:nvPr/>
          </p:nvSpPr>
          <p:spPr>
            <a:xfrm>
              <a:off x="6004304" y="3303947"/>
              <a:ext cx="5413566" cy="136611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000000"/>
                  </a:solidFill>
                  <a:latin typeface="Play"/>
                </a:rPr>
                <a:t>Мониторинг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6 недель</a:t>
              </a:r>
            </a:p>
          </p:txBody>
        </p:sp>
        <p:sp>
          <p:nvSpPr>
            <p:cNvPr id="292" name="BrandDeck Diagram Legend Card 3"/>
            <p:cNvSpPr/>
            <p:nvPr/>
          </p:nvSpPr>
          <p:spPr>
            <a:xfrm>
              <a:off x="5419089" y="4770649"/>
              <a:ext cx="6126798" cy="1384405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BrandDeck Diagram Legend 3 Badge"/>
            <p:cNvSpPr/>
            <p:nvPr/>
          </p:nvSpPr>
          <p:spPr>
            <a:xfrm>
              <a:off x="5547104" y="5307404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294" name="BrandDeck Diagram Text 3"/>
            <p:cNvSpPr txBox="1"/>
            <p:nvPr/>
          </p:nvSpPr>
          <p:spPr>
            <a:xfrm>
              <a:off x="6004304" y="4779793"/>
              <a:ext cx="5413566" cy="136611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000000"/>
                  </a:solidFill>
                  <a:latin typeface="Play"/>
                </a:rPr>
                <a:t>Анализ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Время поиска и доля закрытых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000000"/>
                </a:solidFill>
              </a:rPr>
              <a:t>Основные риски связаны с безопасностью данных, которые контролируются работой внутри контура</a:t>
            </a:r>
          </a:p>
        </p:txBody>
      </p:sp>
      <p:grpSp>
        <p:nvGrpSpPr>
          <p:cNvPr id="2" name="BrandDeck Diagram matrix" descr="matrix: Риск Утечка данных наружу; Мера Работа модели внутри контура; Риск Отсутствие контекста; Мера Передача вопроса специалисту"/>
          <p:cNvGrpSpPr/>
          <p:nvPr/>
        </p:nvGrpSpPr>
        <p:grpSpPr>
          <a:xfrm>
            <a:off x="671514" y="1773238"/>
            <a:ext cx="10843152" cy="4427537"/>
            <a:chOff x="671514" y="1773238"/>
            <a:chExt cx="10843152" cy="4427537"/>
          </a:xfrm>
        </p:grpSpPr>
        <p:sp>
          <p:nvSpPr>
            <p:cNvPr id="4" name="BrandDeck Diagram Axis Y"/>
            <p:cNvSpPr txBox="1"/>
            <p:nvPr/>
          </p:nvSpPr>
          <p:spPr>
            <a:xfrm>
              <a:off x="671514" y="1773238"/>
              <a:ext cx="10843152" cy="2743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000000"/>
                  </a:solidFill>
                  <a:latin typeface="Play"/>
                </a:rPr>
                <a:t>Риск</a:t>
              </a:r>
            </a:p>
          </p:txBody>
        </p:sp>
        <p:sp>
          <p:nvSpPr>
            <p:cNvPr id="5" name="BrandDeck Diagram Quadrant 1"/>
            <p:cNvSpPr/>
            <p:nvPr/>
          </p:nvSpPr>
          <p:spPr>
            <a:xfrm>
              <a:off x="671514" y="2084134"/>
              <a:ext cx="5357568" cy="1838864"/>
            </a:xfrm>
            <a:prstGeom prst="roundRect">
              <a:avLst>
                <a:gd name="adj" fmla="val 6000"/>
              </a:avLst>
            </a:prstGeom>
            <a:solidFill>
              <a:srgbClr val="006DEB"/>
            </a:solidFill>
            <a:ln>
              <a:noFill/>
            </a:ln>
          </p:spPr>
          <p:txBody>
            <a:bodyPr rtlCol="0" anchor="t" wrap="square" lIns="164592" tIns="128016" rIns="164592" bIns="10972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Риск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Утечка данных наружу</a:t>
              </a:r>
            </a:p>
          </p:txBody>
        </p:sp>
        <p:sp>
          <p:nvSpPr>
            <p:cNvPr id="6" name="BrandDeck Diagram Quadrant 2"/>
            <p:cNvSpPr/>
            <p:nvPr/>
          </p:nvSpPr>
          <p:spPr>
            <a:xfrm>
              <a:off x="6157098" y="2084134"/>
              <a:ext cx="5357568" cy="1838864"/>
            </a:xfrm>
            <a:prstGeom prst="roundRect">
              <a:avLst>
                <a:gd name="adj" fmla="val 6000"/>
              </a:avLst>
            </a:prstGeom>
            <a:solidFill>
              <a:srgbClr val="358BEF"/>
            </a:solidFill>
            <a:ln>
              <a:noFill/>
            </a:ln>
          </p:spPr>
          <p:txBody>
            <a:bodyPr rtlCol="0" anchor="t" wrap="square" lIns="164592" tIns="128016" rIns="164592" bIns="10972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Мера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Работа модели внутри контура</a:t>
              </a:r>
            </a:p>
          </p:txBody>
        </p:sp>
        <p:sp>
          <p:nvSpPr>
            <p:cNvPr id="7" name="BrandDeck Diagram Quadrant 3"/>
            <p:cNvSpPr/>
            <p:nvPr/>
          </p:nvSpPr>
          <p:spPr>
            <a:xfrm>
              <a:off x="671514" y="4051014"/>
              <a:ext cx="5357568" cy="1838864"/>
            </a:xfrm>
            <a:prstGeom prst="roundRect">
              <a:avLst>
                <a:gd name="adj" fmla="val 6000"/>
              </a:avLst>
            </a:prstGeom>
            <a:solidFill>
              <a:srgbClr val="69A9F3"/>
            </a:solidFill>
            <a:ln>
              <a:noFill/>
            </a:ln>
          </p:spPr>
          <p:txBody>
            <a:bodyPr rtlCol="0" anchor="t" wrap="square" lIns="164592" tIns="128016" rIns="164592" bIns="10972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Риск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Отсутствие контекста</a:t>
              </a:r>
            </a:p>
          </p:txBody>
        </p:sp>
        <p:sp>
          <p:nvSpPr>
            <p:cNvPr id="8" name="BrandDeck Diagram Quadrant 4"/>
            <p:cNvSpPr/>
            <p:nvPr/>
          </p:nvSpPr>
          <p:spPr>
            <a:xfrm>
              <a:off x="6157098" y="4051014"/>
              <a:ext cx="5357568" cy="1838864"/>
            </a:xfrm>
            <a:prstGeom prst="roundRect">
              <a:avLst>
                <a:gd name="adj" fmla="val 6000"/>
              </a:avLst>
            </a:prstGeom>
            <a:solidFill>
              <a:srgbClr val="9EC8F7"/>
            </a:solidFill>
            <a:ln>
              <a:noFill/>
            </a:ln>
          </p:spPr>
          <p:txBody>
            <a:bodyPr rtlCol="0" anchor="t" wrap="square" lIns="164592" tIns="128016" rIns="164592" bIns="10972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Мера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Передача вопроса специалисту</a:t>
              </a:r>
            </a:p>
          </p:txBody>
        </p:sp>
        <p:sp>
          <p:nvSpPr>
            <p:cNvPr id="9" name="BrandDeck Diagram Axis X"/>
            <p:cNvSpPr txBox="1"/>
            <p:nvPr/>
          </p:nvSpPr>
          <p:spPr>
            <a:xfrm>
              <a:off x="671514" y="5926455"/>
              <a:ext cx="10843152" cy="2743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0">
                  <a:solidFill>
                    <a:srgbClr val="000000"/>
                  </a:solidFill>
                  <a:latin typeface="Play"/>
                </a:rPr>
                <a:t>Мера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body" idx="1"/>
          </p:nvPr>
        </p:nvSpPr>
        <p:spPr>
          <a:xfrm>
            <a:off x="677334" y="1773238"/>
            <a:ext cx="5317065" cy="4427537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Запрос на одобрение пилота и выделение команды из 3 человек</a:t>
            </a:r>
          </a:p>
        </p:txBody>
      </p:sp>
      <p:sp>
        <p:nvSpPr>
          <p:cNvPr id="3" name="BrandDeck Text 3"/>
          <p:cNvSpPr>
            <a:spLocks noGrp="1"/>
          </p:cNvSpPr>
          <p:nvPr>
            <p:ph type="body" idx="2"/>
          </p:nvPr>
        </p:nvSpPr>
        <p:spPr/>
        <p:txBody>
          <a:bodyPr vert="horz"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Просим одобрить запуск пилота ИИ-помощника.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Необходимо выделить команду из 3 человек для реализации.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Решение требуется для начала работ по пилоту.</a:t>
            </a:r>
          </a:p>
        </p:txBody>
      </p:sp>
      <p:sp>
        <p:nvSpPr>
          <p:cNvPr id="4" name="BrandDeck Text 4"/>
          <p:cNvSpPr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>
                <a:solidFill>
                  <a:srgbClr val="000000"/>
                </a:solidFill>
              </a:rPr>
              <a:t>Одобрить пилот и выделить команду из 3 человек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ИИ-помощник во внутреннем портале</dc:title>
  <cp:lastModifiedBy/>
  <cp:revision>1</cp:revision>
  <dcterms:modified xsi:type="dcterms:W3CDTF">2026-09-28T16:03:29Z</dcterms:modified>
  <dc:subject>Template-adaptive presentation</dc:subject>
  <cp:keywords>BrandDeck, template-adaptive, presentation</cp:keywords>
  <dc:creator/>
  <dc:description/>
</cp:coreProperties>
</file>