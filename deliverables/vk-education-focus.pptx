
<file path=[Content_Types].xml><?xml version="1.0" encoding="utf-8"?>
<Types xmlns="http://schemas.openxmlformats.org/package/2006/content-types">
  <Default Extension="jpeg" ContentType="image/jpeg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20" r:id="rId73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1.xml"/><Relationship Id="rId65" Type="http://schemas.openxmlformats.org/officeDocument/2006/relationships/slide" Target="slides/slide2.xml"/><Relationship Id="rId66" Type="http://schemas.openxmlformats.org/officeDocument/2006/relationships/slide" Target="slides/slide3.xml"/><Relationship Id="rId67" Type="http://schemas.openxmlformats.org/officeDocument/2006/relationships/slide" Target="slides/slide4.xml"/><Relationship Id="rId68" Type="http://schemas.openxmlformats.org/officeDocument/2006/relationships/slide" Target="slides/slide5.xml"/><Relationship Id="rId69" Type="http://schemas.openxmlformats.org/officeDocument/2006/relationships/slide" Target="slides/slide6.xml"/><Relationship Id="rId70" Type="http://schemas.openxmlformats.org/officeDocument/2006/relationships/slide" Target="slides/slide7.xml"/><Relationship Id="rId71" Type="http://schemas.openxmlformats.org/officeDocument/2006/relationships/slide" Target="slides/slide8.xml"/><Relationship Id="rId72" Type="http://schemas.openxmlformats.org/officeDocument/2006/relationships/slide" Target="slides/slide9.xml"/><Relationship Id="rId73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Данный слайд представляет инициативу по внедрению ИИ-помощника во внутренний портал для автоматизации ответов сотрудникам.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Сейчас поиск инструкции занимает до 30 минут, а треть обращений в поддержку — повторяющиеся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Сейчас сотрудники тратят до 30 минут на поиск инструкций, а треть обращений в поддержку — это повторяющиеся вопросы, что создает нагрузку на обе стороны.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ИИ-помощник автоматически отвечает на вопросы по регламентам, предоставляя ссылку на источник, а сложные запросы перенаправляет специалистам с полным контекстом.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Модель работает внутри контура, документы не покидают его, а сложные вопросы передаются специалистам с контекстом.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Пилотный проект охватывает 150 сотрудников из двух подразделений и длится 6 недель.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Эти две метрики позволяют оценить эффективность внедрения ИИ-помощника и снижение нагрузки на поддержку.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предусматривает запуск пилота в двух подразделениях и мониторинг метрик в течение шести недель.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Архитектурное ограничение работы модели внутри контура компании минимизирует риски утечки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Для запуска пилота требуется ваше одобрение и выделение команды из трех человек.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accent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2"/>
          <p:cNvSpPr txBox="1"/>
          <p:nvPr>
            <p:ph idx="1" type="body"/>
          </p:nvPr>
        </p:nvSpPr>
        <p:spPr>
          <a:xfrm>
            <a:off x="658813" y="4866865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" name="Google Shape;55;p2"/>
          <p:cNvSpPr txBox="1"/>
          <p:nvPr>
            <p:ph type="title"/>
          </p:nvPr>
        </p:nvSpPr>
        <p:spPr>
          <a:xfrm>
            <a:off x="622261" y="2921912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" name="Google Shape;5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объект">
  <p:cSld name="Заголовок + объект">
    <p:bg>
      <p:bgPr>
        <a:solidFill>
          <a:schemeClr val="lt2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5"/>
          <p:cNvSpPr txBox="1"/>
          <p:nvPr>
            <p:ph idx="1" type="body"/>
          </p:nvPr>
        </p:nvSpPr>
        <p:spPr>
          <a:xfrm>
            <a:off x="658813" y="1773238"/>
            <a:ext cx="10874375" cy="44479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 sz="16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4" name="Google Shape;164;p25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2 объекта">
  <p:cSld name="Заголовок + 2 объекта">
    <p:bg>
      <p:bgPr>
        <a:solidFill>
          <a:schemeClr val="lt2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6"/>
          <p:cNvSpPr txBox="1"/>
          <p:nvPr>
            <p:ph idx="1" type="body"/>
          </p:nvPr>
        </p:nvSpPr>
        <p:spPr>
          <a:xfrm>
            <a:off x="677334" y="1773238"/>
            <a:ext cx="53170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7" name="Google Shape;167;p26"/>
          <p:cNvSpPr txBox="1"/>
          <p:nvPr>
            <p:ph idx="2" type="body"/>
          </p:nvPr>
        </p:nvSpPr>
        <p:spPr>
          <a:xfrm>
            <a:off x="6197604" y="1773238"/>
            <a:ext cx="5317062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8" name="Google Shape;168;p26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53" r:id="rId6"/>
    <p:sldLayoutId id="2147483671" r:id="rId24"/>
    <p:sldLayoutId id="2147483672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/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5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6.png"/><Relationship Id="rId3" Type="http://schemas.openxmlformats.org/officeDocument/2006/relationships/image" Target="../media/image258.jpeg"/><Relationship Id="rId4" Type="http://schemas.openxmlformats.org/officeDocument/2006/relationships/notesSlide" Target="../notesSlides/notesSlide5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5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6.png"/><Relationship Id="rId3" Type="http://schemas.openxmlformats.org/officeDocument/2006/relationships/image" Target="../media/image259.jpeg"/><Relationship Id="rId4" Type="http://schemas.openxmlformats.org/officeDocument/2006/relationships/notesSlide" Target="../notesSlides/notesSlide6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6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6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6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6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6" name="BrandDeck Text 236"/>
          <p:cNvSpPr txBox="1"/>
          <p:nvPr>
            <p:ph idx="1" type="body"/>
          </p:nvPr>
        </p:nvSpPr>
        <p:spPr>
          <a:xfrm>
            <a:off x="658813" y="4866865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  <a:buClr>
                <a:schemeClr val="lt2"/>
              </a:buClr>
              <a:buSzPts val="2000"/>
              <a:buFont typeface="Arial"/>
              <a:buNone/>
            </a:pPr>
            <a:r>
              <a:rPr sz="1600">
                <a:solidFill>
                  <a:srgbClr val="000000"/>
                </a:solidFill>
              </a:rPr>
              <a:t>Инициатива по внедрению ИИ-помощника для автоматизации ответов сотрудников</a:t>
            </a:r>
            <a:endParaRPr/>
          </a:p>
        </p:txBody>
      </p:sp>
      <p:sp>
        <p:nvSpPr>
          <p:cNvPr id="237" name="BrandDeck Text 237"/>
          <p:cNvSpPr txBox="1"/>
          <p:nvPr>
            <p:ph type="title"/>
          </p:nvPr>
        </p:nvSpPr>
        <p:spPr>
          <a:xfrm>
            <a:off x="622261" y="2921912"/>
            <a:ext cx="5273736" cy="1661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59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sz="2400">
                <a:solidFill>
                  <a:srgbClr val="000000"/>
                </a:solidFill>
              </a:rPr>
              <a:t>Сокращение времени поиска инструкций и снижение нагрузки на поддержку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randDeck Text 3"/>
          <p:cNvSpPr>
            <a:spLocks noGrp="1"/>
          </p:cNvSpPr>
          <p:nvPr>
            <p:ph type="title"/>
          </p:nvPr>
        </p:nvSpPr>
        <p:spPr>
          <a:xfrm>
            <a:off x="677334" y="692150"/>
            <a:ext cx="10855854" cy="644241"/>
          </a:xfrm>
        </p:spPr>
        <p:txBody>
          <a:bodyPr vert="horz"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4"/>
              </a:spcAft>
            </a:pPr>
            <a:r>
              <a:rPr sz="1700">
                <a:solidFill>
                  <a:srgbClr val="000000"/>
                </a:solidFill>
              </a:rPr>
              <a:t>Поиск инструкции занимает до 30 минут, а треть обращений — повторяющиеся вопросы</a:t>
            </a:r>
          </a:p>
        </p:txBody>
      </p:sp>
      <p:grpSp>
        <p:nvGrpSpPr>
          <p:cNvPr id="2" name="BrandDeck Diagram icon_grid" descr="icon_grid: Время поиска до 30 минут; Повторяющиеся вопросы треть обращений"/>
          <p:cNvGrpSpPr/>
          <p:nvPr/>
        </p:nvGrpSpPr>
        <p:grpSpPr>
          <a:xfrm>
            <a:off x="658813" y="2625612"/>
            <a:ext cx="10874375" cy="2743200"/>
            <a:chOff x="658813" y="2625612"/>
            <a:chExt cx="10874375" cy="2743200"/>
          </a:xfrm>
        </p:grpSpPr>
        <p:sp>
          <p:nvSpPr>
            <p:cNvPr id="4" name="BrandDeck Diagram Card 1"/>
            <p:cNvSpPr/>
            <p:nvPr/>
          </p:nvSpPr>
          <p:spPr>
            <a:xfrm>
              <a:off x="658813" y="2625612"/>
              <a:ext cx="6307137" cy="2743200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BrandDeck Diagram Icon 1 Badge"/>
            <p:cNvSpPr/>
            <p:nvPr/>
          </p:nvSpPr>
          <p:spPr>
            <a:xfrm>
              <a:off x="878269" y="3695460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BrandDeck Icon clock"/>
            <p:cNvSpPr/>
            <p:nvPr/>
          </p:nvSpPr>
          <p:spPr>
            <a:xfrm>
              <a:off x="1011039" y="3828231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2000" y="12000"/>
                  </a:moveTo>
                  <a:cubicBezTo>
                    <a:pt x="22000" y="17523"/>
                    <a:pt x="17523" y="22000"/>
                    <a:pt x="12000" y="22000"/>
                  </a:cubicBezTo>
                  <a:cubicBezTo>
                    <a:pt x="6477" y="22000"/>
                    <a:pt x="2000" y="17523"/>
                    <a:pt x="2000" y="12000"/>
                  </a:cubicBezTo>
                  <a:cubicBezTo>
                    <a:pt x="2000" y="6477"/>
                    <a:pt x="6477" y="2000"/>
                    <a:pt x="12000" y="2000"/>
                  </a:cubicBezTo>
                  <a:cubicBezTo>
                    <a:pt x="17523" y="2000"/>
                    <a:pt x="22000" y="6477"/>
                    <a:pt x="22000" y="12000"/>
                  </a:cubicBezTo>
                  <a:close/>
                </a:path>
                <a:path w="24000" h="24000" fill="none">
                  <a:moveTo>
                    <a:pt x="12000" y="6000"/>
                  </a:moveTo>
                  <a:lnTo>
                    <a:pt x="12000" y="12000"/>
                  </a:lnTo>
                  <a:lnTo>
                    <a:pt x="16000" y="14000"/>
                  </a:ln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BrandDeck Diagram Text 1"/>
            <p:cNvSpPr txBox="1"/>
            <p:nvPr/>
          </p:nvSpPr>
          <p:spPr>
            <a:xfrm>
              <a:off x="1613446" y="2757286"/>
              <a:ext cx="5133047" cy="2479852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000000"/>
                  </a:solidFill>
                  <a:latin typeface="Play"/>
                </a:rPr>
                <a:t>Время поиска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до 30 минут</a:t>
              </a:r>
            </a:p>
          </p:txBody>
        </p:sp>
        <p:sp>
          <p:nvSpPr>
            <p:cNvPr id="8" name="BrandDeck Diagram Card 2"/>
            <p:cNvSpPr/>
            <p:nvPr/>
          </p:nvSpPr>
          <p:spPr>
            <a:xfrm>
              <a:off x="7183438" y="2625612"/>
              <a:ext cx="4349750" cy="2743200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BrandDeck Diagram Icon 2 Badge"/>
            <p:cNvSpPr/>
            <p:nvPr/>
          </p:nvSpPr>
          <p:spPr>
            <a:xfrm>
              <a:off x="7402894" y="3695460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BrandDeck Icon repeat"/>
            <p:cNvSpPr/>
            <p:nvPr/>
          </p:nvSpPr>
          <p:spPr>
            <a:xfrm>
              <a:off x="7535664" y="3828231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7000" y="2000"/>
                  </a:moveTo>
                  <a:lnTo>
                    <a:pt x="21000" y="6000"/>
                  </a:lnTo>
                  <a:lnTo>
                    <a:pt x="17000" y="10000"/>
                  </a:lnTo>
                </a:path>
                <a:path w="24000" h="24000" fill="none">
                  <a:moveTo>
                    <a:pt x="3000" y="11000"/>
                  </a:moveTo>
                  <a:lnTo>
                    <a:pt x="3000" y="10000"/>
                  </a:lnTo>
                  <a:cubicBezTo>
                    <a:pt x="3000" y="7791"/>
                    <a:pt x="4791" y="6000"/>
                    <a:pt x="7000" y="6000"/>
                  </a:cubicBezTo>
                  <a:lnTo>
                    <a:pt x="21000" y="6000"/>
                  </a:lnTo>
                </a:path>
                <a:path w="24000" h="24000" fill="none">
                  <a:moveTo>
                    <a:pt x="7000" y="22000"/>
                  </a:moveTo>
                  <a:lnTo>
                    <a:pt x="3000" y="18000"/>
                  </a:lnTo>
                  <a:lnTo>
                    <a:pt x="7000" y="14000"/>
                  </a:lnTo>
                </a:path>
                <a:path w="24000" h="24000" fill="none">
                  <a:moveTo>
                    <a:pt x="21000" y="13000"/>
                  </a:moveTo>
                  <a:lnTo>
                    <a:pt x="21000" y="14000"/>
                  </a:lnTo>
                  <a:cubicBezTo>
                    <a:pt x="21000" y="16209"/>
                    <a:pt x="19209" y="18000"/>
                    <a:pt x="17000" y="18000"/>
                  </a:cubicBezTo>
                  <a:lnTo>
                    <a:pt x="3000" y="18000"/>
                  </a:ln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BrandDeck Diagram Text 2"/>
            <p:cNvSpPr txBox="1"/>
            <p:nvPr/>
          </p:nvSpPr>
          <p:spPr>
            <a:xfrm>
              <a:off x="8138071" y="2757286"/>
              <a:ext cx="3175660" cy="2479852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000000"/>
                  </a:solidFill>
                  <a:latin typeface="Play"/>
                </a:rPr>
                <a:t>Повторяющиеся вопросы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треть обращений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60" name="BrandDeck Text 106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1800">
                <a:solidFill>
                  <a:srgbClr val="000000"/>
                </a:solidFill>
              </a:rPr>
              <a:t>Сотрудники тратят время на поиск, а поддержка обрабатывает повторяющиеся запросы</a:t>
            </a:r>
            <a:endParaRPr/>
          </a:p>
        </p:txBody>
      </p:sp>
      <p:pic>
        <p:nvPicPr>
          <p:cNvPr id="1072" name="BrandDeck Image" descr="сотрудник специалист поддержки"/>
          <p:cNvPicPr>
            <a:picLocks noChangeAspect="1"/>
          </p:cNvPicPr>
          <p:nvPr/>
        </p:nvPicPr>
        <p:blipFill>
          <a:blip r:embed="rId3"/>
          <a:srcRect l="5955" r="5955"/>
          <a:stretch>
            <a:fillRect/>
          </a:stretch>
        </p:blipFill>
        <p:spPr>
          <a:xfrm>
            <a:off x="671514" y="1773238"/>
            <a:ext cx="6929992" cy="4427537"/>
          </a:xfrm>
          <a:prstGeom prst="rect">
            <a:avLst/>
          </a:prstGeom>
        </p:spPr>
      </p:pic>
      <p:sp>
        <p:nvSpPr>
          <p:cNvPr id="1069" name="Google Shape;1069;p83"/>
          <p:cNvSpPr txBox="1"/>
          <p:nvPr/>
        </p:nvSpPr>
        <p:spPr>
          <a:xfrm>
            <a:off x="8355728" y="627078"/>
            <a:ext cx="3409196" cy="3951457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70" name="Google Shape;1070;p83"/>
          <p:cNvCxnSpPr/>
          <p:nvPr/>
        </p:nvCxnSpPr>
        <p:spPr>
          <a:xfrm flipH="1">
            <a:off x="8111315" y="692150"/>
            <a:ext cx="9261" cy="5508625"/>
          </a:xfrm>
          <a:prstGeom prst="straightConnector1">
            <a:avLst/>
          </a:prstGeom>
          <a:noFill/>
          <a:ln cap="flat" cmpd="sng" w="9525">
            <a:solidFill>
              <a:srgbClr val="F4F8FB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071" name="BrandDeck Body"/>
          <p:cNvSpPr txBox="1"/>
          <p:nvPr/>
        </p:nvSpPr>
        <p:spPr>
          <a:xfrm>
            <a:off x="8355728" y="1473551"/>
            <a:ext cx="3409196" cy="3104984"/>
          </a:xfrm>
          <a:prstGeom prst="rect">
            <a:avLst/>
          </a:prstGeom>
          <a:noFill/>
        </p:spPr>
        <p:txBody>
          <a:bodyPr wrap="square" vert="horz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</a:pPr>
            <a:r>
              <a:rPr sz="1400">
                <a:solidFill>
                  <a:srgbClr val="000000"/>
                </a:solidFill>
                <a:latin typeface="Play"/>
              </a:rPr>
              <a:t>• Сотрудники тратят до 30 минут на поиск инструкций.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</a:pPr>
            <a:r>
              <a:rPr sz="1400">
                <a:solidFill>
                  <a:srgbClr val="000000"/>
                </a:solidFill>
                <a:latin typeface="Play"/>
              </a:rPr>
              <a:t>• Треть обращений в поддержку — повторяющиеся вопросы.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</a:pPr>
            <a:r>
              <a:rPr sz="1400">
                <a:solidFill>
                  <a:srgbClr val="000000"/>
                </a:solidFill>
                <a:latin typeface="Play"/>
              </a:rPr>
              <a:t>• Инициатива направлена на сотрудников и специалистов поддержки.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randDeck Text 3"/>
          <p:cNvSpPr>
            <a:spLocks noGrp="1"/>
          </p:cNvSpPr>
          <p:nvPr>
            <p:ph type="title"/>
          </p:nvPr>
        </p:nvSpPr>
        <p:spPr>
          <a:xfrm>
            <a:off x="677334" y="692150"/>
            <a:ext cx="10855854" cy="644241"/>
          </a:xfrm>
        </p:spPr>
        <p:txBody>
          <a:bodyPr vert="horz"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4"/>
              </a:spcAft>
            </a:pPr>
            <a:r>
              <a:rPr sz="1700">
                <a:solidFill>
                  <a:srgbClr val="000000"/>
                </a:solidFill>
              </a:rPr>
              <a:t>ИИ-помощник отвечает на вопросы по регламентам и дает ссылку на документ-источник</a:t>
            </a:r>
          </a:p>
        </p:txBody>
      </p:sp>
      <p:grpSp>
        <p:nvGrpSpPr>
          <p:cNvPr id="2" name="BrandDeck Diagram icon_grid" descr="icon_grid: Система отвечает на вопросы по регламентам и инструкциям.; При ответе предоставляется ссылка на документ-источник.; При отсутствии ответа вопрос перенаправляется специалисту.; Перенаправление включает контекст для быстрого решения."/>
          <p:cNvGrpSpPr/>
          <p:nvPr/>
        </p:nvGrpSpPr>
        <p:grpSpPr>
          <a:xfrm>
            <a:off x="658813" y="1773238"/>
            <a:ext cx="10874375" cy="4447949"/>
            <a:chOff x="658813" y="1773238"/>
            <a:chExt cx="10874375" cy="4447949"/>
          </a:xfrm>
        </p:grpSpPr>
        <p:sp>
          <p:nvSpPr>
            <p:cNvPr id="4" name="BrandDeck Diagram Card 1"/>
            <p:cNvSpPr/>
            <p:nvPr/>
          </p:nvSpPr>
          <p:spPr>
            <a:xfrm>
              <a:off x="658813" y="1773238"/>
              <a:ext cx="4567237" cy="4447949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BrandDeck Diagram Icon 1 Badge"/>
            <p:cNvSpPr/>
            <p:nvPr/>
          </p:nvSpPr>
          <p:spPr>
            <a:xfrm>
              <a:off x="878269" y="1992694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BrandDeck Icon file-text"/>
            <p:cNvSpPr/>
            <p:nvPr/>
          </p:nvSpPr>
          <p:spPr>
            <a:xfrm>
              <a:off x="1011039" y="2125464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5000" y="2000"/>
                  </a:moveTo>
                  <a:lnTo>
                    <a:pt x="6000" y="2000"/>
                  </a:lnTo>
                  <a:cubicBezTo>
                    <a:pt x="4895" y="2000"/>
                    <a:pt x="4000" y="2895"/>
                    <a:pt x="4000" y="4000"/>
                  </a:cubicBezTo>
                  <a:lnTo>
                    <a:pt x="4000" y="20000"/>
                  </a:lnTo>
                  <a:cubicBezTo>
                    <a:pt x="4000" y="21105"/>
                    <a:pt x="4895" y="22000"/>
                    <a:pt x="6000" y="22000"/>
                  </a:cubicBezTo>
                  <a:lnTo>
                    <a:pt x="18000" y="22000"/>
                  </a:lnTo>
                  <a:cubicBezTo>
                    <a:pt x="19105" y="22000"/>
                    <a:pt x="20000" y="21105"/>
                    <a:pt x="20000" y="20000"/>
                  </a:cubicBezTo>
                  <a:lnTo>
                    <a:pt x="20000" y="7000"/>
                  </a:lnTo>
                  <a:close/>
                </a:path>
                <a:path w="24000" h="24000" fill="none">
                  <a:moveTo>
                    <a:pt x="14000" y="2000"/>
                  </a:moveTo>
                  <a:lnTo>
                    <a:pt x="14000" y="6000"/>
                  </a:lnTo>
                  <a:cubicBezTo>
                    <a:pt x="14000" y="7105"/>
                    <a:pt x="14895" y="8000"/>
                    <a:pt x="16000" y="8000"/>
                  </a:cubicBezTo>
                  <a:lnTo>
                    <a:pt x="20000" y="8000"/>
                  </a:lnTo>
                </a:path>
                <a:path w="24000" h="24000" fill="none">
                  <a:moveTo>
                    <a:pt x="10000" y="9000"/>
                  </a:moveTo>
                  <a:lnTo>
                    <a:pt x="8000" y="9000"/>
                  </a:lnTo>
                </a:path>
                <a:path w="24000" h="24000" fill="none">
                  <a:moveTo>
                    <a:pt x="16000" y="13000"/>
                  </a:moveTo>
                  <a:lnTo>
                    <a:pt x="8000" y="13000"/>
                  </a:lnTo>
                </a:path>
                <a:path w="24000" h="24000" fill="none">
                  <a:moveTo>
                    <a:pt x="16000" y="17000"/>
                  </a:moveTo>
                  <a:lnTo>
                    <a:pt x="8000" y="17000"/>
                  </a:ln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BrandDeck Diagram Text 1"/>
            <p:cNvSpPr txBox="1"/>
            <p:nvPr/>
          </p:nvSpPr>
          <p:spPr>
            <a:xfrm>
              <a:off x="812432" y="2749817"/>
              <a:ext cx="4259999" cy="3361641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Система отвечает на вопросы по регламентам и инструкциям.</a:t>
              </a:r>
            </a:p>
          </p:txBody>
        </p:sp>
        <p:sp>
          <p:nvSpPr>
            <p:cNvPr id="8" name="BrandDeck Diagram Card 2"/>
            <p:cNvSpPr/>
            <p:nvPr/>
          </p:nvSpPr>
          <p:spPr>
            <a:xfrm>
              <a:off x="5443538" y="1773238"/>
              <a:ext cx="6089650" cy="1337657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BrandDeck Diagram Icon 2 Badge"/>
            <p:cNvSpPr/>
            <p:nvPr/>
          </p:nvSpPr>
          <p:spPr>
            <a:xfrm>
              <a:off x="5662994" y="2254794"/>
              <a:ext cx="374544" cy="37454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BrandDeck Icon link"/>
            <p:cNvSpPr/>
            <p:nvPr/>
          </p:nvSpPr>
          <p:spPr>
            <a:xfrm>
              <a:off x="5745393" y="2337194"/>
              <a:ext cx="209744" cy="209744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0000" y="13000"/>
                  </a:moveTo>
                  <a:cubicBezTo>
                    <a:pt x="10869" y="14162"/>
                    <a:pt x="12200" y="14889"/>
                    <a:pt x="13647" y="14992"/>
                  </a:cubicBezTo>
                  <a:cubicBezTo>
                    <a:pt x="15094" y="15096"/>
                    <a:pt x="16514" y="14566"/>
                    <a:pt x="17540" y="13540"/>
                  </a:cubicBezTo>
                  <a:lnTo>
                    <a:pt x="20540" y="10540"/>
                  </a:lnTo>
                  <a:cubicBezTo>
                    <a:pt x="22435" y="8578"/>
                    <a:pt x="22408" y="5460"/>
                    <a:pt x="20479" y="3531"/>
                  </a:cubicBezTo>
                  <a:cubicBezTo>
                    <a:pt x="18550" y="1602"/>
                    <a:pt x="15432" y="1575"/>
                    <a:pt x="13470" y="3470"/>
                  </a:cubicBezTo>
                  <a:lnTo>
                    <a:pt x="11750" y="5180"/>
                  </a:lnTo>
                </a:path>
                <a:path w="24000" h="24000" fill="none">
                  <a:moveTo>
                    <a:pt x="14000" y="11000"/>
                  </a:moveTo>
                  <a:cubicBezTo>
                    <a:pt x="13131" y="9838"/>
                    <a:pt x="11800" y="9111"/>
                    <a:pt x="10353" y="9008"/>
                  </a:cubicBezTo>
                  <a:cubicBezTo>
                    <a:pt x="8906" y="8904"/>
                    <a:pt x="7486" y="9434"/>
                    <a:pt x="6460" y="10460"/>
                  </a:cubicBezTo>
                  <a:lnTo>
                    <a:pt x="3460" y="13460"/>
                  </a:lnTo>
                  <a:cubicBezTo>
                    <a:pt x="1565" y="15422"/>
                    <a:pt x="1592" y="18540"/>
                    <a:pt x="3521" y="20469"/>
                  </a:cubicBezTo>
                  <a:cubicBezTo>
                    <a:pt x="5450" y="22398"/>
                    <a:pt x="8568" y="22425"/>
                    <a:pt x="10530" y="20530"/>
                  </a:cubicBezTo>
                  <a:lnTo>
                    <a:pt x="12240" y="18820"/>
                  </a:lnTo>
                </a:path>
              </a:pathLst>
            </a:custGeom>
            <a:noFill/>
            <a:ln w="1747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BrandDeck Diagram Text 2"/>
            <p:cNvSpPr txBox="1"/>
            <p:nvPr/>
          </p:nvSpPr>
          <p:spPr>
            <a:xfrm>
              <a:off x="6169211" y="1904911"/>
              <a:ext cx="5144520" cy="1074310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При ответе предоставляется ссылка на документ-источник.</a:t>
              </a:r>
            </a:p>
          </p:txBody>
        </p:sp>
        <p:sp>
          <p:nvSpPr>
            <p:cNvPr id="12" name="BrandDeck Diagram Card 3"/>
            <p:cNvSpPr/>
            <p:nvPr/>
          </p:nvSpPr>
          <p:spPr>
            <a:xfrm>
              <a:off x="5443538" y="3328383"/>
              <a:ext cx="6089650" cy="1337657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BrandDeck Diagram Icon 3 Badge"/>
            <p:cNvSpPr/>
            <p:nvPr/>
          </p:nvSpPr>
          <p:spPr>
            <a:xfrm>
              <a:off x="5662994" y="3809940"/>
              <a:ext cx="374544" cy="37454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BrandDeck Icon circle-help"/>
            <p:cNvSpPr/>
            <p:nvPr/>
          </p:nvSpPr>
          <p:spPr>
            <a:xfrm>
              <a:off x="5745393" y="3892340"/>
              <a:ext cx="209744" cy="209744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2000" y="12000"/>
                  </a:moveTo>
                  <a:cubicBezTo>
                    <a:pt x="22000" y="17523"/>
                    <a:pt x="17523" y="22000"/>
                    <a:pt x="12000" y="22000"/>
                  </a:cubicBezTo>
                  <a:cubicBezTo>
                    <a:pt x="6477" y="22000"/>
                    <a:pt x="2000" y="17523"/>
                    <a:pt x="2000" y="12000"/>
                  </a:cubicBezTo>
                  <a:cubicBezTo>
                    <a:pt x="2000" y="6477"/>
                    <a:pt x="6477" y="2000"/>
                    <a:pt x="12000" y="2000"/>
                  </a:cubicBezTo>
                  <a:cubicBezTo>
                    <a:pt x="17523" y="2000"/>
                    <a:pt x="22000" y="6477"/>
                    <a:pt x="22000" y="12000"/>
                  </a:cubicBezTo>
                  <a:close/>
                </a:path>
                <a:path w="24000" h="24000" fill="none">
                  <a:moveTo>
                    <a:pt x="9090" y="9000"/>
                  </a:moveTo>
                  <a:cubicBezTo>
                    <a:pt x="9575" y="7620"/>
                    <a:pt x="10985" y="6791"/>
                    <a:pt x="12427" y="7039"/>
                  </a:cubicBezTo>
                  <a:cubicBezTo>
                    <a:pt x="13869" y="7286"/>
                    <a:pt x="14922" y="8537"/>
                    <a:pt x="14920" y="10000"/>
                  </a:cubicBezTo>
                  <a:cubicBezTo>
                    <a:pt x="14920" y="12000"/>
                    <a:pt x="11920" y="13000"/>
                    <a:pt x="11920" y="13000"/>
                  </a:cubicBezTo>
                </a:path>
                <a:path w="24000" h="24000" fill="none">
                  <a:moveTo>
                    <a:pt x="12000" y="17000"/>
                  </a:moveTo>
                  <a:lnTo>
                    <a:pt x="12010" y="17000"/>
                  </a:lnTo>
                </a:path>
              </a:pathLst>
            </a:custGeom>
            <a:noFill/>
            <a:ln w="1747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BrandDeck Diagram Text 3"/>
            <p:cNvSpPr txBox="1"/>
            <p:nvPr/>
          </p:nvSpPr>
          <p:spPr>
            <a:xfrm>
              <a:off x="6169211" y="3460057"/>
              <a:ext cx="5144520" cy="1074310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При отсутствии ответа вопрос перенаправляется специалисту.</a:t>
              </a:r>
            </a:p>
          </p:txBody>
        </p:sp>
        <p:sp>
          <p:nvSpPr>
            <p:cNvPr id="16" name="BrandDeck Diagram Card 4"/>
            <p:cNvSpPr/>
            <p:nvPr/>
          </p:nvSpPr>
          <p:spPr>
            <a:xfrm>
              <a:off x="5443538" y="4883529"/>
              <a:ext cx="6089650" cy="1337657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BrandDeck Diagram Icon 4 Badge"/>
            <p:cNvSpPr/>
            <p:nvPr/>
          </p:nvSpPr>
          <p:spPr>
            <a:xfrm>
              <a:off x="5662994" y="5365085"/>
              <a:ext cx="374544" cy="37454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BrandDeck Icon timer"/>
            <p:cNvSpPr/>
            <p:nvPr/>
          </p:nvSpPr>
          <p:spPr>
            <a:xfrm>
              <a:off x="5745393" y="5447485"/>
              <a:ext cx="209744" cy="209744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0000" y="2000"/>
                  </a:moveTo>
                  <a:lnTo>
                    <a:pt x="14000" y="2000"/>
                  </a:lnTo>
                </a:path>
                <a:path w="24000" h="24000" fill="none">
                  <a:moveTo>
                    <a:pt x="12000" y="14000"/>
                  </a:moveTo>
                  <a:lnTo>
                    <a:pt x="15000" y="11000"/>
                  </a:lnTo>
                </a:path>
                <a:path w="24000" h="24000" fill="none">
                  <a:moveTo>
                    <a:pt x="20000" y="14000"/>
                  </a:moveTo>
                  <a:cubicBezTo>
                    <a:pt x="20000" y="18418"/>
                    <a:pt x="16418" y="22000"/>
                    <a:pt x="12000" y="22000"/>
                  </a:cubicBezTo>
                  <a:cubicBezTo>
                    <a:pt x="7582" y="22000"/>
                    <a:pt x="4000" y="18418"/>
                    <a:pt x="4000" y="14000"/>
                  </a:cubicBezTo>
                  <a:cubicBezTo>
                    <a:pt x="4000" y="9582"/>
                    <a:pt x="7582" y="6000"/>
                    <a:pt x="12000" y="6000"/>
                  </a:cubicBezTo>
                  <a:cubicBezTo>
                    <a:pt x="16418" y="6000"/>
                    <a:pt x="20000" y="9582"/>
                    <a:pt x="20000" y="14000"/>
                  </a:cubicBezTo>
                  <a:close/>
                </a:path>
              </a:pathLst>
            </a:custGeom>
            <a:noFill/>
            <a:ln w="1747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BrandDeck Diagram Text 4"/>
            <p:cNvSpPr txBox="1"/>
            <p:nvPr/>
          </p:nvSpPr>
          <p:spPr>
            <a:xfrm>
              <a:off x="6169211" y="5015202"/>
              <a:ext cx="5144520" cy="1074310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Перенаправление включает контекст для быстрого решения.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60" name="BrandDeck Text 106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1800">
                <a:solidFill>
                  <a:srgbClr val="000000"/>
                </a:solidFill>
              </a:rPr>
              <a:t>Модель работает внутри контура компании, а подтвержденные вопросы уходят к специалисту</a:t>
            </a:r>
            <a:endParaRPr/>
          </a:p>
        </p:txBody>
      </p:sp>
      <p:pic>
        <p:nvPicPr>
          <p:cNvPr id="1072" name="BrandDeck Image" descr="внутренний контур серверная"/>
          <p:cNvPicPr>
            <a:picLocks noChangeAspect="1"/>
          </p:cNvPicPr>
          <p:nvPr/>
        </p:nvPicPr>
        <p:blipFill>
          <a:blip r:embed="rId3"/>
          <a:srcRect l="5955" r="5955"/>
          <a:stretch>
            <a:fillRect/>
          </a:stretch>
        </p:blipFill>
        <p:spPr>
          <a:xfrm>
            <a:off x="671514" y="1773238"/>
            <a:ext cx="6929992" cy="4427537"/>
          </a:xfrm>
          <a:prstGeom prst="rect">
            <a:avLst/>
          </a:prstGeom>
        </p:spPr>
      </p:pic>
      <p:sp>
        <p:nvSpPr>
          <p:cNvPr id="1069" name="Google Shape;1069;p83"/>
          <p:cNvSpPr txBox="1"/>
          <p:nvPr/>
        </p:nvSpPr>
        <p:spPr>
          <a:xfrm>
            <a:off x="8355728" y="627078"/>
            <a:ext cx="3409196" cy="3951457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70" name="Google Shape;1070;p83"/>
          <p:cNvCxnSpPr/>
          <p:nvPr/>
        </p:nvCxnSpPr>
        <p:spPr>
          <a:xfrm flipH="1">
            <a:off x="8111315" y="692150"/>
            <a:ext cx="9261" cy="5508625"/>
          </a:xfrm>
          <a:prstGeom prst="straightConnector1">
            <a:avLst/>
          </a:prstGeom>
          <a:noFill/>
          <a:ln cap="flat" cmpd="sng" w="9525">
            <a:solidFill>
              <a:srgbClr val="F4F8FB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071" name="BrandDeck Body"/>
          <p:cNvSpPr txBox="1"/>
          <p:nvPr/>
        </p:nvSpPr>
        <p:spPr>
          <a:xfrm>
            <a:off x="8355728" y="1473551"/>
            <a:ext cx="3409196" cy="3104984"/>
          </a:xfrm>
          <a:prstGeom prst="rect">
            <a:avLst/>
          </a:prstGeom>
          <a:noFill/>
        </p:spPr>
        <p:txBody>
          <a:bodyPr wrap="square" vert="horz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</a:pPr>
            <a:r>
              <a:rPr sz="1400">
                <a:solidFill>
                  <a:srgbClr val="000000"/>
                </a:solidFill>
                <a:latin typeface="Play"/>
              </a:rPr>
              <a:t>• Модель с открытыми весами работает внутри контура компании.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</a:pPr>
            <a:r>
              <a:rPr sz="1400">
                <a:solidFill>
                  <a:srgbClr val="000000"/>
                </a:solidFill>
                <a:latin typeface="Play"/>
              </a:rPr>
              <a:t>• Документы не уходят наружу при обработке запросов.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</a:pPr>
            <a:r>
              <a:rPr sz="1400">
                <a:solidFill>
                  <a:srgbClr val="000000"/>
                </a:solidFill>
                <a:latin typeface="Play"/>
              </a:rPr>
              <a:t>• Вопросы без подтверждённого ответа уходят специалисту с контекстом.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randDeck Text 3"/>
          <p:cNvSpPr>
            <a:spLocks noGrp="1"/>
          </p:cNvSpPr>
          <p:nvPr>
            <p:ph type="title"/>
          </p:nvPr>
        </p:nvSpPr>
        <p:spPr>
          <a:xfrm>
            <a:off x="677334" y="692150"/>
            <a:ext cx="10855854" cy="644241"/>
          </a:xfrm>
        </p:spPr>
        <p:txBody>
          <a:bodyPr vert="horz"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>
                <a:solidFill>
                  <a:srgbClr val="000000"/>
                </a:solidFill>
              </a:rPr>
              <a:t>Пилот охватывает 2 подразделения и 150 сотрудников в течение 6 недель</a:t>
            </a:r>
          </a:p>
        </p:txBody>
      </p:sp>
      <p:grpSp>
        <p:nvGrpSpPr>
          <p:cNvPr id="2" name="BrandDeck Diagram icon_grid" descr="icon_grid: Длительность 6 недель; Участники 150 сотрудников; Охват 2 подразделения"/>
          <p:cNvGrpSpPr/>
          <p:nvPr/>
        </p:nvGrpSpPr>
        <p:grpSpPr>
          <a:xfrm>
            <a:off x="658813" y="1773238"/>
            <a:ext cx="10874375" cy="4447949"/>
            <a:chOff x="658813" y="1773238"/>
            <a:chExt cx="10874375" cy="4447949"/>
          </a:xfrm>
        </p:grpSpPr>
        <p:sp>
          <p:nvSpPr>
            <p:cNvPr id="4" name="BrandDeck Diagram Card 1"/>
            <p:cNvSpPr/>
            <p:nvPr/>
          </p:nvSpPr>
          <p:spPr>
            <a:xfrm>
              <a:off x="658813" y="1773238"/>
              <a:ext cx="4567237" cy="4447949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BrandDeck Diagram Icon 1 Badge"/>
            <p:cNvSpPr/>
            <p:nvPr/>
          </p:nvSpPr>
          <p:spPr>
            <a:xfrm>
              <a:off x="878269" y="1992694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BrandDeck Icon hourglass"/>
            <p:cNvSpPr/>
            <p:nvPr/>
          </p:nvSpPr>
          <p:spPr>
            <a:xfrm>
              <a:off x="1011039" y="2125464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5000" y="22000"/>
                  </a:moveTo>
                  <a:lnTo>
                    <a:pt x="19000" y="22000"/>
                  </a:lnTo>
                </a:path>
                <a:path w="24000" h="24000" fill="none">
                  <a:moveTo>
                    <a:pt x="5000" y="2000"/>
                  </a:moveTo>
                  <a:lnTo>
                    <a:pt x="19000" y="2000"/>
                  </a:lnTo>
                </a:path>
                <a:path w="24000" h="24000" fill="none">
                  <a:moveTo>
                    <a:pt x="17000" y="22000"/>
                  </a:moveTo>
                  <a:lnTo>
                    <a:pt x="17000" y="17828"/>
                  </a:lnTo>
                  <a:cubicBezTo>
                    <a:pt x="17000" y="17298"/>
                    <a:pt x="16789" y="16789"/>
                    <a:pt x="16414" y="16414"/>
                  </a:cubicBezTo>
                  <a:lnTo>
                    <a:pt x="12000" y="12000"/>
                  </a:lnTo>
                  <a:lnTo>
                    <a:pt x="7586" y="16414"/>
                  </a:lnTo>
                  <a:cubicBezTo>
                    <a:pt x="7211" y="16789"/>
                    <a:pt x="7000" y="17298"/>
                    <a:pt x="7000" y="17828"/>
                  </a:cubicBezTo>
                  <a:lnTo>
                    <a:pt x="7000" y="22000"/>
                  </a:lnTo>
                </a:path>
                <a:path w="24000" h="24000" fill="none">
                  <a:moveTo>
                    <a:pt x="7000" y="2000"/>
                  </a:moveTo>
                  <a:lnTo>
                    <a:pt x="7000" y="6172"/>
                  </a:lnTo>
                  <a:cubicBezTo>
                    <a:pt x="7000" y="6702"/>
                    <a:pt x="7211" y="7211"/>
                    <a:pt x="7586" y="7586"/>
                  </a:cubicBezTo>
                  <a:lnTo>
                    <a:pt x="12000" y="12000"/>
                  </a:lnTo>
                  <a:lnTo>
                    <a:pt x="16414" y="7586"/>
                  </a:lnTo>
                  <a:cubicBezTo>
                    <a:pt x="16789" y="7211"/>
                    <a:pt x="17000" y="6702"/>
                    <a:pt x="17000" y="6172"/>
                  </a:cubicBezTo>
                  <a:lnTo>
                    <a:pt x="17000" y="2000"/>
                  </a:ln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BrandDeck Diagram Text 1"/>
            <p:cNvSpPr txBox="1"/>
            <p:nvPr/>
          </p:nvSpPr>
          <p:spPr>
            <a:xfrm>
              <a:off x="812432" y="2749817"/>
              <a:ext cx="4259999" cy="3361641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000000"/>
                  </a:solidFill>
                  <a:latin typeface="Play"/>
                </a:rPr>
                <a:t>Длительность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6 недель</a:t>
              </a:r>
            </a:p>
          </p:txBody>
        </p:sp>
        <p:sp>
          <p:nvSpPr>
            <p:cNvPr id="8" name="BrandDeck Diagram Card 2"/>
            <p:cNvSpPr/>
            <p:nvPr/>
          </p:nvSpPr>
          <p:spPr>
            <a:xfrm>
              <a:off x="5443538" y="1773238"/>
              <a:ext cx="6089650" cy="2115230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BrandDeck Diagram Icon 2 Badge"/>
            <p:cNvSpPr/>
            <p:nvPr/>
          </p:nvSpPr>
          <p:spPr>
            <a:xfrm>
              <a:off x="5662994" y="2534721"/>
              <a:ext cx="592264" cy="59226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BrandDeck Icon users"/>
            <p:cNvSpPr/>
            <p:nvPr/>
          </p:nvSpPr>
          <p:spPr>
            <a:xfrm>
              <a:off x="5793292" y="2665019"/>
              <a:ext cx="331668" cy="331668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6000" y="21000"/>
                  </a:moveTo>
                  <a:lnTo>
                    <a:pt x="16000" y="19000"/>
                  </a:lnTo>
                  <a:cubicBezTo>
                    <a:pt x="16000" y="16791"/>
                    <a:pt x="14209" y="15000"/>
                    <a:pt x="12000" y="15000"/>
                  </a:cubicBezTo>
                  <a:lnTo>
                    <a:pt x="6000" y="15000"/>
                  </a:lnTo>
                  <a:cubicBezTo>
                    <a:pt x="3791" y="15000"/>
                    <a:pt x="2000" y="16791"/>
                    <a:pt x="2000" y="19000"/>
                  </a:cubicBezTo>
                  <a:lnTo>
                    <a:pt x="2000" y="21000"/>
                  </a:lnTo>
                </a:path>
                <a:path w="24000" h="24000" fill="none">
                  <a:moveTo>
                    <a:pt x="13000" y="7000"/>
                  </a:moveTo>
                  <a:cubicBezTo>
                    <a:pt x="13000" y="9209"/>
                    <a:pt x="11209" y="11000"/>
                    <a:pt x="9000" y="11000"/>
                  </a:cubicBezTo>
                  <a:cubicBezTo>
                    <a:pt x="6791" y="11000"/>
                    <a:pt x="5000" y="9209"/>
                    <a:pt x="5000" y="7000"/>
                  </a:cubicBezTo>
                  <a:cubicBezTo>
                    <a:pt x="5000" y="4791"/>
                    <a:pt x="6791" y="3000"/>
                    <a:pt x="9000" y="3000"/>
                  </a:cubicBezTo>
                  <a:cubicBezTo>
                    <a:pt x="11209" y="3000"/>
                    <a:pt x="13000" y="4791"/>
                    <a:pt x="13000" y="7000"/>
                  </a:cubicBezTo>
                  <a:close/>
                </a:path>
                <a:path w="24000" h="24000" fill="none">
                  <a:moveTo>
                    <a:pt x="22000" y="21000"/>
                  </a:moveTo>
                  <a:lnTo>
                    <a:pt x="22000" y="19000"/>
                  </a:lnTo>
                  <a:cubicBezTo>
                    <a:pt x="21999" y="17177"/>
                    <a:pt x="20765" y="15586"/>
                    <a:pt x="19000" y="15130"/>
                  </a:cubicBezTo>
                </a:path>
                <a:path w="24000" h="24000" fill="none">
                  <a:moveTo>
                    <a:pt x="16000" y="3130"/>
                  </a:moveTo>
                  <a:cubicBezTo>
                    <a:pt x="17770" y="3583"/>
                    <a:pt x="19008" y="5178"/>
                    <a:pt x="19008" y="7005"/>
                  </a:cubicBezTo>
                  <a:cubicBezTo>
                    <a:pt x="19008" y="8832"/>
                    <a:pt x="17770" y="10427"/>
                    <a:pt x="16000" y="10880"/>
                  </a:cubicBezTo>
                </a:path>
              </a:pathLst>
            </a:custGeom>
            <a:noFill/>
            <a:ln w="27639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BrandDeck Diagram Text 2"/>
            <p:cNvSpPr txBox="1"/>
            <p:nvPr/>
          </p:nvSpPr>
          <p:spPr>
            <a:xfrm>
              <a:off x="6386932" y="1904911"/>
              <a:ext cx="4926799" cy="1851883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000000"/>
                  </a:solidFill>
                  <a:latin typeface="Play"/>
                </a:rPr>
                <a:t>Участники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150 сотрудников</a:t>
              </a:r>
            </a:p>
          </p:txBody>
        </p:sp>
        <p:sp>
          <p:nvSpPr>
            <p:cNvPr id="12" name="BrandDeck Diagram Card 3"/>
            <p:cNvSpPr/>
            <p:nvPr/>
          </p:nvSpPr>
          <p:spPr>
            <a:xfrm>
              <a:off x="5443538" y="4105956"/>
              <a:ext cx="6089650" cy="2115230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BrandDeck Diagram Icon 3 Badge"/>
            <p:cNvSpPr/>
            <p:nvPr/>
          </p:nvSpPr>
          <p:spPr>
            <a:xfrm>
              <a:off x="5662994" y="4867439"/>
              <a:ext cx="592264" cy="59226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BrandDeck Icon building-2"/>
            <p:cNvSpPr/>
            <p:nvPr/>
          </p:nvSpPr>
          <p:spPr>
            <a:xfrm>
              <a:off x="5793292" y="4997737"/>
              <a:ext cx="331668" cy="331668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6000" y="22000"/>
                  </a:moveTo>
                  <a:lnTo>
                    <a:pt x="6000" y="4000"/>
                  </a:lnTo>
                  <a:cubicBezTo>
                    <a:pt x="6000" y="2895"/>
                    <a:pt x="6895" y="2000"/>
                    <a:pt x="8000" y="2000"/>
                  </a:cubicBezTo>
                  <a:lnTo>
                    <a:pt x="16000" y="2000"/>
                  </a:lnTo>
                  <a:cubicBezTo>
                    <a:pt x="17105" y="2000"/>
                    <a:pt x="18000" y="2895"/>
                    <a:pt x="18000" y="4000"/>
                  </a:cubicBezTo>
                  <a:lnTo>
                    <a:pt x="18000" y="22000"/>
                  </a:lnTo>
                  <a:close/>
                </a:path>
                <a:path w="24000" h="24000" fill="none">
                  <a:moveTo>
                    <a:pt x="6000" y="12000"/>
                  </a:moveTo>
                  <a:lnTo>
                    <a:pt x="4000" y="12000"/>
                  </a:lnTo>
                  <a:cubicBezTo>
                    <a:pt x="2895" y="12000"/>
                    <a:pt x="2000" y="12895"/>
                    <a:pt x="2000" y="14000"/>
                  </a:cubicBezTo>
                  <a:lnTo>
                    <a:pt x="2000" y="20000"/>
                  </a:lnTo>
                  <a:cubicBezTo>
                    <a:pt x="2000" y="21105"/>
                    <a:pt x="2895" y="22000"/>
                    <a:pt x="4000" y="22000"/>
                  </a:cubicBezTo>
                  <a:lnTo>
                    <a:pt x="6000" y="22000"/>
                  </a:lnTo>
                </a:path>
                <a:path w="24000" h="24000" fill="none">
                  <a:moveTo>
                    <a:pt x="18000" y="9000"/>
                  </a:moveTo>
                  <a:lnTo>
                    <a:pt x="20000" y="9000"/>
                  </a:lnTo>
                  <a:cubicBezTo>
                    <a:pt x="21105" y="9000"/>
                    <a:pt x="22000" y="9895"/>
                    <a:pt x="22000" y="11000"/>
                  </a:cubicBezTo>
                  <a:lnTo>
                    <a:pt x="22000" y="20000"/>
                  </a:lnTo>
                  <a:cubicBezTo>
                    <a:pt x="22000" y="21105"/>
                    <a:pt x="21105" y="22000"/>
                    <a:pt x="20000" y="22000"/>
                  </a:cubicBezTo>
                  <a:lnTo>
                    <a:pt x="18000" y="22000"/>
                  </a:lnTo>
                </a:path>
                <a:path w="24000" h="24000" fill="none">
                  <a:moveTo>
                    <a:pt x="10000" y="6000"/>
                  </a:moveTo>
                  <a:lnTo>
                    <a:pt x="14000" y="6000"/>
                  </a:lnTo>
                </a:path>
                <a:path w="24000" h="24000" fill="none">
                  <a:moveTo>
                    <a:pt x="10000" y="10000"/>
                  </a:moveTo>
                  <a:lnTo>
                    <a:pt x="14000" y="10000"/>
                  </a:lnTo>
                </a:path>
                <a:path w="24000" h="24000" fill="none">
                  <a:moveTo>
                    <a:pt x="10000" y="14000"/>
                  </a:moveTo>
                  <a:lnTo>
                    <a:pt x="14000" y="14000"/>
                  </a:lnTo>
                </a:path>
                <a:path w="24000" h="24000" fill="none">
                  <a:moveTo>
                    <a:pt x="10000" y="18000"/>
                  </a:moveTo>
                  <a:lnTo>
                    <a:pt x="14000" y="18000"/>
                  </a:lnTo>
                </a:path>
              </a:pathLst>
            </a:custGeom>
            <a:noFill/>
            <a:ln w="27639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BrandDeck Diagram Text 3"/>
            <p:cNvSpPr txBox="1"/>
            <p:nvPr/>
          </p:nvSpPr>
          <p:spPr>
            <a:xfrm>
              <a:off x="6386932" y="4237629"/>
              <a:ext cx="4926799" cy="1851883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000000"/>
                  </a:solidFill>
                  <a:latin typeface="Play"/>
                </a:rPr>
                <a:t>Охват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2 подразделения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randDeck Text 3"/>
          <p:cNvSpPr>
            <a:spLocks noGrp="1"/>
          </p:cNvSpPr>
          <p:nvPr>
            <p:ph type="title"/>
          </p:nvPr>
        </p:nvSpPr>
        <p:spPr>
          <a:xfrm>
            <a:off x="677334" y="692150"/>
            <a:ext cx="10855854" cy="644241"/>
          </a:xfrm>
        </p:spPr>
        <p:txBody>
          <a:bodyPr vert="horz"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000000"/>
                </a:solidFill>
              </a:rPr>
              <a:t>Успех пилота измеряется временем поиска ответа и долей обращений, закрытых без специалиста</a:t>
            </a:r>
          </a:p>
        </p:txBody>
      </p:sp>
      <p:grpSp>
        <p:nvGrpSpPr>
          <p:cNvPr id="2" name="BrandDeck Diagram icon_grid" descr="icon_grid: Время поиска ответа измеряется для оценки скорости работы.; Доля обращений, закрытых без специалиста, отслеживается как метрика.; Эти показатели определяют успешность пилотного проекта."/>
          <p:cNvGrpSpPr/>
          <p:nvPr/>
        </p:nvGrpSpPr>
        <p:grpSpPr>
          <a:xfrm>
            <a:off x="658813" y="1773238"/>
            <a:ext cx="10874375" cy="4447949"/>
            <a:chOff x="658813" y="1773238"/>
            <a:chExt cx="10874375" cy="4447949"/>
          </a:xfrm>
        </p:grpSpPr>
        <p:sp>
          <p:nvSpPr>
            <p:cNvPr id="4" name="BrandDeck Diagram Card 1"/>
            <p:cNvSpPr/>
            <p:nvPr/>
          </p:nvSpPr>
          <p:spPr>
            <a:xfrm>
              <a:off x="658813" y="1773238"/>
              <a:ext cx="4567237" cy="4447949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BrandDeck Diagram Icon 1 Badge"/>
            <p:cNvSpPr/>
            <p:nvPr/>
          </p:nvSpPr>
          <p:spPr>
            <a:xfrm>
              <a:off x="878269" y="1992694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BrandDeck Icon clock"/>
            <p:cNvSpPr/>
            <p:nvPr/>
          </p:nvSpPr>
          <p:spPr>
            <a:xfrm>
              <a:off x="1011039" y="2125464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2000" y="12000"/>
                  </a:moveTo>
                  <a:cubicBezTo>
                    <a:pt x="22000" y="17523"/>
                    <a:pt x="17523" y="22000"/>
                    <a:pt x="12000" y="22000"/>
                  </a:cubicBezTo>
                  <a:cubicBezTo>
                    <a:pt x="6477" y="22000"/>
                    <a:pt x="2000" y="17523"/>
                    <a:pt x="2000" y="12000"/>
                  </a:cubicBezTo>
                  <a:cubicBezTo>
                    <a:pt x="2000" y="6477"/>
                    <a:pt x="6477" y="2000"/>
                    <a:pt x="12000" y="2000"/>
                  </a:cubicBezTo>
                  <a:cubicBezTo>
                    <a:pt x="17523" y="2000"/>
                    <a:pt x="22000" y="6477"/>
                    <a:pt x="22000" y="12000"/>
                  </a:cubicBezTo>
                  <a:close/>
                </a:path>
                <a:path w="24000" h="24000" fill="none">
                  <a:moveTo>
                    <a:pt x="12000" y="6000"/>
                  </a:moveTo>
                  <a:lnTo>
                    <a:pt x="12000" y="12000"/>
                  </a:lnTo>
                  <a:lnTo>
                    <a:pt x="16000" y="14000"/>
                  </a:ln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BrandDeck Diagram Text 1"/>
            <p:cNvSpPr txBox="1"/>
            <p:nvPr/>
          </p:nvSpPr>
          <p:spPr>
            <a:xfrm>
              <a:off x="812432" y="2749817"/>
              <a:ext cx="4259999" cy="3361641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Время поиска ответа измеряется для оценки скорости работы.</a:t>
              </a:r>
            </a:p>
          </p:txBody>
        </p:sp>
        <p:sp>
          <p:nvSpPr>
            <p:cNvPr id="8" name="BrandDeck Diagram Card 2"/>
            <p:cNvSpPr/>
            <p:nvPr/>
          </p:nvSpPr>
          <p:spPr>
            <a:xfrm>
              <a:off x="5443538" y="1773238"/>
              <a:ext cx="6089650" cy="2115230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BrandDeck Diagram Icon 2 Badge"/>
            <p:cNvSpPr/>
            <p:nvPr/>
          </p:nvSpPr>
          <p:spPr>
            <a:xfrm>
              <a:off x="5662994" y="2534721"/>
              <a:ext cx="592264" cy="59226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BrandDeck Icon user"/>
            <p:cNvSpPr/>
            <p:nvPr/>
          </p:nvSpPr>
          <p:spPr>
            <a:xfrm>
              <a:off x="5793292" y="2665019"/>
              <a:ext cx="331668" cy="331668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9000" y="21000"/>
                  </a:moveTo>
                  <a:lnTo>
                    <a:pt x="19000" y="19000"/>
                  </a:lnTo>
                  <a:cubicBezTo>
                    <a:pt x="19000" y="16791"/>
                    <a:pt x="17209" y="15000"/>
                    <a:pt x="15000" y="15000"/>
                  </a:cubicBezTo>
                  <a:lnTo>
                    <a:pt x="9000" y="15000"/>
                  </a:lnTo>
                  <a:cubicBezTo>
                    <a:pt x="6791" y="15000"/>
                    <a:pt x="5000" y="16791"/>
                    <a:pt x="5000" y="19000"/>
                  </a:cubicBezTo>
                  <a:lnTo>
                    <a:pt x="5000" y="21000"/>
                  </a:lnTo>
                </a:path>
                <a:path w="24000" h="24000" fill="none">
                  <a:moveTo>
                    <a:pt x="16000" y="7000"/>
                  </a:moveTo>
                  <a:cubicBezTo>
                    <a:pt x="16000" y="9209"/>
                    <a:pt x="14209" y="11000"/>
                    <a:pt x="12000" y="11000"/>
                  </a:cubicBezTo>
                  <a:cubicBezTo>
                    <a:pt x="9791" y="11000"/>
                    <a:pt x="8000" y="9209"/>
                    <a:pt x="8000" y="7000"/>
                  </a:cubicBezTo>
                  <a:cubicBezTo>
                    <a:pt x="8000" y="4791"/>
                    <a:pt x="9791" y="3000"/>
                    <a:pt x="12000" y="3000"/>
                  </a:cubicBezTo>
                  <a:cubicBezTo>
                    <a:pt x="14209" y="3000"/>
                    <a:pt x="16000" y="4791"/>
                    <a:pt x="16000" y="7000"/>
                  </a:cubicBezTo>
                  <a:close/>
                </a:path>
              </a:pathLst>
            </a:custGeom>
            <a:noFill/>
            <a:ln w="27639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BrandDeck Diagram Text 2"/>
            <p:cNvSpPr txBox="1"/>
            <p:nvPr/>
          </p:nvSpPr>
          <p:spPr>
            <a:xfrm>
              <a:off x="6386932" y="1904911"/>
              <a:ext cx="4926799" cy="1851883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Доля обращений, закрытых без специалиста, отслеживается как метрика.</a:t>
              </a:r>
            </a:p>
          </p:txBody>
        </p:sp>
        <p:sp>
          <p:nvSpPr>
            <p:cNvPr id="12" name="BrandDeck Diagram Card 3"/>
            <p:cNvSpPr/>
            <p:nvPr/>
          </p:nvSpPr>
          <p:spPr>
            <a:xfrm>
              <a:off x="5443538" y="4105956"/>
              <a:ext cx="6089650" cy="2115230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BrandDeck Diagram Icon 3 Badge"/>
            <p:cNvSpPr/>
            <p:nvPr/>
          </p:nvSpPr>
          <p:spPr>
            <a:xfrm>
              <a:off x="5662994" y="4867439"/>
              <a:ext cx="592264" cy="59226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BrandDeck Icon chart-column"/>
            <p:cNvSpPr/>
            <p:nvPr/>
          </p:nvSpPr>
          <p:spPr>
            <a:xfrm>
              <a:off x="5793292" y="4997737"/>
              <a:ext cx="331668" cy="331668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3000" y="3000"/>
                  </a:moveTo>
                  <a:lnTo>
                    <a:pt x="3000" y="19000"/>
                  </a:lnTo>
                  <a:cubicBezTo>
                    <a:pt x="3000" y="20105"/>
                    <a:pt x="3895" y="21000"/>
                    <a:pt x="5000" y="21000"/>
                  </a:cubicBezTo>
                  <a:lnTo>
                    <a:pt x="21000" y="21000"/>
                  </a:lnTo>
                </a:path>
                <a:path w="24000" h="24000" fill="none">
                  <a:moveTo>
                    <a:pt x="18000" y="17000"/>
                  </a:moveTo>
                  <a:lnTo>
                    <a:pt x="18000" y="9000"/>
                  </a:lnTo>
                </a:path>
                <a:path w="24000" h="24000" fill="none">
                  <a:moveTo>
                    <a:pt x="13000" y="17000"/>
                  </a:moveTo>
                  <a:lnTo>
                    <a:pt x="13000" y="5000"/>
                  </a:lnTo>
                </a:path>
                <a:path w="24000" h="24000" fill="none">
                  <a:moveTo>
                    <a:pt x="8000" y="17000"/>
                  </a:moveTo>
                  <a:lnTo>
                    <a:pt x="8000" y="14000"/>
                  </a:lnTo>
                </a:path>
              </a:pathLst>
            </a:custGeom>
            <a:noFill/>
            <a:ln w="27639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BrandDeck Diagram Text 3"/>
            <p:cNvSpPr txBox="1"/>
            <p:nvPr/>
          </p:nvSpPr>
          <p:spPr>
            <a:xfrm>
              <a:off x="6386932" y="4237629"/>
              <a:ext cx="4926799" cy="1851883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Эти показатели определяют успешность пилотного проекта.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randDeck Text 3"/>
          <p:cNvSpPr>
            <a:spLocks noGrp="1"/>
          </p:cNvSpPr>
          <p:nvPr>
            <p:ph type="title"/>
          </p:nvPr>
        </p:nvSpPr>
        <p:spPr>
          <a:xfrm>
            <a:off x="677334" y="692150"/>
            <a:ext cx="10855854" cy="644241"/>
          </a:xfrm>
        </p:spPr>
        <p:txBody>
          <a:bodyPr vert="horz"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000000"/>
                </a:solidFill>
              </a:rPr>
              <a:t>План включает запуск пилота в двух подразделениях и мониторинг метрик в течение 6 недель</a:t>
            </a:r>
          </a:p>
        </p:txBody>
      </p:sp>
      <p:grpSp>
        <p:nvGrpSpPr>
          <p:cNvPr id="2" name="BrandDeck Diagram cycle" descr="cycle: Запуск 2 подразделения; Мониторинг 6 недель; Анализ Время поиска и доля закрытых"/>
          <p:cNvGrpSpPr/>
          <p:nvPr/>
        </p:nvGrpSpPr>
        <p:grpSpPr>
          <a:xfrm>
            <a:off x="912666" y="1773238"/>
            <a:ext cx="10620521" cy="4402228"/>
            <a:chOff x="912666" y="1773238"/>
            <a:chExt cx="10620521" cy="4402228"/>
          </a:xfrm>
        </p:grpSpPr>
        <p:sp>
          <p:nvSpPr>
            <p:cNvPr id="4" name="BrandDeck Diagram Ring"/>
            <p:cNvSpPr/>
            <p:nvPr/>
          </p:nvSpPr>
          <p:spPr>
            <a:xfrm>
              <a:off x="987997" y="2102422"/>
              <a:ext cx="3789581" cy="3789581"/>
            </a:xfrm>
            <a:prstGeom prst="ellipse">
              <a:avLst/>
            </a:prstGeom>
            <a:noFill/>
            <a:ln w="28575">
              <a:solidFill>
                <a:srgbClr val="59A7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BrandDeck Diagram Arrow 1"/>
            <p:cNvSpPr/>
            <p:nvPr/>
          </p:nvSpPr>
          <p:spPr>
            <a:xfrm rot="9000000">
              <a:off x="4423140" y="2949233"/>
              <a:ext cx="201168" cy="201168"/>
            </a:xfrm>
            <a:prstGeom prst="triangle">
              <a:avLst/>
            </a:prstGeom>
            <a:solidFill>
              <a:srgbClr val="59A7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BrandDeck Diagram Arrow 2"/>
            <p:cNvSpPr/>
            <p:nvPr/>
          </p:nvSpPr>
          <p:spPr>
            <a:xfrm rot="16200000">
              <a:off x="2782203" y="5791419"/>
              <a:ext cx="201168" cy="201168"/>
            </a:xfrm>
            <a:prstGeom prst="triangle">
              <a:avLst/>
            </a:prstGeom>
            <a:solidFill>
              <a:srgbClr val="59A7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BrandDeck Diagram Arrow 3"/>
            <p:cNvSpPr/>
            <p:nvPr/>
          </p:nvSpPr>
          <p:spPr>
            <a:xfrm rot="1800000">
              <a:off x="1141266" y="2949233"/>
              <a:ext cx="201168" cy="201168"/>
            </a:xfrm>
            <a:prstGeom prst="triangle">
              <a:avLst/>
            </a:prstGeom>
            <a:solidFill>
              <a:srgbClr val="59A7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BrandDeck Diagram Node 1 Badge"/>
            <p:cNvSpPr/>
            <p:nvPr/>
          </p:nvSpPr>
          <p:spPr>
            <a:xfrm>
              <a:off x="2553603" y="1773238"/>
              <a:ext cx="658368" cy="658368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9" name="BrandDeck Diagram Node 2 Badge"/>
            <p:cNvSpPr/>
            <p:nvPr/>
          </p:nvSpPr>
          <p:spPr>
            <a:xfrm>
              <a:off x="4194540" y="4615423"/>
              <a:ext cx="658368" cy="658368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02</a:t>
              </a:r>
            </a:p>
          </p:txBody>
        </p:sp>
        <p:sp>
          <p:nvSpPr>
            <p:cNvPr id="10" name="BrandDeck Diagram Node 3 Badge"/>
            <p:cNvSpPr/>
            <p:nvPr/>
          </p:nvSpPr>
          <p:spPr>
            <a:xfrm>
              <a:off x="912666" y="4615423"/>
              <a:ext cx="658368" cy="658368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03</a:t>
              </a:r>
            </a:p>
          </p:txBody>
        </p:sp>
        <p:sp>
          <p:nvSpPr>
            <p:cNvPr id="11" name="BrandDeck Diagram Legend Card 1"/>
            <p:cNvSpPr/>
            <p:nvPr/>
          </p:nvSpPr>
          <p:spPr>
            <a:xfrm>
              <a:off x="5426801" y="1818958"/>
              <a:ext cx="6106386" cy="1391209"/>
            </a:xfrm>
            <a:prstGeom prst="roundRect">
              <a:avLst>
                <a:gd name="adj" fmla="val 12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BrandDeck Diagram Legend 1 Badge"/>
            <p:cNvSpPr/>
            <p:nvPr/>
          </p:nvSpPr>
          <p:spPr>
            <a:xfrm>
              <a:off x="5554817" y="2359114"/>
              <a:ext cx="310896" cy="310896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20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13" name="BrandDeck Diagram Text 1"/>
            <p:cNvSpPr txBox="1"/>
            <p:nvPr/>
          </p:nvSpPr>
          <p:spPr>
            <a:xfrm>
              <a:off x="6012017" y="1828102"/>
              <a:ext cx="5393154" cy="1372921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00" b="1">
                  <a:solidFill>
                    <a:srgbClr val="000000"/>
                  </a:solidFill>
                  <a:latin typeface="Play"/>
                </a:rPr>
                <a:t>Запуск</a:t>
              </a:r>
            </a:p>
            <a:p>
              <a:pPr algn="l">
                <a:lnSpc>
                  <a:spcPct val="110000"/>
                </a:lnSpc>
                <a:spcBef>
                  <a:spcPts val="350"/>
                </a:spcBef>
              </a:pPr>
              <a:r>
                <a:rPr sz="1400" b="0">
                  <a:solidFill>
                    <a:srgbClr val="000000"/>
                  </a:solidFill>
                  <a:latin typeface="Play"/>
                </a:rPr>
                <a:t>2 подразделения</a:t>
              </a:r>
            </a:p>
          </p:txBody>
        </p:sp>
        <p:sp>
          <p:nvSpPr>
            <p:cNvPr id="14" name="BrandDeck Diagram Legend Card 2"/>
            <p:cNvSpPr/>
            <p:nvPr/>
          </p:nvSpPr>
          <p:spPr>
            <a:xfrm>
              <a:off x="5426801" y="3301607"/>
              <a:ext cx="6106386" cy="1391209"/>
            </a:xfrm>
            <a:prstGeom prst="roundRect">
              <a:avLst>
                <a:gd name="adj" fmla="val 12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BrandDeck Diagram Legend 2 Badge"/>
            <p:cNvSpPr/>
            <p:nvPr/>
          </p:nvSpPr>
          <p:spPr>
            <a:xfrm>
              <a:off x="5554817" y="3841764"/>
              <a:ext cx="310896" cy="310896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200" b="1">
                  <a:solidFill>
                    <a:srgbClr val="FFFFFF"/>
                  </a:solidFill>
                  <a:latin typeface="Play"/>
                </a:rPr>
                <a:t>02</a:t>
              </a:r>
            </a:p>
          </p:txBody>
        </p:sp>
        <p:sp>
          <p:nvSpPr>
            <p:cNvPr id="16" name="BrandDeck Diagram Text 2"/>
            <p:cNvSpPr txBox="1"/>
            <p:nvPr/>
          </p:nvSpPr>
          <p:spPr>
            <a:xfrm>
              <a:off x="6012017" y="3310751"/>
              <a:ext cx="5393154" cy="1372921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00" b="1">
                  <a:solidFill>
                    <a:srgbClr val="000000"/>
                  </a:solidFill>
                  <a:latin typeface="Play"/>
                </a:rPr>
                <a:t>Мониторинг</a:t>
              </a:r>
            </a:p>
            <a:p>
              <a:pPr algn="l">
                <a:lnSpc>
                  <a:spcPct val="110000"/>
                </a:lnSpc>
                <a:spcBef>
                  <a:spcPts val="350"/>
                </a:spcBef>
              </a:pPr>
              <a:r>
                <a:rPr sz="1400" b="0">
                  <a:solidFill>
                    <a:srgbClr val="000000"/>
                  </a:solidFill>
                  <a:latin typeface="Play"/>
                </a:rPr>
                <a:t>6 недель</a:t>
              </a:r>
            </a:p>
          </p:txBody>
        </p:sp>
        <p:sp>
          <p:nvSpPr>
            <p:cNvPr id="17" name="BrandDeck Diagram Legend Card 3"/>
            <p:cNvSpPr/>
            <p:nvPr/>
          </p:nvSpPr>
          <p:spPr>
            <a:xfrm>
              <a:off x="5426801" y="4784257"/>
              <a:ext cx="6106386" cy="1391209"/>
            </a:xfrm>
            <a:prstGeom prst="roundRect">
              <a:avLst>
                <a:gd name="adj" fmla="val 12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BrandDeck Diagram Legend 3 Badge"/>
            <p:cNvSpPr/>
            <p:nvPr/>
          </p:nvSpPr>
          <p:spPr>
            <a:xfrm>
              <a:off x="5554817" y="5324414"/>
              <a:ext cx="310896" cy="310896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200" b="1">
                  <a:solidFill>
                    <a:srgbClr val="FFFFFF"/>
                  </a:solidFill>
                  <a:latin typeface="Play"/>
                </a:rPr>
                <a:t>03</a:t>
              </a:r>
            </a:p>
          </p:txBody>
        </p:sp>
        <p:sp>
          <p:nvSpPr>
            <p:cNvPr id="19" name="BrandDeck Diagram Text 3"/>
            <p:cNvSpPr txBox="1"/>
            <p:nvPr/>
          </p:nvSpPr>
          <p:spPr>
            <a:xfrm>
              <a:off x="6012017" y="4793401"/>
              <a:ext cx="5393154" cy="1372921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00" b="1">
                  <a:solidFill>
                    <a:srgbClr val="000000"/>
                  </a:solidFill>
                  <a:latin typeface="Play"/>
                </a:rPr>
                <a:t>Анализ</a:t>
              </a:r>
            </a:p>
            <a:p>
              <a:pPr algn="l">
                <a:lnSpc>
                  <a:spcPct val="110000"/>
                </a:lnSpc>
                <a:spcBef>
                  <a:spcPts val="350"/>
                </a:spcBef>
              </a:pPr>
              <a:r>
                <a:rPr sz="1400" b="0">
                  <a:solidFill>
                    <a:srgbClr val="000000"/>
                  </a:solidFill>
                  <a:latin typeface="Play"/>
                </a:rPr>
                <a:t>Время поиска и доля закрытых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BrandDeck Text 4"/>
          <p:cNvSpPr>
            <a:spLocks noGrp="1"/>
          </p:cNvSpPr>
          <p:nvPr>
            <p:ph type="title"/>
          </p:nvPr>
        </p:nvSpPr>
        <p:spPr>
          <a:xfrm>
            <a:off x="677334" y="692150"/>
            <a:ext cx="10855854" cy="644241"/>
          </a:xfrm>
        </p:spPr>
        <p:txBody>
          <a:bodyPr vert="horz"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000000"/>
                </a:solidFill>
              </a:rPr>
              <a:t>Основные риски связаны с безопасностью данных, которые контролируются работой внутри контура</a:t>
            </a:r>
          </a:p>
        </p:txBody>
      </p:sp>
      <p:grpSp>
        <p:nvGrpSpPr>
          <p:cNvPr id="2" name="BrandDeck Diagram matrix" descr="matrix: Риск Утечка данных наружу; Мера Работа модели внутри контура; Риск Отсутствие контекста; Мера Передача вопроса специалисту"/>
          <p:cNvGrpSpPr/>
          <p:nvPr/>
        </p:nvGrpSpPr>
        <p:grpSpPr>
          <a:xfrm>
            <a:off x="677334" y="1773238"/>
            <a:ext cx="10837332" cy="4427537"/>
            <a:chOff x="677334" y="1773238"/>
            <a:chExt cx="10837332" cy="4427537"/>
          </a:xfrm>
        </p:grpSpPr>
        <p:sp>
          <p:nvSpPr>
            <p:cNvPr id="5" name="BrandDeck Diagram Axis Y"/>
            <p:cNvSpPr txBox="1"/>
            <p:nvPr/>
          </p:nvSpPr>
          <p:spPr>
            <a:xfrm>
              <a:off x="677334" y="1773238"/>
              <a:ext cx="10837332" cy="274320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200" b="0">
                  <a:solidFill>
                    <a:srgbClr val="000000"/>
                  </a:solidFill>
                  <a:latin typeface="Play"/>
                </a:rPr>
                <a:t>Риск</a:t>
              </a:r>
            </a:p>
          </p:txBody>
        </p:sp>
        <p:sp>
          <p:nvSpPr>
            <p:cNvPr id="6" name="BrandDeck Diagram Quadrant 1"/>
            <p:cNvSpPr/>
            <p:nvPr/>
          </p:nvSpPr>
          <p:spPr>
            <a:xfrm>
              <a:off x="677334" y="2084134"/>
              <a:ext cx="5354658" cy="1838864"/>
            </a:xfrm>
            <a:prstGeom prst="roundRect">
              <a:avLst>
                <a:gd name="adj" fmla="val 6000"/>
              </a:avLst>
            </a:prstGeom>
            <a:solidFill>
              <a:srgbClr val="006DEB"/>
            </a:solidFill>
            <a:ln>
              <a:noFill/>
            </a:ln>
          </p:spPr>
          <p:txBody>
            <a:bodyPr rtlCol="0" anchor="t" wrap="square" lIns="164592" tIns="128016" rIns="164592" bIns="10972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Риск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FFFFFF"/>
                  </a:solidFill>
                  <a:latin typeface="Play"/>
                </a:rPr>
                <a:t>Утечка данных наружу</a:t>
              </a:r>
            </a:p>
          </p:txBody>
        </p:sp>
        <p:sp>
          <p:nvSpPr>
            <p:cNvPr id="7" name="BrandDeck Diagram Quadrant 2"/>
            <p:cNvSpPr/>
            <p:nvPr/>
          </p:nvSpPr>
          <p:spPr>
            <a:xfrm>
              <a:off x="6160008" y="2084134"/>
              <a:ext cx="5354658" cy="1838864"/>
            </a:xfrm>
            <a:prstGeom prst="roundRect">
              <a:avLst>
                <a:gd name="adj" fmla="val 6000"/>
              </a:avLst>
            </a:prstGeom>
            <a:solidFill>
              <a:srgbClr val="358BEF"/>
            </a:solidFill>
            <a:ln>
              <a:noFill/>
            </a:ln>
          </p:spPr>
          <p:txBody>
            <a:bodyPr rtlCol="0" anchor="t" wrap="square" lIns="164592" tIns="128016" rIns="164592" bIns="10972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Мера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Работа модели внутри контура</a:t>
              </a:r>
            </a:p>
          </p:txBody>
        </p:sp>
        <p:sp>
          <p:nvSpPr>
            <p:cNvPr id="8" name="BrandDeck Diagram Quadrant 3"/>
            <p:cNvSpPr/>
            <p:nvPr/>
          </p:nvSpPr>
          <p:spPr>
            <a:xfrm>
              <a:off x="677334" y="4051014"/>
              <a:ext cx="5354658" cy="1838864"/>
            </a:xfrm>
            <a:prstGeom prst="roundRect">
              <a:avLst>
                <a:gd name="adj" fmla="val 6000"/>
              </a:avLst>
            </a:prstGeom>
            <a:solidFill>
              <a:srgbClr val="69A9F3"/>
            </a:solidFill>
            <a:ln>
              <a:noFill/>
            </a:ln>
          </p:spPr>
          <p:txBody>
            <a:bodyPr rtlCol="0" anchor="t" wrap="square" lIns="164592" tIns="128016" rIns="164592" bIns="10972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Риск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Отсутствие контекста</a:t>
              </a:r>
            </a:p>
          </p:txBody>
        </p:sp>
        <p:sp>
          <p:nvSpPr>
            <p:cNvPr id="9" name="BrandDeck Diagram Quadrant 4"/>
            <p:cNvSpPr/>
            <p:nvPr/>
          </p:nvSpPr>
          <p:spPr>
            <a:xfrm>
              <a:off x="6160008" y="4051014"/>
              <a:ext cx="5354658" cy="1838864"/>
            </a:xfrm>
            <a:prstGeom prst="roundRect">
              <a:avLst>
                <a:gd name="adj" fmla="val 6000"/>
              </a:avLst>
            </a:prstGeom>
            <a:solidFill>
              <a:srgbClr val="9EC8F7"/>
            </a:solidFill>
            <a:ln>
              <a:noFill/>
            </a:ln>
          </p:spPr>
          <p:txBody>
            <a:bodyPr rtlCol="0" anchor="t" wrap="square" lIns="164592" tIns="128016" rIns="164592" bIns="10972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Мера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Передача вопроса специалисту</a:t>
              </a:r>
            </a:p>
          </p:txBody>
        </p:sp>
        <p:sp>
          <p:nvSpPr>
            <p:cNvPr id="10" name="BrandDeck Diagram Axis X"/>
            <p:cNvSpPr txBox="1"/>
            <p:nvPr/>
          </p:nvSpPr>
          <p:spPr>
            <a:xfrm>
              <a:off x="677334" y="5926455"/>
              <a:ext cx="10837332" cy="274320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200" b="0">
                  <a:solidFill>
                    <a:srgbClr val="000000"/>
                  </a:solidFill>
                  <a:latin typeface="Play"/>
                </a:rPr>
                <a:t>Мера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randDeck Text 2"/>
          <p:cNvSpPr>
            <a:spLocks noGrp="1"/>
          </p:cNvSpPr>
          <p:nvPr>
            <p:ph type="body" idx="1"/>
          </p:nvPr>
        </p:nvSpPr>
        <p:spPr/>
        <p:txBody>
          <a:bodyPr vert="horz" wrap="square" anchor="t">
            <a:norm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/>
              <a:t>Просим одобрить запуск пилота ИИ-помощника.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/>
              <a:t>Необходимо выделить команду из 3 человек для реализации.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/>
              <a:t>Решение требуется для начала работ по пилоту.</a:t>
            </a:r>
          </a:p>
        </p:txBody>
      </p:sp>
      <p:sp>
        <p:nvSpPr>
          <p:cNvPr id="3" name="BrandDeck Text 3"/>
          <p:cNvSpPr>
            <a:spLocks noGrp="1"/>
          </p:cNvSpPr>
          <p:nvPr>
            <p:ph type="title"/>
          </p:nvPr>
        </p:nvSpPr>
        <p:spPr>
          <a:xfrm>
            <a:off x="677334" y="692150"/>
            <a:ext cx="10855854" cy="644241"/>
          </a:xfrm>
        </p:spPr>
        <p:txBody>
          <a:bodyPr vert="horz"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59"/>
              </a:spcAft>
            </a:pPr>
            <a:r>
              <a:rPr sz="2400">
                <a:solidFill>
                  <a:srgbClr val="000000"/>
                </a:solidFill>
              </a:rPr>
              <a:t>Одобрить пилот и выделить команду из 3 человек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ИИ-помощник во внутреннем портале</dc:title>
  <cp:lastModifiedBy/>
  <cp:revision>1</cp:revision>
  <dcterms:modified xsi:type="dcterms:W3CDTF">2026-09-28T16:04:10Z</dcterms:modified>
  <dc:subject>Template-adaptive presentation</dc:subject>
  <cp:keywords>BrandDeck, template-adaptive, presentation</cp:keywords>
  <dc:creator/>
  <dc:description/>
</cp:coreProperties>
</file>