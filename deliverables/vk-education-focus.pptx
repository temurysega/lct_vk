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8" r:id="rId4"/>
    <p:sldMasterId id="2147483679" r:id="rId5"/>
  </p:sldMasterIdLst>
  <p:notesMasterIdLst>
    <p:notesMasterId r:id="rId6"/>
  </p:notesMasterIdLst>
  <p:sldIdLst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20" r:id="rId73"/>
    <p:sldId id="321" r:id="rId74"/>
    <p:sldId id="322" r:id="rId75"/>
  </p:sldIdLst>
  <p:sldSz cy="6858000" cx="12192000"/>
  <p:notesSz cx="6858000" cy="9144000"/>
  <p:embeddedFontLst>
    <p:embeddedFont>
      <p:font typeface="Play"/>
      <p:regular r:id="rId62"/>
      <p:bold r:id="rId6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52006A8-8AF6-428E-B8E6-5754F7C527DE}">
  <a:tblStyle styleId="{552006A8-8AF6-428E-B8E6-5754F7C527DE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D62A05B1-10D2-4378-96B9-F810E7567A26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62" Type="http://schemas.openxmlformats.org/officeDocument/2006/relationships/font" Target="fonts/Play-regular.fntdata"/><Relationship Id="rId63" Type="http://schemas.openxmlformats.org/officeDocument/2006/relationships/font" Target="fonts/Play-bold.fntdata"/><Relationship Id="rId64" Type="http://schemas.openxmlformats.org/officeDocument/2006/relationships/slide" Target="slides/slide1.xml"/><Relationship Id="rId65" Type="http://schemas.openxmlformats.org/officeDocument/2006/relationships/slide" Target="slides/slide2.xml"/><Relationship Id="rId66" Type="http://schemas.openxmlformats.org/officeDocument/2006/relationships/slide" Target="slides/slide3.xml"/><Relationship Id="rId67" Type="http://schemas.openxmlformats.org/officeDocument/2006/relationships/slide" Target="slides/slide4.xml"/><Relationship Id="rId68" Type="http://schemas.openxmlformats.org/officeDocument/2006/relationships/slide" Target="slides/slide5.xml"/><Relationship Id="rId69" Type="http://schemas.openxmlformats.org/officeDocument/2006/relationships/slide" Target="slides/slide6.xml"/><Relationship Id="rId70" Type="http://schemas.openxmlformats.org/officeDocument/2006/relationships/slide" Target="slides/slide7.xml"/><Relationship Id="rId71" Type="http://schemas.openxmlformats.org/officeDocument/2006/relationships/slide" Target="slides/slide8.xml"/><Relationship Id="rId72" Type="http://schemas.openxmlformats.org/officeDocument/2006/relationships/slide" Target="slides/slide9.xml"/><Relationship Id="rId73" Type="http://schemas.openxmlformats.org/officeDocument/2006/relationships/slide" Target="slides/slide10.xml"/><Relationship Id="rId74" Type="http://schemas.openxmlformats.org/officeDocument/2006/relationships/slide" Target="slides/slide11.xml"/><Relationship Id="rId75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вводит инициативу по внедрению ИИ-помощника для автоматизации ответов сотрудникам на вопросы по регламентам.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Сейчас поиск информации занимает до 30 минут, а треть обращений дублирует одни и те же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Пилотный проект охватывает 150 сотрудников двух подразделений в течение шести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Функция автоматически отвечает сотрудникам на запросы по регламентам и сразу показывает ссылку на исходный документ.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Система обеспечивает безопасность, обрабатывая данные внутри контура без их вывода наружу.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Если ИИ не находит подтверждённый ответ, запрос автоматически передаётся специалисту с полным контекстом диалога.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Эта слайд определяет ключевые метрики для оценки эффективности пилота ИИ-помощника.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Пилот охватывает 150 сотрудников двух подразделений и длится 6 недель.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будем отслеживать время поиска инструкций и долю обращений, решенных без участия специалиста, чтобы оценить эффективность пилота.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используем модель с открытыми весами, которая работает исключительно внутри корпоративного контура, гарантируя, что документы не покидают периметр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Нам необходимо ваше одобрение для старта пилота и выделение команды из трех человек.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просим одобрить пилот и выделить команду из трех человек для реализации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2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6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9" name="Google Shape;7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3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0" name="Google Shape;110;p1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5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2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12" Type="http://schemas.openxmlformats.org/officeDocument/2006/relationships/slideLayout" Target="../slideLayouts/slideLayout12.xml"/><Relationship Id="rId24" Type="http://schemas.openxmlformats.org/officeDocument/2006/relationships/slideLayout" Target="../slideLayouts/slideLayout24.xml"/><Relationship Id="rId2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2" name="Google Shape;32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4" name="Google Shape;34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52" r:id="rId5"/>
    <p:sldLayoutId id="2147483653" r:id="rId6"/>
    <p:sldLayoutId id="2147483659" r:id="rId12"/>
    <p:sldLayoutId id="2147483671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85" name="Google Shape;185;p30"/>
          <p:cNvSpPr txBox="1"/>
          <p:nvPr>
            <p:ph idx="1" type="body"/>
          </p:nvPr>
        </p:nvSpPr>
        <p:spPr>
          <a:xfrm>
            <a:off x="658813" y="1773238"/>
            <a:ext cx="10855852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86" name="Google Shape;186;p30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87" name="Google Shape;18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5" name="Google Shape;19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6" name="Google Shape;19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7" name="Google Shape;19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8" name="Google Shape;19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9" name="Google Shape;19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0" name="Google Shape;20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1" name="Google Shape;20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2" name="Google Shape;20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3" name="Google Shape;20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4" name="Google Shape;20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5" name="Google Shape;20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206" name="Google Shape;206;p30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207" name="Google Shape;207;p30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30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30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30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30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30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30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30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30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30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30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30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30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30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30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30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30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30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30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/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6.png"/><Relationship Id="rId3" Type="http://schemas.openxmlformats.org/officeDocument/2006/relationships/image" Target="../media/image258.jpeg"/><Relationship Id="rId4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9.jpeg"/><Relationship Id="rId3" Type="http://schemas.openxmlformats.org/officeDocument/2006/relationships/notesSlide" Target="../notesSlides/notesSlide6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BrandDeck Text 236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marR="0" rtl="0"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sz="1600">
                <a:solidFill>
                  <a:srgbClr val="000000"/>
                </a:solidFill>
              </a:rPr>
              <a:t>Автоматизация ответов сотрудников по регламентам</a:t>
            </a:r>
            <a:endParaRPr/>
          </a:p>
        </p:txBody>
      </p:sp>
      <p:sp>
        <p:nvSpPr>
          <p:cNvPr id="237" name="BrandDeck Text 237"/>
          <p:cNvSpPr txBox="1"/>
          <p:nvPr>
            <p:ph type="title"/>
          </p:nvPr>
        </p:nvSpPr>
        <p:spPr>
          <a:xfrm>
            <a:off x="622261" y="2921912"/>
            <a:ext cx="5273736" cy="166199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sz="2400">
                <a:solidFill>
                  <a:srgbClr val="000000"/>
                </a:solidFill>
              </a:rPr>
              <a:t>Сокращение времени поиска инструкций и снижение нагрузки на поддержку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Сотрудники тратят до 30 минут на поиск инструкции, а треть обращений — повторяющиеся вопросы</a:t>
            </a:r>
          </a:p>
        </p:txBody>
      </p:sp>
      <p:grpSp>
        <p:nvGrpSpPr>
          <p:cNvPr id="2" name="BrandDeck Diagram icon_grid" descr="icon_grid: Сотрудники тратят до 30 минут на поиск инструкции.; Треть всех обращений в поддержку — повторяющиеся вопросы.; Это создает высокую нагрузку на специалистов поддержки."/>
          <p:cNvGrpSpPr/>
          <p:nvPr/>
        </p:nvGrpSpPr>
        <p:grpSpPr>
          <a:xfrm>
            <a:off x="658813" y="2405806"/>
            <a:ext cx="10874374" cy="2783294"/>
            <a:chOff x="658813" y="2405806"/>
            <a:chExt cx="10874374" cy="2783294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2405806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275112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users"/>
            <p:cNvSpPr/>
            <p:nvPr/>
          </p:nvSpPr>
          <p:spPr>
            <a:xfrm>
              <a:off x="1008567" y="2881424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1602207" y="2537480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Сотрудники тратят до 30 минут на поиск инструкции.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204744" y="2405806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424200" y="275112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headset"/>
            <p:cNvSpPr/>
            <p:nvPr/>
          </p:nvSpPr>
          <p:spPr>
            <a:xfrm>
              <a:off x="6554498" y="2881424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3000" y="11000"/>
                  </a:moveTo>
                  <a:lnTo>
                    <a:pt x="6000" y="11000"/>
                  </a:lnTo>
                  <a:cubicBezTo>
                    <a:pt x="7105" y="11000"/>
                    <a:pt x="8000" y="11895"/>
                    <a:pt x="8000" y="13000"/>
                  </a:cubicBezTo>
                  <a:lnTo>
                    <a:pt x="8000" y="16000"/>
                  </a:lnTo>
                  <a:cubicBezTo>
                    <a:pt x="8000" y="17105"/>
                    <a:pt x="7105" y="18000"/>
                    <a:pt x="6000" y="18000"/>
                  </a:cubicBezTo>
                  <a:lnTo>
                    <a:pt x="5000" y="18000"/>
                  </a:lnTo>
                  <a:cubicBezTo>
                    <a:pt x="3895" y="18000"/>
                    <a:pt x="3000" y="17105"/>
                    <a:pt x="3000" y="16000"/>
                  </a:cubicBezTo>
                  <a:lnTo>
                    <a:pt x="3000" y="11000"/>
                  </a:lnTo>
                  <a:close/>
                  <a:moveTo>
                    <a:pt x="3000" y="11000"/>
                  </a:moveTo>
                  <a:cubicBezTo>
                    <a:pt x="3000" y="6029"/>
                    <a:pt x="7029" y="2000"/>
                    <a:pt x="12000" y="2000"/>
                  </a:cubicBezTo>
                  <a:cubicBezTo>
                    <a:pt x="16971" y="2000"/>
                    <a:pt x="21000" y="6029"/>
                    <a:pt x="21000" y="11000"/>
                  </a:cubicBezTo>
                  <a:moveTo>
                    <a:pt x="21000" y="11000"/>
                  </a:moveTo>
                  <a:lnTo>
                    <a:pt x="21000" y="16000"/>
                  </a:lnTo>
                  <a:cubicBezTo>
                    <a:pt x="21000" y="17105"/>
                    <a:pt x="20105" y="18000"/>
                    <a:pt x="19000" y="18000"/>
                  </a:cubicBezTo>
                  <a:lnTo>
                    <a:pt x="18000" y="18000"/>
                  </a:lnTo>
                  <a:cubicBezTo>
                    <a:pt x="16895" y="18000"/>
                    <a:pt x="16000" y="17105"/>
                    <a:pt x="16000" y="16000"/>
                  </a:cubicBezTo>
                  <a:lnTo>
                    <a:pt x="16000" y="13000"/>
                  </a:lnTo>
                  <a:cubicBezTo>
                    <a:pt x="16000" y="11895"/>
                    <a:pt x="16895" y="11000"/>
                    <a:pt x="18000" y="11000"/>
                  </a:cubicBezTo>
                  <a:lnTo>
                    <a:pt x="21000" y="11000"/>
                  </a:lnTo>
                  <a:close/>
                </a:path>
                <a:path w="24000" h="24000" fill="none">
                  <a:moveTo>
                    <a:pt x="21000" y="16000"/>
                  </a:moveTo>
                  <a:lnTo>
                    <a:pt x="21000" y="18000"/>
                  </a:lnTo>
                  <a:cubicBezTo>
                    <a:pt x="21000" y="20209"/>
                    <a:pt x="19209" y="22000"/>
                    <a:pt x="17000" y="22000"/>
                  </a:cubicBezTo>
                  <a:lnTo>
                    <a:pt x="12000" y="22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7148138" y="2537480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Треть всех обращений в поддержку —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повторяющиеся вопросы.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658813" y="3906197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878269" y="425151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gauge"/>
            <p:cNvSpPr/>
            <p:nvPr/>
          </p:nvSpPr>
          <p:spPr>
            <a:xfrm>
              <a:off x="1008567" y="4381815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14000"/>
                  </a:moveTo>
                  <a:lnTo>
                    <a:pt x="16000" y="10000"/>
                  </a:lnTo>
                </a:path>
                <a:path w="24000" h="24000" fill="none">
                  <a:moveTo>
                    <a:pt x="3340" y="19000"/>
                  </a:moveTo>
                  <a:cubicBezTo>
                    <a:pt x="913" y="14797"/>
                    <a:pt x="1854" y="9459"/>
                    <a:pt x="5572" y="6339"/>
                  </a:cubicBezTo>
                  <a:cubicBezTo>
                    <a:pt x="9290" y="3220"/>
                    <a:pt x="14710" y="3220"/>
                    <a:pt x="18428" y="6339"/>
                  </a:cubicBezTo>
                  <a:cubicBezTo>
                    <a:pt x="22146" y="9459"/>
                    <a:pt x="23087" y="14797"/>
                    <a:pt x="20660" y="19000"/>
                  </a:cubicBez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1602207" y="4037871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Это создает высокую нагрузку на специалистов поддержки.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Влияет на 150 сотрудников двух подразделений при ежедневном обращении к регламентам</a:t>
            </a:r>
          </a:p>
        </p:txBody>
      </p:sp>
      <p:grpSp>
        <p:nvGrpSpPr>
          <p:cNvPr id="2" name="BrandDeck Diagram icon_grid" descr="icon_grid: 150 сотрудников Два подразделения; 6 недель Период пилота"/>
          <p:cNvGrpSpPr/>
          <p:nvPr/>
        </p:nvGrpSpPr>
        <p:grpSpPr>
          <a:xfrm>
            <a:off x="658813" y="1773238"/>
            <a:ext cx="10874374" cy="4447949"/>
            <a:chOff x="658813" y="1773238"/>
            <a:chExt cx="10874374" cy="4447949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1773238"/>
              <a:ext cx="5328443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users"/>
            <p:cNvSpPr/>
            <p:nvPr/>
          </p:nvSpPr>
          <p:spPr>
            <a:xfrm>
              <a:off x="1011039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812432" y="2749817"/>
              <a:ext cx="5021205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Два подразделения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204744" y="1773238"/>
              <a:ext cx="5328443" cy="4447949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424200" y="1992694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calendar"/>
            <p:cNvSpPr/>
            <p:nvPr/>
          </p:nvSpPr>
          <p:spPr>
            <a:xfrm>
              <a:off x="6556971" y="2125464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8000" y="2000"/>
                  </a:moveTo>
                  <a:lnTo>
                    <a:pt x="8000" y="6000"/>
                  </a:lnTo>
                </a:path>
                <a:path w="24000" h="24000" fill="none">
                  <a:moveTo>
                    <a:pt x="16000" y="2000"/>
                  </a:moveTo>
                  <a:lnTo>
                    <a:pt x="16000" y="6000"/>
                  </a:lnTo>
                </a:path>
                <a:path w="24000" h="24000" fill="none">
                  <a:moveTo>
                    <a:pt x="5000" y="4000"/>
                  </a:moveTo>
                  <a:lnTo>
                    <a:pt x="19000" y="4000"/>
                  </a:lnTo>
                  <a:cubicBezTo>
                    <a:pt x="20105" y="4000"/>
                    <a:pt x="21000" y="4895"/>
                    <a:pt x="21000" y="6000"/>
                  </a:cubicBezTo>
                  <a:lnTo>
                    <a:pt x="21000" y="20000"/>
                  </a:lnTo>
                  <a:cubicBezTo>
                    <a:pt x="21000" y="21105"/>
                    <a:pt x="20105" y="22000"/>
                    <a:pt x="19000" y="22000"/>
                  </a:cubicBezTo>
                  <a:lnTo>
                    <a:pt x="5000" y="22000"/>
                  </a:lnTo>
                  <a:cubicBezTo>
                    <a:pt x="3895" y="22000"/>
                    <a:pt x="3000" y="21105"/>
                    <a:pt x="3000" y="20000"/>
                  </a:cubicBezTo>
                  <a:lnTo>
                    <a:pt x="3000" y="6000"/>
                  </a:lnTo>
                  <a:cubicBezTo>
                    <a:pt x="3000" y="4895"/>
                    <a:pt x="3895" y="4000"/>
                    <a:pt x="5000" y="4000"/>
                  </a:cubicBezTo>
                  <a:close/>
                </a:path>
                <a:path w="24000" h="24000" fill="none">
                  <a:moveTo>
                    <a:pt x="3000" y="10000"/>
                  </a:moveTo>
                  <a:lnTo>
                    <a:pt x="21000" y="10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6358363" y="2749817"/>
              <a:ext cx="5021205" cy="3361641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450"/>
                </a:spcBef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Период пилота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ИИ-помощник отвечает на вопросы по регламентам и сразу дает ссылку на документ-источник</a:t>
            </a:r>
          </a:p>
        </p:txBody>
      </p:sp>
      <p:grpSp>
        <p:nvGrpSpPr>
          <p:cNvPr id="2" name="BrandDeck Diagram icon_grid" descr="icon_grid: ИИ-помощник отвечает на вопросы по регламентам и инструкциям.; Система сразу предоставляет ссылку на документ-источник.; Ответ формируется на основе внутренних корпоративных документов."/>
          <p:cNvGrpSpPr/>
          <p:nvPr/>
        </p:nvGrpSpPr>
        <p:grpSpPr>
          <a:xfrm>
            <a:off x="658813" y="2405806"/>
            <a:ext cx="10874374" cy="2783294"/>
            <a:chOff x="658813" y="2405806"/>
            <a:chExt cx="10874374" cy="2783294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2405806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275112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file-text"/>
            <p:cNvSpPr/>
            <p:nvPr/>
          </p:nvSpPr>
          <p:spPr>
            <a:xfrm>
              <a:off x="1008567" y="2881424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1602207" y="2537480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ИИ-помощник отвечает на вопросы по регламентам и инструкциям.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204744" y="2405806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424200" y="275112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link"/>
            <p:cNvSpPr/>
            <p:nvPr/>
          </p:nvSpPr>
          <p:spPr>
            <a:xfrm>
              <a:off x="6554498" y="2881424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0000" y="13000"/>
                  </a:moveTo>
                  <a:cubicBezTo>
                    <a:pt x="10869" y="14162"/>
                    <a:pt x="12200" y="14889"/>
                    <a:pt x="13647" y="14992"/>
                  </a:cubicBezTo>
                  <a:cubicBezTo>
                    <a:pt x="15094" y="15096"/>
                    <a:pt x="16514" y="14566"/>
                    <a:pt x="17540" y="13540"/>
                  </a:cubicBezTo>
                  <a:lnTo>
                    <a:pt x="20540" y="10540"/>
                  </a:lnTo>
                  <a:cubicBezTo>
                    <a:pt x="22435" y="8578"/>
                    <a:pt x="22408" y="5460"/>
                    <a:pt x="20479" y="3531"/>
                  </a:cubicBezTo>
                  <a:cubicBezTo>
                    <a:pt x="18550" y="1602"/>
                    <a:pt x="15432" y="1575"/>
                    <a:pt x="13470" y="3470"/>
                  </a:cubicBezTo>
                  <a:lnTo>
                    <a:pt x="11750" y="5180"/>
                  </a:lnTo>
                </a:path>
                <a:path w="24000" h="24000" fill="none">
                  <a:moveTo>
                    <a:pt x="14000" y="11000"/>
                  </a:moveTo>
                  <a:cubicBezTo>
                    <a:pt x="13131" y="9838"/>
                    <a:pt x="11800" y="9111"/>
                    <a:pt x="10353" y="9008"/>
                  </a:cubicBezTo>
                  <a:cubicBezTo>
                    <a:pt x="8906" y="8904"/>
                    <a:pt x="7486" y="9434"/>
                    <a:pt x="6460" y="10460"/>
                  </a:cubicBezTo>
                  <a:lnTo>
                    <a:pt x="3460" y="13460"/>
                  </a:lnTo>
                  <a:cubicBezTo>
                    <a:pt x="1565" y="15422"/>
                    <a:pt x="1592" y="18540"/>
                    <a:pt x="3521" y="20469"/>
                  </a:cubicBezTo>
                  <a:cubicBezTo>
                    <a:pt x="5450" y="22398"/>
                    <a:pt x="8568" y="22425"/>
                    <a:pt x="10530" y="20530"/>
                  </a:cubicBezTo>
                  <a:lnTo>
                    <a:pt x="12240" y="1882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7148138" y="2537480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Система сразу предоставляет ссылку на документ-источник.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658813" y="3906197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878269" y="425151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building"/>
            <p:cNvSpPr/>
            <p:nvPr/>
          </p:nvSpPr>
          <p:spPr>
            <a:xfrm>
              <a:off x="1008567" y="4381815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6000" y="2000"/>
                  </a:moveTo>
                  <a:lnTo>
                    <a:pt x="18000" y="2000"/>
                  </a:lnTo>
                  <a:cubicBezTo>
                    <a:pt x="19105" y="2000"/>
                    <a:pt x="20000" y="2895"/>
                    <a:pt x="20000" y="4000"/>
                  </a:cubicBezTo>
                  <a:lnTo>
                    <a:pt x="20000" y="20000"/>
                  </a:lnTo>
                  <a:cubicBezTo>
                    <a:pt x="20000" y="21105"/>
                    <a:pt x="19105" y="22000"/>
                    <a:pt x="18000" y="22000"/>
                  </a:cubicBezTo>
                  <a:lnTo>
                    <a:pt x="6000" y="22000"/>
                  </a:lnTo>
                  <a:cubicBezTo>
                    <a:pt x="4895" y="22000"/>
                    <a:pt x="4000" y="21105"/>
                    <a:pt x="4000" y="20000"/>
                  </a:cubicBezTo>
                  <a:lnTo>
                    <a:pt x="4000" y="4000"/>
                  </a:lnTo>
                  <a:cubicBezTo>
                    <a:pt x="4000" y="2895"/>
                    <a:pt x="4895" y="2000"/>
                    <a:pt x="6000" y="2000"/>
                  </a:cubicBezTo>
                  <a:close/>
                </a:path>
                <a:path w="24000" h="24000" fill="none">
                  <a:moveTo>
                    <a:pt x="9000" y="22000"/>
                  </a:moveTo>
                  <a:lnTo>
                    <a:pt x="9000" y="18000"/>
                  </a:lnTo>
                  <a:lnTo>
                    <a:pt x="15000" y="18000"/>
                  </a:lnTo>
                  <a:lnTo>
                    <a:pt x="15000" y="22000"/>
                  </a:lnTo>
                </a:path>
                <a:path w="24000" h="24000" fill="none">
                  <a:moveTo>
                    <a:pt x="8000" y="6000"/>
                  </a:moveTo>
                  <a:lnTo>
                    <a:pt x="8010" y="6000"/>
                  </a:lnTo>
                </a:path>
                <a:path w="24000" h="24000" fill="none">
                  <a:moveTo>
                    <a:pt x="16000" y="6000"/>
                  </a:moveTo>
                  <a:lnTo>
                    <a:pt x="16010" y="6000"/>
                  </a:lnTo>
                </a:path>
                <a:path w="24000" h="24000" fill="none">
                  <a:moveTo>
                    <a:pt x="12000" y="6000"/>
                  </a:moveTo>
                  <a:lnTo>
                    <a:pt x="12010" y="6000"/>
                  </a:lnTo>
                </a:path>
                <a:path w="24000" h="24000" fill="none">
                  <a:moveTo>
                    <a:pt x="12000" y="10000"/>
                  </a:moveTo>
                  <a:lnTo>
                    <a:pt x="12010" y="10000"/>
                  </a:lnTo>
                </a:path>
                <a:path w="24000" h="24000" fill="none">
                  <a:moveTo>
                    <a:pt x="12000" y="14000"/>
                  </a:moveTo>
                  <a:lnTo>
                    <a:pt x="12010" y="14000"/>
                  </a:lnTo>
                </a:path>
                <a:path w="24000" h="24000" fill="none">
                  <a:moveTo>
                    <a:pt x="16000" y="10000"/>
                  </a:moveTo>
                  <a:lnTo>
                    <a:pt x="16010" y="10000"/>
                  </a:lnTo>
                </a:path>
                <a:path w="24000" h="24000" fill="none">
                  <a:moveTo>
                    <a:pt x="16000" y="14000"/>
                  </a:moveTo>
                  <a:lnTo>
                    <a:pt x="16010" y="14000"/>
                  </a:lnTo>
                </a:path>
                <a:path w="24000" h="24000" fill="none">
                  <a:moveTo>
                    <a:pt x="8000" y="10000"/>
                  </a:moveTo>
                  <a:lnTo>
                    <a:pt x="8010" y="10000"/>
                  </a:lnTo>
                </a:path>
                <a:path w="24000" h="24000" fill="none">
                  <a:moveTo>
                    <a:pt x="8000" y="14000"/>
                  </a:moveTo>
                  <a:lnTo>
                    <a:pt x="8010" y="14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1602207" y="4037871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Ответ формируется на основе внутренних корпоративных документов.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60" name="BrandDeck Text 1060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2000">
                <a:solidFill>
                  <a:srgbClr val="000000"/>
                </a:solidFill>
              </a:rPr>
              <a:t>Система работает внутри контура компании, не выводя документы наружу</a:t>
            </a:r>
            <a:endParaRPr/>
          </a:p>
        </p:txBody>
      </p:sp>
      <p:pic>
        <p:nvPicPr>
          <p:cNvPr id="1072" name="BrandDeck Image" descr="внутренний контур серверная"/>
          <p:cNvPicPr>
            <a:picLocks noChangeAspect="1"/>
          </p:cNvPicPr>
          <p:nvPr/>
        </p:nvPicPr>
        <p:blipFill>
          <a:blip r:embed="rId3"/>
          <a:srcRect l="5955" r="5955"/>
          <a:stretch>
            <a:fillRect/>
          </a:stretch>
        </p:blipFill>
        <p:spPr>
          <a:xfrm>
            <a:off x="671514" y="1773238"/>
            <a:ext cx="6929992" cy="4427537"/>
          </a:xfrm>
          <a:prstGeom prst="rect">
            <a:avLst/>
          </a:prstGeom>
        </p:spPr>
      </p:pic>
      <p:sp>
        <p:nvSpPr>
          <p:cNvPr id="1069" name="Google Shape;1069;p83"/>
          <p:cNvSpPr txBox="1"/>
          <p:nvPr/>
        </p:nvSpPr>
        <p:spPr>
          <a:xfrm>
            <a:off x="8355728" y="627078"/>
            <a:ext cx="3409196" cy="3951457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norm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070" name="Google Shape;1070;p83"/>
          <p:cNvCxnSpPr/>
          <p:nvPr/>
        </p:nvCxnSpPr>
        <p:spPr>
          <a:xfrm flipH="1">
            <a:off x="8111315" y="692150"/>
            <a:ext cx="9261" cy="5508625"/>
          </a:xfrm>
          <a:prstGeom prst="straightConnector1">
            <a:avLst/>
          </a:prstGeom>
          <a:noFill/>
          <a:ln cap="flat" cmpd="sng" w="9525">
            <a:solidFill>
              <a:srgbClr val="F4F8F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071" name="BrandDeck Body"/>
          <p:cNvSpPr txBox="1"/>
          <p:nvPr/>
        </p:nvSpPr>
        <p:spPr>
          <a:xfrm>
            <a:off x="8355728" y="1473551"/>
            <a:ext cx="3409196" cy="31049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Модель с открытыми весами работает внутри контура компании.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Документы не покидают периметр и не уходят наружу.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10"/>
              </a:spcAft>
            </a:pPr>
            <a:r>
              <a:rPr sz="1400">
                <a:solidFill>
                  <a:srgbClr val="000000"/>
                </a:solidFill>
                <a:latin typeface="Play"/>
              </a:rPr>
              <a:t>• Обработка запросов происходит локально без передачи данных.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При отсутствии подтвержденного ответа вопрос автоматически уходит специалисту с контекстом</a:t>
            </a:r>
          </a:p>
        </p:txBody>
      </p:sp>
      <p:grpSp>
        <p:nvGrpSpPr>
          <p:cNvPr id="2" name="BrandDeck Diagram process" descr="process: Запрос сотрудника Отправляется в ИИ-помощник; Отсутствие ответа Нет подтверждённого факта в базе; Эскалация Переход к специалисту с контекстом"/>
          <p:cNvGrpSpPr/>
          <p:nvPr/>
        </p:nvGrpSpPr>
        <p:grpSpPr>
          <a:xfrm>
            <a:off x="658813" y="2716779"/>
            <a:ext cx="10874374" cy="1964944"/>
            <a:chOff x="658813" y="2716779"/>
            <a:chExt cx="10874374" cy="1964944"/>
          </a:xfrm>
        </p:grpSpPr>
        <p:sp>
          <p:nvSpPr>
            <p:cNvPr id="4" name="BrandDeck Diagram Step 1"/>
            <p:cNvSpPr/>
            <p:nvPr/>
          </p:nvSpPr>
          <p:spPr>
            <a:xfrm>
              <a:off x="658813" y="2716779"/>
              <a:ext cx="3791822" cy="822960"/>
            </a:xfrm>
            <a:prstGeom prst="homePlate">
              <a:avLst>
                <a:gd name="adj" fmla="val 36000"/>
              </a:avLst>
            </a:prstGeom>
            <a:solidFill>
              <a:srgbClr val="006DEB"/>
            </a:solidFill>
            <a:ln>
              <a:noFill/>
            </a:ln>
          </p:spPr>
          <p:txBody>
            <a:bodyPr rtlCol="0" anchor="ctr" wrap="square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" name="BrandDeck Diagram Detail Card 1"/>
            <p:cNvSpPr/>
            <p:nvPr/>
          </p:nvSpPr>
          <p:spPr>
            <a:xfrm>
              <a:off x="695389" y="3649467"/>
              <a:ext cx="3551639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Diagram Text 1"/>
            <p:cNvSpPr txBox="1"/>
            <p:nvPr/>
          </p:nvSpPr>
          <p:spPr>
            <a:xfrm>
              <a:off x="768541" y="3722619"/>
              <a:ext cx="3405335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Запрос сотрудника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Отправляется в ИИ-помощник</a:t>
              </a:r>
            </a:p>
          </p:txBody>
        </p:sp>
        <p:sp>
          <p:nvSpPr>
            <p:cNvPr id="7" name="BrandDeck Diagram Step 2"/>
            <p:cNvSpPr/>
            <p:nvPr/>
          </p:nvSpPr>
          <p:spPr>
            <a:xfrm>
              <a:off x="4200089" y="2716779"/>
              <a:ext cx="3791822" cy="822960"/>
            </a:xfrm>
            <a:prstGeom prst="chevron">
              <a:avLst>
                <a:gd name="adj" fmla="val 36000"/>
              </a:avLst>
            </a:prstGeom>
            <a:solidFill>
              <a:srgbClr val="2683EE"/>
            </a:solidFill>
            <a:ln>
              <a:noFill/>
            </a:ln>
          </p:spPr>
          <p:txBody>
            <a:bodyPr rtlCol="0" anchor="ctr" wrap="square" lIns="351129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8" name="BrandDeck Diagram Detail Card 2"/>
            <p:cNvSpPr/>
            <p:nvPr/>
          </p:nvSpPr>
          <p:spPr>
            <a:xfrm>
              <a:off x="4320180" y="3649467"/>
              <a:ext cx="3551639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Text 2"/>
            <p:cNvSpPr txBox="1"/>
            <p:nvPr/>
          </p:nvSpPr>
          <p:spPr>
            <a:xfrm>
              <a:off x="4393332" y="3722619"/>
              <a:ext cx="3405335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Отсутствие ответа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Нет подтверждённого факта в базе</a:t>
              </a:r>
            </a:p>
          </p:txBody>
        </p:sp>
        <p:sp>
          <p:nvSpPr>
            <p:cNvPr id="10" name="BrandDeck Diagram Step 3"/>
            <p:cNvSpPr/>
            <p:nvPr/>
          </p:nvSpPr>
          <p:spPr>
            <a:xfrm>
              <a:off x="7741365" y="2716779"/>
              <a:ext cx="3791822" cy="822960"/>
            </a:xfrm>
            <a:prstGeom prst="chevron">
              <a:avLst>
                <a:gd name="adj" fmla="val 36000"/>
              </a:avLst>
            </a:prstGeom>
            <a:solidFill>
              <a:srgbClr val="4C99F1"/>
            </a:solidFill>
            <a:ln>
              <a:noFill/>
            </a:ln>
          </p:spPr>
          <p:txBody>
            <a:bodyPr rtlCol="0" anchor="ctr" wrap="square" lIns="351129" tIns="18288" rIns="351129" bIns="18288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11" name="BrandDeck Diagram Detail Card 3"/>
            <p:cNvSpPr/>
            <p:nvPr/>
          </p:nvSpPr>
          <p:spPr>
            <a:xfrm>
              <a:off x="7944972" y="3649467"/>
              <a:ext cx="3551639" cy="1032256"/>
            </a:xfrm>
            <a:prstGeom prst="roundRect">
              <a:avLst>
                <a:gd name="adj" fmla="val 12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BrandDeck Diagram Text 3"/>
            <p:cNvSpPr txBox="1"/>
            <p:nvPr/>
          </p:nvSpPr>
          <p:spPr>
            <a:xfrm>
              <a:off x="8018124" y="3722619"/>
              <a:ext cx="3405335" cy="885951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Эскалация</a:t>
              </a:r>
            </a:p>
            <a:p>
              <a:pPr algn="l">
                <a:lnSpc>
                  <a:spcPct val="110000"/>
                </a:lnSpc>
                <a:spcBef>
                  <a:spcPts val="350"/>
                </a:spcBef>
              </a:pPr>
              <a:r>
                <a:rPr sz="1400" b="0">
                  <a:solidFill>
                    <a:srgbClr val="000000"/>
                  </a:solidFill>
                  <a:latin typeface="Play"/>
                </a:rPr>
                <a:t>Переход к специалисту с контекстом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>
                <a:solidFill>
                  <a:srgbClr val="000000"/>
                </a:solidFill>
              </a:rPr>
              <a:t>Снижение времени поиска ответа и увеличение доли обращений, закрытых без участия специалиста</a:t>
            </a:r>
          </a:p>
        </p:txBody>
      </p:sp>
      <p:grpSp>
        <p:nvGrpSpPr>
          <p:cNvPr id="2" name="BrandDeck Diagram pyramid" descr="pyramid: Критерии успеха Снижение времени поиска и рост автозакрытия; Время поиска Метрика времени ответа сотрудника; Доля автозакрытия Процент вопросов без участия специалиста"/>
          <p:cNvGrpSpPr/>
          <p:nvPr/>
        </p:nvGrpSpPr>
        <p:grpSpPr>
          <a:xfrm>
            <a:off x="675958" y="2135749"/>
            <a:ext cx="10857230" cy="3511295"/>
            <a:chOff x="675958" y="2135749"/>
            <a:chExt cx="10857230" cy="3511295"/>
          </a:xfrm>
        </p:grpSpPr>
        <p:sp>
          <p:nvSpPr>
            <p:cNvPr id="4" name="BrandDeck Diagram Level 1"/>
            <p:cNvSpPr/>
            <p:nvPr/>
          </p:nvSpPr>
          <p:spPr>
            <a:xfrm>
              <a:off x="2161858" y="2135749"/>
              <a:ext cx="1451609" cy="1133856"/>
            </a:xfrm>
            <a:custGeom>
              <a:avLst/>
              <a:gdLst/>
              <a:ahLst/>
              <a:cxnLst/>
              <a:rect l="l" t="t" r="r" b="b"/>
              <a:pathLst>
                <a:path w="1587" h="1240" stroke="0">
                  <a:moveTo>
                    <a:pt x="769" y="0"/>
                  </a:moveTo>
                  <a:lnTo>
                    <a:pt x="819" y="0"/>
                  </a:lnTo>
                  <a:lnTo>
                    <a:pt x="158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" name="BrandDeck Diagram Text 1"/>
            <p:cNvSpPr txBox="1"/>
            <p:nvPr/>
          </p:nvSpPr>
          <p:spPr>
            <a:xfrm>
              <a:off x="5390833" y="2135749"/>
              <a:ext cx="6142355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Критерии успеха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Снижение времени поиска и рост автозакрытия</a:t>
              </a:r>
            </a:p>
          </p:txBody>
        </p:sp>
        <p:sp>
          <p:nvSpPr>
            <p:cNvPr id="6" name="BrandDeck Diagram Level 2"/>
            <p:cNvSpPr/>
            <p:nvPr/>
          </p:nvSpPr>
          <p:spPr>
            <a:xfrm>
              <a:off x="1418908" y="3324469"/>
              <a:ext cx="2937510" cy="1133856"/>
            </a:xfrm>
            <a:custGeom>
              <a:avLst/>
              <a:gdLst/>
              <a:ahLst/>
              <a:cxnLst/>
              <a:rect l="l" t="t" r="r" b="b"/>
              <a:pathLst>
                <a:path w="3213" h="1240" stroke="0">
                  <a:moveTo>
                    <a:pt x="775" y="0"/>
                  </a:moveTo>
                  <a:lnTo>
                    <a:pt x="2438" y="0"/>
                  </a:lnTo>
                  <a:lnTo>
                    <a:pt x="3213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4092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7" name="BrandDeck Diagram Text 2"/>
            <p:cNvSpPr txBox="1"/>
            <p:nvPr/>
          </p:nvSpPr>
          <p:spPr>
            <a:xfrm>
              <a:off x="5390833" y="3324469"/>
              <a:ext cx="6142355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Время поиска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Метрика времени ответа сотрудника</a:t>
              </a:r>
            </a:p>
          </p:txBody>
        </p:sp>
        <p:sp>
          <p:nvSpPr>
            <p:cNvPr id="8" name="BrandDeck Diagram Level 3"/>
            <p:cNvSpPr/>
            <p:nvPr/>
          </p:nvSpPr>
          <p:spPr>
            <a:xfrm>
              <a:off x="675958" y="4513189"/>
              <a:ext cx="4423409" cy="1133855"/>
            </a:xfrm>
            <a:custGeom>
              <a:avLst/>
              <a:gdLst/>
              <a:ahLst/>
              <a:cxnLst/>
              <a:rect l="l" t="t" r="r" b="b"/>
              <a:pathLst>
                <a:path w="4837" h="1240" stroke="0">
                  <a:moveTo>
                    <a:pt x="775" y="0"/>
                  </a:moveTo>
                  <a:lnTo>
                    <a:pt x="4062" y="0"/>
                  </a:lnTo>
                  <a:lnTo>
                    <a:pt x="483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80B6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9" name="BrandDeck Diagram Text 3"/>
            <p:cNvSpPr txBox="1"/>
            <p:nvPr/>
          </p:nvSpPr>
          <p:spPr>
            <a:xfrm>
              <a:off x="5390833" y="4513189"/>
              <a:ext cx="6142355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Доля автозакрытия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Процент вопросов без участия специалиста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>
                <a:solidFill>
                  <a:srgbClr val="000000"/>
                </a:solidFill>
              </a:rPr>
              <a:t>В пилоте участвуют 2 подразделения, 150 сотрудников и 6 недель работы</a:t>
            </a:r>
          </a:p>
        </p:txBody>
      </p:sp>
      <p:grpSp>
        <p:nvGrpSpPr>
          <p:cNvPr id="2" name="BrandDeck Diagram pyramid" descr="pyramid: 6 недель Длительность пилотного запуска; 150 сотрудников Всего участников пилота; 2 подразделения Охват пилотной группы"/>
          <p:cNvGrpSpPr/>
          <p:nvPr/>
        </p:nvGrpSpPr>
        <p:grpSpPr>
          <a:xfrm>
            <a:off x="675958" y="2135749"/>
            <a:ext cx="10857230" cy="3511295"/>
            <a:chOff x="675958" y="2135749"/>
            <a:chExt cx="10857230" cy="3511295"/>
          </a:xfrm>
        </p:grpSpPr>
        <p:sp>
          <p:nvSpPr>
            <p:cNvPr id="4" name="BrandDeck Diagram Level 1"/>
            <p:cNvSpPr/>
            <p:nvPr/>
          </p:nvSpPr>
          <p:spPr>
            <a:xfrm>
              <a:off x="2161858" y="2135749"/>
              <a:ext cx="1451609" cy="1133856"/>
            </a:xfrm>
            <a:custGeom>
              <a:avLst/>
              <a:gdLst/>
              <a:ahLst/>
              <a:cxnLst/>
              <a:rect l="l" t="t" r="r" b="b"/>
              <a:pathLst>
                <a:path w="1587" h="1240" stroke="0">
                  <a:moveTo>
                    <a:pt x="769" y="0"/>
                  </a:moveTo>
                  <a:lnTo>
                    <a:pt x="819" y="0"/>
                  </a:lnTo>
                  <a:lnTo>
                    <a:pt x="158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006DEB"/>
            </a:solidFill>
            <a:ln w="0">
              <a:noFill/>
            </a:ln>
          </p:spPr>
          <p:txBody>
            <a:bodyPr rtlCol="0" anchor="b" wrap="square" lIns="18288" tIns="0" rIns="18288" bIns="7315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FFFFFF"/>
                  </a:solidFill>
                  <a:latin typeface="Play"/>
                </a:rPr>
                <a:t>01</a:t>
              </a:r>
            </a:p>
          </p:txBody>
        </p:sp>
        <p:sp>
          <p:nvSpPr>
            <p:cNvPr id="5" name="BrandDeck Diagram Text 1"/>
            <p:cNvSpPr txBox="1"/>
            <p:nvPr/>
          </p:nvSpPr>
          <p:spPr>
            <a:xfrm>
              <a:off x="5390833" y="2135749"/>
              <a:ext cx="6142355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6 недель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Длительность пилотного запуска</a:t>
              </a:r>
            </a:p>
          </p:txBody>
        </p:sp>
        <p:sp>
          <p:nvSpPr>
            <p:cNvPr id="6" name="BrandDeck Diagram Level 2"/>
            <p:cNvSpPr/>
            <p:nvPr/>
          </p:nvSpPr>
          <p:spPr>
            <a:xfrm>
              <a:off x="1418908" y="3324469"/>
              <a:ext cx="2937510" cy="1133856"/>
            </a:xfrm>
            <a:custGeom>
              <a:avLst/>
              <a:gdLst/>
              <a:ahLst/>
              <a:cxnLst/>
              <a:rect l="l" t="t" r="r" b="b"/>
              <a:pathLst>
                <a:path w="3213" h="1240" stroke="0">
                  <a:moveTo>
                    <a:pt x="775" y="0"/>
                  </a:moveTo>
                  <a:lnTo>
                    <a:pt x="2438" y="0"/>
                  </a:lnTo>
                  <a:lnTo>
                    <a:pt x="3213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4092F0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02</a:t>
              </a:r>
            </a:p>
          </p:txBody>
        </p:sp>
        <p:sp>
          <p:nvSpPr>
            <p:cNvPr id="7" name="BrandDeck Diagram Text 2"/>
            <p:cNvSpPr txBox="1"/>
            <p:nvPr/>
          </p:nvSpPr>
          <p:spPr>
            <a:xfrm>
              <a:off x="5390833" y="3324469"/>
              <a:ext cx="6142355" cy="11338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150 сотрудников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Всего участников пилота</a:t>
              </a:r>
            </a:p>
          </p:txBody>
        </p:sp>
        <p:sp>
          <p:nvSpPr>
            <p:cNvPr id="8" name="BrandDeck Diagram Level 3"/>
            <p:cNvSpPr/>
            <p:nvPr/>
          </p:nvSpPr>
          <p:spPr>
            <a:xfrm>
              <a:off x="675958" y="4513189"/>
              <a:ext cx="4423409" cy="1133855"/>
            </a:xfrm>
            <a:custGeom>
              <a:avLst/>
              <a:gdLst/>
              <a:ahLst/>
              <a:cxnLst/>
              <a:rect l="l" t="t" r="r" b="b"/>
              <a:pathLst>
                <a:path w="4837" h="1240" stroke="0">
                  <a:moveTo>
                    <a:pt x="775" y="0"/>
                  </a:moveTo>
                  <a:lnTo>
                    <a:pt x="4062" y="0"/>
                  </a:lnTo>
                  <a:lnTo>
                    <a:pt x="4837" y="1240"/>
                  </a:lnTo>
                  <a:lnTo>
                    <a:pt x="0" y="1240"/>
                  </a:lnTo>
                  <a:close/>
                </a:path>
              </a:pathLst>
            </a:custGeom>
            <a:solidFill>
              <a:srgbClr val="80B6F5"/>
            </a:solidFill>
            <a:ln w="0">
              <a:noFill/>
            </a:ln>
          </p:spPr>
          <p:txBody>
            <a:bodyPr rtlCol="0" anchor="ctr" wrap="square" lIns="18288" tIns="0" rIns="18288" bIns="0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400" b="1">
                  <a:solidFill>
                    <a:srgbClr val="000000"/>
                  </a:solidFill>
                  <a:latin typeface="Play"/>
                </a:rPr>
                <a:t>03</a:t>
              </a:r>
            </a:p>
          </p:txBody>
        </p:sp>
        <p:sp>
          <p:nvSpPr>
            <p:cNvPr id="9" name="BrandDeck Diagram Text 3"/>
            <p:cNvSpPr txBox="1"/>
            <p:nvPr/>
          </p:nvSpPr>
          <p:spPr>
            <a:xfrm>
              <a:off x="5390833" y="4513189"/>
              <a:ext cx="6142355" cy="1133855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600" b="1">
                  <a:solidFill>
                    <a:srgbClr val="000000"/>
                  </a:solidFill>
                  <a:latin typeface="Play"/>
                </a:rPr>
                <a:t>2 подразделения</a:t>
              </a:r>
            </a:p>
            <a:p>
              <a:pPr algn="l">
                <a:lnSpc>
                  <a:spcPct val="110000"/>
                </a:lnSpc>
                <a:spcBef>
                  <a:spcPts val="400"/>
                </a:spcBef>
              </a:pPr>
              <a:r>
                <a:rPr sz="1600" b="0">
                  <a:solidFill>
                    <a:srgbClr val="000000"/>
                  </a:solidFill>
                  <a:latin typeface="Play"/>
                </a:rPr>
                <a:t>Охват пилотной группы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title"/>
          </p:nvPr>
        </p:nvSpPr>
        <p:spPr>
          <a:xfrm>
            <a:off x="658813" y="692150"/>
            <a:ext cx="5254307" cy="1380285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</a:pPr>
            <a:r>
              <a:rPr sz="2400">
                <a:solidFill>
                  <a:srgbClr val="000000"/>
                </a:solidFill>
              </a:rPr>
              <a:t>Измерим время поиска ответа и долю обращений, закрытых без специалиста поддержки</a:t>
            </a:r>
          </a:p>
        </p:txBody>
      </p:sp>
      <p:sp>
        <p:nvSpPr>
          <p:cNvPr id="3" name="BrandDeck Text 3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Измерим время поиска ответа и долю закрытых обращений.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Снижение времени поиска и нагрузки на поддержку — критерии успеха.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</a:pPr>
            <a:r>
              <a:rPr sz="1800">
                <a:solidFill>
                  <a:srgbClr val="000000"/>
                </a:solidFill>
              </a:rPr>
              <a:t>Результаты пилота определят эффективность ИИ-помощника.</a:t>
            </a:r>
          </a:p>
        </p:txBody>
      </p:sp>
      <p:pic>
        <p:nvPicPr>
          <p:cNvPr id="4" name="BrandDeck Image" descr="сотрудник специалист поддержки"/>
          <p:cNvPicPr>
            <a:picLocks noGrp="1" noChangeAspect="1"/>
          </p:cNvPicPr>
          <p:nvPr>
            <p:ph type="pic" idx="2"/>
          </p:nvPr>
        </p:nvPicPr>
        <p:blipFill>
          <a:blip r:embed="rId2"/>
          <a:srcRect l="24987" r="24987"/>
          <a:stretch>
            <a:fillRect/>
          </a:stretch>
        </p:blipFill>
        <p:spPr/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4"/>
              </a:spcAft>
            </a:pPr>
            <a:r>
              <a:rPr sz="1700">
                <a:solidFill>
                  <a:srgbClr val="000000"/>
                </a:solidFill>
              </a:rPr>
              <a:t>Модель с открытыми весами работает внутри контура, документы не покидают периметр</a:t>
            </a:r>
          </a:p>
        </p:txBody>
      </p:sp>
      <p:grpSp>
        <p:nvGrpSpPr>
          <p:cNvPr id="2" name="BrandDeck Diagram icon_grid" descr="icon_grid: Модель с открытыми весами работает строго внутри контура компании.; Документы не покидают периметр и не уходят наружу.; Обеспечивается безопасность данных при обработке запросов."/>
          <p:cNvGrpSpPr/>
          <p:nvPr/>
        </p:nvGrpSpPr>
        <p:grpSpPr>
          <a:xfrm>
            <a:off x="658813" y="2405806"/>
            <a:ext cx="10874374" cy="2783294"/>
            <a:chOff x="658813" y="2405806"/>
            <a:chExt cx="10874374" cy="2783294"/>
          </a:xfrm>
        </p:grpSpPr>
        <p:sp>
          <p:nvSpPr>
            <p:cNvPr id="4" name="BrandDeck Diagram Card 1"/>
            <p:cNvSpPr/>
            <p:nvPr/>
          </p:nvSpPr>
          <p:spPr>
            <a:xfrm>
              <a:off x="658813" y="2405806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BrandDeck Diagram Icon 1 Badge"/>
            <p:cNvSpPr/>
            <p:nvPr/>
          </p:nvSpPr>
          <p:spPr>
            <a:xfrm>
              <a:off x="878269" y="275112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randDeck Icon brain"/>
            <p:cNvSpPr/>
            <p:nvPr/>
          </p:nvSpPr>
          <p:spPr>
            <a:xfrm>
              <a:off x="1008567" y="2881424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2000" y="5000"/>
                  </a:moveTo>
                  <a:cubicBezTo>
                    <a:pt x="12003" y="3911"/>
                    <a:pt x="11416" y="2906"/>
                    <a:pt x="10466" y="2374"/>
                  </a:cubicBezTo>
                  <a:cubicBezTo>
                    <a:pt x="9516" y="1842"/>
                    <a:pt x="8353" y="1866"/>
                    <a:pt x="7426" y="2437"/>
                  </a:cubicBezTo>
                  <a:cubicBezTo>
                    <a:pt x="6499" y="3009"/>
                    <a:pt x="5954" y="4037"/>
                    <a:pt x="6003" y="5125"/>
                  </a:cubicBezTo>
                  <a:cubicBezTo>
                    <a:pt x="4812" y="5431"/>
                    <a:pt x="3828" y="6268"/>
                    <a:pt x="3335" y="7395"/>
                  </a:cubicBezTo>
                  <a:cubicBezTo>
                    <a:pt x="2842" y="8521"/>
                    <a:pt x="2894" y="9812"/>
                    <a:pt x="3477" y="10895"/>
                  </a:cubicBezTo>
                  <a:cubicBezTo>
                    <a:pt x="2450" y="11729"/>
                    <a:pt x="1902" y="13018"/>
                    <a:pt x="2013" y="14336"/>
                  </a:cubicBezTo>
                  <a:cubicBezTo>
                    <a:pt x="2125" y="15654"/>
                    <a:pt x="2881" y="16833"/>
                    <a:pt x="4033" y="17483"/>
                  </a:cubicBezTo>
                  <a:cubicBezTo>
                    <a:pt x="3842" y="18961"/>
                    <a:pt x="4488" y="20422"/>
                    <a:pt x="5710" y="21275"/>
                  </a:cubicBezTo>
                  <a:cubicBezTo>
                    <a:pt x="6931" y="22128"/>
                    <a:pt x="8526" y="22232"/>
                    <a:pt x="9847" y="21544"/>
                  </a:cubicBezTo>
                  <a:cubicBezTo>
                    <a:pt x="11169" y="20856"/>
                    <a:pt x="11998" y="19490"/>
                    <a:pt x="12000" y="18000"/>
                  </a:cubicBezTo>
                  <a:close/>
                </a:path>
                <a:path w="24000" h="24000" fill="none">
                  <a:moveTo>
                    <a:pt x="12000" y="5000"/>
                  </a:moveTo>
                  <a:cubicBezTo>
                    <a:pt x="11997" y="3911"/>
                    <a:pt x="12584" y="2906"/>
                    <a:pt x="13534" y="2374"/>
                  </a:cubicBezTo>
                  <a:cubicBezTo>
                    <a:pt x="14484" y="1842"/>
                    <a:pt x="15647" y="1866"/>
                    <a:pt x="16574" y="2437"/>
                  </a:cubicBezTo>
                  <a:cubicBezTo>
                    <a:pt x="17501" y="3009"/>
                    <a:pt x="18046" y="4037"/>
                    <a:pt x="17997" y="5125"/>
                  </a:cubicBezTo>
                  <a:cubicBezTo>
                    <a:pt x="19188" y="5431"/>
                    <a:pt x="20172" y="6268"/>
                    <a:pt x="20665" y="7395"/>
                  </a:cubicBezTo>
                  <a:cubicBezTo>
                    <a:pt x="21158" y="8521"/>
                    <a:pt x="21106" y="9812"/>
                    <a:pt x="20523" y="10895"/>
                  </a:cubicBezTo>
                  <a:cubicBezTo>
                    <a:pt x="21550" y="11729"/>
                    <a:pt x="22098" y="13018"/>
                    <a:pt x="21987" y="14336"/>
                  </a:cubicBezTo>
                  <a:cubicBezTo>
                    <a:pt x="21875" y="15654"/>
                    <a:pt x="21119" y="16833"/>
                    <a:pt x="19967" y="17483"/>
                  </a:cubicBezTo>
                  <a:cubicBezTo>
                    <a:pt x="20158" y="18961"/>
                    <a:pt x="19512" y="20422"/>
                    <a:pt x="18290" y="21275"/>
                  </a:cubicBezTo>
                  <a:cubicBezTo>
                    <a:pt x="17069" y="22128"/>
                    <a:pt x="15474" y="22232"/>
                    <a:pt x="14153" y="21544"/>
                  </a:cubicBezTo>
                  <a:cubicBezTo>
                    <a:pt x="12831" y="20856"/>
                    <a:pt x="12002" y="19490"/>
                    <a:pt x="12000" y="18000"/>
                  </a:cubicBezTo>
                  <a:close/>
                </a:path>
                <a:path w="24000" h="24000" fill="none">
                  <a:moveTo>
                    <a:pt x="15000" y="13000"/>
                  </a:moveTo>
                  <a:cubicBezTo>
                    <a:pt x="13283" y="12396"/>
                    <a:pt x="12099" y="10817"/>
                    <a:pt x="12000" y="9000"/>
                  </a:cubicBezTo>
                  <a:cubicBezTo>
                    <a:pt x="11901" y="10817"/>
                    <a:pt x="10717" y="12396"/>
                    <a:pt x="9000" y="13000"/>
                  </a:cubicBezTo>
                </a:path>
                <a:path w="24000" h="24000" fill="none">
                  <a:moveTo>
                    <a:pt x="17599" y="6500"/>
                  </a:moveTo>
                  <a:cubicBezTo>
                    <a:pt x="17841" y="6081"/>
                    <a:pt x="17978" y="5609"/>
                    <a:pt x="17998" y="5125"/>
                  </a:cubicBezTo>
                </a:path>
                <a:path w="24000" h="24000" fill="none">
                  <a:moveTo>
                    <a:pt x="6003" y="5125"/>
                  </a:moveTo>
                  <a:cubicBezTo>
                    <a:pt x="6023" y="5609"/>
                    <a:pt x="6159" y="6080"/>
                    <a:pt x="6401" y="6500"/>
                  </a:cubicBezTo>
                </a:path>
                <a:path w="24000" h="24000" fill="none">
                  <a:moveTo>
                    <a:pt x="3477" y="10896"/>
                  </a:moveTo>
                  <a:cubicBezTo>
                    <a:pt x="3660" y="10747"/>
                    <a:pt x="3856" y="10614"/>
                    <a:pt x="4062" y="10500"/>
                  </a:cubicBezTo>
                </a:path>
                <a:path w="24000" h="24000" fill="none">
                  <a:moveTo>
                    <a:pt x="19938" y="10500"/>
                  </a:moveTo>
                  <a:cubicBezTo>
                    <a:pt x="20144" y="10614"/>
                    <a:pt x="20340" y="10747"/>
                    <a:pt x="20523" y="10896"/>
                  </a:cubicBezTo>
                </a:path>
                <a:path w="24000" h="24000" fill="none">
                  <a:moveTo>
                    <a:pt x="6000" y="18000"/>
                  </a:moveTo>
                  <a:cubicBezTo>
                    <a:pt x="5311" y="18000"/>
                    <a:pt x="4633" y="17823"/>
                    <a:pt x="4033" y="17484"/>
                  </a:cubicBezTo>
                </a:path>
                <a:path w="24000" h="24000" fill="none">
                  <a:moveTo>
                    <a:pt x="19967" y="17484"/>
                  </a:moveTo>
                  <a:cubicBezTo>
                    <a:pt x="19367" y="17823"/>
                    <a:pt x="18689" y="18000"/>
                    <a:pt x="18000" y="18000"/>
                  </a:cubicBez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randDeck Diagram Text 1"/>
            <p:cNvSpPr txBox="1"/>
            <p:nvPr/>
          </p:nvSpPr>
          <p:spPr>
            <a:xfrm>
              <a:off x="1602207" y="2537480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Модель с открытыми весами работает строго внутри контура компании.</a:t>
              </a:r>
            </a:p>
          </p:txBody>
        </p:sp>
        <p:sp>
          <p:nvSpPr>
            <p:cNvPr id="8" name="BrandDeck Diagram Card 2"/>
            <p:cNvSpPr/>
            <p:nvPr/>
          </p:nvSpPr>
          <p:spPr>
            <a:xfrm>
              <a:off x="6204744" y="2405806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randDeck Diagram Icon 2 Badge"/>
            <p:cNvSpPr/>
            <p:nvPr/>
          </p:nvSpPr>
          <p:spPr>
            <a:xfrm>
              <a:off x="6424200" y="275112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BrandDeck Icon file-text"/>
            <p:cNvSpPr/>
            <p:nvPr/>
          </p:nvSpPr>
          <p:spPr>
            <a:xfrm>
              <a:off x="6554498" y="2881424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5000" y="2000"/>
                  </a:moveTo>
                  <a:lnTo>
                    <a:pt x="6000" y="2000"/>
                  </a:lnTo>
                  <a:cubicBezTo>
                    <a:pt x="4895" y="2000"/>
                    <a:pt x="4000" y="2895"/>
                    <a:pt x="4000" y="4000"/>
                  </a:cubicBezTo>
                  <a:lnTo>
                    <a:pt x="4000" y="20000"/>
                  </a:lnTo>
                  <a:cubicBezTo>
                    <a:pt x="4000" y="21105"/>
                    <a:pt x="4895" y="22000"/>
                    <a:pt x="6000" y="22000"/>
                  </a:cubicBezTo>
                  <a:lnTo>
                    <a:pt x="18000" y="22000"/>
                  </a:lnTo>
                  <a:cubicBezTo>
                    <a:pt x="19105" y="22000"/>
                    <a:pt x="20000" y="21105"/>
                    <a:pt x="20000" y="20000"/>
                  </a:cubicBezTo>
                  <a:lnTo>
                    <a:pt x="20000" y="7000"/>
                  </a:lnTo>
                  <a:close/>
                </a:path>
                <a:path w="24000" h="24000" fill="none">
                  <a:moveTo>
                    <a:pt x="14000" y="2000"/>
                  </a:moveTo>
                  <a:lnTo>
                    <a:pt x="14000" y="6000"/>
                  </a:lnTo>
                  <a:cubicBezTo>
                    <a:pt x="14000" y="7105"/>
                    <a:pt x="14895" y="8000"/>
                    <a:pt x="16000" y="8000"/>
                  </a:cubicBezTo>
                  <a:lnTo>
                    <a:pt x="20000" y="8000"/>
                  </a:lnTo>
                </a:path>
                <a:path w="24000" h="24000" fill="none">
                  <a:moveTo>
                    <a:pt x="10000" y="9000"/>
                  </a:moveTo>
                  <a:lnTo>
                    <a:pt x="8000" y="9000"/>
                  </a:lnTo>
                </a:path>
                <a:path w="24000" h="24000" fill="none">
                  <a:moveTo>
                    <a:pt x="16000" y="13000"/>
                  </a:moveTo>
                  <a:lnTo>
                    <a:pt x="8000" y="13000"/>
                  </a:lnTo>
                </a:path>
                <a:path w="24000" h="24000" fill="none">
                  <a:moveTo>
                    <a:pt x="16000" y="17000"/>
                  </a:moveTo>
                  <a:lnTo>
                    <a:pt x="8000" y="17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randDeck Diagram Text 2"/>
            <p:cNvSpPr txBox="1"/>
            <p:nvPr/>
          </p:nvSpPr>
          <p:spPr>
            <a:xfrm>
              <a:off x="7148138" y="2537480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Документы не покидают периметр и не уходят наружу.</a:t>
              </a:r>
            </a:p>
          </p:txBody>
        </p:sp>
        <p:sp>
          <p:nvSpPr>
            <p:cNvPr id="12" name="BrandDeck Diagram Card 3"/>
            <p:cNvSpPr/>
            <p:nvPr/>
          </p:nvSpPr>
          <p:spPr>
            <a:xfrm>
              <a:off x="658813" y="3906197"/>
              <a:ext cx="5328443" cy="1282903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BrandDeck Diagram Icon 3 Badge"/>
            <p:cNvSpPr/>
            <p:nvPr/>
          </p:nvSpPr>
          <p:spPr>
            <a:xfrm>
              <a:off x="878269" y="4251516"/>
              <a:ext cx="592264" cy="59226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BrandDeck Icon shield-check"/>
            <p:cNvSpPr/>
            <p:nvPr/>
          </p:nvSpPr>
          <p:spPr>
            <a:xfrm>
              <a:off x="1008567" y="4381815"/>
              <a:ext cx="331668" cy="331668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0000" y="13000"/>
                  </a:moveTo>
                  <a:cubicBezTo>
                    <a:pt x="20000" y="18000"/>
                    <a:pt x="16500" y="20500"/>
                    <a:pt x="12340" y="21950"/>
                  </a:cubicBezTo>
                  <a:cubicBezTo>
                    <a:pt x="12122" y="22024"/>
                    <a:pt x="11886" y="22020"/>
                    <a:pt x="11670" y="21940"/>
                  </a:cubicBezTo>
                  <a:cubicBezTo>
                    <a:pt x="7500" y="20500"/>
                    <a:pt x="4000" y="18000"/>
                    <a:pt x="4000" y="13000"/>
                  </a:cubicBezTo>
                  <a:lnTo>
                    <a:pt x="4000" y="6000"/>
                  </a:lnTo>
                  <a:cubicBezTo>
                    <a:pt x="4000" y="5448"/>
                    <a:pt x="4448" y="5000"/>
                    <a:pt x="5000" y="5000"/>
                  </a:cubicBezTo>
                  <a:cubicBezTo>
                    <a:pt x="7000" y="5000"/>
                    <a:pt x="9500" y="3800"/>
                    <a:pt x="11240" y="2280"/>
                  </a:cubicBezTo>
                  <a:cubicBezTo>
                    <a:pt x="11678" y="1906"/>
                    <a:pt x="12322" y="1906"/>
                    <a:pt x="12760" y="2280"/>
                  </a:cubicBezTo>
                  <a:cubicBezTo>
                    <a:pt x="14510" y="3810"/>
                    <a:pt x="17000" y="5000"/>
                    <a:pt x="19000" y="5000"/>
                  </a:cubicBezTo>
                  <a:cubicBezTo>
                    <a:pt x="19552" y="5000"/>
                    <a:pt x="20000" y="5448"/>
                    <a:pt x="20000" y="6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11000" y="14000"/>
                  </a:lnTo>
                  <a:lnTo>
                    <a:pt x="15000" y="10000"/>
                  </a:lnTo>
                </a:path>
              </a:pathLst>
            </a:custGeom>
            <a:noFill/>
            <a:ln w="27639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BrandDeck Diagram Text 3"/>
            <p:cNvSpPr txBox="1"/>
            <p:nvPr/>
          </p:nvSpPr>
          <p:spPr>
            <a:xfrm>
              <a:off x="1602207" y="4037871"/>
              <a:ext cx="4165593" cy="1019556"/>
            </a:xfrm>
            <a:prstGeom prst="rect">
              <a:avLst/>
            </a:prstGeom>
            <a:noFill/>
          </p:spPr>
          <p:txBody>
            <a:bodyPr wrap="square" anchor="ctr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Обеспечивается безопасность данных при обработке запросов.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/>
      <p:sp>
        <p:nvSpPr>
          <p:cNvPr id="543" name="BrandDeck Text 543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marL="0" rtl="0" algn="l">
              <a:lnSpc>
                <a:spcPct val="115000"/>
              </a:lnSpc>
              <a:spcBef>
                <a:spcPts val="0"/>
              </a:spcBef>
              <a:spcAft>
                <a:spcPts val="27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sz="1800">
                <a:solidFill>
                  <a:srgbClr val="000000"/>
                </a:solidFill>
              </a:rPr>
              <a:t>Требуется одобрение пилота и выделение команды из 3 человек для реализации</a:t>
            </a:r>
            <a:endParaRPr/>
          </a:p>
        </p:txBody>
      </p:sp>
      <p:grpSp>
        <p:nvGrpSpPr>
          <p:cNvPr id="2" name="BrandDeck Diagram icon_grid" descr="icon_grid: Просим одобрить запуск пилота.; Требуется выделение команды из 3 человек.; Срок пилота: 6 недель."/>
          <p:cNvGrpSpPr/>
          <p:nvPr/>
        </p:nvGrpSpPr>
        <p:grpSpPr>
          <a:xfrm>
            <a:off x="677334" y="2603500"/>
            <a:ext cx="10855853" cy="3597276"/>
            <a:chOff x="677334" y="2603500"/>
            <a:chExt cx="10855853" cy="3597276"/>
          </a:xfrm>
        </p:grpSpPr>
        <p:sp>
          <p:nvSpPr>
            <p:cNvPr id="544" name="BrandDeck Diagram Card 1"/>
            <p:cNvSpPr/>
            <p:nvPr/>
          </p:nvSpPr>
          <p:spPr>
            <a:xfrm>
              <a:off x="67733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5" name="BrandDeck Diagram Icon 1 Badge"/>
            <p:cNvSpPr/>
            <p:nvPr/>
          </p:nvSpPr>
          <p:spPr>
            <a:xfrm>
              <a:off x="896789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6" name="BrandDeck Icon rocket"/>
            <p:cNvSpPr/>
            <p:nvPr/>
          </p:nvSpPr>
          <p:spPr>
            <a:xfrm>
              <a:off x="1029560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4500" y="16500"/>
                  </a:moveTo>
                  <a:cubicBezTo>
                    <a:pt x="3000" y="17760"/>
                    <a:pt x="2500" y="21500"/>
                    <a:pt x="2500" y="21500"/>
                  </a:cubicBezTo>
                  <a:cubicBezTo>
                    <a:pt x="2500" y="21500"/>
                    <a:pt x="6240" y="21000"/>
                    <a:pt x="7500" y="19500"/>
                  </a:cubicBezTo>
                  <a:cubicBezTo>
                    <a:pt x="8210" y="18660"/>
                    <a:pt x="8200" y="17370"/>
                    <a:pt x="7410" y="16590"/>
                  </a:cubicBezTo>
                  <a:cubicBezTo>
                    <a:pt x="6605" y="15822"/>
                    <a:pt x="5351" y="15783"/>
                    <a:pt x="4500" y="16500"/>
                  </a:cubicBezTo>
                  <a:close/>
                </a:path>
                <a:path w="24000" h="24000" fill="none">
                  <a:moveTo>
                    <a:pt x="12000" y="15000"/>
                  </a:moveTo>
                  <a:lnTo>
                    <a:pt x="9000" y="12000"/>
                  </a:lnTo>
                  <a:cubicBezTo>
                    <a:pt x="9532" y="10619"/>
                    <a:pt x="10202" y="9296"/>
                    <a:pt x="11000" y="8050"/>
                  </a:cubicBezTo>
                  <a:cubicBezTo>
                    <a:pt x="13369" y="4262"/>
                    <a:pt x="17532" y="1972"/>
                    <a:pt x="22000" y="2000"/>
                  </a:cubicBezTo>
                  <a:cubicBezTo>
                    <a:pt x="22000" y="4720"/>
                    <a:pt x="21220" y="9500"/>
                    <a:pt x="16000" y="13000"/>
                  </a:cubicBezTo>
                  <a:cubicBezTo>
                    <a:pt x="14737" y="13799"/>
                    <a:pt x="13397" y="14469"/>
                    <a:pt x="12000" y="15000"/>
                  </a:cubicBezTo>
                  <a:close/>
                </a:path>
                <a:path w="24000" h="24000" fill="none">
                  <a:moveTo>
                    <a:pt x="9000" y="12000"/>
                  </a:moveTo>
                  <a:lnTo>
                    <a:pt x="4000" y="12000"/>
                  </a:lnTo>
                  <a:cubicBezTo>
                    <a:pt x="4000" y="12000"/>
                    <a:pt x="4550" y="8970"/>
                    <a:pt x="6000" y="8000"/>
                  </a:cubicBezTo>
                  <a:cubicBezTo>
                    <a:pt x="7620" y="6920"/>
                    <a:pt x="11000" y="8000"/>
                    <a:pt x="11000" y="8000"/>
                  </a:cubicBezTo>
                </a:path>
                <a:path w="24000" h="24000" fill="none">
                  <a:moveTo>
                    <a:pt x="12000" y="15000"/>
                  </a:moveTo>
                  <a:lnTo>
                    <a:pt x="12000" y="20000"/>
                  </a:lnTo>
                  <a:cubicBezTo>
                    <a:pt x="12000" y="20000"/>
                    <a:pt x="15030" y="19450"/>
                    <a:pt x="16000" y="18000"/>
                  </a:cubicBezTo>
                  <a:cubicBezTo>
                    <a:pt x="17080" y="16380"/>
                    <a:pt x="16000" y="13000"/>
                    <a:pt x="16000" y="1300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7" name="BrandDeck Diagram Text 1"/>
            <p:cNvSpPr txBox="1"/>
            <p:nvPr/>
          </p:nvSpPr>
          <p:spPr>
            <a:xfrm>
              <a:off x="83095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Просим одобрить запуск пилота.</a:t>
              </a:r>
            </a:p>
          </p:txBody>
        </p:sp>
        <p:sp>
          <p:nvSpPr>
            <p:cNvPr id="548" name="BrandDeck Diagram Card 2"/>
            <p:cNvSpPr/>
            <p:nvPr/>
          </p:nvSpPr>
          <p:spPr>
            <a:xfrm>
              <a:off x="436832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9" name="BrandDeck Diagram Icon 2 Badge"/>
            <p:cNvSpPr/>
            <p:nvPr/>
          </p:nvSpPr>
          <p:spPr>
            <a:xfrm>
              <a:off x="4587780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0" name="BrandDeck Icon users"/>
            <p:cNvSpPr/>
            <p:nvPr/>
          </p:nvSpPr>
          <p:spPr>
            <a:xfrm>
              <a:off x="4720551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16000" y="21000"/>
                  </a:moveTo>
                  <a:lnTo>
                    <a:pt x="16000" y="19000"/>
                  </a:lnTo>
                  <a:cubicBezTo>
                    <a:pt x="16000" y="16791"/>
                    <a:pt x="14209" y="15000"/>
                    <a:pt x="12000" y="15000"/>
                  </a:cubicBezTo>
                  <a:lnTo>
                    <a:pt x="6000" y="15000"/>
                  </a:lnTo>
                  <a:cubicBezTo>
                    <a:pt x="3791" y="15000"/>
                    <a:pt x="2000" y="16791"/>
                    <a:pt x="2000" y="19000"/>
                  </a:cubicBezTo>
                  <a:lnTo>
                    <a:pt x="2000" y="21000"/>
                  </a:lnTo>
                </a:path>
                <a:path w="24000" h="24000" fill="none">
                  <a:moveTo>
                    <a:pt x="13000" y="7000"/>
                  </a:moveTo>
                  <a:cubicBezTo>
                    <a:pt x="13000" y="9209"/>
                    <a:pt x="11209" y="11000"/>
                    <a:pt x="9000" y="11000"/>
                  </a:cubicBezTo>
                  <a:cubicBezTo>
                    <a:pt x="6791" y="11000"/>
                    <a:pt x="5000" y="9209"/>
                    <a:pt x="5000" y="7000"/>
                  </a:cubicBezTo>
                  <a:cubicBezTo>
                    <a:pt x="5000" y="4791"/>
                    <a:pt x="6791" y="3000"/>
                    <a:pt x="9000" y="3000"/>
                  </a:cubicBezTo>
                  <a:cubicBezTo>
                    <a:pt x="11209" y="3000"/>
                    <a:pt x="13000" y="4791"/>
                    <a:pt x="13000" y="7000"/>
                  </a:cubicBezTo>
                  <a:close/>
                </a:path>
                <a:path w="24000" h="24000" fill="none">
                  <a:moveTo>
                    <a:pt x="22000" y="21000"/>
                  </a:moveTo>
                  <a:lnTo>
                    <a:pt x="22000" y="19000"/>
                  </a:lnTo>
                  <a:cubicBezTo>
                    <a:pt x="21999" y="17177"/>
                    <a:pt x="20765" y="15586"/>
                    <a:pt x="19000" y="15130"/>
                  </a:cubicBezTo>
                </a:path>
                <a:path w="24000" h="24000" fill="none">
                  <a:moveTo>
                    <a:pt x="16000" y="3130"/>
                  </a:moveTo>
                  <a:cubicBezTo>
                    <a:pt x="17770" y="3583"/>
                    <a:pt x="19008" y="5178"/>
                    <a:pt x="19008" y="7005"/>
                  </a:cubicBezTo>
                  <a:cubicBezTo>
                    <a:pt x="19008" y="8832"/>
                    <a:pt x="17770" y="10427"/>
                    <a:pt x="16000" y="10880"/>
                  </a:cubicBez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1" name="BrandDeck Diagram Text 2"/>
            <p:cNvSpPr txBox="1"/>
            <p:nvPr/>
          </p:nvSpPr>
          <p:spPr>
            <a:xfrm>
              <a:off x="452194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0">
                  <a:solidFill>
                    <a:srgbClr val="000000"/>
                  </a:solidFill>
                  <a:latin typeface="Play"/>
                </a:rPr>
                <a:t>Требуется выделение команды из 3 человек.</a:t>
              </a:r>
            </a:p>
          </p:txBody>
        </p:sp>
        <p:sp>
          <p:nvSpPr>
            <p:cNvPr id="552" name="BrandDeck Diagram Card 3"/>
            <p:cNvSpPr/>
            <p:nvPr/>
          </p:nvSpPr>
          <p:spPr>
            <a:xfrm>
              <a:off x="8059314" y="2603500"/>
              <a:ext cx="3473873" cy="3597276"/>
            </a:xfrm>
            <a:prstGeom prst="roundRect">
              <a:avLst>
                <a:gd name="adj" fmla="val 8000"/>
              </a:avLst>
            </a:prstGeom>
            <a:solidFill>
              <a:srgbClr val="EDF5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3" name="BrandDeck Diagram Icon 3 Badge"/>
            <p:cNvSpPr/>
            <p:nvPr/>
          </p:nvSpPr>
          <p:spPr>
            <a:xfrm>
              <a:off x="8278770" y="2822956"/>
              <a:ext cx="603504" cy="603504"/>
            </a:xfrm>
            <a:prstGeom prst="ellipse">
              <a:avLst/>
            </a:prstGeom>
            <a:solidFill>
              <a:srgbClr val="006DE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4" name="BrandDeck Icon clock"/>
            <p:cNvSpPr/>
            <p:nvPr/>
          </p:nvSpPr>
          <p:spPr>
            <a:xfrm>
              <a:off x="8411541" y="2955726"/>
              <a:ext cx="337962" cy="337962"/>
            </a:xfrm>
            <a:custGeom>
              <a:avLst/>
              <a:gdLst/>
              <a:ahLst/>
              <a:cxnLst/>
              <a:rect l="l" t="t" r="r" b="b"/>
              <a:pathLst>
                <a:path w="24000" h="24000" fill="none">
                  <a:moveTo>
                    <a:pt x="22000" y="12000"/>
                  </a:moveTo>
                  <a:cubicBezTo>
                    <a:pt x="22000" y="17523"/>
                    <a:pt x="17523" y="22000"/>
                    <a:pt x="12000" y="22000"/>
                  </a:cubicBezTo>
                  <a:cubicBezTo>
                    <a:pt x="6477" y="22000"/>
                    <a:pt x="2000" y="17523"/>
                    <a:pt x="2000" y="12000"/>
                  </a:cubicBezTo>
                  <a:cubicBezTo>
                    <a:pt x="2000" y="6477"/>
                    <a:pt x="6477" y="2000"/>
                    <a:pt x="12000" y="2000"/>
                  </a:cubicBezTo>
                  <a:cubicBezTo>
                    <a:pt x="17523" y="2000"/>
                    <a:pt x="22000" y="6477"/>
                    <a:pt x="22000" y="12000"/>
                  </a:cubicBezTo>
                  <a:close/>
                </a:path>
                <a:path w="24000" h="24000" fill="none">
                  <a:moveTo>
                    <a:pt x="12000" y="6000"/>
                  </a:moveTo>
                  <a:lnTo>
                    <a:pt x="12000" y="12000"/>
                  </a:lnTo>
                  <a:lnTo>
                    <a:pt x="16000" y="14000"/>
                  </a:lnTo>
                </a:path>
              </a:pathLst>
            </a:custGeom>
            <a:noFill/>
            <a:ln w="28163" cap="rnd">
              <a:solidFill>
                <a:srgbClr val="FFFFFF"/>
              </a:solidFill>
              <a:round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5" name="BrandDeck Diagram Text 3"/>
            <p:cNvSpPr txBox="1"/>
            <p:nvPr/>
          </p:nvSpPr>
          <p:spPr>
            <a:xfrm>
              <a:off x="8212933" y="3580079"/>
              <a:ext cx="3166634" cy="2510968"/>
            </a:xfrm>
            <a:prstGeom prst="rect">
              <a:avLst/>
            </a:prstGeom>
            <a:noFill/>
          </p:spPr>
          <p:txBody>
            <a:bodyPr wrap="square" anchor="t" lIns="36576" tIns="18288" rIns="36576" bIns="18288">
              <a:noAutofit/>
            </a:bodyPr>
            <a:lstStyle/>
            <a:p>
              <a:pPr algn="l">
                <a:lnSpc>
                  <a:spcPct val="110000"/>
                </a:lnSpc>
              </a:pPr>
              <a:r>
                <a:rPr sz="1800" b="1">
                  <a:solidFill>
                    <a:srgbClr val="000000"/>
                  </a:solidFill>
                  <a:latin typeface="Play"/>
                </a:rPr>
                <a:t>Срок пилота:</a:t>
              </a:r>
              <a:r>
                <a:rPr sz="1800" b="0">
                  <a:solidFill>
                    <a:srgbClr val="000000"/>
                  </a:solidFill>
                  <a:latin typeface="Play"/>
                </a:rPr>
                <a:t> 6 недель.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randDeck Text 2"/>
          <p:cNvSpPr>
            <a:spLocks noGrp="1"/>
          </p:cNvSpPr>
          <p:nvPr>
            <p:ph type="body" idx="1"/>
          </p:nvPr>
        </p:nvSpPr>
        <p:spPr/>
        <p:txBody>
          <a:bodyPr wrap="square" anchor="t">
            <a:norm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Просим одобрить запуск пилота с командой из 3 человек.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Пилот продлится 6 недель в двух подразделениях.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40"/>
              </a:spcAft>
            </a:pPr>
            <a:r>
              <a:rPr sz="1600"/>
              <a:t>Измерим время поиска ответа и долю закрытых обращений.</a:t>
            </a:r>
          </a:p>
        </p:txBody>
      </p:sp>
      <p:sp>
        <p:nvSpPr>
          <p:cNvPr id="3" name="BrandDeck Text 3"/>
          <p:cNvSpPr>
            <a:spLocks noGrp="1"/>
          </p:cNvSpPr>
          <p:nvPr>
            <p:ph type="title"/>
          </p:nvPr>
        </p:nvSpPr>
        <p:spPr>
          <a:xfrm>
            <a:off x="677334" y="692150"/>
            <a:ext cx="10855854" cy="644241"/>
          </a:xfrm>
        </p:spPr>
        <p:txBody>
          <a:bodyPr wrap="square" anchor="t">
            <a:norm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59"/>
              </a:spcAft>
            </a:pPr>
            <a:r>
              <a:rPr sz="2400">
                <a:solidFill>
                  <a:srgbClr val="000000"/>
                </a:solidFill>
              </a:rPr>
              <a:t>Просим одобрить пилот и выделить команду из 3 человек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ИИ-помощник во внутреннем портале</dc:title>
  <cp:lastModifiedBy/>
  <cp:revision>1</cp:revision>
  <dcterms:modified xsi:type="dcterms:W3CDTF">2026-09-26T20:32:31Z</dcterms:modified>
  <dc:subject>Template-adaptive presentation</dc:subject>
  <cp:keywords>BrandDeck, template-adaptive, presentation</cp:keywords>
  <dc:creator/>
  <dc:description/>
</cp:coreProperties>
</file>