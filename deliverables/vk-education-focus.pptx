
<file path=[Content_Types].xml><?xml version="1.0" encoding="utf-8"?>
<Types xmlns="http://schemas.openxmlformats.org/package/2006/content-types">
  <Default Extension="jpeg" ContentType="image/jpeg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1.xml"/><Relationship Id="rId65" Type="http://schemas.openxmlformats.org/officeDocument/2006/relationships/slide" Target="slides/slide2.xml"/><Relationship Id="rId66" Type="http://schemas.openxmlformats.org/officeDocument/2006/relationships/slide" Target="slides/slide3.xml"/><Relationship Id="rId67" Type="http://schemas.openxmlformats.org/officeDocument/2006/relationships/slide" Target="slides/slide4.xml"/><Relationship Id="rId68" Type="http://schemas.openxmlformats.org/officeDocument/2006/relationships/slide" Target="slides/slide5.xml"/><Relationship Id="rId69" Type="http://schemas.openxmlformats.org/officeDocument/2006/relationships/slide" Target="slides/slide6.xml"/><Relationship Id="rId70" Type="http://schemas.openxmlformats.org/officeDocument/2006/relationships/slide" Target="slides/slide7.xml"/><Relationship Id="rId71" Type="http://schemas.openxmlformats.org/officeDocument/2006/relationships/slide" Target="slides/slide8.xml"/><Relationship Id="rId72" Type="http://schemas.openxmlformats.org/officeDocument/2006/relationships/slide" Target="slides/slide9.xml"/><Relationship Id="rId73" Type="http://schemas.openxmlformats.org/officeDocument/2006/relationships/slide" Target="slides/slide10.xml"/><Relationship Id="rId74" Type="http://schemas.openxmlformats.org/officeDocument/2006/relationships/slide" Target="slides/slide11.xml"/><Relationship Id="rId75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Этот слайд представляет инициативу по внедрению ИИ-помощника для автоматизации ответов сотрудникам и сокращения времени поиска инструкций.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Сейчас поиск информации занимает до 30 минут, что существенно замедляет работу сотрудников.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Значительная часть обращений дублирует вопросы по инструкциям, создавая лишнюю нагрузку на поддержку.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Текущая ситуация приводит к значительным потерям времени сотрудников и избыточной нагрузке на службу поддержки, что негативно сказывается на бизнес-процессах.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ИИ-помощник автоматически отвечает сотрудникам на вопросы по регламентам и предоставляет ссылку на исходный документ.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используем модель с открытыми весами, которая работает исключительно внутри контура компании, гарантируя, что документы не покидают внутреннюю инфраструктуру.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 отсутствии готового ответа в базе знаний система автоматически перенаправляет вопрос эксперту, передавая ему весь контекст диалога.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Пилотный запуск охватывает два подразделения с общим количеством 150 сотрудников для проверки гипотезы.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Срок проведения пилота составляет шесть недель, что позволит получить достаточную статистическую выборку для оценки эффективности.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Успех пилота будет измеряться временем поиска ответа и долей обращений, закрытых без участия специалиста.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Для реализации проекта необходимо выделить команду из трех человек, которые займутся настройкой и мониторингом пилота.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Для реализации проекта требуется одобрение пилота и выделение команды из трех человек.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2" Type="http://schemas.openxmlformats.org/officeDocument/2006/relationships/slideLayout" Target="../slideLayouts/slideLayout12.xml"/><Relationship Id="rId24" Type="http://schemas.openxmlformats.org/officeDocument/2006/relationships/slideLayout" Target="../slideLayouts/slideLayout24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52" r:id="rId5"/>
    <p:sldLayoutId id="2147483653" r:id="rId6"/>
    <p:sldLayoutId id="2147483659" r:id="rId12"/>
    <p:sldLayoutId id="2147483671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6.png"/><Relationship Id="rId3" Type="http://schemas.openxmlformats.org/officeDocument/2006/relationships/image" Target="../media/image258.jpeg"/><Relationship Id="rId4" Type="http://schemas.openxmlformats.org/officeDocument/2006/relationships/notesSlide" Target="../notesSlides/notesSlide5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9.jpeg"/><Relationship Id="rId3" Type="http://schemas.openxmlformats.org/officeDocument/2006/relationships/notesSlide" Target="../notesSlides/notesSlide6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BrandDeck Text 236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sz="1600">
                <a:solidFill>
                  <a:srgbClr val="000000"/>
                </a:solidFill>
              </a:rPr>
              <a:t>Внедрение ИИ-помощника для автоматизации ответов сотрудникам</a:t>
            </a:r>
            <a:endParaRPr/>
          </a:p>
        </p:txBody>
      </p:sp>
      <p:sp>
        <p:nvSpPr>
          <p:cNvPr id="237" name="BrandDeck Text 237"/>
          <p:cNvSpPr txBox="1"/>
          <p:nvPr>
            <p:ph type="title"/>
          </p:nvPr>
        </p:nvSpPr>
        <p:spPr>
          <a:xfrm>
            <a:off x="622261" y="2921912"/>
            <a:ext cx="5273736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8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3200">
                <a:solidFill>
                  <a:srgbClr val="000000"/>
                </a:solidFill>
              </a:rPr>
              <a:t>Сокращение времени поиска инструкций до 30 минут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60" name="BrandDeck Text 106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2400">
                <a:solidFill>
                  <a:srgbClr val="000000"/>
                </a:solidFill>
              </a:rPr>
              <a:t>Сотрудники теряют до 30 минут на поиск инструкций</a:t>
            </a:r>
            <a:endParaRPr/>
          </a:p>
        </p:txBody>
      </p:sp>
      <p:pic>
        <p:nvPicPr>
          <p:cNvPr id="1072" name="BrandDeck Image" descr="сотрудник специалист поддержки"/>
          <p:cNvPicPr>
            <a:picLocks noChangeAspect="1"/>
          </p:cNvPicPr>
          <p:nvPr/>
        </p:nvPicPr>
        <p:blipFill>
          <a:blip r:embed="rId3"/>
          <a:srcRect l="5955" r="5955"/>
          <a:stretch>
            <a:fillRect/>
          </a:stretch>
        </p:blipFill>
        <p:spPr>
          <a:xfrm>
            <a:off x="671514" y="1773238"/>
            <a:ext cx="6929992" cy="4427537"/>
          </a:xfrm>
          <a:prstGeom prst="rect">
            <a:avLst/>
          </a:prstGeom>
        </p:spPr>
      </p:pic>
      <p:sp>
        <p:nvSpPr>
          <p:cNvPr id="1069" name="Google Shape;1069;p83"/>
          <p:cNvSpPr txBox="1"/>
          <p:nvPr/>
        </p:nvSpPr>
        <p:spPr>
          <a:xfrm>
            <a:off x="8355728" y="627078"/>
            <a:ext cx="3409196" cy="3951457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70" name="Google Shape;1070;p83"/>
          <p:cNvCxnSpPr/>
          <p:nvPr/>
        </p:nvCxnSpPr>
        <p:spPr>
          <a:xfrm flipH="1">
            <a:off x="8111315" y="692150"/>
            <a:ext cx="9261" cy="5508625"/>
          </a:xfrm>
          <a:prstGeom prst="straightConnector1">
            <a:avLst/>
          </a:prstGeom>
          <a:noFill/>
          <a:ln cap="flat" cmpd="sng" w="9525">
            <a:solidFill>
              <a:srgbClr val="F4F8F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71" name="BrandDeck Body"/>
          <p:cNvSpPr txBox="1"/>
          <p:nvPr/>
        </p:nvSpPr>
        <p:spPr>
          <a:xfrm>
            <a:off x="8355728" y="1473551"/>
            <a:ext cx="3409196" cy="31049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400">
                <a:solidFill>
                  <a:srgbClr val="000000"/>
                </a:solidFill>
                <a:latin typeface="Play"/>
              </a:rPr>
              <a:t>• Сотрудники тратят до 30 минут на поиск нужной инструкции.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400">
                <a:solidFill>
                  <a:srgbClr val="000000"/>
                </a:solidFill>
                <a:latin typeface="Play"/>
              </a:rPr>
              <a:t>• Ручной поиск регламентов снижает общую эффективность работы.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400">
                <a:solidFill>
                  <a:srgbClr val="000000"/>
                </a:solidFill>
                <a:latin typeface="Play"/>
              </a:rPr>
              <a:t>• Длительное время поиска отвлекает от выполнения основных задач.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>
                <a:solidFill>
                  <a:srgbClr val="000000"/>
                </a:solidFill>
              </a:rPr>
              <a:t>Треть обращений в поддержку — повторяющиеся вопросы</a:t>
            </a:r>
          </a:p>
        </p:txBody>
      </p:sp>
      <p:grpSp>
        <p:nvGrpSpPr>
          <p:cNvPr id="2" name="BrandDeck Diagram icon_grid" descr="icon_grid: Треть обращений в поддержку — повторяющиеся вопросы.; Запросы касаются регламентов и инструкций.; Нагрузка на поддержку растет из-за дублирования."/>
          <p:cNvGrpSpPr/>
          <p:nvPr/>
        </p:nvGrpSpPr>
        <p:grpSpPr>
          <a:xfrm>
            <a:off x="658813" y="2513725"/>
            <a:ext cx="10874374" cy="2499296"/>
            <a:chOff x="658813" y="2513725"/>
            <a:chExt cx="10874374" cy="2499296"/>
          </a:xfrm>
        </p:grpSpPr>
        <p:sp>
          <p:nvSpPr>
            <p:cNvPr id="4" name="BrandDeck Diagram Card 1"/>
            <p:cNvSpPr/>
            <p:nvPr/>
          </p:nvSpPr>
          <p:spPr>
            <a:xfrm>
              <a:off x="658813" y="2513725"/>
              <a:ext cx="5328443" cy="1140904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878269" y="2788045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headset"/>
            <p:cNvSpPr/>
            <p:nvPr/>
          </p:nvSpPr>
          <p:spPr>
            <a:xfrm>
              <a:off x="1008567" y="291834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1602207" y="2645399"/>
              <a:ext cx="4165593" cy="87755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000000"/>
                  </a:solidFill>
                  <a:latin typeface="Play"/>
                </a:rPr>
                <a:t>Треть обращений в поддержку —</a:t>
              </a:r>
              <a:r>
                <a:rPr sz="1800" b="0">
                  <a:solidFill>
                    <a:srgbClr val="000000"/>
                  </a:solidFill>
                  <a:latin typeface="Play"/>
                </a:rPr>
                <a:t> повторяющиеся вопросы.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204744" y="2513725"/>
              <a:ext cx="5328443" cy="1140904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424200" y="2788045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file-text"/>
            <p:cNvSpPr/>
            <p:nvPr/>
          </p:nvSpPr>
          <p:spPr>
            <a:xfrm>
              <a:off x="6554498" y="291834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7148138" y="2645399"/>
              <a:ext cx="4165593" cy="87755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Запросы касаются регламентов и инструкций.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658813" y="3872117"/>
              <a:ext cx="5328443" cy="1140904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878269" y="4146437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gauge"/>
            <p:cNvSpPr/>
            <p:nvPr/>
          </p:nvSpPr>
          <p:spPr>
            <a:xfrm>
              <a:off x="1008567" y="4276736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14000"/>
                  </a:moveTo>
                  <a:lnTo>
                    <a:pt x="16000" y="10000"/>
                  </a:lnTo>
                </a:path>
                <a:path w="24000" h="24000" fill="none">
                  <a:moveTo>
                    <a:pt x="3340" y="19000"/>
                  </a:moveTo>
                  <a:cubicBezTo>
                    <a:pt x="913" y="14797"/>
                    <a:pt x="1854" y="9459"/>
                    <a:pt x="5572" y="6339"/>
                  </a:cubicBezTo>
                  <a:cubicBezTo>
                    <a:pt x="9290" y="3220"/>
                    <a:pt x="14710" y="3220"/>
                    <a:pt x="18428" y="6339"/>
                  </a:cubicBezTo>
                  <a:cubicBezTo>
                    <a:pt x="22146" y="9459"/>
                    <a:pt x="23087" y="14797"/>
                    <a:pt x="20660" y="19000"/>
                  </a:cubicBez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1602207" y="4003791"/>
              <a:ext cx="4165593" cy="87755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Нагрузка на поддержку растет из-за дублирования.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>
                <a:solidFill>
                  <a:srgbClr val="000000"/>
                </a:solidFill>
              </a:rPr>
              <a:t>Потеря времени и нагрузка на поддержку мешают бизнесу</a:t>
            </a:r>
          </a:p>
        </p:txBody>
      </p:sp>
      <p:grpSp>
        <p:nvGrpSpPr>
          <p:cNvPr id="2" name="BrandDeck Diagram icon_grid" descr="icon_grid: До 30 минут тратится на поиск инструкции вместо работы.; Треть обращений — повторяющиеся вопросы, нагружающие поддержку.; Ручной поиск снижает общую эффективность внутренних процессов."/>
          <p:cNvGrpSpPr/>
          <p:nvPr/>
        </p:nvGrpSpPr>
        <p:grpSpPr>
          <a:xfrm>
            <a:off x="658813" y="2405806"/>
            <a:ext cx="10874374" cy="2783294"/>
            <a:chOff x="658813" y="2405806"/>
            <a:chExt cx="10874374" cy="2783294"/>
          </a:xfrm>
        </p:grpSpPr>
        <p:sp>
          <p:nvSpPr>
            <p:cNvPr id="4" name="BrandDeck Diagram Card 1"/>
            <p:cNvSpPr/>
            <p:nvPr/>
          </p:nvSpPr>
          <p:spPr>
            <a:xfrm>
              <a:off x="658813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878269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clock"/>
            <p:cNvSpPr/>
            <p:nvPr/>
          </p:nvSpPr>
          <p:spPr>
            <a:xfrm>
              <a:off x="1008567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2000" y="6000"/>
                  </a:moveTo>
                  <a:lnTo>
                    <a:pt x="12000" y="12000"/>
                  </a:lnTo>
                  <a:lnTo>
                    <a:pt x="16000" y="14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1602207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До 30 минут тратится на поиск инструкции вместо работы.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204744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424200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headset"/>
            <p:cNvSpPr/>
            <p:nvPr/>
          </p:nvSpPr>
          <p:spPr>
            <a:xfrm>
              <a:off x="6554498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7148138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000000"/>
                  </a:solidFill>
                  <a:latin typeface="Play"/>
                </a:rPr>
                <a:t>Треть обращений —</a:t>
              </a:r>
              <a:r>
                <a:rPr sz="1800" b="0">
                  <a:solidFill>
                    <a:srgbClr val="000000"/>
                  </a:solidFill>
                  <a:latin typeface="Play"/>
                </a:rPr>
                <a:t> повторяющиеся вопросы, нагружающие поддержку.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658813" y="3906197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878269" y="425151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gauge"/>
            <p:cNvSpPr/>
            <p:nvPr/>
          </p:nvSpPr>
          <p:spPr>
            <a:xfrm>
              <a:off x="1008567" y="4381815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14000"/>
                  </a:moveTo>
                  <a:lnTo>
                    <a:pt x="16000" y="10000"/>
                  </a:lnTo>
                </a:path>
                <a:path w="24000" h="24000" fill="none">
                  <a:moveTo>
                    <a:pt x="3340" y="19000"/>
                  </a:moveTo>
                  <a:cubicBezTo>
                    <a:pt x="913" y="14797"/>
                    <a:pt x="1854" y="9459"/>
                    <a:pt x="5572" y="6339"/>
                  </a:cubicBezTo>
                  <a:cubicBezTo>
                    <a:pt x="9290" y="3220"/>
                    <a:pt x="14710" y="3220"/>
                    <a:pt x="18428" y="6339"/>
                  </a:cubicBezTo>
                  <a:cubicBezTo>
                    <a:pt x="22146" y="9459"/>
                    <a:pt x="23087" y="14797"/>
                    <a:pt x="20660" y="19000"/>
                  </a:cubicBez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1602207" y="4037871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Ручной поиск снижает общую эффективность внутренних процессов.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>
                <a:solidFill>
                  <a:srgbClr val="000000"/>
                </a:solidFill>
              </a:rPr>
              <a:t>ИИ-помощник отвечает на вопросы по регламентам и дает ссылку на документ</a:t>
            </a:r>
          </a:p>
        </p:txBody>
      </p:sp>
      <p:grpSp>
        <p:nvGrpSpPr>
          <p:cNvPr id="2" name="BrandDeck Diagram icon_grid" descr="icon_grid: Система отвечает на вопросы по регламентам.; В ответе всегда указывается ссылка на документ.; Ответ формируется автоматически без участия людей."/>
          <p:cNvGrpSpPr/>
          <p:nvPr/>
        </p:nvGrpSpPr>
        <p:grpSpPr>
          <a:xfrm>
            <a:off x="658813" y="2405806"/>
            <a:ext cx="10874374" cy="2783294"/>
            <a:chOff x="658813" y="2405806"/>
            <a:chExt cx="10874374" cy="2783294"/>
          </a:xfrm>
        </p:grpSpPr>
        <p:sp>
          <p:nvSpPr>
            <p:cNvPr id="4" name="BrandDeck Diagram Card 1"/>
            <p:cNvSpPr/>
            <p:nvPr/>
          </p:nvSpPr>
          <p:spPr>
            <a:xfrm>
              <a:off x="658813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878269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circle-help"/>
            <p:cNvSpPr/>
            <p:nvPr/>
          </p:nvSpPr>
          <p:spPr>
            <a:xfrm>
              <a:off x="1008567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1602207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Система отвечает на вопросы по регламентам.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204744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424200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file-text"/>
            <p:cNvSpPr/>
            <p:nvPr/>
          </p:nvSpPr>
          <p:spPr>
            <a:xfrm>
              <a:off x="6554498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7148138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В ответе всегда указывается ссылка на документ.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658813" y="3906197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878269" y="425151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users"/>
            <p:cNvSpPr/>
            <p:nvPr/>
          </p:nvSpPr>
          <p:spPr>
            <a:xfrm>
              <a:off x="1008567" y="4381815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1602207" y="4037871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Ответ формируется автоматически без участия людей.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658813" y="692150"/>
            <a:ext cx="5254307" cy="1380285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>
                <a:solidFill>
                  <a:srgbClr val="000000"/>
                </a:solidFill>
              </a:rPr>
              <a:t>Модель с открытыми весами работает внутри контура компании</a:t>
            </a:r>
          </a:p>
        </p:txBody>
      </p:sp>
      <p:sp>
        <p:nvSpPr>
          <p:cNvPr id="3" name="BrandDeck Text 3"/>
          <p:cNvSpPr>
            <a:spLocks noGrp="1"/>
          </p:cNvSpPr>
          <p:nvPr>
            <p:ph type="body" idx="1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>
                <a:solidFill>
                  <a:srgbClr val="000000"/>
                </a:solidFill>
              </a:rPr>
              <a:t>Модель с открытыми весами работает внутри контура компании.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>
                <a:solidFill>
                  <a:srgbClr val="000000"/>
                </a:solidFill>
              </a:rPr>
              <a:t>Документы не покидают внутреннюю инфраструктуру.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>
                <a:solidFill>
                  <a:srgbClr val="000000"/>
                </a:solidFill>
              </a:rPr>
              <a:t>Обработка запросов происходит локально без передачи данных наружу.</a:t>
            </a:r>
          </a:p>
        </p:txBody>
      </p:sp>
      <p:pic>
        <p:nvPicPr>
          <p:cNvPr id="4" name="BrandDeck Image" descr="внутренний контур серверная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24987" r="24987"/>
          <a:stretch>
            <a:fillRect/>
          </a:stretch>
        </p:blipFill>
        <p:spPr/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4"/>
              </a:spcAft>
            </a:pPr>
            <a:r>
              <a:rPr sz="1700">
                <a:solidFill>
                  <a:srgbClr val="000000"/>
                </a:solidFill>
              </a:rPr>
              <a:t>Отсутствие подтвержденного ответа перенаправляет вопрос специалисту с контекстом</a:t>
            </a:r>
          </a:p>
        </p:txBody>
      </p:sp>
      <p:grpSp>
        <p:nvGrpSpPr>
          <p:cNvPr id="2" name="BrandDeck Diagram icon_grid" descr="icon_grid: Вопросы без ответа в базе передаются специалисту.; Система отправляет контекст запроса вместе с эскаляцией.; Специалист получает полную информацию для решения задачи."/>
          <p:cNvGrpSpPr/>
          <p:nvPr/>
        </p:nvGrpSpPr>
        <p:grpSpPr>
          <a:xfrm>
            <a:off x="658813" y="2405806"/>
            <a:ext cx="10874374" cy="2783294"/>
            <a:chOff x="658813" y="2405806"/>
            <a:chExt cx="10874374" cy="2783294"/>
          </a:xfrm>
        </p:grpSpPr>
        <p:sp>
          <p:nvSpPr>
            <p:cNvPr id="4" name="BrandDeck Diagram Card 1"/>
            <p:cNvSpPr/>
            <p:nvPr/>
          </p:nvSpPr>
          <p:spPr>
            <a:xfrm>
              <a:off x="658813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878269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circle-help"/>
            <p:cNvSpPr/>
            <p:nvPr/>
          </p:nvSpPr>
          <p:spPr>
            <a:xfrm>
              <a:off x="1008567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1602207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Вопросы без ответа в базе передаются специалисту.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204744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424200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send"/>
            <p:cNvSpPr/>
            <p:nvPr/>
          </p:nvSpPr>
          <p:spPr>
            <a:xfrm>
              <a:off x="6554498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4536" y="21686"/>
                  </a:moveTo>
                  <a:cubicBezTo>
                    <a:pt x="14614" y="21880"/>
                    <a:pt x="14804" y="22005"/>
                    <a:pt x="15013" y="22000"/>
                  </a:cubicBezTo>
                  <a:cubicBezTo>
                    <a:pt x="15222" y="21994"/>
                    <a:pt x="15405" y="21860"/>
                    <a:pt x="15473" y="21662"/>
                  </a:cubicBezTo>
                  <a:lnTo>
                    <a:pt x="21973" y="2662"/>
                  </a:lnTo>
                  <a:cubicBezTo>
                    <a:pt x="22038" y="2481"/>
                    <a:pt x="21993" y="2279"/>
                    <a:pt x="21857" y="2143"/>
                  </a:cubicBezTo>
                  <a:cubicBezTo>
                    <a:pt x="21721" y="2007"/>
                    <a:pt x="21519" y="1962"/>
                    <a:pt x="21338" y="2027"/>
                  </a:cubicBezTo>
                  <a:lnTo>
                    <a:pt x="2338" y="8527"/>
                  </a:lnTo>
                  <a:cubicBezTo>
                    <a:pt x="2140" y="8595"/>
                    <a:pt x="2006" y="8778"/>
                    <a:pt x="2000" y="8987"/>
                  </a:cubicBezTo>
                  <a:cubicBezTo>
                    <a:pt x="1995" y="9196"/>
                    <a:pt x="2120" y="9386"/>
                    <a:pt x="2314" y="9464"/>
                  </a:cubicBezTo>
                  <a:lnTo>
                    <a:pt x="10244" y="12644"/>
                  </a:lnTo>
                  <a:cubicBezTo>
                    <a:pt x="10751" y="12847"/>
                    <a:pt x="11152" y="13248"/>
                    <a:pt x="11356" y="13754"/>
                  </a:cubicBezTo>
                  <a:close/>
                </a:path>
                <a:path w="24000" h="24000" fill="none">
                  <a:moveTo>
                    <a:pt x="21854" y="2147"/>
                  </a:moveTo>
                  <a:lnTo>
                    <a:pt x="10914" y="13086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7148138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Система отправляет контекст запроса вместе с эскаляцией.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658813" y="3906197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878269" y="425151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user"/>
            <p:cNvSpPr/>
            <p:nvPr/>
          </p:nvSpPr>
          <p:spPr>
            <a:xfrm>
              <a:off x="1008567" y="4381815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1602207" y="4037871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Специалист получает полную информацию для решения задачи.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>
                <a:solidFill>
                  <a:srgbClr val="000000"/>
                </a:solidFill>
              </a:rPr>
              <a:t>Пилот охватывает 2 подразделения и 150 сотрудников</a:t>
            </a:r>
          </a:p>
        </p:txBody>
      </p:sp>
      <p:grpSp>
        <p:nvGrpSpPr>
          <p:cNvPr id="2" name="BrandDeck Diagram icon_grid" descr="icon_grid: Пилот запускается в двух подразделениях.; В проекте участвуют 150 сотрудников.; Охват ограничен выбранными группами для теста."/>
          <p:cNvGrpSpPr/>
          <p:nvPr/>
        </p:nvGrpSpPr>
        <p:grpSpPr>
          <a:xfrm>
            <a:off x="658813" y="2663230"/>
            <a:ext cx="10874375" cy="2105863"/>
            <a:chOff x="658813" y="2663230"/>
            <a:chExt cx="10874375" cy="2105863"/>
          </a:xfrm>
        </p:grpSpPr>
        <p:sp>
          <p:nvSpPr>
            <p:cNvPr id="4" name="BrandDeck Diagram Card 1"/>
            <p:cNvSpPr/>
            <p:nvPr/>
          </p:nvSpPr>
          <p:spPr>
            <a:xfrm>
              <a:off x="658813" y="2663230"/>
              <a:ext cx="3479800" cy="210586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878269" y="2882686"/>
              <a:ext cx="603504" cy="60350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rocket"/>
            <p:cNvSpPr/>
            <p:nvPr/>
          </p:nvSpPr>
          <p:spPr>
            <a:xfrm>
              <a:off x="1011039" y="3015457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812432" y="3639809"/>
              <a:ext cx="3172561" cy="1019555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Пилот запускается в двух подразделениях.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4356100" y="2663230"/>
              <a:ext cx="3479800" cy="210586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4575556" y="2882686"/>
              <a:ext cx="603504" cy="60350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users"/>
            <p:cNvSpPr/>
            <p:nvPr/>
          </p:nvSpPr>
          <p:spPr>
            <a:xfrm>
              <a:off x="4708327" y="3015457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4509719" y="3639809"/>
              <a:ext cx="3172561" cy="1019555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В проекте участвуют 150 сотрудников.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8053388" y="2663230"/>
              <a:ext cx="3479800" cy="210586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8272844" y="2882686"/>
              <a:ext cx="603504" cy="60350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circle-dot"/>
            <p:cNvSpPr/>
            <p:nvPr/>
          </p:nvSpPr>
          <p:spPr>
            <a:xfrm>
              <a:off x="8405614" y="3015457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3000" y="12000"/>
                  </a:moveTo>
                  <a:cubicBezTo>
                    <a:pt x="13000" y="12552"/>
                    <a:pt x="12552" y="13000"/>
                    <a:pt x="12000" y="13000"/>
                  </a:cubicBezTo>
                  <a:cubicBezTo>
                    <a:pt x="11448" y="13000"/>
                    <a:pt x="11000" y="12552"/>
                    <a:pt x="11000" y="12000"/>
                  </a:cubicBezTo>
                  <a:cubicBezTo>
                    <a:pt x="11000" y="11448"/>
                    <a:pt x="11448" y="11000"/>
                    <a:pt x="12000" y="11000"/>
                  </a:cubicBezTo>
                  <a:cubicBezTo>
                    <a:pt x="12552" y="11000"/>
                    <a:pt x="13000" y="11448"/>
                    <a:pt x="13000" y="12000"/>
                  </a:cubicBezTo>
                  <a:close/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8207007" y="3639809"/>
              <a:ext cx="3172561" cy="1019555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Охват ограничен выбранными группами для теста.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>
                <a:solidFill>
                  <a:srgbClr val="000000"/>
                </a:solidFill>
              </a:rPr>
              <a:t>Длительность пилотного проекта составляет 6 недель</a:t>
            </a:r>
          </a:p>
        </p:txBody>
      </p:sp>
      <p:grpSp>
        <p:nvGrpSpPr>
          <p:cNvPr id="2" name="BrandDeck Diagram icon_grid" descr="icon_grid: Пилотный эксперимент длится 6 недель.; В этот период тестируется работа ИИ-помощника.; За это время оценивается эффективность решения."/>
          <p:cNvGrpSpPr/>
          <p:nvPr/>
        </p:nvGrpSpPr>
        <p:grpSpPr>
          <a:xfrm>
            <a:off x="658813" y="2663230"/>
            <a:ext cx="10874375" cy="2105863"/>
            <a:chOff x="658813" y="2663230"/>
            <a:chExt cx="10874375" cy="2105863"/>
          </a:xfrm>
        </p:grpSpPr>
        <p:sp>
          <p:nvSpPr>
            <p:cNvPr id="4" name="BrandDeck Diagram Card 1"/>
            <p:cNvSpPr/>
            <p:nvPr/>
          </p:nvSpPr>
          <p:spPr>
            <a:xfrm>
              <a:off x="658813" y="2663230"/>
              <a:ext cx="3479800" cy="210586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878269" y="2882686"/>
              <a:ext cx="603504" cy="60350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rocket"/>
            <p:cNvSpPr/>
            <p:nvPr/>
          </p:nvSpPr>
          <p:spPr>
            <a:xfrm>
              <a:off x="1011039" y="3015457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812432" y="3639809"/>
              <a:ext cx="3172561" cy="1019555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Пилотный эксперимент длится 6 недель.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4356100" y="2663230"/>
              <a:ext cx="3479800" cy="210586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4575556" y="2882686"/>
              <a:ext cx="603504" cy="60350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circle-dot"/>
            <p:cNvSpPr/>
            <p:nvPr/>
          </p:nvSpPr>
          <p:spPr>
            <a:xfrm>
              <a:off x="4708327" y="3015457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3000" y="12000"/>
                  </a:moveTo>
                  <a:cubicBezTo>
                    <a:pt x="13000" y="12552"/>
                    <a:pt x="12552" y="13000"/>
                    <a:pt x="12000" y="13000"/>
                  </a:cubicBezTo>
                  <a:cubicBezTo>
                    <a:pt x="11448" y="13000"/>
                    <a:pt x="11000" y="12552"/>
                    <a:pt x="11000" y="12000"/>
                  </a:cubicBezTo>
                  <a:cubicBezTo>
                    <a:pt x="11000" y="11448"/>
                    <a:pt x="11448" y="11000"/>
                    <a:pt x="12000" y="11000"/>
                  </a:cubicBezTo>
                  <a:cubicBezTo>
                    <a:pt x="12552" y="11000"/>
                    <a:pt x="13000" y="11448"/>
                    <a:pt x="13000" y="12000"/>
                  </a:cubicBezTo>
                  <a:close/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4509719" y="3639809"/>
              <a:ext cx="3172561" cy="1019555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В этот период тестируется работа ИИ-помощника.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8053388" y="2663230"/>
              <a:ext cx="3479800" cy="210586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8272844" y="2882686"/>
              <a:ext cx="603504" cy="60350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clock"/>
            <p:cNvSpPr/>
            <p:nvPr/>
          </p:nvSpPr>
          <p:spPr>
            <a:xfrm>
              <a:off x="8405614" y="3015457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2000" y="6000"/>
                  </a:moveTo>
                  <a:lnTo>
                    <a:pt x="12000" y="12000"/>
                  </a:lnTo>
                  <a:lnTo>
                    <a:pt x="16000" y="14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8207007" y="3639809"/>
              <a:ext cx="3172561" cy="1019555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За это время оценивается эффективность решения.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4"/>
              </a:spcAft>
            </a:pPr>
            <a:r>
              <a:rPr sz="1700">
                <a:solidFill>
                  <a:srgbClr val="000000"/>
                </a:solidFill>
              </a:rPr>
              <a:t>Успех измеряется временем поиска ответа и долей закрытых обращений без специалиста</a:t>
            </a:r>
          </a:p>
        </p:txBody>
      </p:sp>
      <p:grpSp>
        <p:nvGrpSpPr>
          <p:cNvPr id="2" name="BrandDeck Diagram icon_grid" descr="icon_grid: Время поиска ответа и доля закрытых обращений без специалиста.; Эти метрики подтвердят эффективность пилота за 6 недель.; Результаты покажут сокращение нагрузки на поддержку."/>
          <p:cNvGrpSpPr/>
          <p:nvPr/>
        </p:nvGrpSpPr>
        <p:grpSpPr>
          <a:xfrm>
            <a:off x="658813" y="2405806"/>
            <a:ext cx="10874374" cy="2783294"/>
            <a:chOff x="658813" y="2405806"/>
            <a:chExt cx="10874374" cy="2783294"/>
          </a:xfrm>
        </p:grpSpPr>
        <p:sp>
          <p:nvSpPr>
            <p:cNvPr id="4" name="BrandDeck Diagram Card 1"/>
            <p:cNvSpPr/>
            <p:nvPr/>
          </p:nvSpPr>
          <p:spPr>
            <a:xfrm>
              <a:off x="658813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878269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clock"/>
            <p:cNvSpPr/>
            <p:nvPr/>
          </p:nvSpPr>
          <p:spPr>
            <a:xfrm>
              <a:off x="1008567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2000" y="6000"/>
                  </a:moveTo>
                  <a:lnTo>
                    <a:pt x="12000" y="12000"/>
                  </a:lnTo>
                  <a:lnTo>
                    <a:pt x="16000" y="14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1602207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Время поиска ответа и доля закрытых обращений без специалиста.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204744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424200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chart-column"/>
            <p:cNvSpPr/>
            <p:nvPr/>
          </p:nvSpPr>
          <p:spPr>
            <a:xfrm>
              <a:off x="6554498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7148138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Эти метрики подтвердят эффективность пилота за 6 недель.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658813" y="3906197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878269" y="425151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trophy"/>
            <p:cNvSpPr/>
            <p:nvPr/>
          </p:nvSpPr>
          <p:spPr>
            <a:xfrm>
              <a:off x="1008567" y="4381815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9000"/>
                  </a:moveTo>
                  <a:lnTo>
                    <a:pt x="4500" y="9000"/>
                  </a:lnTo>
                  <a:cubicBezTo>
                    <a:pt x="3119" y="9000"/>
                    <a:pt x="2000" y="7881"/>
                    <a:pt x="2000" y="6500"/>
                  </a:cubicBezTo>
                  <a:cubicBezTo>
                    <a:pt x="2000" y="5119"/>
                    <a:pt x="3119" y="4000"/>
                    <a:pt x="4500" y="4000"/>
                  </a:cubicBezTo>
                  <a:lnTo>
                    <a:pt x="6000" y="4000"/>
                  </a:lnTo>
                </a:path>
                <a:path w="24000" h="24000" fill="none">
                  <a:moveTo>
                    <a:pt x="18000" y="9000"/>
                  </a:moveTo>
                  <a:lnTo>
                    <a:pt x="19500" y="9000"/>
                  </a:lnTo>
                  <a:cubicBezTo>
                    <a:pt x="20881" y="9000"/>
                    <a:pt x="22000" y="7881"/>
                    <a:pt x="22000" y="6500"/>
                  </a:cubicBezTo>
                  <a:cubicBezTo>
                    <a:pt x="22000" y="5119"/>
                    <a:pt x="20881" y="4000"/>
                    <a:pt x="19500" y="4000"/>
                  </a:cubicBezTo>
                  <a:lnTo>
                    <a:pt x="18000" y="4000"/>
                  </a:lnTo>
                </a:path>
                <a:path w="24000" h="24000" fill="none">
                  <a:moveTo>
                    <a:pt x="4000" y="22000"/>
                  </a:moveTo>
                  <a:lnTo>
                    <a:pt x="20000" y="22000"/>
                  </a:lnTo>
                </a:path>
                <a:path w="24000" h="24000" fill="none">
                  <a:moveTo>
                    <a:pt x="10000" y="14660"/>
                  </a:moveTo>
                  <a:lnTo>
                    <a:pt x="10000" y="17000"/>
                  </a:lnTo>
                  <a:cubicBezTo>
                    <a:pt x="10000" y="17550"/>
                    <a:pt x="9530" y="17980"/>
                    <a:pt x="9030" y="18210"/>
                  </a:cubicBezTo>
                  <a:cubicBezTo>
                    <a:pt x="7850" y="18750"/>
                    <a:pt x="7000" y="20240"/>
                    <a:pt x="7000" y="22000"/>
                  </a:cubicBezTo>
                </a:path>
                <a:path w="24000" h="24000" fill="none">
                  <a:moveTo>
                    <a:pt x="14000" y="14660"/>
                  </a:moveTo>
                  <a:lnTo>
                    <a:pt x="14000" y="17000"/>
                  </a:lnTo>
                  <a:cubicBezTo>
                    <a:pt x="14000" y="17550"/>
                    <a:pt x="14470" y="17980"/>
                    <a:pt x="14970" y="18210"/>
                  </a:cubicBezTo>
                  <a:cubicBezTo>
                    <a:pt x="16150" y="18750"/>
                    <a:pt x="17000" y="20240"/>
                    <a:pt x="17000" y="22000"/>
                  </a:cubicBezTo>
                </a:path>
                <a:path w="24000" h="24000" fill="none">
                  <a:moveTo>
                    <a:pt x="18000" y="2000"/>
                  </a:moveTo>
                  <a:lnTo>
                    <a:pt x="6000" y="2000"/>
                  </a:lnTo>
                  <a:lnTo>
                    <a:pt x="6000" y="9000"/>
                  </a:lnTo>
                  <a:cubicBezTo>
                    <a:pt x="6000" y="12314"/>
                    <a:pt x="8686" y="15000"/>
                    <a:pt x="12000" y="15000"/>
                  </a:cubicBezTo>
                  <a:cubicBezTo>
                    <a:pt x="15314" y="15000"/>
                    <a:pt x="18000" y="12314"/>
                    <a:pt x="18000" y="9000"/>
                  </a:cubicBezTo>
                  <a:lnTo>
                    <a:pt x="18000" y="2000"/>
                  </a:lnTo>
                  <a:close/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1602207" y="4037871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Результаты покажут сокращение нагрузки на поддержку.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BrandDeck Text 54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2400">
                <a:solidFill>
                  <a:srgbClr val="000000"/>
                </a:solidFill>
              </a:rPr>
              <a:t>Для реализации требуется команда из 3 человек</a:t>
            </a:r>
            <a:endParaRPr/>
          </a:p>
        </p:txBody>
      </p:sp>
      <p:grpSp>
        <p:nvGrpSpPr>
          <p:cNvPr id="2" name="BrandDeck Diagram icon_grid" descr="icon_grid: Для запуска пилота требуется команда из 3 человек.; Специалисты займутся настройкой модели и интеграцией с порталом.; Команда будет отвечать на вопросы и анализировать результаты пилота."/>
          <p:cNvGrpSpPr/>
          <p:nvPr/>
        </p:nvGrpSpPr>
        <p:grpSpPr>
          <a:xfrm>
            <a:off x="677334" y="2912953"/>
            <a:ext cx="10855853" cy="2782924"/>
            <a:chOff x="677334" y="2912953"/>
            <a:chExt cx="10855853" cy="2782924"/>
          </a:xfrm>
        </p:grpSpPr>
        <p:sp>
          <p:nvSpPr>
            <p:cNvPr id="544" name="BrandDeck Diagram Card 1"/>
            <p:cNvSpPr/>
            <p:nvPr/>
          </p:nvSpPr>
          <p:spPr>
            <a:xfrm>
              <a:off x="677334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BrandDeck Diagram Icon 1 Badge"/>
            <p:cNvSpPr/>
            <p:nvPr/>
          </p:nvSpPr>
          <p:spPr>
            <a:xfrm>
              <a:off x="896790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BrandDeck Icon rocket"/>
            <p:cNvSpPr/>
            <p:nvPr/>
          </p:nvSpPr>
          <p:spPr>
            <a:xfrm>
              <a:off x="1000898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BrandDeck Diagram Text 1"/>
            <p:cNvSpPr txBox="1"/>
            <p:nvPr/>
          </p:nvSpPr>
          <p:spPr>
            <a:xfrm>
              <a:off x="1501685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Для запуска пилота требуется команда из 3 человек.</a:t>
              </a:r>
            </a:p>
          </p:txBody>
        </p:sp>
        <p:sp>
          <p:nvSpPr>
            <p:cNvPr id="548" name="BrandDeck Diagram Card 2"/>
            <p:cNvSpPr/>
            <p:nvPr/>
          </p:nvSpPr>
          <p:spPr>
            <a:xfrm>
              <a:off x="6213819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BrandDeck Diagram Icon 2 Badge"/>
            <p:cNvSpPr/>
            <p:nvPr/>
          </p:nvSpPr>
          <p:spPr>
            <a:xfrm>
              <a:off x="6433275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BrandDeck Icon user"/>
            <p:cNvSpPr/>
            <p:nvPr/>
          </p:nvSpPr>
          <p:spPr>
            <a:xfrm>
              <a:off x="6537384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BrandDeck Diagram Text 2"/>
            <p:cNvSpPr txBox="1"/>
            <p:nvPr/>
          </p:nvSpPr>
          <p:spPr>
            <a:xfrm>
              <a:off x="7038171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Специалисты займутся настройкой модели и интеграцией с порталом.</a:t>
              </a:r>
            </a:p>
          </p:txBody>
        </p:sp>
        <p:sp>
          <p:nvSpPr>
            <p:cNvPr id="552" name="BrandDeck Diagram Card 3"/>
            <p:cNvSpPr/>
            <p:nvPr/>
          </p:nvSpPr>
          <p:spPr>
            <a:xfrm>
              <a:off x="677334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BrandDeck Diagram Icon 3 Badge"/>
            <p:cNvSpPr/>
            <p:nvPr/>
          </p:nvSpPr>
          <p:spPr>
            <a:xfrm>
              <a:off x="896790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BrandDeck Icon users"/>
            <p:cNvSpPr/>
            <p:nvPr/>
          </p:nvSpPr>
          <p:spPr>
            <a:xfrm>
              <a:off x="1000898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BrandDeck Diagram Text 3"/>
            <p:cNvSpPr txBox="1"/>
            <p:nvPr/>
          </p:nvSpPr>
          <p:spPr>
            <a:xfrm>
              <a:off x="1501685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Команда будет отвечать на вопросы и анализировать результаты пилота.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body" idx="1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Одобрить запуск пилота для 2 подразделений и 150 сотрудников.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Выделить команду из 3 человек для реализации проекта.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Начать пилотный этап в течение 6 недель.</a:t>
            </a:r>
          </a:p>
        </p:txBody>
      </p:sp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>
                <a:solidFill>
                  <a:srgbClr val="000000"/>
                </a:solidFill>
              </a:rPr>
              <a:t>Одобрить пилот и выделить команду из 3 человек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ИИ-помощник во внутреннем портале</dc:title>
  <cp:lastModifiedBy/>
  <cp:revision>1</cp:revision>
  <dcterms:modified xsi:type="dcterms:W3CDTF">2026-09-26T07:59:06Z</dcterms:modified>
  <dc:subject>Template-adaptive presentation</dc:subject>
  <cp:keywords>BrandDeck, template-adaptive, presentation</cp:keywords>
  <dc:creator/>
  <dc:description/>
</cp:coreProperties>
</file>