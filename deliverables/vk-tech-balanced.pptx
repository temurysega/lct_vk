
<file path=[Content_Types].xml><?xml version="1.0" encoding="utf-8"?>
<Types xmlns="http://schemas.openxmlformats.org/package/2006/content-types">
  <Default Extension="jpeg" ContentType="image/jpeg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1.xml"/><Relationship Id="rId63" Type="http://schemas.openxmlformats.org/officeDocument/2006/relationships/slide" Target="slides/slide2.xml"/><Relationship Id="rId64" Type="http://schemas.openxmlformats.org/officeDocument/2006/relationships/slide" Target="slides/slide3.xml"/><Relationship Id="rId65" Type="http://schemas.openxmlformats.org/officeDocument/2006/relationships/slide" Target="slides/slide4.xml"/><Relationship Id="rId66" Type="http://schemas.openxmlformats.org/officeDocument/2006/relationships/slide" Target="slides/slide5.xml"/><Relationship Id="rId67" Type="http://schemas.openxmlformats.org/officeDocument/2006/relationships/slide" Target="slides/slide6.xml"/><Relationship Id="rId68" Type="http://schemas.openxmlformats.org/officeDocument/2006/relationships/slide" Target="slides/slide7.xml"/><Relationship Id="rId69" Type="http://schemas.openxmlformats.org/officeDocument/2006/relationships/slide" Target="slides/slide8.xml"/><Relationship Id="rId70" Type="http://schemas.openxmlformats.org/officeDocument/2006/relationships/slide" Target="slides/slide9.xml"/><Relationship Id="rId7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вводит тему проекта по внедрению ИИ-помощника во внутренний портал.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Треть обращений в поддержку приходится на повторяющиеся вопросы, что перегружает команду специалистов.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поиск инструкции занимает до 30 минут, что тормозит работу. Мы будем измерять сокращение этого времени в ходе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ИИ-помощник автоматически отвечает на вопросы сотрудников по регламентам и предоставляет ссылку на исходный документ.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Модель функционирует внутри корпоративного контура, обеспечивая локальность работы и не выводя документы наружу.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Если ИИ не находит ответ, вопрос автоматически передаётся специалисту вместе с контекстом.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рамках пилота модель будет тестироваться на двух подразделениях с общим числом сотрудников 150 человек.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оценки эффективности пилота мы будем отслеживать время поиска ответа и долю обращений, закрытых без участия специалиста.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 пройдет в течение 6 недель с командой из трех человек, оценивая время поиска и долю закрытых обращений.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реализации пилота необходимо одобрить команду из трёх человек и запустить проект на шесть недель.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8.xml"/><Relationship Id="rId8" Type="http://schemas.openxmlformats.org/officeDocument/2006/relationships/slideLayout" Target="../slideLayouts/slideLayout11.xml"/><Relationship Id="rId25" Type="http://schemas.openxmlformats.org/officeDocument/2006/relationships/slideLayout" Target="../slideLayouts/slideLayout28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5"/>
    <p:sldLayoutId id="2147483658" r:id="rId8"/>
    <p:sldLayoutId id="2147483675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3.png"/><Relationship Id="rId3" Type="http://schemas.openxmlformats.org/officeDocument/2006/relationships/image" Target="../media/image49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47.png"/><Relationship Id="rId7" Type="http://schemas.openxmlformats.org/officeDocument/2006/relationships/image" Target="../media/image53.png"/><Relationship Id="rId8" Type="http://schemas.openxmlformats.org/officeDocument/2006/relationships/image" Target="../media/image72.png"/><Relationship Id="rId9" Type="http://schemas.openxmlformats.org/officeDocument/2006/relationships/image" Target="../media/image223.jpeg"/><Relationship Id="rId10" Type="http://schemas.openxmlformats.org/officeDocument/2006/relationships/notesSlide" Target="../notesSlides/notesSlide5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65.png"/><Relationship Id="rId6" Type="http://schemas.openxmlformats.org/officeDocument/2006/relationships/image" Target="../media/image71.png"/><Relationship Id="rId7" Type="http://schemas.openxmlformats.org/officeDocument/2006/relationships/image" Target="../media/image224.jpeg"/><Relationship Id="rId8" Type="http://schemas.openxmlformats.org/officeDocument/2006/relationships/notesSlide" Target="../notesSlides/notesSlide5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BrandDeck Text 401"/>
          <p:cNvSpPr txBox="1"/>
          <p:nvPr>
            <p:ph type="title"/>
          </p:nvPr>
        </p:nvSpPr>
        <p:spPr>
          <a:xfrm>
            <a:off x="1143190" y="1190618"/>
            <a:ext cx="6949440" cy="544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 vert="horz">
            <a:normAutofit/>
          </a:bodyPr>
          <a:lstStyle/>
          <a:p>
            <a:pPr indent="0" marL="0" rtl="0" algn="ctr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2400"/>
              <a:t>Поиск инструкции занимает до 30 минут</a:t>
            </a:r>
            <a:endParaRPr/>
          </a:p>
        </p:txBody>
      </p:sp>
      <p:sp>
        <p:nvSpPr>
          <p:cNvPr id="402" name="BrandDeck Text 402"/>
          <p:cNvSpPr txBox="1"/>
          <p:nvPr>
            <p:ph idx="1" type="body"/>
          </p:nvPr>
        </p:nvSpPr>
        <p:spPr>
          <a:xfrm>
            <a:off x="1143190" y="1836152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 vert="horz">
            <a:normAutofit/>
          </a:bodyPr>
          <a:lstStyle/>
          <a:p>
            <a:pPr indent="-171450" marL="171450" rtl="0" algn="ctr">
              <a:lnSpc>
                <a:spcPct val="115000"/>
              </a:lnSpc>
              <a:spcBef>
                <a:spcPts val="0"/>
              </a:spcBef>
              <a:spcAft>
                <a:spcPts val="182"/>
              </a:spcAft>
              <a:buClr>
                <a:schemeClr val="lt1"/>
              </a:buClr>
              <a:buSzPts val="1600"/>
              <a:buNone/>
            </a:pPr>
            <a:r>
              <a:rPr sz="1220"/>
              <a:t>Инициатива по внедрению ИИ-помощника для ускорения работы сотрудников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87" name="Google Shape;987;p64"/>
          <p:cNvSpPr/>
          <p:nvPr/>
        </p:nvSpPr>
        <p:spPr>
          <a:xfrm>
            <a:off x="285748" y="286048"/>
            <a:ext cx="8572456" cy="4152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64"/>
          <p:cNvSpPr/>
          <p:nvPr/>
        </p:nvSpPr>
        <p:spPr>
          <a:xfrm>
            <a:off x="285748" y="1209852"/>
            <a:ext cx="8572456" cy="3228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4"/>
          <p:cNvSpPr/>
          <p:nvPr/>
        </p:nvSpPr>
        <p:spPr>
          <a:xfrm>
            <a:off x="285748" y="1209852"/>
            <a:ext cx="8572456" cy="1795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4"/>
          <p:cNvSpPr/>
          <p:nvPr/>
        </p:nvSpPr>
        <p:spPr>
          <a:xfrm>
            <a:off x="285748" y="3176509"/>
            <a:ext cx="8572456" cy="1261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BrandDeck Text 101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 vert="horz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Треть обращений в поддержку — повторяющиеся вопросы</a:t>
            </a:r>
            <a:endParaRPr/>
          </a:p>
        </p:txBody>
      </p:sp>
      <p:sp>
        <p:nvSpPr>
          <p:cNvPr id="1022" name="BrandDeck Body"/>
          <p:cNvSpPr txBox="1"/>
          <p:nvPr/>
        </p:nvSpPr>
        <p:spPr>
          <a:xfrm>
            <a:off x="585216" y="1144312"/>
            <a:ext cx="2129088" cy="3583136"/>
          </a:xfrm>
          <a:prstGeom prst="rect">
            <a:avLst/>
          </a:prstGeom>
          <a:noFill/>
        </p:spPr>
        <p:txBody>
          <a:bodyPr wrap="square" vert="horz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001515"/>
                </a:solidFill>
                <a:latin typeface="Play"/>
              </a:rPr>
              <a:t>• Треть обращений в поддержку — повторяющиеся вопросы.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001515"/>
                </a:solidFill>
                <a:latin typeface="Play"/>
              </a:rPr>
              <a:t>• Это создает лишнюю нагрузку на службу поддержки.</a:t>
            </a:r>
          </a:p>
        </p:txBody>
      </p:sp>
      <p:pic>
        <p:nvPicPr>
          <p:cNvPr id="1023" name="BrandDeck Image" descr="сотрудник специалист поддержки"/>
          <p:cNvPicPr>
            <a:picLocks noChangeAspect="1"/>
          </p:cNvPicPr>
          <p:nvPr/>
        </p:nvPicPr>
        <p:blipFill>
          <a:blip r:embed="rId9"/>
          <a:srcRect l="39445" r="17445"/>
          <a:stretch>
            <a:fillRect/>
          </a:stretch>
        </p:blipFill>
        <p:spPr>
          <a:xfrm>
            <a:off x="2970336" y="1144312"/>
            <a:ext cx="2744663" cy="35831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vert="horz"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3"/>
              </a:spcAft>
            </a:pPr>
            <a:r>
              <a:rPr sz="1689"/>
              <a:t>Сотрудники тратят до 30 минут на поиск нужной инструкции</a:t>
            </a:r>
          </a:p>
        </p:txBody>
      </p:sp>
      <p:grpSp>
        <p:nvGrpSpPr>
          <p:cNvPr id="3" name="BrandDeck Diagram icon_grid" descr="icon_grid: Сотрудник тратит до 30 минут на поиск нужной инструкции.; Долгий поиск снижает продуктивность при работе с регламентами.; Текущее время поиска является базой для оценки эффекта пилота."/>
          <p:cNvGrpSpPr/>
          <p:nvPr/>
        </p:nvGrpSpPr>
        <p:grpSpPr>
          <a:xfrm>
            <a:off x="4637088" y="676278"/>
            <a:ext cx="3862387" cy="3737101"/>
            <a:chOff x="4637088" y="676278"/>
            <a:chExt cx="3862387" cy="3737101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856544" y="1079672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4937011" y="1160139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5353977" y="807951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89" b="0">
                  <a:solidFill>
                    <a:srgbClr val="FFFFFF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4637088" y="1958554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4856544" y="236194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search"/>
            <p:cNvSpPr/>
            <p:nvPr/>
          </p:nvSpPr>
          <p:spPr>
            <a:xfrm>
              <a:off x="4937011" y="2442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11000"/>
                  </a:moveTo>
                  <a:cubicBezTo>
                    <a:pt x="19000" y="15418"/>
                    <a:pt x="15418" y="19000"/>
                    <a:pt x="11000" y="19000"/>
                  </a:cubicBezTo>
                  <a:cubicBezTo>
                    <a:pt x="6582" y="19000"/>
                    <a:pt x="3000" y="15418"/>
                    <a:pt x="3000" y="11000"/>
                  </a:cubicBezTo>
                  <a:cubicBezTo>
                    <a:pt x="3000" y="6582"/>
                    <a:pt x="6582" y="3000"/>
                    <a:pt x="11000" y="3000"/>
                  </a:cubicBezTo>
                  <a:cubicBezTo>
                    <a:pt x="15418" y="3000"/>
                    <a:pt x="19000" y="6582"/>
                    <a:pt x="19000" y="11000"/>
                  </a:cubicBezTo>
                  <a:close/>
                </a:path>
                <a:path w="24000" h="24000" fill="none">
                  <a:moveTo>
                    <a:pt x="21000" y="21000"/>
                  </a:moveTo>
                  <a:lnTo>
                    <a:pt x="16700" y="167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353977" y="2090228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89" b="0">
                  <a:solidFill>
                    <a:srgbClr val="FFFFFF"/>
                  </a:solidFill>
                  <a:latin typeface="Play"/>
                </a:rPr>
                <a:t>Долгий поиск снижает продуктивность при работе с регламентами.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3240831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856544" y="3644225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lock"/>
            <p:cNvSpPr/>
            <p:nvPr/>
          </p:nvSpPr>
          <p:spPr>
            <a:xfrm>
              <a:off x="4937011" y="3724692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6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5353977" y="3372504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89" b="0">
                  <a:solidFill>
                    <a:srgbClr val="FFFFFF"/>
                  </a:solidFill>
                  <a:latin typeface="Play"/>
                </a:rPr>
                <a:t>Текущее время поиска является базой для оценки эффекта пилота.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vert="horz"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2"/>
              </a:spcAft>
            </a:pPr>
            <a:r>
              <a:rPr sz="1220"/>
              <a:t>ИИ-помощник отвечает на вопросы по регламентам и дает ссылку на документ</a:t>
            </a:r>
          </a:p>
        </p:txBody>
      </p:sp>
      <p:grpSp>
        <p:nvGrpSpPr>
          <p:cNvPr id="3" name="BrandDeck Diagram icon_grid" descr="icon_grid: ИИ-помощник отвечает на вопросы по регламентам и инструкциям.; Система автоматически дает ссылку на документ-источник.; Ответ формируется на основе внутренних правил компании."/>
          <p:cNvGrpSpPr/>
          <p:nvPr/>
        </p:nvGrpSpPr>
        <p:grpSpPr>
          <a:xfrm>
            <a:off x="4637088" y="676278"/>
            <a:ext cx="3862387" cy="3737101"/>
            <a:chOff x="4637088" y="676278"/>
            <a:chExt cx="3862387" cy="3737101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856544" y="1079672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file-text"/>
            <p:cNvSpPr/>
            <p:nvPr/>
          </p:nvSpPr>
          <p:spPr>
            <a:xfrm>
              <a:off x="4937011" y="1160139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5353977" y="807951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ИИ-помощник отвечает на вопросы по регламентам и инструкциям.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4637088" y="1958554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4856544" y="236194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link"/>
            <p:cNvSpPr/>
            <p:nvPr/>
          </p:nvSpPr>
          <p:spPr>
            <a:xfrm>
              <a:off x="4937011" y="2442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13000"/>
                  </a:moveTo>
                  <a:cubicBezTo>
                    <a:pt x="10869" y="14162"/>
                    <a:pt x="12200" y="14889"/>
                    <a:pt x="13647" y="14992"/>
                  </a:cubicBezTo>
                  <a:cubicBezTo>
                    <a:pt x="15094" y="15096"/>
                    <a:pt x="16514" y="14566"/>
                    <a:pt x="17540" y="13540"/>
                  </a:cubicBezTo>
                  <a:lnTo>
                    <a:pt x="20540" y="10540"/>
                  </a:lnTo>
                  <a:cubicBezTo>
                    <a:pt x="22435" y="8578"/>
                    <a:pt x="22408" y="5460"/>
                    <a:pt x="20479" y="3531"/>
                  </a:cubicBezTo>
                  <a:cubicBezTo>
                    <a:pt x="18550" y="1602"/>
                    <a:pt x="15432" y="1575"/>
                    <a:pt x="13470" y="3470"/>
                  </a:cubicBezTo>
                  <a:lnTo>
                    <a:pt x="11750" y="5180"/>
                  </a:lnTo>
                </a:path>
                <a:path w="24000" h="24000" fill="none">
                  <a:moveTo>
                    <a:pt x="14000" y="11000"/>
                  </a:moveTo>
                  <a:cubicBezTo>
                    <a:pt x="13131" y="9838"/>
                    <a:pt x="11800" y="9111"/>
                    <a:pt x="10353" y="9008"/>
                  </a:cubicBezTo>
                  <a:cubicBezTo>
                    <a:pt x="8906" y="8904"/>
                    <a:pt x="7486" y="9434"/>
                    <a:pt x="6460" y="10460"/>
                  </a:cubicBezTo>
                  <a:lnTo>
                    <a:pt x="3460" y="13460"/>
                  </a:lnTo>
                  <a:cubicBezTo>
                    <a:pt x="1565" y="15422"/>
                    <a:pt x="1592" y="18540"/>
                    <a:pt x="3521" y="20469"/>
                  </a:cubicBezTo>
                  <a:cubicBezTo>
                    <a:pt x="5450" y="22398"/>
                    <a:pt x="8568" y="22425"/>
                    <a:pt x="10530" y="20530"/>
                  </a:cubicBezTo>
                  <a:lnTo>
                    <a:pt x="12240" y="1882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353977" y="2090228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Система автоматически дает ссылку на документ-источник.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3240831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856544" y="3644225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scroll-text"/>
            <p:cNvSpPr/>
            <p:nvPr/>
          </p:nvSpPr>
          <p:spPr>
            <a:xfrm>
              <a:off x="4937011" y="3724692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2000"/>
                  </a:moveTo>
                  <a:lnTo>
                    <a:pt x="10000" y="12000"/>
                  </a:lnTo>
                </a:path>
                <a:path w="24000" h="24000" fill="none">
                  <a:moveTo>
                    <a:pt x="15000" y="8000"/>
                  </a:moveTo>
                  <a:lnTo>
                    <a:pt x="10000" y="8000"/>
                  </a:lnTo>
                </a:path>
                <a:path w="24000" h="24000" fill="none">
                  <a:moveTo>
                    <a:pt x="19000" y="17000"/>
                  </a:moveTo>
                  <a:lnTo>
                    <a:pt x="19000" y="5000"/>
                  </a:lnTo>
                  <a:cubicBezTo>
                    <a:pt x="19000" y="3895"/>
                    <a:pt x="18105" y="3000"/>
                    <a:pt x="17000" y="3000"/>
                  </a:cubicBezTo>
                  <a:lnTo>
                    <a:pt x="4000" y="3000"/>
                  </a:lnTo>
                </a:path>
                <a:path w="24000" h="24000" fill="none">
                  <a:moveTo>
                    <a:pt x="8000" y="21000"/>
                  </a:moveTo>
                  <a:lnTo>
                    <a:pt x="20000" y="21000"/>
                  </a:lnTo>
                  <a:cubicBezTo>
                    <a:pt x="21105" y="21000"/>
                    <a:pt x="22000" y="20105"/>
                    <a:pt x="22000" y="19000"/>
                  </a:cubicBezTo>
                  <a:lnTo>
                    <a:pt x="22000" y="18000"/>
                  </a:lnTo>
                  <a:cubicBezTo>
                    <a:pt x="22000" y="17448"/>
                    <a:pt x="21552" y="17000"/>
                    <a:pt x="21000" y="17000"/>
                  </a:cubicBezTo>
                  <a:lnTo>
                    <a:pt x="11000" y="17000"/>
                  </a:lnTo>
                  <a:cubicBezTo>
                    <a:pt x="10448" y="17000"/>
                    <a:pt x="10000" y="17448"/>
                    <a:pt x="10000" y="18000"/>
                  </a:cubicBezTo>
                  <a:lnTo>
                    <a:pt x="10000" y="19000"/>
                  </a:lnTo>
                  <a:cubicBezTo>
                    <a:pt x="10000" y="20105"/>
                    <a:pt x="9105" y="21000"/>
                    <a:pt x="8000" y="21000"/>
                  </a:cubicBezTo>
                  <a:cubicBezTo>
                    <a:pt x="6895" y="21000"/>
                    <a:pt x="6000" y="20105"/>
                    <a:pt x="6000" y="19000"/>
                  </a:cubicBezTo>
                  <a:lnTo>
                    <a:pt x="6000" y="5000"/>
                  </a:lnTo>
                  <a:cubicBezTo>
                    <a:pt x="6000" y="3895"/>
                    <a:pt x="5105" y="3000"/>
                    <a:pt x="4000" y="3000"/>
                  </a:cubicBezTo>
                  <a:cubicBezTo>
                    <a:pt x="2895" y="3000"/>
                    <a:pt x="2000" y="3895"/>
                    <a:pt x="2000" y="5000"/>
                  </a:cubicBezTo>
                  <a:lnTo>
                    <a:pt x="2000" y="7000"/>
                  </a:lnTo>
                  <a:cubicBezTo>
                    <a:pt x="2000" y="7552"/>
                    <a:pt x="2448" y="8000"/>
                    <a:pt x="3000" y="8000"/>
                  </a:cubicBezTo>
                  <a:lnTo>
                    <a:pt x="6000" y="8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5353977" y="3372504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Ответ формируется на основе внутренних правил компании.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9" name="Google Shape;1119;p6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69"/>
          <p:cNvSpPr/>
          <p:nvPr/>
        </p:nvSpPr>
        <p:spPr>
          <a:xfrm>
            <a:off x="500061" y="1424137"/>
            <a:ext cx="2919397" cy="2895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69"/>
          <p:cNvSpPr/>
          <p:nvPr/>
        </p:nvSpPr>
        <p:spPr>
          <a:xfrm>
            <a:off x="3657581" y="1209852"/>
            <a:ext cx="5200623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BrandDeck Text 1132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 vert="horz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Модель работает внутри контура компании, документы не уходят наружу</a:t>
            </a:r>
            <a:endParaRPr/>
          </a:p>
        </p:txBody>
      </p:sp>
      <p:sp>
        <p:nvSpPr>
          <p:cNvPr id="1133" name="BrandDeck Body"/>
          <p:cNvSpPr txBox="1"/>
          <p:nvPr/>
        </p:nvSpPr>
        <p:spPr>
          <a:xfrm>
            <a:off x="500060" y="1424137"/>
            <a:ext cx="2558400" cy="2895223"/>
          </a:xfrm>
          <a:prstGeom prst="rect">
            <a:avLst/>
          </a:prstGeom>
          <a:noFill/>
        </p:spPr>
        <p:txBody>
          <a:bodyPr wrap="square" vert="horz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>
                <a:solidFill>
                  <a:srgbClr val="000000"/>
                </a:solidFill>
                <a:latin typeface="Play"/>
              </a:rPr>
              <a:t>• Модель с открытыми весами работает внутри контура компании.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>
                <a:solidFill>
                  <a:srgbClr val="000000"/>
                </a:solidFill>
                <a:latin typeface="Play"/>
              </a:rPr>
              <a:t>• Документы не уходят наружу при обработке запросов.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>
                <a:solidFill>
                  <a:srgbClr val="000000"/>
                </a:solidFill>
                <a:latin typeface="Play"/>
              </a:rPr>
              <a:t>• Если подтверждённого ответа нет, вопрос уходит специалисту.</a:t>
            </a:r>
          </a:p>
        </p:txBody>
      </p:sp>
      <p:pic>
        <p:nvPicPr>
          <p:cNvPr id="1134" name="BrandDeck Image" descr="внутренний контур серверная"/>
          <p:cNvPicPr>
            <a:picLocks noChangeAspect="1"/>
          </p:cNvPicPr>
          <p:nvPr/>
        </p:nvPicPr>
        <p:blipFill>
          <a:blip r:embed="rId7"/>
          <a:srcRect l="18013" r="18013"/>
          <a:stretch>
            <a:fillRect/>
          </a:stretch>
        </p:blipFill>
        <p:spPr>
          <a:xfrm>
            <a:off x="3314493" y="1424137"/>
            <a:ext cx="3291060" cy="28952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vert="horz"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2"/>
              </a:spcAft>
            </a:pPr>
            <a:r>
              <a:rPr sz="1220"/>
              <a:t>Если подтвержденного ответа нет, вопрос уходит специалисту с контекстом</a:t>
            </a:r>
          </a:p>
        </p:txBody>
      </p:sp>
      <p:grpSp>
        <p:nvGrpSpPr>
          <p:cNvPr id="3" name="BrandDeck Diagram process" descr="process: Нет ответа Система не нашла подтверждённый ответ; Передача Вопрос уходит специалисту с деталями; Решение Сотрудник отвечает вручную"/>
          <p:cNvGrpSpPr/>
          <p:nvPr/>
        </p:nvGrpSpPr>
        <p:grpSpPr>
          <a:xfrm>
            <a:off x="4637088" y="703710"/>
            <a:ext cx="3862387" cy="3682237"/>
            <a:chOff x="4637088" y="703710"/>
            <a:chExt cx="3862387" cy="3682237"/>
          </a:xfrm>
        </p:grpSpPr>
        <p:sp>
          <p:nvSpPr>
            <p:cNvPr id="4" name="BrandDeck Diagram Connector"/>
            <p:cNvSpPr/>
            <p:nvPr/>
          </p:nvSpPr>
          <p:spPr>
            <a:xfrm>
              <a:off x="4876660" y="1299128"/>
              <a:ext cx="32918" cy="2491401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Step 1 Badge"/>
            <p:cNvSpPr/>
            <p:nvPr/>
          </p:nvSpPr>
          <p:spPr>
            <a:xfrm>
              <a:off x="4637088" y="1043096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1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6" name="BrandDeck Diagram Detail Card 1"/>
            <p:cNvSpPr/>
            <p:nvPr/>
          </p:nvSpPr>
          <p:spPr>
            <a:xfrm>
              <a:off x="5258880" y="703710"/>
              <a:ext cx="3240595" cy="1190836"/>
            </a:xfrm>
            <a:prstGeom prst="roundRect">
              <a:avLst>
                <a:gd name="adj" fmla="val 12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5350320" y="703710"/>
              <a:ext cx="3149155" cy="119083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000000"/>
                  </a:solidFill>
                  <a:latin typeface="Play"/>
                </a:rPr>
                <a:t>Нет ответа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Система не нашла подтверждённый ответ</a:t>
              </a:r>
            </a:p>
          </p:txBody>
        </p:sp>
        <p:sp>
          <p:nvSpPr>
            <p:cNvPr id="8" name="BrandDeck Diagram Step 2 Badge"/>
            <p:cNvSpPr/>
            <p:nvPr/>
          </p:nvSpPr>
          <p:spPr>
            <a:xfrm>
              <a:off x="4637088" y="2288797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1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9" name="BrandDeck Diagram Detail Card 2"/>
            <p:cNvSpPr/>
            <p:nvPr/>
          </p:nvSpPr>
          <p:spPr>
            <a:xfrm>
              <a:off x="5258880" y="1949410"/>
              <a:ext cx="3240595" cy="1190836"/>
            </a:xfrm>
            <a:prstGeom prst="roundRect">
              <a:avLst>
                <a:gd name="adj" fmla="val 12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Diagram Text 2"/>
            <p:cNvSpPr txBox="1"/>
            <p:nvPr/>
          </p:nvSpPr>
          <p:spPr>
            <a:xfrm>
              <a:off x="5350320" y="1949410"/>
              <a:ext cx="3149155" cy="119083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000000"/>
                  </a:solidFill>
                  <a:latin typeface="Play"/>
                </a:rPr>
                <a:t>Передача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Вопрос уходит специалисту с деталями</a:t>
              </a:r>
            </a:p>
          </p:txBody>
        </p:sp>
        <p:sp>
          <p:nvSpPr>
            <p:cNvPr id="11" name="BrandDeck Diagram Step 3 Badge"/>
            <p:cNvSpPr/>
            <p:nvPr/>
          </p:nvSpPr>
          <p:spPr>
            <a:xfrm>
              <a:off x="4637088" y="3534497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1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12" name="BrandDeck Diagram Detail Card 3"/>
            <p:cNvSpPr/>
            <p:nvPr/>
          </p:nvSpPr>
          <p:spPr>
            <a:xfrm>
              <a:off x="5258880" y="3195111"/>
              <a:ext cx="3240595" cy="1190836"/>
            </a:xfrm>
            <a:prstGeom prst="roundRect">
              <a:avLst>
                <a:gd name="adj" fmla="val 12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Text 3"/>
            <p:cNvSpPr txBox="1"/>
            <p:nvPr/>
          </p:nvSpPr>
          <p:spPr>
            <a:xfrm>
              <a:off x="5350320" y="3195111"/>
              <a:ext cx="3149155" cy="119083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000000"/>
                  </a:solidFill>
                  <a:latin typeface="Play"/>
                </a:rPr>
                <a:t>Решение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Сотрудник отвечает вручную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3" name="BrandDeck Text 503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 vert="horz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410"/>
              <a:t>Пилот охватывает 2 подразделения и 150 сотрудников</a:t>
            </a:r>
            <a:endParaRPr/>
          </a:p>
        </p:txBody>
      </p:sp>
      <p:grpSp>
        <p:nvGrpSpPr>
          <p:cNvPr id="2" name="BrandDeck Diagram icon_grid" descr="icon_grid: Охват 2 подразделения, 150 сотрудников; Длительность 6 недель пилотного запуска"/>
          <p:cNvGrpSpPr/>
          <p:nvPr/>
        </p:nvGrpSpPr>
        <p:grpSpPr>
          <a:xfrm>
            <a:off x="4637088" y="676278"/>
            <a:ext cx="3862387" cy="3737102"/>
            <a:chOff x="4637088" y="676278"/>
            <a:chExt cx="3862387" cy="3737102"/>
          </a:xfrm>
        </p:grpSpPr>
        <p:sp>
          <p:nvSpPr>
            <p:cNvPr id="508" name="BrandDeck Diagram Card 1"/>
            <p:cNvSpPr/>
            <p:nvPr/>
          </p:nvSpPr>
          <p:spPr>
            <a:xfrm>
              <a:off x="4637088" y="676278"/>
              <a:ext cx="3862387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BrandDeck Diagram Icon 1 Badge"/>
            <p:cNvSpPr/>
            <p:nvPr/>
          </p:nvSpPr>
          <p:spPr>
            <a:xfrm>
              <a:off x="4856544" y="1329205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BrandDeck Icon building-2"/>
            <p:cNvSpPr/>
            <p:nvPr/>
          </p:nvSpPr>
          <p:spPr>
            <a:xfrm>
              <a:off x="4968267" y="1440928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lnTo>
                    <a:pt x="6000" y="4000"/>
                  </a:lnTo>
                  <a:cubicBezTo>
                    <a:pt x="6000" y="2895"/>
                    <a:pt x="6895" y="2000"/>
                    <a:pt x="8000" y="2000"/>
                  </a:cubicBezTo>
                  <a:lnTo>
                    <a:pt x="16000" y="2000"/>
                  </a:lnTo>
                  <a:cubicBezTo>
                    <a:pt x="17105" y="2000"/>
                    <a:pt x="18000" y="2895"/>
                    <a:pt x="18000" y="4000"/>
                  </a:cubicBezTo>
                  <a:lnTo>
                    <a:pt x="18000" y="22000"/>
                  </a:lnTo>
                  <a:close/>
                </a:path>
                <a:path w="24000" h="24000" fill="none">
                  <a:moveTo>
                    <a:pt x="6000" y="12000"/>
                  </a:moveTo>
                  <a:lnTo>
                    <a:pt x="4000" y="12000"/>
                  </a:lnTo>
                  <a:cubicBezTo>
                    <a:pt x="2895" y="12000"/>
                    <a:pt x="2000" y="12895"/>
                    <a:pt x="2000" y="14000"/>
                  </a:cubicBezTo>
                  <a:lnTo>
                    <a:pt x="2000" y="20000"/>
                  </a:lnTo>
                  <a:cubicBezTo>
                    <a:pt x="2000" y="21105"/>
                    <a:pt x="2895" y="22000"/>
                    <a:pt x="4000" y="22000"/>
                  </a:cubicBezTo>
                  <a:lnTo>
                    <a:pt x="6000" y="22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20000" y="9000"/>
                  </a:lnTo>
                  <a:cubicBezTo>
                    <a:pt x="21105" y="9000"/>
                    <a:pt x="22000" y="9895"/>
                    <a:pt x="22000" y="11000"/>
                  </a:cubicBezTo>
                  <a:lnTo>
                    <a:pt x="22000" y="20000"/>
                  </a:lnTo>
                  <a:cubicBezTo>
                    <a:pt x="22000" y="21105"/>
                    <a:pt x="21105" y="22000"/>
                    <a:pt x="20000" y="22000"/>
                  </a:cubicBezTo>
                  <a:lnTo>
                    <a:pt x="18000" y="22000"/>
                  </a:lnTo>
                </a:path>
                <a:path w="24000" h="24000" fill="none">
                  <a:moveTo>
                    <a:pt x="10000" y="6000"/>
                  </a:moveTo>
                  <a:lnTo>
                    <a:pt x="14000" y="6000"/>
                  </a:lnTo>
                </a:path>
                <a:path w="24000" h="24000" fill="none">
                  <a:moveTo>
                    <a:pt x="10000" y="10000"/>
                  </a:moveTo>
                  <a:lnTo>
                    <a:pt x="14000" y="10000"/>
                  </a:lnTo>
                </a:path>
                <a:path w="24000" h="24000" fill="none">
                  <a:moveTo>
                    <a:pt x="10000" y="14000"/>
                  </a:moveTo>
                  <a:lnTo>
                    <a:pt x="14000" y="14000"/>
                  </a:lnTo>
                </a:path>
                <a:path w="24000" h="24000" fill="none">
                  <a:moveTo>
                    <a:pt x="10000" y="18000"/>
                  </a:moveTo>
                  <a:lnTo>
                    <a:pt x="14000" y="18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BrandDeck Diagram Text 1"/>
            <p:cNvSpPr txBox="1"/>
            <p:nvPr/>
          </p:nvSpPr>
          <p:spPr>
            <a:xfrm>
              <a:off x="5496049" y="807951"/>
              <a:ext cx="2783969" cy="1550339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Охват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2 подразделения, 150 сотрудников</a:t>
              </a:r>
            </a:p>
          </p:txBody>
        </p:sp>
        <p:sp>
          <p:nvSpPr>
            <p:cNvPr id="512" name="BrandDeck Diagram Card 2"/>
            <p:cNvSpPr/>
            <p:nvPr/>
          </p:nvSpPr>
          <p:spPr>
            <a:xfrm>
              <a:off x="4637088" y="2599693"/>
              <a:ext cx="3862387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BrandDeck Diagram Icon 2 Badge"/>
            <p:cNvSpPr/>
            <p:nvPr/>
          </p:nvSpPr>
          <p:spPr>
            <a:xfrm>
              <a:off x="4856544" y="3252620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BrandDeck Icon rocket"/>
            <p:cNvSpPr/>
            <p:nvPr/>
          </p:nvSpPr>
          <p:spPr>
            <a:xfrm>
              <a:off x="4968267" y="3364343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BrandDeck Diagram Text 2"/>
            <p:cNvSpPr txBox="1"/>
            <p:nvPr/>
          </p:nvSpPr>
          <p:spPr>
            <a:xfrm>
              <a:off x="5496049" y="2731366"/>
              <a:ext cx="2783969" cy="1550339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Длительность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6 недель пилотного запуска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 vert="horz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Успех пилота измеряется временем поиска ответа и долей закрытых без специалиста обращений</a:t>
            </a:r>
            <a:endParaRPr/>
          </a:p>
        </p:txBody>
      </p:sp>
      <p:graphicFrame>
        <p:nvGraphicFramePr>
          <p:cNvPr id="686" name="BrandDeck Table"/>
          <p:cNvGraphicFramePr>
            <a:graphicFrameLocks noGrp="1"/>
          </p:cNvGraphicFramePr>
          <p:nvPr/>
        </p:nvGraphicFramePr>
        <p:xfrm>
          <a:off x="438148" y="1819373"/>
          <a:ext cx="8305757" cy="1528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2878"/>
                <a:gridCol w="4152879"/>
              </a:tblGrid>
              <a:tr h="364236">
                <a:tc>
                  <a:txBody>
                    <a:bodyPr/>
                    <a:lstStyle/>
                    <a:p>
                      <a:pPr algn="l"/>
                      <a:r>
                        <a:rPr sz="1320" b="1">
                          <a:solidFill>
                            <a:srgbClr val="FFFFFF"/>
                          </a:solidFill>
                          <a:latin typeface="Play"/>
                        </a:rPr>
                        <a:t>Метрика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>
                          <a:solidFill>
                            <a:srgbClr val="FFFFFF"/>
                          </a:solidFill>
                          <a:latin typeface="Play"/>
                        </a:rPr>
                        <a:t>Что измеряется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</a:tr>
              <a:tr h="582168">
                <a:tc>
                  <a:txBody>
                    <a:bodyPr/>
                    <a:lstStyle/>
                    <a:p>
                      <a:pPr algn="l"/>
                      <a:r>
                        <a:rPr sz="1320" b="0">
                          <a:solidFill>
                            <a:srgbClr val="111111"/>
                          </a:solidFill>
                          <a:latin typeface="Play"/>
                        </a:rPr>
                        <a:t>Время поиска ответа</a:t>
                      </a:r>
                    </a:p>
                  </a:txBody>
                  <a:tcPr marL="54864" marR="54864" anchor="ctr"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>
                          <a:solidFill>
                            <a:srgbClr val="111111"/>
                          </a:solidFill>
                          <a:latin typeface="Play"/>
                        </a:rPr>
                        <a:t>Сколько времени сотрудник тратит на поиск нужной инструкции</a:t>
                      </a:r>
                    </a:p>
                  </a:txBody>
                  <a:tcPr marL="54864" marR="54864" anchor="ctr">
                    <a:solidFill>
                      <a:srgbClr val="FEFFFF"/>
                    </a:solidFill>
                  </a:tcPr>
                </a:tc>
              </a:tr>
              <a:tr h="582168">
                <a:tc>
                  <a:txBody>
                    <a:bodyPr/>
                    <a:lstStyle/>
                    <a:p>
                      <a:pPr algn="l"/>
                      <a:r>
                        <a:rPr sz="1320" b="0">
                          <a:solidFill>
                            <a:srgbClr val="111111"/>
                          </a:solidFill>
                          <a:latin typeface="Play"/>
                        </a:rPr>
                        <a:t>Доля закрытых обращений</a:t>
                      </a:r>
                    </a:p>
                  </a:txBody>
                  <a:tcPr marL="54864" marR="54864" anchor="ctr"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>
                          <a:solidFill>
                            <a:srgbClr val="111111"/>
                          </a:solidFill>
                          <a:latin typeface="Play"/>
                        </a:rPr>
                        <a:t>Процент вопросов, решённых ИИ без участия специалиста</a:t>
                      </a:r>
                    </a:p>
                  </a:txBody>
                  <a:tcPr marL="54864" marR="54864" anchor="ctr"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vert="horz"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Пилот длится 6 недель, требуется команда из 3 человек</a:t>
            </a:r>
          </a:p>
        </p:txBody>
      </p:sp>
      <p:grpSp>
        <p:nvGrpSpPr>
          <p:cNvPr id="3" name="BrandDeck Diagram icon_grid" descr="icon_grid: Пилот длится 6 недель.; Требуется команда из 3 человек.; Успех измеряется временем поиска и долей закрытых обращений."/>
          <p:cNvGrpSpPr/>
          <p:nvPr/>
        </p:nvGrpSpPr>
        <p:grpSpPr>
          <a:xfrm>
            <a:off x="4637088" y="676278"/>
            <a:ext cx="3862387" cy="3737101"/>
            <a:chOff x="4637088" y="676278"/>
            <a:chExt cx="3862387" cy="3737101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856544" y="1079672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4937011" y="1160139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5353977" y="807951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Пилот длится 6 недель.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4637088" y="1958554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4856544" y="236194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users"/>
            <p:cNvSpPr/>
            <p:nvPr/>
          </p:nvSpPr>
          <p:spPr>
            <a:xfrm>
              <a:off x="4937011" y="2442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353977" y="2090228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Требуется команда из 3 человек.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3240831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856544" y="3644225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hart-column"/>
            <p:cNvSpPr/>
            <p:nvPr/>
          </p:nvSpPr>
          <p:spPr>
            <a:xfrm>
              <a:off x="4937011" y="3724692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5353977" y="3372504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Успех измеряется временем поиска и долей закрытых обращений.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vert="horz"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3"/>
              </a:spcAft>
            </a:pPr>
            <a:r>
              <a:rPr sz="1689"/>
              <a:t>Просим одобрить пилот и выделить команду из 3 человек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/>
          </a:p>
        </p:txBody>
      </p:sp>
      <p:sp>
        <p:nvSpPr>
          <p:cNvPr id="4" name="BrandDeck Text 4"/>
          <p:cNvSpPr>
            <a:spLocks noGrp="1"/>
          </p:cNvSpPr>
          <p:nvPr>
            <p:ph type="body" idx="2"/>
          </p:nvPr>
        </p:nvSpPr>
        <p:spPr/>
        <p:txBody>
          <a:bodyPr vert="horz"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Одобрить запуск пилота с 2 подразделениями и 150 сотрудниками.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Выделить команду из 3 человек для работы в течение 6 недель.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Зафиксировать метрики успеха: время поиска и долю закрытых обращений.</a:t>
            </a:r>
          </a:p>
        </p:txBody>
      </p:sp>
      <p:sp>
        <p:nvSpPr>
          <p:cNvPr id="5" name="BrandDeck Subtitle"/>
          <p:cNvSpPr txBox="1"/>
          <p:nvPr/>
        </p:nvSpPr>
        <p:spPr>
          <a:xfrm>
            <a:off x="430360" y="1137920"/>
            <a:ext cx="3945696" cy="457200"/>
          </a:xfrm>
          <a:prstGeom prst="rect">
            <a:avLst/>
          </a:prstGeom>
          <a:noFill/>
        </p:spPr>
        <p:txBody>
          <a:bodyPr wrap="square" vert="horz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5"/>
              </a:spcAft>
            </a:pPr>
            <a:r>
              <a:rPr sz="1100">
                <a:solidFill>
                  <a:srgbClr val="FAFCFF"/>
                </a:solidFill>
                <a:latin typeface="Play"/>
              </a:rPr>
              <a:t>Решение о старте пилота и выделении команды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ИИ-помощник во внутреннем портале</dc:title>
  <cp:lastModifiedBy/>
  <cp:revision>1</cp:revision>
  <dcterms:modified xsi:type="dcterms:W3CDTF">2026-09-28T15:55:55Z</dcterms:modified>
  <dc:subject>Template-adaptive presentation</dc:subject>
  <cp:keywords>BrandDeck, template-adaptive, presentation</cp:keywords>
  <dc:creator/>
  <dc:description/>
</cp:coreProperties>
</file>