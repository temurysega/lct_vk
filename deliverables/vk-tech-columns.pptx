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Relationship Id="rId72" Type="http://schemas.openxmlformats.org/officeDocument/2006/relationships/slide" Target="slides/slide11.xml"/><Relationship Id="rId7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вводит инициативу по внедрению ИИ-помощника для автоматизации ответов на вопросы по регламентам и сокращения времени поиска инструкций.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регламентов занимает до 30 минут, что существенно замедляет работу сотрудников.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Значительная часть нагрузки поддержки приходится на рутинные вопросы, которые можно автоматизировать.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Текущий процесс поиска инструкций отнимает до 30 минут у каждого сотрудника, а треть обращений дублируются, что создает лишнюю нагрузку на поддержку.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Решение автоматически обрабатывает запросы по регламентам, выдавая ответ и ссылку на документ, а сложные вопросы направляет в поддержку.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Если ИИ не находит подтверждённый ответ, система автоматически передаёт запрос в поддержку с полным контекстом для быстрого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Архитектура обеспечивает полную безопасность данных, так как вся обработка происходит внутри корпоративной 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мгновенно обрабатывает запросы по регламентам, передавая сложные случаи специалистам с полным контекстом.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запуск охватывает два подразделения и 150 сотрудников в течение шести недель.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Срок пилотного запуска составляет шесть недель, что позволит оценить эффективность внедрения.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оценки эффективности пилота мы будем измерять время поиска ответа и долю обращений, закрытых без участия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реализации пилота необходимо одобрить проект и выделить команду из трех человек. Мы будем измерять время поиска ответа и долю обращений, закрытых без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8.xml"/><Relationship Id="rId8" Type="http://schemas.openxmlformats.org/officeDocument/2006/relationships/slideLayout" Target="../slideLayouts/slideLayout11.xml"/><Relationship Id="rId25" Type="http://schemas.openxmlformats.org/officeDocument/2006/relationships/slideLayout" Target="../slideLayouts/slideLayout28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5"/>
    <p:sldLayoutId id="2147483658" r:id="rId8"/>
    <p:sldLayoutId id="214748367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223.jpeg"/><Relationship Id="rId8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224.jpeg"/><Relationship Id="rId8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1800"/>
              <a:t>Ускорение работы сотрудников за счет ИИ</a:t>
            </a:r>
            <a:endParaRPr/>
          </a:p>
        </p:txBody>
      </p:sp>
      <p:sp>
        <p:nvSpPr>
          <p:cNvPr id="402" name="BrandDeck Text 402"/>
          <p:cNvSpPr txBox="1"/>
          <p:nvPr>
            <p:ph idx="1" type="body"/>
          </p:nvPr>
        </p:nvSpPr>
        <p:spPr>
          <a:xfrm>
            <a:off x="2473770" y="2199720"/>
            <a:ext cx="42882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marL="171450" rtl="0" algn="ctr">
              <a:lnSpc>
                <a:spcPct val="115000"/>
              </a:lnSpc>
              <a:spcBef>
                <a:spcPts val="0"/>
              </a:spcBef>
              <a:spcAft>
                <a:spcPts val="165"/>
              </a:spcAft>
              <a:buClr>
                <a:schemeClr val="lt1"/>
              </a:buClr>
              <a:buSzPts val="1600"/>
              <a:buNone/>
            </a:pPr>
            <a:r>
              <a:rPr sz="1100"/>
              <a:t>Автоматизация поддержки и ускорение работы сотрудников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Поиск инструкции занимает до 30 минут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утина по поиску документов отнимает значительное время.; Это замедляет решение рабочих задач и снижает эффективность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search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11000"/>
                  </a:moveTo>
                  <a:cubicBezTo>
                    <a:pt x="19000" y="15418"/>
                    <a:pt x="15418" y="19000"/>
                    <a:pt x="11000" y="19000"/>
                  </a:cubicBezTo>
                  <a:cubicBezTo>
                    <a:pt x="6582" y="19000"/>
                    <a:pt x="3000" y="15418"/>
                    <a:pt x="3000" y="11000"/>
                  </a:cubicBezTo>
                  <a:cubicBezTo>
                    <a:pt x="3000" y="6582"/>
                    <a:pt x="6582" y="3000"/>
                    <a:pt x="11000" y="3000"/>
                  </a:cubicBezTo>
                  <a:cubicBezTo>
                    <a:pt x="15418" y="3000"/>
                    <a:pt x="19000" y="6582"/>
                    <a:pt x="19000" y="11000"/>
                  </a:cubicBezTo>
                  <a:close/>
                </a:path>
                <a:path w="24000" h="24000" fill="none">
                  <a:moveTo>
                    <a:pt x="21000" y="21000"/>
                  </a:moveTo>
                  <a:lnTo>
                    <a:pt x="16700" y="167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Рутина по поиску документов отнимает значительное время.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lightbulb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4000"/>
                  </a:moveTo>
                  <a:cubicBezTo>
                    <a:pt x="15200" y="13000"/>
                    <a:pt x="15700" y="12300"/>
                    <a:pt x="16500" y="11500"/>
                  </a:cubicBezTo>
                  <a:cubicBezTo>
                    <a:pt x="17500" y="10600"/>
                    <a:pt x="18000" y="9300"/>
                    <a:pt x="18000" y="8000"/>
                  </a:cubicBezTo>
                  <a:cubicBezTo>
                    <a:pt x="18000" y="4686"/>
                    <a:pt x="15314" y="2000"/>
                    <a:pt x="12000" y="2000"/>
                  </a:cubicBezTo>
                  <a:cubicBezTo>
                    <a:pt x="8686" y="2000"/>
                    <a:pt x="6000" y="4686"/>
                    <a:pt x="6000" y="8000"/>
                  </a:cubicBezTo>
                  <a:cubicBezTo>
                    <a:pt x="6000" y="9000"/>
                    <a:pt x="6200" y="10200"/>
                    <a:pt x="7500" y="11500"/>
                  </a:cubicBezTo>
                  <a:cubicBezTo>
                    <a:pt x="8200" y="12200"/>
                    <a:pt x="8800" y="13000"/>
                    <a:pt x="9000" y="14000"/>
                  </a:cubicBezTo>
                </a:path>
                <a:path w="24000" h="24000" fill="none">
                  <a:moveTo>
                    <a:pt x="9000" y="18000"/>
                  </a:moveTo>
                  <a:lnTo>
                    <a:pt x="15000" y="18000"/>
                  </a:lnTo>
                </a:path>
                <a:path w="24000" h="24000" fill="none">
                  <a:moveTo>
                    <a:pt x="10000" y="22000"/>
                  </a:moveTo>
                  <a:lnTo>
                    <a:pt x="14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Это замедляет решение рабочих задач и снижает эффективность.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Треть обращений — повторяющиеся вопросы</a:t>
            </a:r>
            <a:endParaRPr/>
          </a:p>
        </p:txBody>
      </p:sp>
      <p:grpSp>
        <p:nvGrpSpPr>
          <p:cNvPr id="2" name="BrandDeck Diagram icon_grid" descr="icon_grid: Треть всех обращений в поддержку — повторяющиеся вопросы.; Эти запросы касаются стандартных регламентов и инструкций.; ИИ-помощник позволит закрыть их без участия специалиста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headset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1">
                  <a:solidFill>
                    <a:srgbClr val="000000"/>
                  </a:solidFill>
                  <a:latin typeface="Play"/>
                </a:rPr>
                <a:t>Треть всех обращений в поддержку —</a:t>
              </a:r>
              <a:r>
                <a:rPr sz="141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file-text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Эти запросы касаются стандартных регламентов и инструкций.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lock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11000"/>
                  </a:moveTo>
                  <a:lnTo>
                    <a:pt x="19000" y="11000"/>
                  </a:lnTo>
                  <a:cubicBezTo>
                    <a:pt x="20105" y="11000"/>
                    <a:pt x="21000" y="11895"/>
                    <a:pt x="21000" y="13000"/>
                  </a:cubicBezTo>
                  <a:lnTo>
                    <a:pt x="21000" y="20000"/>
                  </a:lnTo>
                  <a:cubicBezTo>
                    <a:pt x="21000" y="21105"/>
                    <a:pt x="20105" y="22000"/>
                    <a:pt x="19000" y="22000"/>
                  </a:cubicBezTo>
                  <a:lnTo>
                    <a:pt x="5000" y="22000"/>
                  </a:lnTo>
                  <a:cubicBezTo>
                    <a:pt x="3895" y="22000"/>
                    <a:pt x="3000" y="21105"/>
                    <a:pt x="3000" y="20000"/>
                  </a:cubicBezTo>
                  <a:lnTo>
                    <a:pt x="3000" y="13000"/>
                  </a:lnTo>
                  <a:cubicBezTo>
                    <a:pt x="3000" y="11895"/>
                    <a:pt x="3895" y="11000"/>
                    <a:pt x="5000" y="11000"/>
                  </a:cubicBezTo>
                  <a:close/>
                </a:path>
                <a:path w="24000" h="24000" fill="none">
                  <a:moveTo>
                    <a:pt x="7000" y="11000"/>
                  </a:moveTo>
                  <a:lnTo>
                    <a:pt x="7000" y="7000"/>
                  </a:lnTo>
                  <a:cubicBezTo>
                    <a:pt x="7000" y="4239"/>
                    <a:pt x="9239" y="2000"/>
                    <a:pt x="12000" y="2000"/>
                  </a:cubicBezTo>
                  <a:cubicBezTo>
                    <a:pt x="14761" y="2000"/>
                    <a:pt x="17000" y="4239"/>
                    <a:pt x="17000" y="7000"/>
                  </a:cubicBezTo>
                  <a:lnTo>
                    <a:pt x="17000" y="11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ИИ-помощник позволит закрыть их без участия специалиста.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BrandDeck Text 1050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/>
              <a:t>Затраты времени и ресурсов на рутину</a:t>
            </a:r>
            <a:endParaRPr/>
          </a:p>
        </p:txBody>
      </p:sp>
      <p:grpSp>
        <p:nvGrpSpPr>
          <p:cNvPr id="2" name="BrandDeck Diagram icon_grid" descr="icon_grid: Поиск инструкции занимает до 30 минут.; Треть обращений — повторяющиеся вопросы.; Сотрудники тратят время на рутинные задачи."/>
          <p:cNvGrpSpPr/>
          <p:nvPr/>
        </p:nvGrpSpPr>
        <p:grpSpPr>
          <a:xfrm>
            <a:off x="585216" y="1144312"/>
            <a:ext cx="5129783" cy="3583136"/>
            <a:chOff x="585216" y="1144312"/>
            <a:chExt cx="5129783" cy="3583136"/>
          </a:xfrm>
        </p:grpSpPr>
        <p:sp>
          <p:nvSpPr>
            <p:cNvPr id="1051" name="BrandDeck Diagram Card 1"/>
            <p:cNvSpPr/>
            <p:nvPr/>
          </p:nvSpPr>
          <p:spPr>
            <a:xfrm>
              <a:off x="585216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BrandDeck Diagram Icon 1 Badge"/>
            <p:cNvSpPr/>
            <p:nvPr/>
          </p:nvSpPr>
          <p:spPr>
            <a:xfrm>
              <a:off x="760917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BrandDeck Icon search"/>
            <p:cNvSpPr/>
            <p:nvPr/>
          </p:nvSpPr>
          <p:spPr>
            <a:xfrm>
              <a:off x="867898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11000"/>
                  </a:moveTo>
                  <a:cubicBezTo>
                    <a:pt x="19000" y="15418"/>
                    <a:pt x="15418" y="19000"/>
                    <a:pt x="11000" y="19000"/>
                  </a:cubicBezTo>
                  <a:cubicBezTo>
                    <a:pt x="6582" y="19000"/>
                    <a:pt x="3000" y="15418"/>
                    <a:pt x="3000" y="11000"/>
                  </a:cubicBezTo>
                  <a:cubicBezTo>
                    <a:pt x="3000" y="6582"/>
                    <a:pt x="6582" y="3000"/>
                    <a:pt x="11000" y="3000"/>
                  </a:cubicBezTo>
                  <a:cubicBezTo>
                    <a:pt x="15418" y="3000"/>
                    <a:pt x="19000" y="6582"/>
                    <a:pt x="19000" y="11000"/>
                  </a:cubicBezTo>
                  <a:close/>
                </a:path>
                <a:path w="24000" h="24000" fill="none">
                  <a:moveTo>
                    <a:pt x="21000" y="21000"/>
                  </a:moveTo>
                  <a:lnTo>
                    <a:pt x="16700" y="16700"/>
                  </a:ln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BrandDeck Diagram Text 1"/>
            <p:cNvSpPr txBox="1"/>
            <p:nvPr/>
          </p:nvSpPr>
          <p:spPr>
            <a:xfrm>
              <a:off x="708207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Поиск инструкции занимает до 30 минут.</a:t>
              </a:r>
            </a:p>
          </p:txBody>
        </p:sp>
        <p:sp>
          <p:nvSpPr>
            <p:cNvPr id="1055" name="BrandDeck Diagram Card 2"/>
            <p:cNvSpPr/>
            <p:nvPr/>
          </p:nvSpPr>
          <p:spPr>
            <a:xfrm>
              <a:off x="3204972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6" name="BrandDeck Diagram Icon 2 Badge"/>
            <p:cNvSpPr/>
            <p:nvPr/>
          </p:nvSpPr>
          <p:spPr>
            <a:xfrm>
              <a:off x="3380673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BrandDeck Icon headset"/>
            <p:cNvSpPr/>
            <p:nvPr/>
          </p:nvSpPr>
          <p:spPr>
            <a:xfrm>
              <a:off x="3487654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BrandDeck Diagram Text 2"/>
            <p:cNvSpPr txBox="1"/>
            <p:nvPr/>
          </p:nvSpPr>
          <p:spPr>
            <a:xfrm>
              <a:off x="3327963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Треть обращений —</a:t>
              </a:r>
              <a:r>
                <a:rPr sz="16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1059" name="BrandDeck Diagram Card 3"/>
            <p:cNvSpPr/>
            <p:nvPr/>
          </p:nvSpPr>
          <p:spPr>
            <a:xfrm>
              <a:off x="585216" y="2990744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0" name="BrandDeck Diagram Icon 3 Badge"/>
            <p:cNvSpPr/>
            <p:nvPr/>
          </p:nvSpPr>
          <p:spPr>
            <a:xfrm>
              <a:off x="760917" y="3166445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1" name="BrandDeck Icon users"/>
            <p:cNvSpPr/>
            <p:nvPr/>
          </p:nvSpPr>
          <p:spPr>
            <a:xfrm>
              <a:off x="867898" y="3273426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BrandDeck Diagram Text 3"/>
            <p:cNvSpPr txBox="1"/>
            <p:nvPr/>
          </p:nvSpPr>
          <p:spPr>
            <a:xfrm>
              <a:off x="708207" y="3775714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Сотрудники тратят время на рутинные задачи.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ИИ-помощник отвечает на вопросы по регламентам</a:t>
            </a:r>
            <a:endParaRPr/>
          </a:p>
        </p:txBody>
      </p:sp>
      <p:grpSp>
        <p:nvGrpSpPr>
          <p:cNvPr id="2" name="BrandDeck Diagram icon_grid" descr="icon_grid: ИИ-помощник отвечает на вопросы по регламентам и инструкциям.; Система автоматически формирует ответ и ссылку на документ-источник.; При отсутствии подтверждённого ответа вопрос передаётся специалисту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file-text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ИИ-помощник отвечает на вопросы по регламентам и инструкциям.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link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3000"/>
                  </a:moveTo>
                  <a:cubicBezTo>
                    <a:pt x="10869" y="14162"/>
                    <a:pt x="12200" y="14889"/>
                    <a:pt x="13647" y="14992"/>
                  </a:cubicBezTo>
                  <a:cubicBezTo>
                    <a:pt x="15094" y="15096"/>
                    <a:pt x="16514" y="14566"/>
                    <a:pt x="17540" y="13540"/>
                  </a:cubicBezTo>
                  <a:lnTo>
                    <a:pt x="20540" y="10540"/>
                  </a:lnTo>
                  <a:cubicBezTo>
                    <a:pt x="22435" y="8578"/>
                    <a:pt x="22408" y="5460"/>
                    <a:pt x="20479" y="3531"/>
                  </a:cubicBezTo>
                  <a:cubicBezTo>
                    <a:pt x="18550" y="1602"/>
                    <a:pt x="15432" y="1575"/>
                    <a:pt x="13470" y="3470"/>
                  </a:cubicBezTo>
                  <a:lnTo>
                    <a:pt x="11750" y="5180"/>
                  </a:lnTo>
                </a:path>
                <a:path w="24000" h="24000" fill="none">
                  <a:moveTo>
                    <a:pt x="14000" y="11000"/>
                  </a:moveTo>
                  <a:cubicBezTo>
                    <a:pt x="13131" y="9838"/>
                    <a:pt x="11800" y="9111"/>
                    <a:pt x="10353" y="9008"/>
                  </a:cubicBezTo>
                  <a:cubicBezTo>
                    <a:pt x="8906" y="8904"/>
                    <a:pt x="7486" y="9434"/>
                    <a:pt x="6460" y="10460"/>
                  </a:cubicBezTo>
                  <a:lnTo>
                    <a:pt x="3460" y="13460"/>
                  </a:lnTo>
                  <a:cubicBezTo>
                    <a:pt x="1565" y="15422"/>
                    <a:pt x="1592" y="18540"/>
                    <a:pt x="3521" y="20469"/>
                  </a:cubicBezTo>
                  <a:cubicBezTo>
                    <a:pt x="5450" y="22398"/>
                    <a:pt x="8568" y="22425"/>
                    <a:pt x="10530" y="20530"/>
                  </a:cubicBezTo>
                  <a:lnTo>
                    <a:pt x="12240" y="1882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Система автоматически формирует ответ и ссылку на документ-источник.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circle-check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BrandDeck Text 1132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Вопросы без ответа передаются специалисту</a:t>
            </a:r>
            <a:endParaRPr/>
          </a:p>
        </p:txBody>
      </p:sp>
      <p:sp>
        <p:nvSpPr>
          <p:cNvPr id="1133" name="BrandDeck Body"/>
          <p:cNvSpPr txBox="1"/>
          <p:nvPr/>
        </p:nvSpPr>
        <p:spPr>
          <a:xfrm>
            <a:off x="500060" y="1424137"/>
            <a:ext cx="2558400" cy="28952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3"/>
              </a:spcAft>
            </a:pPr>
            <a:r>
              <a:rPr sz="1689">
                <a:solidFill>
                  <a:srgbClr val="000000"/>
                </a:solidFill>
                <a:latin typeface="Play"/>
              </a:rPr>
              <a:t>• Отсутствующий ответ перенаправляет вопрос специалисту.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3"/>
              </a:spcAft>
            </a:pPr>
            <a:r>
              <a:rPr sz="1689">
                <a:solidFill>
                  <a:srgbClr val="000000"/>
                </a:solidFill>
                <a:latin typeface="Play"/>
              </a:rPr>
              <a:t>• В запрос включается контекст предыдущих попыток.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3"/>
              </a:spcAft>
            </a:pPr>
            <a:r>
              <a:rPr sz="1689">
                <a:solidFill>
                  <a:srgbClr val="000000"/>
                </a:solidFill>
                <a:latin typeface="Play"/>
              </a:rPr>
              <a:t>• Сотрудник получает помощь без ожидания ответа.</a:t>
            </a:r>
          </a:p>
        </p:txBody>
      </p:sp>
      <p:pic>
        <p:nvPicPr>
          <p:cNvPr id="1134" name="BrandDeck Image" descr="сотрудник специалист поддержки"/>
          <p:cNvPicPr>
            <a:picLocks noChangeAspect="1"/>
          </p:cNvPicPr>
          <p:nvPr/>
        </p:nvPicPr>
        <p:blipFill>
          <a:blip r:embed="rId7"/>
          <a:srcRect l="18013" r="18013"/>
          <a:stretch>
            <a:fillRect/>
          </a:stretch>
        </p:blipFill>
        <p:spPr>
          <a:xfrm>
            <a:off x="3314493" y="1424137"/>
            <a:ext cx="3291060" cy="28952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BrandDeck Text 1132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Модель работает внутри контура компании</a:t>
            </a:r>
            <a:endParaRPr/>
          </a:p>
        </p:txBody>
      </p:sp>
      <p:sp>
        <p:nvSpPr>
          <p:cNvPr id="1133" name="BrandDeck Body"/>
          <p:cNvSpPr txBox="1"/>
          <p:nvPr/>
        </p:nvSpPr>
        <p:spPr>
          <a:xfrm>
            <a:off x="500060" y="1424137"/>
            <a:ext cx="2558400" cy="28952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>
                <a:solidFill>
                  <a:srgbClr val="000000"/>
                </a:solidFill>
                <a:latin typeface="Play"/>
              </a:rPr>
              <a:t>• Модель с открытыми весами работает внутри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>
                <a:solidFill>
                  <a:srgbClr val="000000"/>
                </a:solidFill>
                <a:latin typeface="Play"/>
              </a:rPr>
              <a:t>• Документы не покидают внутреннюю сеть и не уходят наружу.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>
                <a:solidFill>
                  <a:srgbClr val="000000"/>
                </a:solidFill>
                <a:latin typeface="Play"/>
              </a:rPr>
              <a:t>• Обработка запросов происходит без передачи данных внешним сервисам.</a:t>
            </a:r>
          </a:p>
        </p:txBody>
      </p:sp>
      <p:pic>
        <p:nvPicPr>
          <p:cNvPr id="1134" name="BrandDeck Image" descr="внутренний контур серверная"/>
          <p:cNvPicPr>
            <a:picLocks noChangeAspect="1"/>
          </p:cNvPicPr>
          <p:nvPr/>
        </p:nvPicPr>
        <p:blipFill>
          <a:blip r:embed="rId7"/>
          <a:srcRect l="18013" r="18013"/>
          <a:stretch>
            <a:fillRect/>
          </a:stretch>
        </p:blipFill>
        <p:spPr>
          <a:xfrm>
            <a:off x="3314493" y="1424137"/>
            <a:ext cx="3291060" cy="28952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BrandDeck Text 1050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Сотрудник получает мгновенный ответ и ссылку</a:t>
            </a:r>
            <a:endParaRPr/>
          </a:p>
        </p:txBody>
      </p:sp>
      <p:grpSp>
        <p:nvGrpSpPr>
          <p:cNvPr id="2" name="BrandDeck Diagram icon_grid" descr="icon_grid: Модель отвечает на вопросы по регламентам и инструкциям.; При отсутствии ответа вопрос передаётся специалисту с контекстом.; Сотрудник сразу получает подтверждённый ответ и ссылку на документ."/>
          <p:cNvGrpSpPr/>
          <p:nvPr/>
        </p:nvGrpSpPr>
        <p:grpSpPr>
          <a:xfrm>
            <a:off x="585216" y="1144312"/>
            <a:ext cx="5129783" cy="3583136"/>
            <a:chOff x="585216" y="1144312"/>
            <a:chExt cx="5129783" cy="3583136"/>
          </a:xfrm>
        </p:grpSpPr>
        <p:sp>
          <p:nvSpPr>
            <p:cNvPr id="1051" name="BrandDeck Diagram Card 1"/>
            <p:cNvSpPr/>
            <p:nvPr/>
          </p:nvSpPr>
          <p:spPr>
            <a:xfrm>
              <a:off x="585216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BrandDeck Diagram Icon 1 Badge"/>
            <p:cNvSpPr/>
            <p:nvPr/>
          </p:nvSpPr>
          <p:spPr>
            <a:xfrm>
              <a:off x="760917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BrandDeck Icon file-text"/>
            <p:cNvSpPr/>
            <p:nvPr/>
          </p:nvSpPr>
          <p:spPr>
            <a:xfrm>
              <a:off x="867898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BrandDeck Diagram Text 1"/>
            <p:cNvSpPr txBox="1"/>
            <p:nvPr/>
          </p:nvSpPr>
          <p:spPr>
            <a:xfrm>
              <a:off x="708207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Модель отвечает на вопросы по регламентам и инструкциям.</a:t>
              </a:r>
            </a:p>
          </p:txBody>
        </p:sp>
        <p:sp>
          <p:nvSpPr>
            <p:cNvPr id="1055" name="BrandDeck Diagram Card 2"/>
            <p:cNvSpPr/>
            <p:nvPr/>
          </p:nvSpPr>
          <p:spPr>
            <a:xfrm>
              <a:off x="3204972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6" name="BrandDeck Diagram Icon 2 Badge"/>
            <p:cNvSpPr/>
            <p:nvPr/>
          </p:nvSpPr>
          <p:spPr>
            <a:xfrm>
              <a:off x="3380673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BrandDeck Icon circle-help"/>
            <p:cNvSpPr/>
            <p:nvPr/>
          </p:nvSpPr>
          <p:spPr>
            <a:xfrm>
              <a:off x="3487654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BrandDeck Diagram Text 2"/>
            <p:cNvSpPr txBox="1"/>
            <p:nvPr/>
          </p:nvSpPr>
          <p:spPr>
            <a:xfrm>
              <a:off x="3327963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При отсутствии ответа вопрос передаётся специалисту с контекстом.</a:t>
              </a:r>
            </a:p>
          </p:txBody>
        </p:sp>
        <p:sp>
          <p:nvSpPr>
            <p:cNvPr id="1059" name="BrandDeck Diagram Card 3"/>
            <p:cNvSpPr/>
            <p:nvPr/>
          </p:nvSpPr>
          <p:spPr>
            <a:xfrm>
              <a:off x="585216" y="2990744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0" name="BrandDeck Diagram Icon 3 Badge"/>
            <p:cNvSpPr/>
            <p:nvPr/>
          </p:nvSpPr>
          <p:spPr>
            <a:xfrm>
              <a:off x="760917" y="3166445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1" name="BrandDeck Icon users"/>
            <p:cNvSpPr/>
            <p:nvPr/>
          </p:nvSpPr>
          <p:spPr>
            <a:xfrm>
              <a:off x="867898" y="3273426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BrandDeck Diagram Text 3"/>
            <p:cNvSpPr txBox="1"/>
            <p:nvPr/>
          </p:nvSpPr>
          <p:spPr>
            <a:xfrm>
              <a:off x="708207" y="3775714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Сотрудник сразу получает подтверждённый ответ и ссылку на документ.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10"/>
              <a:t>Пилот охватывает 2 подразделения и 150 сотрудников</a:t>
            </a:r>
            <a:endParaRPr/>
          </a:p>
        </p:txBody>
      </p:sp>
      <p:grpSp>
        <p:nvGrpSpPr>
          <p:cNvPr id="2" name="BrandDeck Diagram pyramid" descr="pyramid: 150 сотрудников Пользователи пилотной группы; 2 подразделения Охват тестирования; 6 недель Срок проведения пилота"/>
          <p:cNvGrpSpPr/>
          <p:nvPr/>
        </p:nvGrpSpPr>
        <p:grpSpPr>
          <a:xfrm>
            <a:off x="4643624" y="768667"/>
            <a:ext cx="3855850" cy="3511296"/>
            <a:chOff x="4643624" y="768667"/>
            <a:chExt cx="3855850" cy="3511296"/>
          </a:xfrm>
        </p:grpSpPr>
        <p:sp>
          <p:nvSpPr>
            <p:cNvPr id="508" name="BrandDeck Diagram Level 1"/>
            <p:cNvSpPr/>
            <p:nvPr/>
          </p:nvSpPr>
          <p:spPr>
            <a:xfrm>
              <a:off x="5210107" y="768667"/>
              <a:ext cx="553410" cy="1133856"/>
            </a:xfrm>
            <a:custGeom>
              <a:avLst/>
              <a:gdLst/>
              <a:ahLst/>
              <a:cxnLst/>
              <a:rect l="l" t="t" r="r" b="b"/>
              <a:pathLst>
                <a:path w="605" h="1240" stroke="0">
                  <a:moveTo>
                    <a:pt x="278" y="0"/>
                  </a:moveTo>
                  <a:lnTo>
                    <a:pt x="328" y="0"/>
                  </a:lnTo>
                  <a:lnTo>
                    <a:pt x="605" y="1240"/>
                  </a:lnTo>
                  <a:lnTo>
                    <a:pt x="0" y="1240"/>
                  </a:lnTo>
                  <a:close/>
                </a:path>
              </a:pathLst>
            </a:custGeom>
            <a:solidFill>
              <a:srgbClr val="006DEB"/>
            </a:solidFill>
            <a:ln w="0"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Text 1"/>
            <p:cNvSpPr txBox="1"/>
            <p:nvPr/>
          </p:nvSpPr>
          <p:spPr>
            <a:xfrm>
              <a:off x="6610858" y="768667"/>
              <a:ext cx="1888616" cy="11338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1">
                  <a:solidFill>
                    <a:srgbClr val="000000"/>
                  </a:solidFill>
                  <a:latin typeface="Play"/>
                </a:rPr>
                <a:t>150 сотрудников</a:t>
              </a:r>
            </a:p>
            <a:p>
              <a:pPr algn="l">
                <a:lnSpc>
                  <a:spcPct val="110000"/>
                </a:lnSpc>
                <a:spcBef>
                  <a:spcPts val="352"/>
                </a:spcBef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Пользователи пилотной группы</a:t>
              </a:r>
            </a:p>
          </p:txBody>
        </p:sp>
        <p:sp>
          <p:nvSpPr>
            <p:cNvPr id="510" name="BrandDeck Diagram Level 2"/>
            <p:cNvSpPr/>
            <p:nvPr/>
          </p:nvSpPr>
          <p:spPr>
            <a:xfrm>
              <a:off x="4926866" y="1957387"/>
              <a:ext cx="1119894" cy="1133856"/>
            </a:xfrm>
            <a:custGeom>
              <a:avLst/>
              <a:gdLst/>
              <a:ahLst/>
              <a:cxnLst/>
              <a:rect l="l" t="t" r="r" b="b"/>
              <a:pathLst>
                <a:path w="1225" h="1240" stroke="0">
                  <a:moveTo>
                    <a:pt x="295" y="0"/>
                  </a:moveTo>
                  <a:lnTo>
                    <a:pt x="929" y="0"/>
                  </a:lnTo>
                  <a:lnTo>
                    <a:pt x="1225" y="1240"/>
                  </a:lnTo>
                  <a:lnTo>
                    <a:pt x="0" y="1240"/>
                  </a:lnTo>
                  <a:close/>
                </a:path>
              </a:pathLst>
            </a:custGeom>
            <a:solidFill>
              <a:srgbClr val="3E91F0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000000"/>
                  </a:solidFill>
                  <a:latin typeface="Play"/>
                </a:rPr>
                <a:t>02</a:t>
              </a:r>
            </a:p>
          </p:txBody>
        </p:sp>
        <p:sp>
          <p:nvSpPr>
            <p:cNvPr id="511" name="BrandDeck Diagram Text 2"/>
            <p:cNvSpPr txBox="1"/>
            <p:nvPr/>
          </p:nvSpPr>
          <p:spPr>
            <a:xfrm>
              <a:off x="6610858" y="1957387"/>
              <a:ext cx="1888616" cy="11338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1">
                  <a:solidFill>
                    <a:srgbClr val="000000"/>
                  </a:solidFill>
                  <a:latin typeface="Play"/>
                </a:rPr>
                <a:t>2 подразделения</a:t>
              </a:r>
            </a:p>
            <a:p>
              <a:pPr algn="l">
                <a:lnSpc>
                  <a:spcPct val="110000"/>
                </a:lnSpc>
                <a:spcBef>
                  <a:spcPts val="352"/>
                </a:spcBef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Охват тестирования</a:t>
              </a:r>
            </a:p>
          </p:txBody>
        </p:sp>
        <p:sp>
          <p:nvSpPr>
            <p:cNvPr id="512" name="BrandDeck Diagram Level 3"/>
            <p:cNvSpPr/>
            <p:nvPr/>
          </p:nvSpPr>
          <p:spPr>
            <a:xfrm>
              <a:off x="4643624" y="3146107"/>
              <a:ext cx="1686377" cy="1133856"/>
            </a:xfrm>
            <a:custGeom>
              <a:avLst/>
              <a:gdLst/>
              <a:ahLst/>
              <a:cxnLst/>
              <a:rect l="l" t="t" r="r" b="b"/>
              <a:pathLst>
                <a:path w="1844" h="1240" stroke="0">
                  <a:moveTo>
                    <a:pt x="295" y="0"/>
                  </a:moveTo>
                  <a:lnTo>
                    <a:pt x="1549" y="0"/>
                  </a:lnTo>
                  <a:lnTo>
                    <a:pt x="1844" y="1240"/>
                  </a:lnTo>
                  <a:lnTo>
                    <a:pt x="0" y="1240"/>
                  </a:lnTo>
                  <a:close/>
                </a:path>
              </a:pathLst>
            </a:custGeom>
            <a:solidFill>
              <a:srgbClr val="7DB4F5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000000"/>
                  </a:solidFill>
                  <a:latin typeface="Play"/>
                </a:rPr>
                <a:t>03</a:t>
              </a:r>
            </a:p>
          </p:txBody>
        </p:sp>
        <p:sp>
          <p:nvSpPr>
            <p:cNvPr id="513" name="BrandDeck Diagram Text 3"/>
            <p:cNvSpPr txBox="1"/>
            <p:nvPr/>
          </p:nvSpPr>
          <p:spPr>
            <a:xfrm>
              <a:off x="6610858" y="3146107"/>
              <a:ext cx="1888616" cy="11338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1">
                  <a:solidFill>
                    <a:srgbClr val="000000"/>
                  </a:solidFill>
                  <a:latin typeface="Play"/>
                </a:rPr>
                <a:t>6 недель</a:t>
              </a:r>
            </a:p>
            <a:p>
              <a:pPr algn="l">
                <a:lnSpc>
                  <a:spcPct val="110000"/>
                </a:lnSpc>
                <a:spcBef>
                  <a:spcPts val="352"/>
                </a:spcBef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Срок проведения пилота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Срок пилота составляет 6 недель</a:t>
            </a:r>
          </a:p>
        </p:txBody>
      </p:sp>
      <p:grpSp>
        <p:nvGrpSpPr>
          <p:cNvPr id="3" name="BrandDeck Diagram process" descr="process: Старт пилота Запуск в 2 подразделения; Период работы Длительность 6 недель; Финал пилота Анализ результатов"/>
          <p:cNvGrpSpPr/>
          <p:nvPr/>
        </p:nvGrpSpPr>
        <p:grpSpPr>
          <a:xfrm>
            <a:off x="4637088" y="703710"/>
            <a:ext cx="3862387" cy="3682237"/>
            <a:chOff x="4637088" y="703710"/>
            <a:chExt cx="3862387" cy="3682237"/>
          </a:xfrm>
        </p:grpSpPr>
        <p:sp>
          <p:nvSpPr>
            <p:cNvPr id="4" name="BrandDeck Diagram Connector"/>
            <p:cNvSpPr/>
            <p:nvPr/>
          </p:nvSpPr>
          <p:spPr>
            <a:xfrm>
              <a:off x="4876660" y="1299128"/>
              <a:ext cx="32918" cy="2491401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Step 1 Badge"/>
            <p:cNvSpPr/>
            <p:nvPr/>
          </p:nvSpPr>
          <p:spPr>
            <a:xfrm>
              <a:off x="4637088" y="1043096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6" name="BrandDeck Diagram Detail Card 1"/>
            <p:cNvSpPr/>
            <p:nvPr/>
          </p:nvSpPr>
          <p:spPr>
            <a:xfrm>
              <a:off x="5258880" y="703710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350320" y="703710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Старт пилота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Запуск в 2 подразделения</a:t>
              </a:r>
            </a:p>
          </p:txBody>
        </p:sp>
        <p:sp>
          <p:nvSpPr>
            <p:cNvPr id="8" name="BrandDeck Diagram Step 2 Badge"/>
            <p:cNvSpPr/>
            <p:nvPr/>
          </p:nvSpPr>
          <p:spPr>
            <a:xfrm>
              <a:off x="4637088" y="2288797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9" name="BrandDeck Diagram Detail Card 2"/>
            <p:cNvSpPr/>
            <p:nvPr/>
          </p:nvSpPr>
          <p:spPr>
            <a:xfrm>
              <a:off x="5258880" y="1949410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Diagram Text 2"/>
            <p:cNvSpPr txBox="1"/>
            <p:nvPr/>
          </p:nvSpPr>
          <p:spPr>
            <a:xfrm>
              <a:off x="5350320" y="1949410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Период работы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Длительность 6 недель</a:t>
              </a:r>
            </a:p>
          </p:txBody>
        </p:sp>
        <p:sp>
          <p:nvSpPr>
            <p:cNvPr id="11" name="BrandDeck Diagram Step 3 Badge"/>
            <p:cNvSpPr/>
            <p:nvPr/>
          </p:nvSpPr>
          <p:spPr>
            <a:xfrm>
              <a:off x="4637088" y="3534497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12" name="BrandDeck Diagram Detail Card 3"/>
            <p:cNvSpPr/>
            <p:nvPr/>
          </p:nvSpPr>
          <p:spPr>
            <a:xfrm>
              <a:off x="5258880" y="3195111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Text 3"/>
            <p:cNvSpPr txBox="1"/>
            <p:nvPr/>
          </p:nvSpPr>
          <p:spPr>
            <a:xfrm>
              <a:off x="5350320" y="3195111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Финал пилота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Анализ результатов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Измерим время поиска и долю закрытых обращений</a:t>
            </a:r>
          </a:p>
        </p:txBody>
      </p:sp>
      <p:grpSp>
        <p:nvGrpSpPr>
          <p:cNvPr id="3" name="BrandDeck Diagram icon_grid" descr="icon_grid: Время поиска Сокращение с 30 минут до минимума; Доля закрытых Процент вопросов без участия специалиста"/>
          <p:cNvGrpSpPr/>
          <p:nvPr/>
        </p:nvGrpSpPr>
        <p:grpSpPr>
          <a:xfrm>
            <a:off x="4637088" y="824281"/>
            <a:ext cx="3862387" cy="3347618"/>
            <a:chOff x="4637088" y="824281"/>
            <a:chExt cx="3862387" cy="3347618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824281"/>
              <a:ext cx="3862387" cy="1618945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856544" y="1379838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clock"/>
            <p:cNvSpPr/>
            <p:nvPr/>
          </p:nvSpPr>
          <p:spPr>
            <a:xfrm>
              <a:off x="4968267" y="1491561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496049" y="955955"/>
              <a:ext cx="2783969" cy="135559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Время поиска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Сокращение с 30 минут до минимума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637088" y="2552954"/>
              <a:ext cx="3862387" cy="1618945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856544" y="310851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pie"/>
            <p:cNvSpPr/>
            <p:nvPr/>
          </p:nvSpPr>
          <p:spPr>
            <a:xfrm>
              <a:off x="4968267" y="322023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2000"/>
                  </a:moveTo>
                  <a:cubicBezTo>
                    <a:pt x="21552" y="12000"/>
                    <a:pt x="22005" y="11551"/>
                    <a:pt x="21950" y="11002"/>
                  </a:cubicBezTo>
                  <a:cubicBezTo>
                    <a:pt x="21475" y="6269"/>
                    <a:pt x="17731" y="2525"/>
                    <a:pt x="12997" y="2051"/>
                  </a:cubicBezTo>
                  <a:cubicBezTo>
                    <a:pt x="12447" y="1996"/>
                    <a:pt x="11999" y="2449"/>
                    <a:pt x="11999" y="3001"/>
                  </a:cubicBezTo>
                  <a:lnTo>
                    <a:pt x="11999" y="11001"/>
                  </a:lnTo>
                  <a:cubicBezTo>
                    <a:pt x="11999" y="11553"/>
                    <a:pt x="12447" y="12001"/>
                    <a:pt x="12999" y="12001"/>
                  </a:cubicBezTo>
                  <a:close/>
                </a:path>
                <a:path w="24000" h="24000" fill="none">
                  <a:moveTo>
                    <a:pt x="21210" y="15890"/>
                  </a:moveTo>
                  <a:cubicBezTo>
                    <a:pt x="19460" y="20029"/>
                    <a:pt x="15164" y="22492"/>
                    <a:pt x="10708" y="21912"/>
                  </a:cubicBezTo>
                  <a:cubicBezTo>
                    <a:pt x="6252" y="21331"/>
                    <a:pt x="2730" y="17849"/>
                    <a:pt x="2099" y="13400"/>
                  </a:cubicBezTo>
                  <a:cubicBezTo>
                    <a:pt x="1467" y="8951"/>
                    <a:pt x="3881" y="4627"/>
                    <a:pt x="8000" y="283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496049" y="2684628"/>
              <a:ext cx="2783969" cy="135559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Доля закрытых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Процент вопросов без участия специалиста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Одобрить пилот и выделить команду из 3 человек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/>
          </a:p>
        </p:txBody>
      </p:sp>
      <p:sp>
        <p:nvSpPr>
          <p:cNvPr id="4" name="BrandDeck Text 4"/>
          <p:cNvSpPr>
            <a:spLocks noGrp="1"/>
          </p:cNvSpPr>
          <p:nvPr>
            <p:ph type="body" idx="2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Одобрить запуск пилота ИИ-помощника для 2 подразделений.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Выделить команду из 3 человек для реализации проекта.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Запустить пилот в течение 6 недель для оценки эффективности.</a:t>
            </a:r>
          </a:p>
        </p:txBody>
      </p:sp>
      <p:sp>
        <p:nvSpPr>
          <p:cNvPr id="5" name="BrandDeck Subtitle"/>
          <p:cNvSpPr txBox="1"/>
          <p:nvPr/>
        </p:nvSpPr>
        <p:spPr>
          <a:xfrm>
            <a:off x="430360" y="1137920"/>
            <a:ext cx="39456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5"/>
              </a:spcAft>
            </a:pPr>
            <a:r>
              <a:rPr sz="1100">
                <a:solidFill>
                  <a:srgbClr val="FAFCFF"/>
                </a:solidFill>
                <a:latin typeface="Play"/>
              </a:rPr>
              <a:t>Решение о запуске пилота и выделении команды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2026-09-26T07:52:50Z</dcterms:modified>
  <dc:subject>Template-adaptive presentation</dc:subject>
  <cp:keywords>BrandDeck, template-adaptive, presentation</cp:keywords>
  <dc:creator/>
  <dc:description/>
</cp:coreProperties>
</file>