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вводит тему проекта по внедрению ИИ-помощника во внутренний портал.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Треть обращений в поддержку приходится на повторяющиеся вопросы, что перегружает команду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инструкции занимает до 30 минут, что тормозит работу. Мы будем измерять сокращение этого времени в ходе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на вопросы сотрудников по регламентам и предоставляет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функционирует внутри корпоративного контура, обеспечивая локальность работы и не выводя документы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ответ, вопрос автоматически передаётся специалисту вместе с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рамках пилота модель будет тестироваться на двух подразделениях с общим числом сотрудников 150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эффективности пилота мы будем отслеживать время поиска ответа и долю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 пройдет в течение 6 недель с командой из трех человек, оценивая время поиска и долю закрытых обращений.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необходимо одобрить команду из трёх человек и запустить проект на шесть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8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25" Type="http://schemas.openxmlformats.org/officeDocument/2006/relationships/slideLayout" Target="../slideLayouts/slideLayout28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5"/>
    <p:sldLayoutId id="2147483658" r:id="rId8"/>
    <p:sldLayoutId id="2147483659" r:id="rId9"/>
    <p:sldLayoutId id="2147483675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71.png"/><Relationship Id="rId7" Type="http://schemas.openxmlformats.org/officeDocument/2006/relationships/image" Target="../media/image223.jpeg"/><Relationship Id="rId8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71.png"/><Relationship Id="rId7" Type="http://schemas.openxmlformats.org/officeDocument/2006/relationships/image" Target="../media/image224.jpeg"/><Relationship Id="rId8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randDeck Text 401"/>
          <p:cNvSpPr txBox="1"/>
          <p:nvPr>
            <p:ph type="title"/>
          </p:nvPr>
        </p:nvSpPr>
        <p:spPr>
          <a:xfrm>
            <a:off x="1143190" y="1190618"/>
            <a:ext cx="6949440" cy="544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ctr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2400"/>
              <a:t>Поиск инструкции занимает до 30 минут</a:t>
            </a:r>
            <a:endParaRPr/>
          </a:p>
        </p:txBody>
      </p:sp>
      <p:sp>
        <p:nvSpPr>
          <p:cNvPr id="402" name="BrandDeck Text 402"/>
          <p:cNvSpPr txBox="1"/>
          <p:nvPr>
            <p:ph idx="1" type="body"/>
          </p:nvPr>
        </p:nvSpPr>
        <p:spPr>
          <a:xfrm>
            <a:off x="1143190" y="1836152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-171450" marL="171450" rtl="0" algn="ctr">
              <a:lnSpc>
                <a:spcPct val="115000"/>
              </a:lnSpc>
              <a:spcBef>
                <a:spcPts val="0"/>
              </a:spcBef>
              <a:spcAft>
                <a:spcPts val="182"/>
              </a:spcAft>
              <a:buClr>
                <a:schemeClr val="lt1"/>
              </a:buClr>
              <a:buSzPts val="1600"/>
              <a:buNone/>
            </a:pPr>
            <a:r>
              <a:rPr sz="1220"/>
              <a:t>Инициатива по внедрению ИИ-помощника для ускорения работы сотрудников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19" name="Google Shape;1119;p69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3" name="Google Shape;1123;p69"/>
          <p:cNvSpPr/>
          <p:nvPr/>
        </p:nvSpPr>
        <p:spPr>
          <a:xfrm>
            <a:off x="500061" y="1424137"/>
            <a:ext cx="2919397" cy="289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69"/>
          <p:cNvSpPr/>
          <p:nvPr/>
        </p:nvSpPr>
        <p:spPr>
          <a:xfrm>
            <a:off x="3657581" y="1209852"/>
            <a:ext cx="5200623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BrandDeck Text 1132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Треть обращений в поддержку — повторяющиеся вопросы</a:t>
            </a:r>
            <a:endParaRPr/>
          </a:p>
        </p:txBody>
      </p:sp>
      <p:sp>
        <p:nvSpPr>
          <p:cNvPr id="1133" name="BrandDeck Body"/>
          <p:cNvSpPr txBox="1"/>
          <p:nvPr/>
        </p:nvSpPr>
        <p:spPr>
          <a:xfrm>
            <a:off x="500060" y="1424137"/>
            <a:ext cx="2558400" cy="2895223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Треть обращений в поддержку — повторяющиеся вопросы.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Это создает лишнюю нагрузку на службу поддержки.</a:t>
            </a:r>
          </a:p>
        </p:txBody>
      </p:sp>
      <p:pic>
        <p:nvPicPr>
          <p:cNvPr id="1134" name="BrandDeck Image" descr="сотрудник специалист поддержки"/>
          <p:cNvPicPr>
            <a:picLocks noChangeAspect="1"/>
          </p:cNvPicPr>
          <p:nvPr/>
        </p:nvPicPr>
        <p:blipFill>
          <a:blip r:embed="rId7"/>
          <a:srcRect l="25938" r="10087"/>
          <a:stretch>
            <a:fillRect/>
          </a:stretch>
        </p:blipFill>
        <p:spPr>
          <a:xfrm>
            <a:off x="3314493" y="1424137"/>
            <a:ext cx="3291060" cy="2895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BrandDeck Text 68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Сотрудники тратят до 30 минут на поиск нужной инструкции</a:t>
            </a:r>
            <a:endParaRPr/>
          </a:p>
        </p:txBody>
      </p:sp>
      <p:grpSp>
        <p:nvGrpSpPr>
          <p:cNvPr id="2" name="BrandDeck Diagram icon_grid" descr="icon_grid: Сотрудник тратит до 30 минут на поиск нужной инструкции.; Долгий поиск снижает продуктивность при работе с регламентами.; Текущее время поиска является базой для оценки эффекта пилота."/>
          <p:cNvGrpSpPr/>
          <p:nvPr/>
        </p:nvGrpSpPr>
        <p:grpSpPr>
          <a:xfrm>
            <a:off x="438148" y="1819373"/>
            <a:ext cx="8305756" cy="2290463"/>
            <a:chOff x="438148" y="1819373"/>
            <a:chExt cx="8305756" cy="2290463"/>
          </a:xfrm>
        </p:grpSpPr>
        <p:sp>
          <p:nvSpPr>
            <p:cNvPr id="686" name="BrandDeck Diagram Card 1"/>
            <p:cNvSpPr/>
            <p:nvPr/>
          </p:nvSpPr>
          <p:spPr>
            <a:xfrm>
              <a:off x="438148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BrandDeck Diagram Icon 1 Badge"/>
            <p:cNvSpPr/>
            <p:nvPr/>
          </p:nvSpPr>
          <p:spPr>
            <a:xfrm>
              <a:off x="657604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BrandDeck Icon users"/>
            <p:cNvSpPr/>
            <p:nvPr/>
          </p:nvSpPr>
          <p:spPr>
            <a:xfrm>
              <a:off x="738071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BrandDeck Diagram Text 1"/>
            <p:cNvSpPr txBox="1"/>
            <p:nvPr/>
          </p:nvSpPr>
          <p:spPr>
            <a:xfrm>
              <a:off x="1155037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Сотрудник тратит до 30 минут на поиск нужной инструкции.</a:t>
              </a:r>
            </a:p>
          </p:txBody>
        </p:sp>
        <p:sp>
          <p:nvSpPr>
            <p:cNvPr id="690" name="BrandDeck Diagram Card 2"/>
            <p:cNvSpPr/>
            <p:nvPr/>
          </p:nvSpPr>
          <p:spPr>
            <a:xfrm>
              <a:off x="4674084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1" name="BrandDeck Diagram Icon 2 Badge"/>
            <p:cNvSpPr/>
            <p:nvPr/>
          </p:nvSpPr>
          <p:spPr>
            <a:xfrm>
              <a:off x="4893540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BrandDeck Icon search"/>
            <p:cNvSpPr/>
            <p:nvPr/>
          </p:nvSpPr>
          <p:spPr>
            <a:xfrm>
              <a:off x="4974007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11000"/>
                  </a:moveTo>
                  <a:cubicBezTo>
                    <a:pt x="19000" y="15418"/>
                    <a:pt x="15418" y="19000"/>
                    <a:pt x="11000" y="19000"/>
                  </a:cubicBezTo>
                  <a:cubicBezTo>
                    <a:pt x="6582" y="19000"/>
                    <a:pt x="3000" y="15418"/>
                    <a:pt x="3000" y="11000"/>
                  </a:cubicBezTo>
                  <a:cubicBezTo>
                    <a:pt x="3000" y="6582"/>
                    <a:pt x="6582" y="3000"/>
                    <a:pt x="11000" y="3000"/>
                  </a:cubicBezTo>
                  <a:cubicBezTo>
                    <a:pt x="15418" y="3000"/>
                    <a:pt x="19000" y="6582"/>
                    <a:pt x="19000" y="11000"/>
                  </a:cubicBezTo>
                  <a:close/>
                </a:path>
                <a:path w="24000" h="24000" fill="none">
                  <a:moveTo>
                    <a:pt x="21000" y="21000"/>
                  </a:moveTo>
                  <a:lnTo>
                    <a:pt x="16700" y="167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BrandDeck Diagram Text 2"/>
            <p:cNvSpPr txBox="1"/>
            <p:nvPr/>
          </p:nvSpPr>
          <p:spPr>
            <a:xfrm>
              <a:off x="5390973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Долгий поиск снижает продуктивность при работе с регламентами.</a:t>
              </a:r>
            </a:p>
          </p:txBody>
        </p:sp>
        <p:sp>
          <p:nvSpPr>
            <p:cNvPr id="694" name="BrandDeck Diagram Card 3"/>
            <p:cNvSpPr/>
            <p:nvPr/>
          </p:nvSpPr>
          <p:spPr>
            <a:xfrm>
              <a:off x="438148" y="3047662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5" name="BrandDeck Diagram Icon 3 Badge"/>
            <p:cNvSpPr/>
            <p:nvPr/>
          </p:nvSpPr>
          <p:spPr>
            <a:xfrm>
              <a:off x="657604" y="3395869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6" name="BrandDeck Icon clock"/>
            <p:cNvSpPr/>
            <p:nvPr/>
          </p:nvSpPr>
          <p:spPr>
            <a:xfrm>
              <a:off x="738071" y="3476336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BrandDeck Diagram Text 3"/>
            <p:cNvSpPr txBox="1"/>
            <p:nvPr/>
          </p:nvSpPr>
          <p:spPr>
            <a:xfrm>
              <a:off x="1155037" y="317933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Текущее время поиска является базой для оценки эффекта пилота.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BrandDeck Text 68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ИИ-помощник отвечает на вопросы по регламентам и дает ссылку на документ</a:t>
            </a:r>
            <a:endParaRPr/>
          </a:p>
        </p:txBody>
      </p:sp>
      <p:grpSp>
        <p:nvGrpSpPr>
          <p:cNvPr id="2" name="BrandDeck Diagram icon_grid" descr="icon_grid: ИИ-помощник отвечает на вопросы по регламентам и инструкциям.; Система автоматически дает ссылку на документ-источник.; Ответ формируется на основе внутренних правил компании."/>
          <p:cNvGrpSpPr/>
          <p:nvPr/>
        </p:nvGrpSpPr>
        <p:grpSpPr>
          <a:xfrm>
            <a:off x="438148" y="1819373"/>
            <a:ext cx="8305756" cy="2290463"/>
            <a:chOff x="438148" y="1819373"/>
            <a:chExt cx="8305756" cy="2290463"/>
          </a:xfrm>
        </p:grpSpPr>
        <p:sp>
          <p:nvSpPr>
            <p:cNvPr id="686" name="BrandDeck Diagram Card 1"/>
            <p:cNvSpPr/>
            <p:nvPr/>
          </p:nvSpPr>
          <p:spPr>
            <a:xfrm>
              <a:off x="438148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BrandDeck Diagram Icon 1 Badge"/>
            <p:cNvSpPr/>
            <p:nvPr/>
          </p:nvSpPr>
          <p:spPr>
            <a:xfrm>
              <a:off x="657604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BrandDeck Icon file-text"/>
            <p:cNvSpPr/>
            <p:nvPr/>
          </p:nvSpPr>
          <p:spPr>
            <a:xfrm>
              <a:off x="738071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BrandDeck Diagram Text 1"/>
            <p:cNvSpPr txBox="1"/>
            <p:nvPr/>
          </p:nvSpPr>
          <p:spPr>
            <a:xfrm>
              <a:off x="1155037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ИИ-помощник отвечает на вопросы по регламентам и инструкциям.</a:t>
              </a:r>
            </a:p>
          </p:txBody>
        </p:sp>
        <p:sp>
          <p:nvSpPr>
            <p:cNvPr id="690" name="BrandDeck Diagram Card 2"/>
            <p:cNvSpPr/>
            <p:nvPr/>
          </p:nvSpPr>
          <p:spPr>
            <a:xfrm>
              <a:off x="4674084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1" name="BrandDeck Diagram Icon 2 Badge"/>
            <p:cNvSpPr/>
            <p:nvPr/>
          </p:nvSpPr>
          <p:spPr>
            <a:xfrm>
              <a:off x="4893540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BrandDeck Icon link"/>
            <p:cNvSpPr/>
            <p:nvPr/>
          </p:nvSpPr>
          <p:spPr>
            <a:xfrm>
              <a:off x="4974007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BrandDeck Diagram Text 2"/>
            <p:cNvSpPr txBox="1"/>
            <p:nvPr/>
          </p:nvSpPr>
          <p:spPr>
            <a:xfrm>
              <a:off x="5390973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Система автоматически дает ссылку на документ-источник.</a:t>
              </a:r>
            </a:p>
          </p:txBody>
        </p:sp>
        <p:sp>
          <p:nvSpPr>
            <p:cNvPr id="694" name="BrandDeck Diagram Card 3"/>
            <p:cNvSpPr/>
            <p:nvPr/>
          </p:nvSpPr>
          <p:spPr>
            <a:xfrm>
              <a:off x="438148" y="3047662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5" name="BrandDeck Diagram Icon 3 Badge"/>
            <p:cNvSpPr/>
            <p:nvPr/>
          </p:nvSpPr>
          <p:spPr>
            <a:xfrm>
              <a:off x="657604" y="3395869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6" name="BrandDeck Icon scroll-text"/>
            <p:cNvSpPr/>
            <p:nvPr/>
          </p:nvSpPr>
          <p:spPr>
            <a:xfrm>
              <a:off x="738071" y="3476336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12000"/>
                  </a:moveTo>
                  <a:lnTo>
                    <a:pt x="10000" y="12000"/>
                  </a:lnTo>
                </a:path>
                <a:path w="24000" h="24000" fill="none">
                  <a:moveTo>
                    <a:pt x="15000" y="8000"/>
                  </a:moveTo>
                  <a:lnTo>
                    <a:pt x="10000" y="8000"/>
                  </a:lnTo>
                </a:path>
                <a:path w="24000" h="24000" fill="none">
                  <a:moveTo>
                    <a:pt x="19000" y="17000"/>
                  </a:moveTo>
                  <a:lnTo>
                    <a:pt x="19000" y="5000"/>
                  </a:lnTo>
                  <a:cubicBezTo>
                    <a:pt x="19000" y="3895"/>
                    <a:pt x="18105" y="3000"/>
                    <a:pt x="17000" y="3000"/>
                  </a:cubicBezTo>
                  <a:lnTo>
                    <a:pt x="4000" y="3000"/>
                  </a:lnTo>
                </a:path>
                <a:path w="24000" h="24000" fill="none">
                  <a:moveTo>
                    <a:pt x="8000" y="21000"/>
                  </a:moveTo>
                  <a:lnTo>
                    <a:pt x="20000" y="21000"/>
                  </a:lnTo>
                  <a:cubicBezTo>
                    <a:pt x="21105" y="21000"/>
                    <a:pt x="22000" y="20105"/>
                    <a:pt x="22000" y="19000"/>
                  </a:cubicBezTo>
                  <a:lnTo>
                    <a:pt x="22000" y="18000"/>
                  </a:lnTo>
                  <a:cubicBezTo>
                    <a:pt x="22000" y="17448"/>
                    <a:pt x="21552" y="17000"/>
                    <a:pt x="21000" y="17000"/>
                  </a:cubicBezTo>
                  <a:lnTo>
                    <a:pt x="11000" y="17000"/>
                  </a:lnTo>
                  <a:cubicBezTo>
                    <a:pt x="10448" y="17000"/>
                    <a:pt x="10000" y="17448"/>
                    <a:pt x="10000" y="18000"/>
                  </a:cubicBezTo>
                  <a:lnTo>
                    <a:pt x="10000" y="19000"/>
                  </a:lnTo>
                  <a:cubicBezTo>
                    <a:pt x="10000" y="20105"/>
                    <a:pt x="9105" y="21000"/>
                    <a:pt x="8000" y="21000"/>
                  </a:cubicBezTo>
                  <a:cubicBezTo>
                    <a:pt x="6895" y="21000"/>
                    <a:pt x="6000" y="20105"/>
                    <a:pt x="6000" y="19000"/>
                  </a:cubicBezTo>
                  <a:lnTo>
                    <a:pt x="6000" y="5000"/>
                  </a:lnTo>
                  <a:cubicBezTo>
                    <a:pt x="6000" y="3895"/>
                    <a:pt x="5105" y="3000"/>
                    <a:pt x="4000" y="3000"/>
                  </a:cubicBezTo>
                  <a:cubicBezTo>
                    <a:pt x="2895" y="3000"/>
                    <a:pt x="2000" y="3895"/>
                    <a:pt x="2000" y="5000"/>
                  </a:cubicBezTo>
                  <a:lnTo>
                    <a:pt x="2000" y="7000"/>
                  </a:lnTo>
                  <a:cubicBezTo>
                    <a:pt x="2000" y="7552"/>
                    <a:pt x="2448" y="8000"/>
                    <a:pt x="3000" y="8000"/>
                  </a:cubicBezTo>
                  <a:lnTo>
                    <a:pt x="6000" y="8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BrandDeck Diagram Text 3"/>
            <p:cNvSpPr txBox="1"/>
            <p:nvPr/>
          </p:nvSpPr>
          <p:spPr>
            <a:xfrm>
              <a:off x="1155037" y="317933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Ответ формируется на основе внутренних правил компании.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19" name="Google Shape;1119;p69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3" name="Google Shape;1123;p69"/>
          <p:cNvSpPr/>
          <p:nvPr/>
        </p:nvSpPr>
        <p:spPr>
          <a:xfrm>
            <a:off x="500061" y="1424137"/>
            <a:ext cx="2919397" cy="289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69"/>
          <p:cNvSpPr/>
          <p:nvPr/>
        </p:nvSpPr>
        <p:spPr>
          <a:xfrm>
            <a:off x="3657581" y="1209852"/>
            <a:ext cx="5200623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BrandDeck Text 1132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Модель работает внутри контура компании, документы не уходят наружу</a:t>
            </a:r>
            <a:endParaRPr/>
          </a:p>
        </p:txBody>
      </p:sp>
      <p:sp>
        <p:nvSpPr>
          <p:cNvPr id="1133" name="BrandDeck Body"/>
          <p:cNvSpPr txBox="1"/>
          <p:nvPr/>
        </p:nvSpPr>
        <p:spPr>
          <a:xfrm>
            <a:off x="500060" y="1424137"/>
            <a:ext cx="2558400" cy="2895223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• Документы не уходят наружу при обработке запросов.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1"/>
              </a:spcAft>
            </a:pPr>
            <a:r>
              <a:rPr sz="1410">
                <a:solidFill>
                  <a:srgbClr val="000000"/>
                </a:solidFill>
                <a:latin typeface="Play"/>
              </a:rPr>
              <a:t>• Если подтверждённого ответа нет, вопрос уходит специалисту.</a:t>
            </a:r>
          </a:p>
        </p:txBody>
      </p:sp>
      <p:pic>
        <p:nvPicPr>
          <p:cNvPr id="1134" name="BrandDeck Image" descr="внутренний контур серверная"/>
          <p:cNvPicPr>
            <a:picLocks noChangeAspect="1"/>
          </p:cNvPicPr>
          <p:nvPr/>
        </p:nvPicPr>
        <p:blipFill>
          <a:blip r:embed="rId7"/>
          <a:srcRect l="18013" r="18013"/>
          <a:stretch>
            <a:fillRect/>
          </a:stretch>
        </p:blipFill>
        <p:spPr>
          <a:xfrm>
            <a:off x="3314493" y="1424137"/>
            <a:ext cx="3291060" cy="28952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82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220"/>
              <a:t>Если подтвержденного ответа нет, вопрос уходит специалисту с контекстом</a:t>
            </a:r>
            <a:endParaRPr/>
          </a:p>
        </p:txBody>
      </p:sp>
      <p:grpSp>
        <p:nvGrpSpPr>
          <p:cNvPr id="2" name="BrandDeck Diagram process" descr="process: Нет ответа Система не нашла подтверждённый ответ; Передача Вопрос уходит специалисту с деталями; Решение Сотрудник отвечает вручную"/>
          <p:cNvGrpSpPr/>
          <p:nvPr/>
        </p:nvGrpSpPr>
        <p:grpSpPr>
          <a:xfrm>
            <a:off x="4637088" y="703710"/>
            <a:ext cx="3862387" cy="3682237"/>
            <a:chOff x="4637088" y="703710"/>
            <a:chExt cx="3862387" cy="3682237"/>
          </a:xfrm>
        </p:grpSpPr>
        <p:sp>
          <p:nvSpPr>
            <p:cNvPr id="508" name="BrandDeck Diagram Connector"/>
            <p:cNvSpPr/>
            <p:nvPr/>
          </p:nvSpPr>
          <p:spPr>
            <a:xfrm>
              <a:off x="4876660" y="1299128"/>
              <a:ext cx="32918" cy="2491401"/>
            </a:xfrm>
            <a:prstGeom prst="rect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Step 1 Badge"/>
            <p:cNvSpPr/>
            <p:nvPr/>
          </p:nvSpPr>
          <p:spPr>
            <a:xfrm>
              <a:off x="4637088" y="1043096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10" name="BrandDeck Diagram Detail Card 1"/>
            <p:cNvSpPr/>
            <p:nvPr/>
          </p:nvSpPr>
          <p:spPr>
            <a:xfrm>
              <a:off x="5258880" y="703710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Text 1"/>
            <p:cNvSpPr txBox="1"/>
            <p:nvPr/>
          </p:nvSpPr>
          <p:spPr>
            <a:xfrm>
              <a:off x="5350320" y="703710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Нет ответа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Система не нашла подтверждённый ответ</a:t>
              </a:r>
            </a:p>
          </p:txBody>
        </p:sp>
        <p:sp>
          <p:nvSpPr>
            <p:cNvPr id="512" name="BrandDeck Diagram Step 2 Badge"/>
            <p:cNvSpPr/>
            <p:nvPr/>
          </p:nvSpPr>
          <p:spPr>
            <a:xfrm>
              <a:off x="4637088" y="228879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513" name="BrandDeck Diagram Detail Card 2"/>
            <p:cNvSpPr/>
            <p:nvPr/>
          </p:nvSpPr>
          <p:spPr>
            <a:xfrm>
              <a:off x="5258880" y="1949410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BrandDeck Diagram Text 2"/>
            <p:cNvSpPr txBox="1"/>
            <p:nvPr/>
          </p:nvSpPr>
          <p:spPr>
            <a:xfrm>
              <a:off x="5350320" y="1949410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Передача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Вопрос уходит специалисту с деталями</a:t>
              </a:r>
            </a:p>
          </p:txBody>
        </p:sp>
        <p:sp>
          <p:nvSpPr>
            <p:cNvPr id="515" name="BrandDeck Diagram Step 3 Badge"/>
            <p:cNvSpPr/>
            <p:nvPr/>
          </p:nvSpPr>
          <p:spPr>
            <a:xfrm>
              <a:off x="4637088" y="3534497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516" name="BrandDeck Diagram Detail Card 3"/>
            <p:cNvSpPr/>
            <p:nvPr/>
          </p:nvSpPr>
          <p:spPr>
            <a:xfrm>
              <a:off x="5258880" y="3195111"/>
              <a:ext cx="3240595" cy="1190836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BrandDeck Diagram Text 3"/>
            <p:cNvSpPr txBox="1"/>
            <p:nvPr/>
          </p:nvSpPr>
          <p:spPr>
            <a:xfrm>
              <a:off x="5350320" y="3195111"/>
              <a:ext cx="3149155" cy="119083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Решение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Сотрудник отвечает вручную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51" name="BrandDeck Text 225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Пилот охватывает 2 подразделения и 150 сотрудников</a:t>
            </a:r>
            <a:endParaRPr/>
          </a:p>
        </p:txBody>
      </p:sp>
      <p:grpSp>
        <p:nvGrpSpPr>
          <p:cNvPr id="2" name="BrandDeck Diagram icon_grid" descr="icon_grid: Охват 2 подразделения, 150 сотрудников; Длительность 6 недель пилотного запуска"/>
          <p:cNvGrpSpPr/>
          <p:nvPr/>
        </p:nvGrpSpPr>
        <p:grpSpPr>
          <a:xfrm>
            <a:off x="177970" y="1664110"/>
            <a:ext cx="7285820" cy="2189091"/>
            <a:chOff x="177970" y="1664110"/>
            <a:chExt cx="7285820" cy="2189091"/>
          </a:xfrm>
        </p:grpSpPr>
        <p:sp>
          <p:nvSpPr>
            <p:cNvPr id="2256" name="BrandDeck Diagram Card 1"/>
            <p:cNvSpPr/>
            <p:nvPr/>
          </p:nvSpPr>
          <p:spPr>
            <a:xfrm>
              <a:off x="177970" y="1664110"/>
              <a:ext cx="7285820" cy="1021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7" name="BrandDeck Diagram Icon 1 Badge"/>
            <p:cNvSpPr/>
            <p:nvPr/>
          </p:nvSpPr>
          <p:spPr>
            <a:xfrm>
              <a:off x="397425" y="1992073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8" name="BrandDeck Icon building-2"/>
            <p:cNvSpPr/>
            <p:nvPr/>
          </p:nvSpPr>
          <p:spPr>
            <a:xfrm>
              <a:off x="477893" y="2072541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9" name="BrandDeck Diagram Text 1"/>
            <p:cNvSpPr txBox="1"/>
            <p:nvPr/>
          </p:nvSpPr>
          <p:spPr>
            <a:xfrm>
              <a:off x="894859" y="1795783"/>
              <a:ext cx="6349474" cy="75834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Охват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2 подразделения, 150 сотрудников</a:t>
              </a:r>
            </a:p>
          </p:txBody>
        </p:sp>
        <p:sp>
          <p:nvSpPr>
            <p:cNvPr id="2260" name="BrandDeck Diagram Card 2"/>
            <p:cNvSpPr/>
            <p:nvPr/>
          </p:nvSpPr>
          <p:spPr>
            <a:xfrm>
              <a:off x="177970" y="2831514"/>
              <a:ext cx="7285820" cy="1021687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1" name="BrandDeck Diagram Icon 2 Badge"/>
            <p:cNvSpPr/>
            <p:nvPr/>
          </p:nvSpPr>
          <p:spPr>
            <a:xfrm>
              <a:off x="397425" y="3159478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2" name="BrandDeck Icon rocket"/>
            <p:cNvSpPr/>
            <p:nvPr/>
          </p:nvSpPr>
          <p:spPr>
            <a:xfrm>
              <a:off x="477893" y="3239945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3" name="BrandDeck Diagram Text 2"/>
            <p:cNvSpPr txBox="1"/>
            <p:nvPr/>
          </p:nvSpPr>
          <p:spPr>
            <a:xfrm>
              <a:off x="894859" y="2963187"/>
              <a:ext cx="6349474" cy="75834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Длительность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6 недель пилотного запуска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60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60"/>
          <p:cNvSpPr/>
          <p:nvPr/>
        </p:nvSpPr>
        <p:spPr>
          <a:xfrm>
            <a:off x="285749" y="1209852"/>
            <a:ext cx="6648415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BrandDeck Text 872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97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320"/>
              <a:t>Успех пилота измеряется временем поиска ответа и долей закрытых без специалиста обращений</a:t>
            </a:r>
            <a:endParaRPr/>
          </a:p>
        </p:txBody>
      </p:sp>
      <p:graphicFrame>
        <p:nvGraphicFramePr>
          <p:cNvPr id="873" name="BrandDeck Table"/>
          <p:cNvGraphicFramePr>
            <a:graphicFrameLocks noGrp="1"/>
          </p:cNvGraphicFramePr>
          <p:nvPr/>
        </p:nvGraphicFramePr>
        <p:xfrm>
          <a:off x="438148" y="1819373"/>
          <a:ext cx="6381717" cy="2528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0858"/>
                <a:gridCol w="3190859"/>
              </a:tblGrid>
              <a:tr h="624920"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измеряется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1060784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Сколько времени сотрудник тратит на поиск нужной инструкции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  <a:tr h="842852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Доля закрытых обращений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Процент вопросов, решённых ИИ без участия специалиста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BrandDeck Text 1050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Пилот длится 6 недель, требуется команда из 3 человек</a:t>
            </a:r>
            <a:endParaRPr/>
          </a:p>
        </p:txBody>
      </p:sp>
      <p:grpSp>
        <p:nvGrpSpPr>
          <p:cNvPr id="2" name="BrandDeck Diagram icon_grid" descr="icon_grid: Пилот длится 6 недель.; Требуется команда из 3 человек.; Успех измеряется временем поиска и долей закрытых обращений."/>
          <p:cNvGrpSpPr/>
          <p:nvPr/>
        </p:nvGrpSpPr>
        <p:grpSpPr>
          <a:xfrm>
            <a:off x="585216" y="1144312"/>
            <a:ext cx="5129783" cy="3583135"/>
            <a:chOff x="585216" y="1144312"/>
            <a:chExt cx="5129783" cy="3583135"/>
          </a:xfrm>
        </p:grpSpPr>
        <p:sp>
          <p:nvSpPr>
            <p:cNvPr id="1051" name="BrandDeck Diagram Card 1"/>
            <p:cNvSpPr/>
            <p:nvPr/>
          </p:nvSpPr>
          <p:spPr>
            <a:xfrm>
              <a:off x="585216" y="1144312"/>
              <a:ext cx="5129783" cy="1121226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BrandDeck Diagram Icon 1 Badge"/>
            <p:cNvSpPr/>
            <p:nvPr/>
          </p:nvSpPr>
          <p:spPr>
            <a:xfrm>
              <a:off x="804672" y="1522045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BrandDeck Icon rocket"/>
            <p:cNvSpPr/>
            <p:nvPr/>
          </p:nvSpPr>
          <p:spPr>
            <a:xfrm>
              <a:off x="885139" y="1602512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BrandDeck Diagram Text 1"/>
            <p:cNvSpPr txBox="1"/>
            <p:nvPr/>
          </p:nvSpPr>
          <p:spPr>
            <a:xfrm>
              <a:off x="1302105" y="1275985"/>
              <a:ext cx="4193438" cy="85787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Пилот длится 6 недель.</a:t>
              </a:r>
            </a:p>
          </p:txBody>
        </p:sp>
        <p:sp>
          <p:nvSpPr>
            <p:cNvPr id="1055" name="BrandDeck Diagram Card 2"/>
            <p:cNvSpPr/>
            <p:nvPr/>
          </p:nvSpPr>
          <p:spPr>
            <a:xfrm>
              <a:off x="585216" y="2375266"/>
              <a:ext cx="5129783" cy="1121226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6" name="BrandDeck Diagram Icon 2 Badge"/>
            <p:cNvSpPr/>
            <p:nvPr/>
          </p:nvSpPr>
          <p:spPr>
            <a:xfrm>
              <a:off x="804672" y="2752999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BrandDeck Icon users"/>
            <p:cNvSpPr/>
            <p:nvPr/>
          </p:nvSpPr>
          <p:spPr>
            <a:xfrm>
              <a:off x="885139" y="283346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BrandDeck Diagram Text 2"/>
            <p:cNvSpPr txBox="1"/>
            <p:nvPr/>
          </p:nvSpPr>
          <p:spPr>
            <a:xfrm>
              <a:off x="1302105" y="2506940"/>
              <a:ext cx="4193438" cy="85787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Требуется команда из 3 человек.</a:t>
              </a:r>
            </a:p>
          </p:txBody>
        </p:sp>
        <p:sp>
          <p:nvSpPr>
            <p:cNvPr id="1059" name="BrandDeck Diagram Card 3"/>
            <p:cNvSpPr/>
            <p:nvPr/>
          </p:nvSpPr>
          <p:spPr>
            <a:xfrm>
              <a:off x="585216" y="3606221"/>
              <a:ext cx="5129783" cy="1121226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0" name="BrandDeck Diagram Icon 3 Badge"/>
            <p:cNvSpPr/>
            <p:nvPr/>
          </p:nvSpPr>
          <p:spPr>
            <a:xfrm>
              <a:off x="804672" y="3983954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1" name="BrandDeck Icon chart-column"/>
            <p:cNvSpPr/>
            <p:nvPr/>
          </p:nvSpPr>
          <p:spPr>
            <a:xfrm>
              <a:off x="885139" y="4064421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3000"/>
                  </a:moveTo>
                  <a:lnTo>
                    <a:pt x="3000" y="19000"/>
                  </a:lnTo>
                  <a:cubicBezTo>
                    <a:pt x="3000" y="20105"/>
                    <a:pt x="3895" y="21000"/>
                    <a:pt x="5000" y="21000"/>
                  </a:cubicBezTo>
                  <a:lnTo>
                    <a:pt x="21000" y="21000"/>
                  </a:lnTo>
                </a:path>
                <a:path w="24000" h="24000" fill="none">
                  <a:moveTo>
                    <a:pt x="18000" y="17000"/>
                  </a:moveTo>
                  <a:lnTo>
                    <a:pt x="18000" y="9000"/>
                  </a:lnTo>
                </a:path>
                <a:path w="24000" h="24000" fill="none">
                  <a:moveTo>
                    <a:pt x="13000" y="17000"/>
                  </a:moveTo>
                  <a:lnTo>
                    <a:pt x="13000" y="5000"/>
                  </a:lnTo>
                </a:path>
                <a:path w="24000" h="24000" fill="none">
                  <a:moveTo>
                    <a:pt x="8000" y="17000"/>
                  </a:moveTo>
                  <a:lnTo>
                    <a:pt x="8000" y="14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BrandDeck Diagram Text 3"/>
            <p:cNvSpPr txBox="1"/>
            <p:nvPr/>
          </p:nvSpPr>
          <p:spPr>
            <a:xfrm>
              <a:off x="1302105" y="3737894"/>
              <a:ext cx="4193438" cy="857879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Успех измеряется временем поиска и долей закрытых обращений.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/>
              <a:t>Просим одобрить пилот и выделить команду из 3 человек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/>
          </a:p>
        </p:txBody>
      </p:sp>
      <p:sp>
        <p:nvSpPr>
          <p:cNvPr id="4" name="BrandDeck Text 4"/>
          <p:cNvSpPr>
            <a:spLocks noGrp="1"/>
          </p:cNvSpPr>
          <p:nvPr>
            <p:ph type="body" idx="2"/>
          </p:nvPr>
        </p:nvSpPr>
        <p:spPr/>
        <p:txBody>
          <a:bodyPr vert="horz"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Одобрить запуск пилота с 2 подразделениями и 150 сотрудниками.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Выделить команду из 3 человек для работы в течение 6 недель.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Зафиксировать метрики успеха: время поиска и долю закрытых обращений.</a:t>
            </a:r>
          </a:p>
        </p:txBody>
      </p:sp>
      <p:sp>
        <p:nvSpPr>
          <p:cNvPr id="5" name="BrandDeck Subtitle"/>
          <p:cNvSpPr txBox="1"/>
          <p:nvPr/>
        </p:nvSpPr>
        <p:spPr>
          <a:xfrm>
            <a:off x="430360" y="1137920"/>
            <a:ext cx="3945696" cy="457200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</a:pPr>
            <a:r>
              <a:rPr sz="1100">
                <a:solidFill>
                  <a:srgbClr val="FAFCFF"/>
                </a:solidFill>
                <a:latin typeface="Play"/>
              </a:rPr>
              <a:t>Решение о старте пилота и выделении команды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2026-09-28T15:56:30Z</dcterms:modified>
  <dc:subject>Template-adaptive presentation</dc:subject>
  <cp:keywords>BrandDeck, template-adaptive, presentation</cp:keywords>
  <dc:creator/>
  <dc:description/>
</cp:coreProperties>
</file>