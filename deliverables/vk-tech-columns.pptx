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1.xml"/><Relationship Id="rId63" Type="http://schemas.openxmlformats.org/officeDocument/2006/relationships/slide" Target="slides/slide2.xml"/><Relationship Id="rId64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8.xml"/><Relationship Id="rId70" Type="http://schemas.openxmlformats.org/officeDocument/2006/relationships/slide" Target="slides/slide9.xml"/><Relationship Id="rId71" Type="http://schemas.openxmlformats.org/officeDocument/2006/relationships/slide" Target="slides/slide10.xml"/><Relationship Id="rId72" Type="http://schemas.openxmlformats.org/officeDocument/2006/relationships/slide" Target="slides/slide11.xml"/><Relationship Id="rId73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представляет инициативу по внедрению ИИ-помощника для ускорения работы сотрудников и снижения нагрузки на поддержку.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сотрудникам требуется до 30 минут, чтобы найти нужную инструкцию, что замедляет их работу и снижает общую эффективность отдела.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треть обращений в поддержку — это повторяющиеся вопросы, которые занимают время и ресурсы.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одновременно ускоряет работу сотрудников и разгружает команду поддержки за счет автоматизации типовых запросов.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ИИ-помощник автоматически отвечает на вопросы сотрудников и предоставляет ссылку на исходный документ.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Модель работает внутри корпоративного контура, поэтому документы не покидают сеть компании, что исключает утечку данных при обучении или обработке запросов. Это обеспечивает безопасность внутренней информации сотрудников и регламентов. Мы используем только факты из брифа, чтобы избежать необоснованных заявлений о безопасности, так как в исходных данных сделан акцент именно на том, что документы не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вопрос автоматически перенаправляется специалисту с полным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охватывает два подразделения с общим количеством сотрудников 150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Срок пилота фиксирован на шесть недель для сбора достаточной статистики.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оценки успеха пилота мы будем измерять время поиска ответа и долю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пилота необходимо выделить команду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После одобрения мы сразу начнем работу с двумя подразделениями и сформируем команду для реализации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5" Type="http://schemas.openxmlformats.org/officeDocument/2006/relationships/slideLayout" Target="../slideLayouts/slideLayout8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5" r:id="rId5"/>
    <p:sldLayoutId id="2147483658" r:id="rId8"/>
    <p:sldLayoutId id="2147483659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65.png"/><Relationship Id="rId6" Type="http://schemas.openxmlformats.org/officeDocument/2006/relationships/image" Target="../media/image71.png"/><Relationship Id="rId7" Type="http://schemas.openxmlformats.org/officeDocument/2006/relationships/image" Target="../media/image223.jpeg"/><Relationship Id="rId8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224.jpeg"/><Relationship Id="rId5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randDeck Text 401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ctr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1800"/>
              <a:t>Ускорение работы сотрудников через ИИ</a:t>
            </a:r>
            <a:endParaRPr/>
          </a:p>
        </p:txBody>
      </p:sp>
      <p:sp>
        <p:nvSpPr>
          <p:cNvPr id="402" name="BrandDeck Text 402"/>
          <p:cNvSpPr txBox="1"/>
          <p:nvPr>
            <p:ph idx="1" type="body"/>
          </p:nvPr>
        </p:nvSpPr>
        <p:spPr>
          <a:xfrm>
            <a:off x="2473770" y="2199720"/>
            <a:ext cx="4288279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1450" marL="171450" rtl="0" algn="ctr">
              <a:lnSpc>
                <a:spcPct val="115000"/>
              </a:lnSpc>
              <a:spcBef>
                <a:spcPts val="0"/>
              </a:spcBef>
              <a:spcAft>
                <a:spcPts val="165"/>
              </a:spcAft>
              <a:buClr>
                <a:schemeClr val="lt1"/>
              </a:buClr>
              <a:buSzPts val="1600"/>
              <a:buNone/>
            </a:pPr>
            <a:r>
              <a:rPr sz="1100"/>
              <a:t>Инициатива по внедрению ИИ-помощника во внутренний портал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51" name="BrandDeck Text 225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Поиск инструкции занимает до 30 минут</a:t>
            </a:r>
            <a:endParaRPr/>
          </a:p>
        </p:txBody>
      </p:sp>
      <p:grpSp>
        <p:nvGrpSpPr>
          <p:cNvPr id="2" name="BrandDeck Diagram icon_grid" descr="icon_grid: Сотрудники тратят до 30 минут на поиск нужной инструкции.; Время поиска напрямую влияет на общую эффективность отдела."/>
          <p:cNvGrpSpPr/>
          <p:nvPr/>
        </p:nvGrpSpPr>
        <p:grpSpPr>
          <a:xfrm>
            <a:off x="177970" y="1695736"/>
            <a:ext cx="7285819" cy="2105863"/>
            <a:chOff x="177970" y="1695736"/>
            <a:chExt cx="7285819" cy="2105863"/>
          </a:xfrm>
        </p:grpSpPr>
        <p:sp>
          <p:nvSpPr>
            <p:cNvPr id="2256" name="BrandDeck Diagram Card 1"/>
            <p:cNvSpPr/>
            <p:nvPr/>
          </p:nvSpPr>
          <p:spPr>
            <a:xfrm>
              <a:off x="177970" y="1695736"/>
              <a:ext cx="3570051" cy="2105863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7" name="BrandDeck Diagram Icon 1 Badge"/>
            <p:cNvSpPr/>
            <p:nvPr/>
          </p:nvSpPr>
          <p:spPr>
            <a:xfrm>
              <a:off x="397426" y="1915192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8" name="BrandDeck Icon users"/>
            <p:cNvSpPr/>
            <p:nvPr/>
          </p:nvSpPr>
          <p:spPr>
            <a:xfrm>
              <a:off x="530196" y="2047963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9" name="BrandDeck Diagram Text 1"/>
            <p:cNvSpPr txBox="1"/>
            <p:nvPr/>
          </p:nvSpPr>
          <p:spPr>
            <a:xfrm>
              <a:off x="331589" y="2672316"/>
              <a:ext cx="3262813" cy="1019555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Сотрудники тратят до 30 минут на поиск нужной инструкции.</a:t>
              </a:r>
            </a:p>
          </p:txBody>
        </p:sp>
        <p:sp>
          <p:nvSpPr>
            <p:cNvPr id="2260" name="BrandDeck Diagram Card 2"/>
            <p:cNvSpPr/>
            <p:nvPr/>
          </p:nvSpPr>
          <p:spPr>
            <a:xfrm>
              <a:off x="3893738" y="1695736"/>
              <a:ext cx="3570051" cy="2105863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1" name="BrandDeck Diagram Icon 2 Badge"/>
            <p:cNvSpPr/>
            <p:nvPr/>
          </p:nvSpPr>
          <p:spPr>
            <a:xfrm>
              <a:off x="4113194" y="1915192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2" name="BrandDeck Icon clock"/>
            <p:cNvSpPr/>
            <p:nvPr/>
          </p:nvSpPr>
          <p:spPr>
            <a:xfrm>
              <a:off x="4245965" y="2047963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3" name="BrandDeck Diagram Text 2"/>
            <p:cNvSpPr txBox="1"/>
            <p:nvPr/>
          </p:nvSpPr>
          <p:spPr>
            <a:xfrm>
              <a:off x="4047357" y="2672316"/>
              <a:ext cx="3262813" cy="1019555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Время поиска напрямую влияет на общую эффективность отдела.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BrandDeck Text 68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Треть обращений — повторяющиеся вопросы</a:t>
            </a:r>
            <a:endParaRPr/>
          </a:p>
        </p:txBody>
      </p:sp>
      <p:grpSp>
        <p:nvGrpSpPr>
          <p:cNvPr id="2" name="BrandDeck Diagram icon_grid" descr="icon_grid: Треть всех обращений в поддержку — повторяющиеся вопросы.; Эти запросы требуют времени на поиск инструкций.; Рутинные вопросы отвлекают специалистов от сложных задач."/>
          <p:cNvGrpSpPr/>
          <p:nvPr/>
        </p:nvGrpSpPr>
        <p:grpSpPr>
          <a:xfrm>
            <a:off x="438148" y="1819373"/>
            <a:ext cx="8305756" cy="2290463"/>
            <a:chOff x="438148" y="1819373"/>
            <a:chExt cx="8305756" cy="2290463"/>
          </a:xfrm>
        </p:grpSpPr>
        <p:sp>
          <p:nvSpPr>
            <p:cNvPr id="686" name="BrandDeck Diagram Card 1"/>
            <p:cNvSpPr/>
            <p:nvPr/>
          </p:nvSpPr>
          <p:spPr>
            <a:xfrm>
              <a:off x="438148" y="1819373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BrandDeck Diagram Icon 1 Badge"/>
            <p:cNvSpPr/>
            <p:nvPr/>
          </p:nvSpPr>
          <p:spPr>
            <a:xfrm>
              <a:off x="657604" y="2167580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BrandDeck Icon headset"/>
            <p:cNvSpPr/>
            <p:nvPr/>
          </p:nvSpPr>
          <p:spPr>
            <a:xfrm>
              <a:off x="738071" y="2248047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BrandDeck Diagram Text 1"/>
            <p:cNvSpPr txBox="1"/>
            <p:nvPr/>
          </p:nvSpPr>
          <p:spPr>
            <a:xfrm>
              <a:off x="1155037" y="195104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Треть всех обращений в поддержку —</a:t>
              </a:r>
              <a:r>
                <a:rPr sz="1410" b="0">
                  <a:solidFill>
                    <a:srgbClr val="000000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690" name="BrandDeck Diagram Card 2"/>
            <p:cNvSpPr/>
            <p:nvPr/>
          </p:nvSpPr>
          <p:spPr>
            <a:xfrm>
              <a:off x="4674084" y="1819373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1" name="BrandDeck Diagram Icon 2 Badge"/>
            <p:cNvSpPr/>
            <p:nvPr/>
          </p:nvSpPr>
          <p:spPr>
            <a:xfrm>
              <a:off x="4893540" y="2167580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BrandDeck Icon clock"/>
            <p:cNvSpPr/>
            <p:nvPr/>
          </p:nvSpPr>
          <p:spPr>
            <a:xfrm>
              <a:off x="4974007" y="2248047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BrandDeck Diagram Text 2"/>
            <p:cNvSpPr txBox="1"/>
            <p:nvPr/>
          </p:nvSpPr>
          <p:spPr>
            <a:xfrm>
              <a:off x="5390973" y="195104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Эти запросы требуют времени на поиск инструкций.</a:t>
              </a:r>
            </a:p>
          </p:txBody>
        </p:sp>
        <p:sp>
          <p:nvSpPr>
            <p:cNvPr id="694" name="BrandDeck Diagram Card 3"/>
            <p:cNvSpPr/>
            <p:nvPr/>
          </p:nvSpPr>
          <p:spPr>
            <a:xfrm>
              <a:off x="438148" y="3047662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5" name="BrandDeck Diagram Icon 3 Badge"/>
            <p:cNvSpPr/>
            <p:nvPr/>
          </p:nvSpPr>
          <p:spPr>
            <a:xfrm>
              <a:off x="657604" y="3395869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6" name="BrandDeck Icon circle-help"/>
            <p:cNvSpPr/>
            <p:nvPr/>
          </p:nvSpPr>
          <p:spPr>
            <a:xfrm>
              <a:off x="738071" y="3476336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9090" y="9000"/>
                  </a:moveTo>
                  <a:cubicBezTo>
                    <a:pt x="9575" y="7620"/>
                    <a:pt x="10985" y="6791"/>
                    <a:pt x="12427" y="7039"/>
                  </a:cubicBezTo>
                  <a:cubicBezTo>
                    <a:pt x="13869" y="7286"/>
                    <a:pt x="14922" y="8537"/>
                    <a:pt x="14920" y="10000"/>
                  </a:cubicBezTo>
                  <a:cubicBezTo>
                    <a:pt x="14920" y="12000"/>
                    <a:pt x="11920" y="13000"/>
                    <a:pt x="11920" y="13000"/>
                  </a:cubicBezTo>
                </a:path>
                <a:path w="24000" h="24000" fill="none">
                  <a:moveTo>
                    <a:pt x="12000" y="17000"/>
                  </a:moveTo>
                  <a:lnTo>
                    <a:pt x="12010" y="17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BrandDeck Diagram Text 3"/>
            <p:cNvSpPr txBox="1"/>
            <p:nvPr/>
          </p:nvSpPr>
          <p:spPr>
            <a:xfrm>
              <a:off x="1155037" y="317933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Рутинные вопросы отвлекают специалистов от сложных задач.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19" name="Google Shape;1119;p69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0" name="Google Shape;1120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p69"/>
          <p:cNvSpPr/>
          <p:nvPr/>
        </p:nvSpPr>
        <p:spPr>
          <a:xfrm>
            <a:off x="285748" y="1209852"/>
            <a:ext cx="8572456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3" name="Google Shape;1123;p69"/>
          <p:cNvSpPr/>
          <p:nvPr/>
        </p:nvSpPr>
        <p:spPr>
          <a:xfrm>
            <a:off x="500061" y="1424137"/>
            <a:ext cx="2919397" cy="2895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9988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sz="168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69"/>
          <p:cNvSpPr/>
          <p:nvPr/>
        </p:nvSpPr>
        <p:spPr>
          <a:xfrm>
            <a:off x="3657581" y="1209852"/>
            <a:ext cx="5200623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2" name="BrandDeck Text 1132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Влияет на всех сотрудников и специалистов поддержки</a:t>
            </a:r>
            <a:endParaRPr/>
          </a:p>
        </p:txBody>
      </p:sp>
      <p:sp>
        <p:nvSpPr>
          <p:cNvPr id="1133" name="BrandDeck Body"/>
          <p:cNvSpPr txBox="1"/>
          <p:nvPr/>
        </p:nvSpPr>
        <p:spPr>
          <a:xfrm>
            <a:off x="500060" y="1424137"/>
            <a:ext cx="2558400" cy="2895223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Сокращает время поиска инструкций для сотрудников.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Снижает нагрузку на специалистов поддержки.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3"/>
              </a:spcAft>
            </a:pPr>
            <a:r>
              <a:rPr sz="1689">
                <a:solidFill>
                  <a:srgbClr val="000000"/>
                </a:solidFill>
                <a:latin typeface="Play"/>
              </a:rPr>
              <a:t>• Обеспечивает быстрый доступ к актуальным регламентам.</a:t>
            </a:r>
          </a:p>
        </p:txBody>
      </p:sp>
      <p:pic>
        <p:nvPicPr>
          <p:cNvPr id="1134" name="BrandDeck Image" descr="сотрудник специалист поддержки"/>
          <p:cNvPicPr>
            <a:picLocks noChangeAspect="1"/>
          </p:cNvPicPr>
          <p:nvPr/>
        </p:nvPicPr>
        <p:blipFill>
          <a:blip r:embed="rId7"/>
          <a:srcRect l="18013" r="18013"/>
          <a:stretch>
            <a:fillRect/>
          </a:stretch>
        </p:blipFill>
        <p:spPr>
          <a:xfrm>
            <a:off x="3314493" y="1424137"/>
            <a:ext cx="3291060" cy="2895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BrandDeck Text 68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ИИ отвечает на вопросы и дает ссылку на документ</a:t>
            </a:r>
            <a:endParaRPr/>
          </a:p>
        </p:txBody>
      </p:sp>
      <p:grpSp>
        <p:nvGrpSpPr>
          <p:cNvPr id="2" name="BrandDeck Diagram icon_grid" descr="icon_grid: ИИ отвечает на вопросы по регламентам и инструкциям.; Система автоматически добавляет ссылку на документ-источник.; Ответ формируется на основе внутренних знаний компании."/>
          <p:cNvGrpSpPr/>
          <p:nvPr/>
        </p:nvGrpSpPr>
        <p:grpSpPr>
          <a:xfrm>
            <a:off x="438148" y="1819373"/>
            <a:ext cx="8305756" cy="2290463"/>
            <a:chOff x="438148" y="1819373"/>
            <a:chExt cx="8305756" cy="2290463"/>
          </a:xfrm>
        </p:grpSpPr>
        <p:sp>
          <p:nvSpPr>
            <p:cNvPr id="686" name="BrandDeck Diagram Card 1"/>
            <p:cNvSpPr/>
            <p:nvPr/>
          </p:nvSpPr>
          <p:spPr>
            <a:xfrm>
              <a:off x="438148" y="1819373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BrandDeck Diagram Icon 1 Badge"/>
            <p:cNvSpPr/>
            <p:nvPr/>
          </p:nvSpPr>
          <p:spPr>
            <a:xfrm>
              <a:off x="657604" y="2167580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BrandDeck Icon file-text"/>
            <p:cNvSpPr/>
            <p:nvPr/>
          </p:nvSpPr>
          <p:spPr>
            <a:xfrm>
              <a:off x="738071" y="2248047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BrandDeck Diagram Text 1"/>
            <p:cNvSpPr txBox="1"/>
            <p:nvPr/>
          </p:nvSpPr>
          <p:spPr>
            <a:xfrm>
              <a:off x="1155037" y="195104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ИИ отвечает на вопросы по регламентам и инструкциям.</a:t>
              </a:r>
            </a:p>
          </p:txBody>
        </p:sp>
        <p:sp>
          <p:nvSpPr>
            <p:cNvPr id="690" name="BrandDeck Diagram Card 2"/>
            <p:cNvSpPr/>
            <p:nvPr/>
          </p:nvSpPr>
          <p:spPr>
            <a:xfrm>
              <a:off x="4674084" y="1819373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1" name="BrandDeck Diagram Icon 2 Badge"/>
            <p:cNvSpPr/>
            <p:nvPr/>
          </p:nvSpPr>
          <p:spPr>
            <a:xfrm>
              <a:off x="4893540" y="2167580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BrandDeck Icon link"/>
            <p:cNvSpPr/>
            <p:nvPr/>
          </p:nvSpPr>
          <p:spPr>
            <a:xfrm>
              <a:off x="4974007" y="2248047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BrandDeck Diagram Text 2"/>
            <p:cNvSpPr txBox="1"/>
            <p:nvPr/>
          </p:nvSpPr>
          <p:spPr>
            <a:xfrm>
              <a:off x="5390973" y="195104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Система автоматически добавляет ссылку на документ-источник.</a:t>
              </a:r>
            </a:p>
          </p:txBody>
        </p:sp>
        <p:sp>
          <p:nvSpPr>
            <p:cNvPr id="694" name="BrandDeck Diagram Card 3"/>
            <p:cNvSpPr/>
            <p:nvPr/>
          </p:nvSpPr>
          <p:spPr>
            <a:xfrm>
              <a:off x="438148" y="3047662"/>
              <a:ext cx="4069820" cy="1062174"/>
            </a:xfrm>
            <a:prstGeom prst="roundRect">
              <a:avLst>
                <a:gd name="adj" fmla="val 8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5" name="BrandDeck Diagram Icon 3 Badge"/>
            <p:cNvSpPr/>
            <p:nvPr/>
          </p:nvSpPr>
          <p:spPr>
            <a:xfrm>
              <a:off x="657604" y="3395869"/>
              <a:ext cx="365760" cy="365760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6" name="BrandDeck Icon book-open"/>
            <p:cNvSpPr/>
            <p:nvPr/>
          </p:nvSpPr>
          <p:spPr>
            <a:xfrm>
              <a:off x="738071" y="3476336"/>
              <a:ext cx="204825" cy="204825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7000"/>
                  </a:moveTo>
                  <a:lnTo>
                    <a:pt x="12000" y="21000"/>
                  </a:lnTo>
                </a:path>
                <a:path w="24000" h="24000" fill="none">
                  <a:moveTo>
                    <a:pt x="3000" y="18000"/>
                  </a:moveTo>
                  <a:cubicBezTo>
                    <a:pt x="2448" y="18000"/>
                    <a:pt x="2000" y="17552"/>
                    <a:pt x="2000" y="17000"/>
                  </a:cubicBezTo>
                  <a:lnTo>
                    <a:pt x="2000" y="4000"/>
                  </a:lnTo>
                  <a:cubicBezTo>
                    <a:pt x="2000" y="3448"/>
                    <a:pt x="2448" y="3000"/>
                    <a:pt x="3000" y="3000"/>
                  </a:cubicBezTo>
                  <a:lnTo>
                    <a:pt x="8000" y="3000"/>
                  </a:lnTo>
                  <a:cubicBezTo>
                    <a:pt x="10209" y="3000"/>
                    <a:pt x="12000" y="4791"/>
                    <a:pt x="12000" y="7000"/>
                  </a:cubicBezTo>
                  <a:cubicBezTo>
                    <a:pt x="12000" y="4791"/>
                    <a:pt x="13791" y="3000"/>
                    <a:pt x="16000" y="3000"/>
                  </a:cubicBezTo>
                  <a:lnTo>
                    <a:pt x="21000" y="3000"/>
                  </a:lnTo>
                  <a:cubicBezTo>
                    <a:pt x="21552" y="3000"/>
                    <a:pt x="22000" y="3448"/>
                    <a:pt x="22000" y="4000"/>
                  </a:cubicBezTo>
                  <a:lnTo>
                    <a:pt x="22000" y="17000"/>
                  </a:lnTo>
                  <a:cubicBezTo>
                    <a:pt x="22000" y="17552"/>
                    <a:pt x="21552" y="18000"/>
                    <a:pt x="21000" y="18000"/>
                  </a:cubicBezTo>
                  <a:lnTo>
                    <a:pt x="15000" y="18000"/>
                  </a:lnTo>
                  <a:cubicBezTo>
                    <a:pt x="13343" y="18000"/>
                    <a:pt x="12000" y="19343"/>
                    <a:pt x="12000" y="21000"/>
                  </a:cubicBezTo>
                  <a:cubicBezTo>
                    <a:pt x="12000" y="19343"/>
                    <a:pt x="10657" y="18000"/>
                    <a:pt x="9000" y="18000"/>
                  </a:cubicBezTo>
                  <a:close/>
                </a:path>
              </a:pathLst>
            </a:custGeom>
            <a:noFill/>
            <a:ln w="17068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BrandDeck Diagram Text 3"/>
            <p:cNvSpPr txBox="1"/>
            <p:nvPr/>
          </p:nvSpPr>
          <p:spPr>
            <a:xfrm>
              <a:off x="1155037" y="3179336"/>
              <a:ext cx="3133475" cy="798827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Ответ формируется на основе внутренних знаний компании.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51" name="BrandDeck Text 135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>
                <a:latin typeface="Play"/>
              </a:rPr>
              <a:t>Модель с открытыми весами работает внутри контура</a:t>
            </a:r>
            <a:endParaRPr/>
          </a:p>
        </p:txBody>
      </p:sp>
      <p:sp>
        <p:nvSpPr>
          <p:cNvPr id="1469" name="BrandDeck Body"/>
          <p:cNvSpPr txBox="1"/>
          <p:nvPr/>
        </p:nvSpPr>
        <p:spPr>
          <a:xfrm>
            <a:off x="181435" y="1144312"/>
            <a:ext cx="2375238" cy="16594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Документы не уходят наружу при обработке запросов.</a:t>
            </a:r>
          </a:p>
        </p:txBody>
      </p:sp>
      <p:pic>
        <p:nvPicPr>
          <p:cNvPr id="1470" name="BrandDeck Image" descr="внутренний контур серверная"/>
          <p:cNvPicPr>
            <a:picLocks noChangeAspect="1"/>
          </p:cNvPicPr>
          <p:nvPr/>
        </p:nvPicPr>
        <p:blipFill>
          <a:blip r:embed="rId4"/>
          <a:srcRect l="2791" r="2791"/>
          <a:stretch>
            <a:fillRect/>
          </a:stretch>
        </p:blipFill>
        <p:spPr>
          <a:xfrm>
            <a:off x="2812705" y="1144312"/>
            <a:ext cx="6011254" cy="35831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51" name="BrandDeck Text 225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Отсутствие подтвержденного ответа перенаправляет вопрос специалисту</a:t>
            </a:r>
            <a:endParaRPr/>
          </a:p>
        </p:txBody>
      </p:sp>
      <p:sp>
        <p:nvSpPr>
          <p:cNvPr id="2252" name="BrandDeck Text 2252"/>
          <p:cNvSpPr txBox="1"/>
          <p:nvPr/>
        </p:nvSpPr>
        <p:spPr>
          <a:xfrm>
            <a:off x="177970" y="1664110"/>
            <a:ext cx="2381238" cy="21890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406"/>
              </a:spcAft>
              <a:buClr>
                <a:schemeClr val="accent1"/>
              </a:buClr>
              <a:buSzPts val="16600"/>
              <a:buFont typeface="Play"/>
              <a:buNone/>
            </a:pPr>
            <a:r>
              <a:rPr sz="2710" b="1">
                <a:latin typeface="Play"/>
                <a:solidFill>
                  <a:srgbClr val="001515"/>
                </a:solidFill>
              </a:rPr>
              <a:t>Логика эскалации при неуверенности ИИ</a:t>
            </a:r>
            <a:endParaRPr b="1" i="0" sz="16600" u="none" cap="none" strike="noStrike">
              <a:solidFill>
                <a:schemeClr val="accen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53" name="Google Shape;2253;p83"/>
          <p:cNvSpPr txBox="1"/>
          <p:nvPr/>
        </p:nvSpPr>
        <p:spPr>
          <a:xfrm>
            <a:off x="3143234" y="1664110"/>
            <a:ext cx="4320556" cy="21890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endParaRPr b="1" i="0" sz="16600" u="none" cap="none" strike="noStrike">
              <a:solidFill>
                <a:schemeClr val="accent1"/>
              </a:solidFill>
              <a:latin typeface="Play"/>
              <a:ea typeface="Play"/>
              <a:cs typeface="Play"/>
              <a:sym typeface="Play"/>
            </a:endParaRPr>
          </a:p>
        </p:txBody>
      </p:sp>
      <p:grpSp>
        <p:nvGrpSpPr>
          <p:cNvPr id="2" name="BrandDeck Diagram process" descr="process: Вопрос сотрудника Отправлен ИИ-помощнику; Ответ не найден Перенаправляется специалисту"/>
          <p:cNvGrpSpPr/>
          <p:nvPr/>
        </p:nvGrpSpPr>
        <p:grpSpPr>
          <a:xfrm>
            <a:off x="3143233" y="1691542"/>
            <a:ext cx="4320556" cy="2134226"/>
            <a:chOff x="3143233" y="1691542"/>
            <a:chExt cx="4320556" cy="2134226"/>
          </a:xfrm>
        </p:grpSpPr>
        <p:sp>
          <p:nvSpPr>
            <p:cNvPr id="2256" name="BrandDeck Diagram Connector"/>
            <p:cNvSpPr/>
            <p:nvPr/>
          </p:nvSpPr>
          <p:spPr>
            <a:xfrm>
              <a:off x="3382806" y="2211383"/>
              <a:ext cx="32918" cy="1094546"/>
            </a:xfrm>
            <a:prstGeom prst="rect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7" name="BrandDeck Diagram Step 1 Badge"/>
            <p:cNvSpPr/>
            <p:nvPr/>
          </p:nvSpPr>
          <p:spPr>
            <a:xfrm>
              <a:off x="3143233" y="1955350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2258" name="BrandDeck Diagram Detail Card 1"/>
            <p:cNvSpPr/>
            <p:nvPr/>
          </p:nvSpPr>
          <p:spPr>
            <a:xfrm>
              <a:off x="3765026" y="1691542"/>
              <a:ext cx="3698763" cy="1039681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59" name="BrandDeck Diagram Text 1"/>
            <p:cNvSpPr txBox="1"/>
            <p:nvPr/>
          </p:nvSpPr>
          <p:spPr>
            <a:xfrm>
              <a:off x="3856466" y="1691542"/>
              <a:ext cx="3607323" cy="103968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Вопрос сотрудника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Отправлен ИИ-помощнику</a:t>
              </a:r>
            </a:p>
          </p:txBody>
        </p:sp>
        <p:sp>
          <p:nvSpPr>
            <p:cNvPr id="2260" name="BrandDeck Diagram Step 2 Badge"/>
            <p:cNvSpPr/>
            <p:nvPr/>
          </p:nvSpPr>
          <p:spPr>
            <a:xfrm>
              <a:off x="3143233" y="3049896"/>
              <a:ext cx="512064" cy="5120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2261" name="BrandDeck Diagram Detail Card 2"/>
            <p:cNvSpPr/>
            <p:nvPr/>
          </p:nvSpPr>
          <p:spPr>
            <a:xfrm>
              <a:off x="3765026" y="2786087"/>
              <a:ext cx="3698763" cy="1039681"/>
            </a:xfrm>
            <a:prstGeom prst="roundRect">
              <a:avLst>
                <a:gd name="adj" fmla="val 12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62" name="BrandDeck Diagram Text 2"/>
            <p:cNvSpPr txBox="1"/>
            <p:nvPr/>
          </p:nvSpPr>
          <p:spPr>
            <a:xfrm>
              <a:off x="3856466" y="2786087"/>
              <a:ext cx="3607323" cy="103968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Ответ не найден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Перенаправляется специалисту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51" name="BrandDeck Text 2251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Пилот охватывает 2 подразделения и 150 сотрудников</a:t>
            </a:r>
            <a:endParaRPr/>
          </a:p>
        </p:txBody>
      </p:sp>
      <p:sp>
        <p:nvSpPr>
          <p:cNvPr id="2252" name="BrandDeck Text 2252"/>
          <p:cNvSpPr txBox="1"/>
          <p:nvPr/>
        </p:nvSpPr>
        <p:spPr>
          <a:xfrm>
            <a:off x="177970" y="1664110"/>
            <a:ext cx="2381238" cy="21890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accent1"/>
              </a:buClr>
              <a:buSzPts val="16600"/>
              <a:buFont typeface="Play"/>
              <a:buNone/>
            </a:pPr>
            <a:r>
              <a:rPr sz="3200" b="1">
                <a:latin typeface="Play"/>
                <a:solidFill>
                  <a:srgbClr val="001515"/>
                </a:solidFill>
              </a:rPr>
              <a:t>Границы пилотного запуска</a:t>
            </a:r>
            <a:endParaRPr b="1" i="0" sz="16600" u="none" cap="none" strike="noStrike">
              <a:solidFill>
                <a:schemeClr val="accen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53" name="Google Shape;2253;p83"/>
          <p:cNvSpPr txBox="1"/>
          <p:nvPr/>
        </p:nvSpPr>
        <p:spPr>
          <a:xfrm>
            <a:off x="3143234" y="1664110"/>
            <a:ext cx="4320556" cy="21890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615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600"/>
              <a:buFont typeface="Play"/>
              <a:buNone/>
            </a:pPr>
            <a:endParaRPr b="1" i="0" sz="16600" u="none" cap="none" strike="noStrike">
              <a:solidFill>
                <a:schemeClr val="accent1"/>
              </a:solidFill>
              <a:latin typeface="Play"/>
              <a:ea typeface="Play"/>
              <a:cs typeface="Play"/>
              <a:sym typeface="Play"/>
            </a:endParaRPr>
          </a:p>
        </p:txBody>
      </p:sp>
      <p:grpSp>
        <p:nvGrpSpPr>
          <p:cNvPr id="2" name="BrandDeck Diagram pyramid" descr="pyramid: 2 подразделения География пилотного запуска; 150 сотрудников Общее число участников"/>
          <p:cNvGrpSpPr/>
          <p:nvPr/>
        </p:nvGrpSpPr>
        <p:grpSpPr>
          <a:xfrm>
            <a:off x="3155145" y="1691542"/>
            <a:ext cx="4308644" cy="2134226"/>
            <a:chOff x="3155145" y="1691542"/>
            <a:chExt cx="4308644" cy="2134226"/>
          </a:xfrm>
        </p:grpSpPr>
        <p:sp>
          <p:nvSpPr>
            <p:cNvPr id="2256" name="BrandDeck Diagram Level 1"/>
            <p:cNvSpPr/>
            <p:nvPr/>
          </p:nvSpPr>
          <p:spPr>
            <a:xfrm>
              <a:off x="3630406" y="1691542"/>
              <a:ext cx="926699" cy="1039682"/>
            </a:xfrm>
            <a:custGeom>
              <a:avLst/>
              <a:gdLst/>
              <a:ahLst/>
              <a:cxnLst/>
              <a:rect l="l" t="t" r="r" b="b"/>
              <a:pathLst>
                <a:path w="1013" h="1137" stroke="0">
                  <a:moveTo>
                    <a:pt x="482" y="0"/>
                  </a:moveTo>
                  <a:lnTo>
                    <a:pt x="532" y="0"/>
                  </a:lnTo>
                  <a:lnTo>
                    <a:pt x="1013" y="1137"/>
                  </a:lnTo>
                  <a:lnTo>
                    <a:pt x="0" y="1137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2257" name="BrandDeck Diagram Text 1"/>
            <p:cNvSpPr txBox="1"/>
            <p:nvPr/>
          </p:nvSpPr>
          <p:spPr>
            <a:xfrm>
              <a:off x="5318598" y="1691542"/>
              <a:ext cx="2145191" cy="1039682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География пилотного запуска</a:t>
              </a:r>
            </a:p>
          </p:txBody>
        </p:sp>
        <p:sp>
          <p:nvSpPr>
            <p:cNvPr id="2258" name="BrandDeck Diagram Level 2"/>
            <p:cNvSpPr/>
            <p:nvPr/>
          </p:nvSpPr>
          <p:spPr>
            <a:xfrm>
              <a:off x="3155145" y="2786087"/>
              <a:ext cx="1877222" cy="1039681"/>
            </a:xfrm>
            <a:custGeom>
              <a:avLst/>
              <a:gdLst/>
              <a:ahLst/>
              <a:cxnLst/>
              <a:rect l="l" t="t" r="r" b="b"/>
              <a:pathLst>
                <a:path w="2053" h="1137" stroke="0">
                  <a:moveTo>
                    <a:pt x="494" y="0"/>
                  </a:moveTo>
                  <a:lnTo>
                    <a:pt x="1559" y="0"/>
                  </a:lnTo>
                  <a:lnTo>
                    <a:pt x="2053" y="1137"/>
                  </a:lnTo>
                  <a:lnTo>
                    <a:pt x="0" y="1137"/>
                  </a:lnTo>
                  <a:close/>
                </a:path>
              </a:pathLst>
            </a:custGeom>
            <a:solidFill>
              <a:srgbClr val="7DB4F5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2259" name="BrandDeck Diagram Text 2"/>
            <p:cNvSpPr txBox="1"/>
            <p:nvPr/>
          </p:nvSpPr>
          <p:spPr>
            <a:xfrm>
              <a:off x="5318598" y="2786087"/>
              <a:ext cx="2145191" cy="103968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Общее число участников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BrandDeck Text 503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Срок пилота составляет 6 недель</a:t>
            </a:r>
            <a:endParaRPr/>
          </a:p>
        </p:txBody>
      </p:sp>
      <p:grpSp>
        <p:nvGrpSpPr>
          <p:cNvPr id="2" name="BrandDeck Diagram cycle" descr="cycle: Старт Запуск в 2 подразделениях; Процесс Сбор данных 6 недель; Финал Анализ метрик эффективности"/>
          <p:cNvGrpSpPr/>
          <p:nvPr/>
        </p:nvGrpSpPr>
        <p:grpSpPr>
          <a:xfrm>
            <a:off x="4708141" y="711456"/>
            <a:ext cx="3791333" cy="3666745"/>
            <a:chOff x="4708141" y="711456"/>
            <a:chExt cx="3791333" cy="3666745"/>
          </a:xfrm>
        </p:grpSpPr>
        <p:sp>
          <p:nvSpPr>
            <p:cNvPr id="508" name="BrandDeck Diagram Ring"/>
            <p:cNvSpPr/>
            <p:nvPr/>
          </p:nvSpPr>
          <p:spPr>
            <a:xfrm>
              <a:off x="4838256" y="2014477"/>
              <a:ext cx="1060704" cy="1060704"/>
            </a:xfrm>
            <a:prstGeom prst="ellipse">
              <a:avLst/>
            </a:prstGeom>
            <a:noFill/>
            <a:ln w="28575">
              <a:solidFill>
                <a:srgbClr val="58A6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BrandDeck Diagram Arrow 1"/>
            <p:cNvSpPr/>
            <p:nvPr/>
          </p:nvSpPr>
          <p:spPr>
            <a:xfrm rot="9000000">
              <a:off x="5755485" y="2207232"/>
              <a:ext cx="144840" cy="144840"/>
            </a:xfrm>
            <a:prstGeom prst="triangle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0" name="BrandDeck Diagram Arrow 2"/>
            <p:cNvSpPr/>
            <p:nvPr/>
          </p:nvSpPr>
          <p:spPr>
            <a:xfrm rot="16200000">
              <a:off x="5296187" y="3002760"/>
              <a:ext cx="144840" cy="144840"/>
            </a:xfrm>
            <a:prstGeom prst="triangle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1" name="BrandDeck Diagram Arrow 3"/>
            <p:cNvSpPr/>
            <p:nvPr/>
          </p:nvSpPr>
          <p:spPr>
            <a:xfrm rot="1800000">
              <a:off x="4836889" y="2207232"/>
              <a:ext cx="144840" cy="144840"/>
            </a:xfrm>
            <a:prstGeom prst="triangle">
              <a:avLst/>
            </a:prstGeom>
            <a:solidFill>
              <a:srgbClr val="58A6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2" name="BrandDeck Diagram Node 1 Badge"/>
            <p:cNvSpPr/>
            <p:nvPr/>
          </p:nvSpPr>
          <p:spPr>
            <a:xfrm>
              <a:off x="5167440" y="1813309"/>
              <a:ext cx="402336" cy="40233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1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13" name="BrandDeck Diagram Node 2 Badge"/>
            <p:cNvSpPr/>
            <p:nvPr/>
          </p:nvSpPr>
          <p:spPr>
            <a:xfrm>
              <a:off x="5626738" y="2608837"/>
              <a:ext cx="402336" cy="40233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1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514" name="BrandDeck Diagram Node 3 Badge"/>
            <p:cNvSpPr/>
            <p:nvPr/>
          </p:nvSpPr>
          <p:spPr>
            <a:xfrm>
              <a:off x="4708141" y="2608837"/>
              <a:ext cx="402336" cy="40233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1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515" name="BrandDeck Diagram Legend 1 Badge"/>
            <p:cNvSpPr/>
            <p:nvPr/>
          </p:nvSpPr>
          <p:spPr>
            <a:xfrm>
              <a:off x="6420168" y="1154941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0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16" name="BrandDeck Diagram Text 1"/>
            <p:cNvSpPr txBox="1"/>
            <p:nvPr/>
          </p:nvSpPr>
          <p:spPr>
            <a:xfrm>
              <a:off x="6877368" y="711456"/>
              <a:ext cx="1622106" cy="119786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Старт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Запуск в 2 подразделениях</a:t>
              </a:r>
            </a:p>
          </p:txBody>
        </p:sp>
        <p:sp>
          <p:nvSpPr>
            <p:cNvPr id="517" name="BrandDeck Diagram Legend 2 Badge"/>
            <p:cNvSpPr/>
            <p:nvPr/>
          </p:nvSpPr>
          <p:spPr>
            <a:xfrm>
              <a:off x="6420168" y="2389381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000" b="1">
                  <a:solidFill>
                    <a:srgbClr val="FFFFFF"/>
                  </a:solidFill>
                  <a:latin typeface="Play"/>
                </a:rPr>
                <a:t>02</a:t>
              </a:r>
            </a:p>
          </p:txBody>
        </p:sp>
        <p:sp>
          <p:nvSpPr>
            <p:cNvPr id="518" name="BrandDeck Diagram Text 2"/>
            <p:cNvSpPr txBox="1"/>
            <p:nvPr/>
          </p:nvSpPr>
          <p:spPr>
            <a:xfrm>
              <a:off x="6877368" y="1945897"/>
              <a:ext cx="1622106" cy="119786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Процесс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Сбор данных 6 недель</a:t>
              </a:r>
            </a:p>
          </p:txBody>
        </p:sp>
        <p:sp>
          <p:nvSpPr>
            <p:cNvPr id="519" name="BrandDeck Diagram Legend 3 Badge"/>
            <p:cNvSpPr/>
            <p:nvPr/>
          </p:nvSpPr>
          <p:spPr>
            <a:xfrm>
              <a:off x="6420168" y="3623821"/>
              <a:ext cx="310896" cy="310896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0" tIns="0" rIns="0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000" b="1">
                  <a:solidFill>
                    <a:srgbClr val="FFFFFF"/>
                  </a:solidFill>
                  <a:latin typeface="Play"/>
                </a:rPr>
                <a:t>03</a:t>
              </a:r>
            </a:p>
          </p:txBody>
        </p:sp>
        <p:sp>
          <p:nvSpPr>
            <p:cNvPr id="520" name="BrandDeck Diagram Text 3"/>
            <p:cNvSpPr txBox="1"/>
            <p:nvPr/>
          </p:nvSpPr>
          <p:spPr>
            <a:xfrm>
              <a:off x="6877368" y="3180337"/>
              <a:ext cx="1622106" cy="1197864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10" b="1">
                  <a:solidFill>
                    <a:srgbClr val="000000"/>
                  </a:solidFill>
                  <a:latin typeface="Play"/>
                </a:rPr>
                <a:t>Финал</a:t>
              </a:r>
            </a:p>
            <a:p>
              <a:pPr algn="l">
                <a:lnSpc>
                  <a:spcPct val="110000"/>
                </a:lnSpc>
                <a:spcBef>
                  <a:spcPts val="352"/>
                </a:spcBef>
              </a:pPr>
              <a:r>
                <a:rPr sz="1410" b="0">
                  <a:solidFill>
                    <a:srgbClr val="000000"/>
                  </a:solidFill>
                  <a:latin typeface="Play"/>
                </a:rPr>
                <a:t>Анализ метрик эффективности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1" name="Google Shape;851;p60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60"/>
          <p:cNvSpPr/>
          <p:nvPr/>
        </p:nvSpPr>
        <p:spPr>
          <a:xfrm>
            <a:off x="285748" y="286047"/>
            <a:ext cx="8572456" cy="4176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3" name="Google Shape;853;p60"/>
          <p:cNvSpPr/>
          <p:nvPr/>
        </p:nvSpPr>
        <p:spPr>
          <a:xfrm>
            <a:off x="285749" y="1209852"/>
            <a:ext cx="6648415" cy="32523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2" name="BrandDeck Text 872"/>
          <p:cNvSpPr txBox="1"/>
          <p:nvPr>
            <p:ph type="title"/>
          </p:nvPr>
        </p:nvSpPr>
        <p:spPr>
          <a:xfrm>
            <a:off x="177971" y="282949"/>
            <a:ext cx="502540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Измеряем время поиска и долю закрытых обращений без специалиста</a:t>
            </a:r>
            <a:endParaRPr/>
          </a:p>
        </p:txBody>
      </p:sp>
      <p:graphicFrame>
        <p:nvGraphicFramePr>
          <p:cNvPr id="873" name="BrandDeck Table"/>
          <p:cNvGraphicFramePr>
            <a:graphicFrameLocks noGrp="1"/>
          </p:cNvGraphicFramePr>
          <p:nvPr/>
        </p:nvGraphicFramePr>
        <p:xfrm>
          <a:off x="438148" y="1819373"/>
          <a:ext cx="6381717" cy="2528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0858"/>
                <a:gridCol w="3190859"/>
              </a:tblGrid>
              <a:tr h="697564"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Play"/>
                        </a:rPr>
                        <a:t>Метрика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1">
                          <a:solidFill>
                            <a:srgbClr val="FFFFFF"/>
                          </a:solidFill>
                          <a:latin typeface="Play"/>
                        </a:rPr>
                        <a:t>Что измеряем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</a:tr>
              <a:tr h="915496"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Время поиска ответа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Сколько минут тратит сотрудник на инструкцию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</a:tr>
              <a:tr h="915496"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Доля закрытых обращений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20" b="0">
                          <a:solidFill>
                            <a:srgbClr val="111111"/>
                          </a:solidFill>
                          <a:latin typeface="Play"/>
                        </a:rPr>
                        <a:t>Процент вопросов, решенных без специалиста</a:t>
                      </a:r>
                    </a:p>
                  </a:txBody>
                  <a:tcPr marL="54864" marR="54864" anchor="ctr">
                    <a:solidFill>
                      <a:srgbClr val="FE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430360" y="338829"/>
            <a:ext cx="3945697" cy="75337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/>
              <a:t>Требуется команда из 3 человек для реализации</a:t>
            </a:r>
          </a:p>
        </p:txBody>
      </p:sp>
      <p:grpSp>
        <p:nvGrpSpPr>
          <p:cNvPr id="3" name="BrandDeck Diagram hierarchy" descr="hierarchy: Команда 3 специалиста для реализации пилота; Задача Выделение ресурсов для запуска проекта"/>
          <p:cNvGrpSpPr/>
          <p:nvPr/>
        </p:nvGrpSpPr>
        <p:grpSpPr>
          <a:xfrm>
            <a:off x="4637088" y="955527"/>
            <a:ext cx="3862386" cy="3002234"/>
            <a:chOff x="4637088" y="955527"/>
            <a:chExt cx="3862386" cy="3002234"/>
          </a:xfrm>
        </p:grpSpPr>
        <p:sp>
          <p:nvSpPr>
            <p:cNvPr id="4" name="BrandDeck Diagram Root"/>
            <p:cNvSpPr/>
            <p:nvPr/>
          </p:nvSpPr>
          <p:spPr>
            <a:xfrm>
              <a:off x="5757180" y="955527"/>
              <a:ext cx="1622202" cy="731520"/>
            </a:xfrm>
            <a:prstGeom prst="roundRect">
              <a:avLst>
                <a:gd name="adj" fmla="val 18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lIns="109728" tIns="36576" rIns="109728" bIns="36576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Команда из 3 человек</a:t>
              </a:r>
            </a:p>
          </p:txBody>
        </p:sp>
        <p:cxnSp>
          <p:nvCxnSpPr>
            <p:cNvPr id="5" name="BrandDeck Diagram Link Root"/>
            <p:cNvCxnSpPr/>
            <p:nvPr/>
          </p:nvCxnSpPr>
          <p:spPr>
            <a:xfrm>
              <a:off x="6568281" y="1687047"/>
              <a:ext cx="0" cy="261597"/>
            </a:xfrm>
            <a:prstGeom prst="line">
              <a:avLst/>
            </a:prstGeom>
            <a:ln w="19050">
              <a:solidFill>
                <a:srgbClr val="58A6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BrandDeck Diagram Link Bus"/>
            <p:cNvCxnSpPr/>
            <p:nvPr/>
          </p:nvCxnSpPr>
          <p:spPr>
            <a:xfrm>
              <a:off x="5575252" y="1948644"/>
              <a:ext cx="1986058" cy="0"/>
            </a:xfrm>
            <a:prstGeom prst="line">
              <a:avLst/>
            </a:prstGeom>
            <a:ln w="19050">
              <a:solidFill>
                <a:srgbClr val="58A6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randDeck Diagram Link 1"/>
            <p:cNvCxnSpPr/>
            <p:nvPr/>
          </p:nvCxnSpPr>
          <p:spPr>
            <a:xfrm>
              <a:off x="5575252" y="1948644"/>
              <a:ext cx="0" cy="261598"/>
            </a:xfrm>
            <a:prstGeom prst="line">
              <a:avLst/>
            </a:prstGeom>
            <a:ln w="19050">
              <a:solidFill>
                <a:srgbClr val="58A6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randDeck Diagram Card 1"/>
            <p:cNvSpPr/>
            <p:nvPr/>
          </p:nvSpPr>
          <p:spPr>
            <a:xfrm>
              <a:off x="4637088" y="2210242"/>
              <a:ext cx="1876329" cy="1747519"/>
            </a:xfrm>
            <a:prstGeom prst="roundRect">
              <a:avLst>
                <a:gd name="adj" fmla="val 6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Marker 1"/>
            <p:cNvSpPr/>
            <p:nvPr/>
          </p:nvSpPr>
          <p:spPr>
            <a:xfrm>
              <a:off x="4765104" y="2319970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Diagram Text 1"/>
            <p:cNvSpPr txBox="1"/>
            <p:nvPr/>
          </p:nvSpPr>
          <p:spPr>
            <a:xfrm>
              <a:off x="4728528" y="2447986"/>
              <a:ext cx="1693449" cy="1418336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Команда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3 специалиста для реализации пилота</a:t>
              </a:r>
            </a:p>
          </p:txBody>
        </p:sp>
        <p:cxnSp>
          <p:nvCxnSpPr>
            <p:cNvPr id="11" name="BrandDeck Diagram Link 2"/>
            <p:cNvCxnSpPr/>
            <p:nvPr/>
          </p:nvCxnSpPr>
          <p:spPr>
            <a:xfrm>
              <a:off x="7561310" y="1948644"/>
              <a:ext cx="0" cy="261598"/>
            </a:xfrm>
            <a:prstGeom prst="line">
              <a:avLst/>
            </a:prstGeom>
            <a:ln w="19050">
              <a:solidFill>
                <a:srgbClr val="58A6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BrandDeck Diagram Card 2"/>
            <p:cNvSpPr/>
            <p:nvPr/>
          </p:nvSpPr>
          <p:spPr>
            <a:xfrm>
              <a:off x="6623145" y="2210242"/>
              <a:ext cx="1876329" cy="1747519"/>
            </a:xfrm>
            <a:prstGeom prst="roundRect">
              <a:avLst>
                <a:gd name="adj" fmla="val 6000"/>
              </a:avLst>
            </a:prstGeom>
            <a:solidFill>
              <a:srgbClr val="E8F3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Marker 2"/>
            <p:cNvSpPr/>
            <p:nvPr/>
          </p:nvSpPr>
          <p:spPr>
            <a:xfrm>
              <a:off x="6751161" y="2319970"/>
              <a:ext cx="548640" cy="45720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Diagram Text 2"/>
            <p:cNvSpPr txBox="1"/>
            <p:nvPr/>
          </p:nvSpPr>
          <p:spPr>
            <a:xfrm>
              <a:off x="6714585" y="2447986"/>
              <a:ext cx="1693449" cy="1418336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Задача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Выделение ресурсов для запуска проекта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6" name="BrandDeck Text 1036"/>
          <p:cNvSpPr/>
          <p:nvPr/>
        </p:nvSpPr>
        <p:spPr>
          <a:xfrm>
            <a:off x="476248" y="1628898"/>
            <a:ext cx="2463787" cy="8317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  <a:buNone/>
            </a:pPr>
            <a:r>
              <a:rPr sz="1200" b="0">
                <a:latin typeface="Play"/>
                <a:solidFill>
                  <a:schemeClr val="dk1"/>
                </a:solidFill>
              </a:rPr>
              <a:t>Следующие шаги после утверждения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2" name="BrandDeck Text 1042"/>
          <p:cNvSpPr/>
          <p:nvPr/>
        </p:nvSpPr>
        <p:spPr>
          <a:xfrm>
            <a:off x="3365479" y="1628898"/>
            <a:ext cx="2463787" cy="8317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600" b="0">
                <a:latin typeface="Play"/>
                <a:solidFill>
                  <a:schemeClr val="dk1"/>
                </a:solidFill>
              </a:rPr>
              <a:t>Запустить пилот в двух подразделениях.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BrandDeck Text 1047"/>
          <p:cNvSpPr/>
          <p:nvPr/>
        </p:nvSpPr>
        <p:spPr>
          <a:xfrm>
            <a:off x="6254721" y="1628898"/>
            <a:ext cx="2463787" cy="8317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  <a:buNone/>
            </a:pPr>
            <a:r>
              <a:rPr sz="1200" b="0">
                <a:latin typeface="Play"/>
                <a:solidFill>
                  <a:schemeClr val="dk1"/>
                </a:solidFill>
              </a:rPr>
              <a:t>Назначить команду из трех человек.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179"/>
              </a:spcAft>
              <a:buNone/>
            </a:pPr>
            <a:r>
              <a:rPr sz="1200" b="0">
                <a:latin typeface="Play"/>
                <a:solidFill>
                  <a:schemeClr val="dk1"/>
                </a:solidFill>
              </a:rPr>
              <a:t>Измерить время поиска и долю закрытых обращений.</a:t>
            </a:r>
          </a:p>
        </p:txBody>
      </p:sp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0" name="BrandDeck Text 1050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sz="1800"/>
              <a:t>Одобрить пилот и выделить команду из 3 человек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2026-09-26T20:24:51Z</dcterms:modified>
  <dc:subject>Template-adaptive presentation</dc:subject>
  <cp:keywords>BrandDeck, template-adaptive, presentation</cp:keywords>
  <dc:creator/>
  <dc:description/>
</cp:coreProperties>
</file>