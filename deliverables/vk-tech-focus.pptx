
<file path=[Content_Types].xml><?xml version="1.0" encoding="utf-8"?>
<Types xmlns="http://schemas.openxmlformats.org/package/2006/content-types">
  <Default Extension="jpeg" ContentType="image/jpeg"/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1.xml"/><Relationship Id="rId63" Type="http://schemas.openxmlformats.org/officeDocument/2006/relationships/slide" Target="slides/slide2.xml"/><Relationship Id="rId64" Type="http://schemas.openxmlformats.org/officeDocument/2006/relationships/slide" Target="slides/slide3.xml"/><Relationship Id="rId65" Type="http://schemas.openxmlformats.org/officeDocument/2006/relationships/slide" Target="slides/slide4.xml"/><Relationship Id="rId66" Type="http://schemas.openxmlformats.org/officeDocument/2006/relationships/slide" Target="slides/slide5.xml"/><Relationship Id="rId67" Type="http://schemas.openxmlformats.org/officeDocument/2006/relationships/slide" Target="slides/slide6.xml"/><Relationship Id="rId68" Type="http://schemas.openxmlformats.org/officeDocument/2006/relationships/slide" Target="slides/slide7.xml"/><Relationship Id="rId69" Type="http://schemas.openxmlformats.org/officeDocument/2006/relationships/slide" Target="slides/slide8.xml"/><Relationship Id="rId70" Type="http://schemas.openxmlformats.org/officeDocument/2006/relationships/slide" Target="slides/slide9.xml"/><Relationship Id="rId71" Type="http://schemas.openxmlformats.org/officeDocument/2006/relationships/slide" Target="slides/slide10.xml"/><Relationship Id="rId72" Type="http://schemas.openxmlformats.org/officeDocument/2006/relationships/slide" Target="slides/slide11.xml"/><Relationship Id="rId73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Слайд вводит инициативу по внедрению ИИ-помощника для автоматизации ответов на вопросы по регламентам и сокращения времени поиска инструкций.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Сейчас поиск регламентов занимает до 30 минут, что существенно замедляет работу сотрудников.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Значительная часть нагрузки поддержки приходится на рутинные вопросы, которые можно автоматизировать.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Текущий процесс поиска инструкций отнимает до 30 минут у каждого сотрудника, а треть обращений дублируются, что создает лишнюю нагрузку на поддержку.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Решение автоматически обрабатывает запросы по регламентам, выдавая ответ и ссылку на документ, а сложные вопросы направляет в поддержку.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Если ИИ не находит подтверждённый ответ, система автоматически передаёт запрос в поддержку с полным контекстом для быстрого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Архитектура обеспечивает полную безопасность данных, так как вся обработка происходит внутри корпоративной сети.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ИИ-помощник мгновенно обрабатывает запросы по регламентам, передавая сложные случаи специалистам с полным контекстом.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Пилотный запуск охватывает два подразделения и 150 сотрудников в течение шести недель.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Срок пилотного запуска составляет шесть недель, что позволит оценить эффективность внедрения.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Для оценки эффективности пилота мы будем измерять время поиска ответа и долю обращений, закрытых без участия специалиста.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Для реализации пилота необходимо одобрить проект и выделить команду из трех человек. Мы будем измерять время поиска ответа и долю обращений, закрытых без специалиста.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Содержание">
  <p:cSld name="3_Содержание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02" name="Google Shape;102;p1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03" name="Google Shape;103;p1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04" name="Google Shape;104;p1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05" name="Google Shape;105;p1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6" name="Google Shape;106;p1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8" name="Google Shape;108;p1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одержание">
  <p:cSld name="4_Содержание">
    <p:bg>
      <p:bgPr>
        <a:solidFill>
          <a:schemeClr val="dk1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3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08" name="Google Shape;308;p3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09" name="Google Shape;309;p3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10" name="Google Shape;310;p3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11" name="Google Shape;311;p3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12" name="Google Shape;312;p3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3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4" name="Google Shape;314;p3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5" Type="http://schemas.openxmlformats.org/officeDocument/2006/relationships/slideLayout" Target="../slideLayouts/slideLayout8.xml"/><Relationship Id="rId8" Type="http://schemas.openxmlformats.org/officeDocument/2006/relationships/slideLayout" Target="../slideLayouts/slideLayout11.xml"/><Relationship Id="rId25" Type="http://schemas.openxmlformats.org/officeDocument/2006/relationships/slideLayout" Target="../slideLayouts/slideLayout28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5" r:id="rId5"/>
    <p:sldLayoutId id="2147483658" r:id="rId8"/>
    <p:sldLayoutId id="2147483675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5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3.png"/><Relationship Id="rId3" Type="http://schemas.openxmlformats.org/officeDocument/2006/relationships/image" Target="../media/image49.png"/><Relationship Id="rId4" Type="http://schemas.openxmlformats.org/officeDocument/2006/relationships/image" Target="../media/image57.png"/><Relationship Id="rId5" Type="http://schemas.openxmlformats.org/officeDocument/2006/relationships/image" Target="../media/image55.png"/><Relationship Id="rId6" Type="http://schemas.openxmlformats.org/officeDocument/2006/relationships/image" Target="../media/image47.png"/><Relationship Id="rId7" Type="http://schemas.openxmlformats.org/officeDocument/2006/relationships/image" Target="../media/image53.png"/><Relationship Id="rId8" Type="http://schemas.openxmlformats.org/officeDocument/2006/relationships/image" Target="../media/image72.png"/><Relationship Id="rId9" Type="http://schemas.openxmlformats.org/officeDocument/2006/relationships/image" Target="../media/image223.jpeg"/><Relationship Id="rId10" Type="http://schemas.openxmlformats.org/officeDocument/2006/relationships/notesSlide" Target="../notesSlides/notesSlide6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8.png"/><Relationship Id="rId3" Type="http://schemas.openxmlformats.org/officeDocument/2006/relationships/image" Target="../media/image79.png"/><Relationship Id="rId4" Type="http://schemas.openxmlformats.org/officeDocument/2006/relationships/image" Target="../media/image224.jpeg"/><Relationship Id="rId5" Type="http://schemas.openxmlformats.org/officeDocument/2006/relationships/notesSlide" Target="../notesSlides/notesSlide6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6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6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BrandDeck Text 401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0" rtl="0" algn="ctr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lt1"/>
              </a:buClr>
              <a:buSzPts val="4800"/>
              <a:buFont typeface="Play"/>
              <a:buNone/>
            </a:pPr>
            <a:r>
              <a:rPr sz="1800"/>
              <a:t>Ускорение работы сотрудников за счет ИИ</a:t>
            </a:r>
            <a:endParaRPr/>
          </a:p>
        </p:txBody>
      </p:sp>
      <p:sp>
        <p:nvSpPr>
          <p:cNvPr id="402" name="BrandDeck Text 402"/>
          <p:cNvSpPr txBox="1"/>
          <p:nvPr>
            <p:ph idx="1" type="body"/>
          </p:nvPr>
        </p:nvSpPr>
        <p:spPr>
          <a:xfrm>
            <a:off x="2473770" y="2199720"/>
            <a:ext cx="4288279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71450" marL="171450" rtl="0" algn="ctr">
              <a:lnSpc>
                <a:spcPct val="115000"/>
              </a:lnSpc>
              <a:spcBef>
                <a:spcPts val="0"/>
              </a:spcBef>
              <a:spcAft>
                <a:spcPts val="165"/>
              </a:spcAft>
              <a:buClr>
                <a:schemeClr val="lt1"/>
              </a:buClr>
              <a:buSzPts val="1600"/>
              <a:buNone/>
            </a:pPr>
            <a:r>
              <a:rPr sz="1100"/>
              <a:t>Автоматизация поддержки и ускорение работы сотрудников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randDeck Text 2"/>
          <p:cNvSpPr>
            <a:spLocks noGrp="1"/>
          </p:cNvSpPr>
          <p:nvPr>
            <p:ph type="title"/>
          </p:nvPr>
        </p:nvSpPr>
        <p:spPr>
          <a:xfrm>
            <a:off x="430360" y="338829"/>
            <a:ext cx="3945697" cy="753371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</a:pPr>
            <a:r>
              <a:rPr sz="1800"/>
              <a:t>Поиск инструкции занимает до 30 минут</a:t>
            </a:r>
          </a:p>
        </p:txBody>
      </p:sp>
      <p:grpSp>
        <p:nvGrpSpPr>
          <p:cNvPr id="3" name="BrandDeck Diagram icon_grid" descr="icon_grid: Сотрудник тратит до 30 минут на поиск нужной инструкции.; Рутина по поиску документов отнимает значительное время.; Это замедляет решение рабочих задач и снижает эффективность."/>
          <p:cNvGrpSpPr/>
          <p:nvPr/>
        </p:nvGrpSpPr>
        <p:grpSpPr>
          <a:xfrm>
            <a:off x="4637088" y="676278"/>
            <a:ext cx="3862386" cy="3737102"/>
            <a:chOff x="4637088" y="676278"/>
            <a:chExt cx="3862386" cy="3737102"/>
          </a:xfrm>
        </p:grpSpPr>
        <p:sp>
          <p:nvSpPr>
            <p:cNvPr id="4" name="BrandDeck Diagram Card 1"/>
            <p:cNvSpPr/>
            <p:nvPr/>
          </p:nvSpPr>
          <p:spPr>
            <a:xfrm>
              <a:off x="4637088" y="676278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BrandDeck Diagram Icon 1 Badge"/>
            <p:cNvSpPr/>
            <p:nvPr/>
          </p:nvSpPr>
          <p:spPr>
            <a:xfrm>
              <a:off x="4768431" y="807621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BrandDeck Icon users"/>
            <p:cNvSpPr/>
            <p:nvPr/>
          </p:nvSpPr>
          <p:spPr>
            <a:xfrm>
              <a:off x="4880154" y="919344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6000" y="21000"/>
                  </a:moveTo>
                  <a:lnTo>
                    <a:pt x="16000" y="19000"/>
                  </a:lnTo>
                  <a:cubicBezTo>
                    <a:pt x="16000" y="16791"/>
                    <a:pt x="14209" y="15000"/>
                    <a:pt x="12000" y="15000"/>
                  </a:cubicBezTo>
                  <a:lnTo>
                    <a:pt x="6000" y="15000"/>
                  </a:lnTo>
                  <a:cubicBezTo>
                    <a:pt x="3791" y="15000"/>
                    <a:pt x="2000" y="16791"/>
                    <a:pt x="2000" y="19000"/>
                  </a:cubicBezTo>
                  <a:lnTo>
                    <a:pt x="2000" y="21000"/>
                  </a:lnTo>
                </a:path>
                <a:path w="24000" h="24000" fill="none">
                  <a:moveTo>
                    <a:pt x="13000" y="7000"/>
                  </a:moveTo>
                  <a:cubicBezTo>
                    <a:pt x="13000" y="9209"/>
                    <a:pt x="11209" y="11000"/>
                    <a:pt x="9000" y="11000"/>
                  </a:cubicBezTo>
                  <a:cubicBezTo>
                    <a:pt x="6791" y="11000"/>
                    <a:pt x="5000" y="9209"/>
                    <a:pt x="5000" y="7000"/>
                  </a:cubicBezTo>
                  <a:cubicBezTo>
                    <a:pt x="5000" y="4791"/>
                    <a:pt x="6791" y="3000"/>
                    <a:pt x="9000" y="3000"/>
                  </a:cubicBezTo>
                  <a:cubicBezTo>
                    <a:pt x="11209" y="3000"/>
                    <a:pt x="13000" y="4791"/>
                    <a:pt x="13000" y="7000"/>
                  </a:cubicBezTo>
                  <a:close/>
                </a:path>
                <a:path w="24000" h="24000" fill="none">
                  <a:moveTo>
                    <a:pt x="22000" y="21000"/>
                  </a:moveTo>
                  <a:lnTo>
                    <a:pt x="22000" y="19000"/>
                  </a:lnTo>
                  <a:cubicBezTo>
                    <a:pt x="21999" y="17177"/>
                    <a:pt x="20765" y="15586"/>
                    <a:pt x="19000" y="15130"/>
                  </a:cubicBezTo>
                </a:path>
                <a:path w="24000" h="24000" fill="none">
                  <a:moveTo>
                    <a:pt x="16000" y="3130"/>
                  </a:moveTo>
                  <a:cubicBezTo>
                    <a:pt x="17770" y="3583"/>
                    <a:pt x="19008" y="5178"/>
                    <a:pt x="19008" y="7005"/>
                  </a:cubicBezTo>
                  <a:cubicBezTo>
                    <a:pt x="19008" y="8832"/>
                    <a:pt x="17770" y="10427"/>
                    <a:pt x="16000" y="10880"/>
                  </a:cubicBez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BrandDeck Diagram Text 1"/>
            <p:cNvSpPr txBox="1"/>
            <p:nvPr/>
          </p:nvSpPr>
          <p:spPr>
            <a:xfrm>
              <a:off x="4729028" y="1407393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170" b="0">
                  <a:solidFill>
                    <a:srgbClr val="000000"/>
                  </a:solidFill>
                  <a:latin typeface="Play"/>
                </a:rPr>
                <a:t>Сотрудник тратит до 30 минут на поиск нужной инструкции.</a:t>
              </a:r>
            </a:p>
          </p:txBody>
        </p:sp>
        <p:sp>
          <p:nvSpPr>
            <p:cNvPr id="8" name="BrandDeck Diagram Card 2"/>
            <p:cNvSpPr/>
            <p:nvPr/>
          </p:nvSpPr>
          <p:spPr>
            <a:xfrm>
              <a:off x="6623145" y="676278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BrandDeck Diagram Icon 2 Badge"/>
            <p:cNvSpPr/>
            <p:nvPr/>
          </p:nvSpPr>
          <p:spPr>
            <a:xfrm>
              <a:off x="6754488" y="807621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BrandDeck Icon search"/>
            <p:cNvSpPr/>
            <p:nvPr/>
          </p:nvSpPr>
          <p:spPr>
            <a:xfrm>
              <a:off x="6866211" y="919344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9000" y="11000"/>
                  </a:moveTo>
                  <a:cubicBezTo>
                    <a:pt x="19000" y="15418"/>
                    <a:pt x="15418" y="19000"/>
                    <a:pt x="11000" y="19000"/>
                  </a:cubicBezTo>
                  <a:cubicBezTo>
                    <a:pt x="6582" y="19000"/>
                    <a:pt x="3000" y="15418"/>
                    <a:pt x="3000" y="11000"/>
                  </a:cubicBezTo>
                  <a:cubicBezTo>
                    <a:pt x="3000" y="6582"/>
                    <a:pt x="6582" y="3000"/>
                    <a:pt x="11000" y="3000"/>
                  </a:cubicBezTo>
                  <a:cubicBezTo>
                    <a:pt x="15418" y="3000"/>
                    <a:pt x="19000" y="6582"/>
                    <a:pt x="19000" y="11000"/>
                  </a:cubicBezTo>
                  <a:close/>
                </a:path>
                <a:path w="24000" h="24000" fill="none">
                  <a:moveTo>
                    <a:pt x="21000" y="21000"/>
                  </a:moveTo>
                  <a:lnTo>
                    <a:pt x="16700" y="16700"/>
                  </a:ln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BrandDeck Diagram Text 2"/>
            <p:cNvSpPr txBox="1"/>
            <p:nvPr/>
          </p:nvSpPr>
          <p:spPr>
            <a:xfrm>
              <a:off x="6715085" y="1407393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170" b="0">
                  <a:solidFill>
                    <a:srgbClr val="000000"/>
                  </a:solidFill>
                  <a:latin typeface="Play"/>
                </a:rPr>
                <a:t>Рутина по поиску документов отнимает значительное время.</a:t>
              </a:r>
            </a:p>
          </p:txBody>
        </p:sp>
        <p:sp>
          <p:nvSpPr>
            <p:cNvPr id="12" name="BrandDeck Diagram Card 3"/>
            <p:cNvSpPr/>
            <p:nvPr/>
          </p:nvSpPr>
          <p:spPr>
            <a:xfrm>
              <a:off x="4637088" y="2599693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BrandDeck Diagram Icon 3 Badge"/>
            <p:cNvSpPr/>
            <p:nvPr/>
          </p:nvSpPr>
          <p:spPr>
            <a:xfrm>
              <a:off x="4768431" y="2731036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BrandDeck Icon lightbulb"/>
            <p:cNvSpPr/>
            <p:nvPr/>
          </p:nvSpPr>
          <p:spPr>
            <a:xfrm>
              <a:off x="4880154" y="2842759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5000" y="14000"/>
                  </a:moveTo>
                  <a:cubicBezTo>
                    <a:pt x="15200" y="13000"/>
                    <a:pt x="15700" y="12300"/>
                    <a:pt x="16500" y="11500"/>
                  </a:cubicBezTo>
                  <a:cubicBezTo>
                    <a:pt x="17500" y="10600"/>
                    <a:pt x="18000" y="9300"/>
                    <a:pt x="18000" y="8000"/>
                  </a:cubicBezTo>
                  <a:cubicBezTo>
                    <a:pt x="18000" y="4686"/>
                    <a:pt x="15314" y="2000"/>
                    <a:pt x="12000" y="2000"/>
                  </a:cubicBezTo>
                  <a:cubicBezTo>
                    <a:pt x="8686" y="2000"/>
                    <a:pt x="6000" y="4686"/>
                    <a:pt x="6000" y="8000"/>
                  </a:cubicBezTo>
                  <a:cubicBezTo>
                    <a:pt x="6000" y="9000"/>
                    <a:pt x="6200" y="10200"/>
                    <a:pt x="7500" y="11500"/>
                  </a:cubicBezTo>
                  <a:cubicBezTo>
                    <a:pt x="8200" y="12200"/>
                    <a:pt x="8800" y="13000"/>
                    <a:pt x="9000" y="14000"/>
                  </a:cubicBezTo>
                </a:path>
                <a:path w="24000" h="24000" fill="none">
                  <a:moveTo>
                    <a:pt x="9000" y="18000"/>
                  </a:moveTo>
                  <a:lnTo>
                    <a:pt x="15000" y="18000"/>
                  </a:lnTo>
                </a:path>
                <a:path w="24000" h="24000" fill="none">
                  <a:moveTo>
                    <a:pt x="10000" y="22000"/>
                  </a:moveTo>
                  <a:lnTo>
                    <a:pt x="14000" y="22000"/>
                  </a:ln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BrandDeck Diagram Text 3"/>
            <p:cNvSpPr txBox="1"/>
            <p:nvPr/>
          </p:nvSpPr>
          <p:spPr>
            <a:xfrm>
              <a:off x="4729028" y="3330808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170" b="0">
                  <a:solidFill>
                    <a:srgbClr val="000000"/>
                  </a:solidFill>
                  <a:latin typeface="Play"/>
                </a:rPr>
                <a:t>Это замедляет решение рабочих задач и снижает эффективность.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03" name="BrandDeck Text 503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800"/>
              <a:t>Треть обращений — повторяющиеся вопросы</a:t>
            </a:r>
            <a:endParaRPr/>
          </a:p>
        </p:txBody>
      </p:sp>
      <p:grpSp>
        <p:nvGrpSpPr>
          <p:cNvPr id="2" name="BrandDeck Diagram icon_grid" descr="icon_grid: Треть всех обращений в поддержку — повторяющиеся вопросы.; Эти запросы касаются стандартных регламентов и инструкций.; ИИ-помощник позволит закрыть их без участия специалиста."/>
          <p:cNvGrpSpPr/>
          <p:nvPr/>
        </p:nvGrpSpPr>
        <p:grpSpPr>
          <a:xfrm>
            <a:off x="4637088" y="676278"/>
            <a:ext cx="3862386" cy="3737102"/>
            <a:chOff x="4637088" y="676278"/>
            <a:chExt cx="3862386" cy="3737102"/>
          </a:xfrm>
        </p:grpSpPr>
        <p:sp>
          <p:nvSpPr>
            <p:cNvPr id="508" name="BrandDeck Diagram Card 1"/>
            <p:cNvSpPr/>
            <p:nvPr/>
          </p:nvSpPr>
          <p:spPr>
            <a:xfrm>
              <a:off x="4637088" y="676278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9" name="BrandDeck Diagram Icon 1 Badge"/>
            <p:cNvSpPr/>
            <p:nvPr/>
          </p:nvSpPr>
          <p:spPr>
            <a:xfrm>
              <a:off x="4768431" y="807621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0" name="BrandDeck Icon headset"/>
            <p:cNvSpPr/>
            <p:nvPr/>
          </p:nvSpPr>
          <p:spPr>
            <a:xfrm>
              <a:off x="4880154" y="919344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3000" y="11000"/>
                  </a:moveTo>
                  <a:lnTo>
                    <a:pt x="6000" y="11000"/>
                  </a:lnTo>
                  <a:cubicBezTo>
                    <a:pt x="7105" y="11000"/>
                    <a:pt x="8000" y="11895"/>
                    <a:pt x="8000" y="13000"/>
                  </a:cubicBezTo>
                  <a:lnTo>
                    <a:pt x="8000" y="16000"/>
                  </a:lnTo>
                  <a:cubicBezTo>
                    <a:pt x="8000" y="17105"/>
                    <a:pt x="7105" y="18000"/>
                    <a:pt x="6000" y="18000"/>
                  </a:cubicBezTo>
                  <a:lnTo>
                    <a:pt x="5000" y="18000"/>
                  </a:lnTo>
                  <a:cubicBezTo>
                    <a:pt x="3895" y="18000"/>
                    <a:pt x="3000" y="17105"/>
                    <a:pt x="3000" y="16000"/>
                  </a:cubicBezTo>
                  <a:lnTo>
                    <a:pt x="3000" y="11000"/>
                  </a:lnTo>
                  <a:close/>
                  <a:moveTo>
                    <a:pt x="3000" y="11000"/>
                  </a:moveTo>
                  <a:cubicBezTo>
                    <a:pt x="3000" y="6029"/>
                    <a:pt x="7029" y="2000"/>
                    <a:pt x="12000" y="2000"/>
                  </a:cubicBezTo>
                  <a:cubicBezTo>
                    <a:pt x="16971" y="2000"/>
                    <a:pt x="21000" y="6029"/>
                    <a:pt x="21000" y="11000"/>
                  </a:cubicBezTo>
                  <a:moveTo>
                    <a:pt x="21000" y="11000"/>
                  </a:moveTo>
                  <a:lnTo>
                    <a:pt x="21000" y="16000"/>
                  </a:lnTo>
                  <a:cubicBezTo>
                    <a:pt x="21000" y="17105"/>
                    <a:pt x="20105" y="18000"/>
                    <a:pt x="19000" y="18000"/>
                  </a:cubicBezTo>
                  <a:lnTo>
                    <a:pt x="18000" y="18000"/>
                  </a:lnTo>
                  <a:cubicBezTo>
                    <a:pt x="16895" y="18000"/>
                    <a:pt x="16000" y="17105"/>
                    <a:pt x="16000" y="16000"/>
                  </a:cubicBezTo>
                  <a:lnTo>
                    <a:pt x="16000" y="13000"/>
                  </a:lnTo>
                  <a:cubicBezTo>
                    <a:pt x="16000" y="11895"/>
                    <a:pt x="16895" y="11000"/>
                    <a:pt x="18000" y="11000"/>
                  </a:cubicBezTo>
                  <a:lnTo>
                    <a:pt x="21000" y="11000"/>
                  </a:lnTo>
                  <a:close/>
                </a:path>
                <a:path w="24000" h="24000" fill="none">
                  <a:moveTo>
                    <a:pt x="21000" y="16000"/>
                  </a:moveTo>
                  <a:lnTo>
                    <a:pt x="21000" y="18000"/>
                  </a:lnTo>
                  <a:cubicBezTo>
                    <a:pt x="21000" y="20209"/>
                    <a:pt x="19209" y="22000"/>
                    <a:pt x="17000" y="22000"/>
                  </a:cubicBezTo>
                  <a:lnTo>
                    <a:pt x="12000" y="22000"/>
                  </a:ln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1" name="BrandDeck Diagram Text 1"/>
            <p:cNvSpPr txBox="1"/>
            <p:nvPr/>
          </p:nvSpPr>
          <p:spPr>
            <a:xfrm>
              <a:off x="4729028" y="1407393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170" b="1">
                  <a:solidFill>
                    <a:srgbClr val="000000"/>
                  </a:solidFill>
                  <a:latin typeface="Play"/>
                </a:rPr>
                <a:t>Треть всех обращений в поддержку —</a:t>
              </a:r>
              <a:r>
                <a:rPr sz="1170" b="0">
                  <a:solidFill>
                    <a:srgbClr val="000000"/>
                  </a:solidFill>
                  <a:latin typeface="Play"/>
                </a:rPr>
                <a:t> повторяющиеся вопросы.</a:t>
              </a:r>
            </a:p>
          </p:txBody>
        </p:sp>
        <p:sp>
          <p:nvSpPr>
            <p:cNvPr id="512" name="BrandDeck Diagram Card 2"/>
            <p:cNvSpPr/>
            <p:nvPr/>
          </p:nvSpPr>
          <p:spPr>
            <a:xfrm>
              <a:off x="6623145" y="676278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3" name="BrandDeck Diagram Icon 2 Badge"/>
            <p:cNvSpPr/>
            <p:nvPr/>
          </p:nvSpPr>
          <p:spPr>
            <a:xfrm>
              <a:off x="6754488" y="807621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4" name="BrandDeck Icon file-text"/>
            <p:cNvSpPr/>
            <p:nvPr/>
          </p:nvSpPr>
          <p:spPr>
            <a:xfrm>
              <a:off x="6866211" y="919344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5000" y="2000"/>
                  </a:moveTo>
                  <a:lnTo>
                    <a:pt x="6000" y="2000"/>
                  </a:lnTo>
                  <a:cubicBezTo>
                    <a:pt x="4895" y="2000"/>
                    <a:pt x="4000" y="2895"/>
                    <a:pt x="4000" y="4000"/>
                  </a:cubicBezTo>
                  <a:lnTo>
                    <a:pt x="4000" y="20000"/>
                  </a:lnTo>
                  <a:cubicBezTo>
                    <a:pt x="4000" y="21105"/>
                    <a:pt x="4895" y="22000"/>
                    <a:pt x="6000" y="22000"/>
                  </a:cubicBezTo>
                  <a:lnTo>
                    <a:pt x="18000" y="22000"/>
                  </a:lnTo>
                  <a:cubicBezTo>
                    <a:pt x="19105" y="22000"/>
                    <a:pt x="20000" y="21105"/>
                    <a:pt x="20000" y="20000"/>
                  </a:cubicBezTo>
                  <a:lnTo>
                    <a:pt x="20000" y="7000"/>
                  </a:lnTo>
                  <a:close/>
                </a:path>
                <a:path w="24000" h="24000" fill="none">
                  <a:moveTo>
                    <a:pt x="14000" y="2000"/>
                  </a:moveTo>
                  <a:lnTo>
                    <a:pt x="14000" y="6000"/>
                  </a:lnTo>
                  <a:cubicBezTo>
                    <a:pt x="14000" y="7105"/>
                    <a:pt x="14895" y="8000"/>
                    <a:pt x="16000" y="8000"/>
                  </a:cubicBezTo>
                  <a:lnTo>
                    <a:pt x="20000" y="8000"/>
                  </a:lnTo>
                </a:path>
                <a:path w="24000" h="24000" fill="none">
                  <a:moveTo>
                    <a:pt x="10000" y="9000"/>
                  </a:moveTo>
                  <a:lnTo>
                    <a:pt x="8000" y="9000"/>
                  </a:lnTo>
                </a:path>
                <a:path w="24000" h="24000" fill="none">
                  <a:moveTo>
                    <a:pt x="16000" y="13000"/>
                  </a:moveTo>
                  <a:lnTo>
                    <a:pt x="8000" y="13000"/>
                  </a:lnTo>
                </a:path>
                <a:path w="24000" h="24000" fill="none">
                  <a:moveTo>
                    <a:pt x="16000" y="17000"/>
                  </a:moveTo>
                  <a:lnTo>
                    <a:pt x="8000" y="17000"/>
                  </a:ln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5" name="BrandDeck Diagram Text 2"/>
            <p:cNvSpPr txBox="1"/>
            <p:nvPr/>
          </p:nvSpPr>
          <p:spPr>
            <a:xfrm>
              <a:off x="6715085" y="1407393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170" b="0">
                  <a:solidFill>
                    <a:srgbClr val="000000"/>
                  </a:solidFill>
                  <a:latin typeface="Play"/>
                </a:rPr>
                <a:t>Эти запросы касаются стандартных регламентов и инструкций.</a:t>
              </a:r>
            </a:p>
          </p:txBody>
        </p:sp>
        <p:sp>
          <p:nvSpPr>
            <p:cNvPr id="516" name="BrandDeck Diagram Card 3"/>
            <p:cNvSpPr/>
            <p:nvPr/>
          </p:nvSpPr>
          <p:spPr>
            <a:xfrm>
              <a:off x="4637088" y="2599693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7" name="BrandDeck Diagram Icon 3 Badge"/>
            <p:cNvSpPr/>
            <p:nvPr/>
          </p:nvSpPr>
          <p:spPr>
            <a:xfrm>
              <a:off x="4768431" y="2731036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8" name="BrandDeck Icon lock"/>
            <p:cNvSpPr/>
            <p:nvPr/>
          </p:nvSpPr>
          <p:spPr>
            <a:xfrm>
              <a:off x="4880154" y="2842759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5000" y="11000"/>
                  </a:moveTo>
                  <a:lnTo>
                    <a:pt x="19000" y="11000"/>
                  </a:lnTo>
                  <a:cubicBezTo>
                    <a:pt x="20105" y="11000"/>
                    <a:pt x="21000" y="11895"/>
                    <a:pt x="21000" y="13000"/>
                  </a:cubicBezTo>
                  <a:lnTo>
                    <a:pt x="21000" y="20000"/>
                  </a:lnTo>
                  <a:cubicBezTo>
                    <a:pt x="21000" y="21105"/>
                    <a:pt x="20105" y="22000"/>
                    <a:pt x="19000" y="22000"/>
                  </a:cubicBezTo>
                  <a:lnTo>
                    <a:pt x="5000" y="22000"/>
                  </a:lnTo>
                  <a:cubicBezTo>
                    <a:pt x="3895" y="22000"/>
                    <a:pt x="3000" y="21105"/>
                    <a:pt x="3000" y="20000"/>
                  </a:cubicBezTo>
                  <a:lnTo>
                    <a:pt x="3000" y="13000"/>
                  </a:lnTo>
                  <a:cubicBezTo>
                    <a:pt x="3000" y="11895"/>
                    <a:pt x="3895" y="11000"/>
                    <a:pt x="5000" y="11000"/>
                  </a:cubicBezTo>
                  <a:close/>
                </a:path>
                <a:path w="24000" h="24000" fill="none">
                  <a:moveTo>
                    <a:pt x="7000" y="11000"/>
                  </a:moveTo>
                  <a:lnTo>
                    <a:pt x="7000" y="7000"/>
                  </a:lnTo>
                  <a:cubicBezTo>
                    <a:pt x="7000" y="4239"/>
                    <a:pt x="9239" y="2000"/>
                    <a:pt x="12000" y="2000"/>
                  </a:cubicBezTo>
                  <a:cubicBezTo>
                    <a:pt x="14761" y="2000"/>
                    <a:pt x="17000" y="4239"/>
                    <a:pt x="17000" y="7000"/>
                  </a:cubicBezTo>
                  <a:lnTo>
                    <a:pt x="17000" y="11000"/>
                  </a:ln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9" name="BrandDeck Diagram Text 3"/>
            <p:cNvSpPr txBox="1"/>
            <p:nvPr/>
          </p:nvSpPr>
          <p:spPr>
            <a:xfrm>
              <a:off x="4729028" y="3330808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170" b="0">
                  <a:solidFill>
                    <a:srgbClr val="000000"/>
                  </a:solidFill>
                  <a:latin typeface="Play"/>
                </a:rPr>
                <a:t>ИИ-помощник позволит закрыть их без участия специалиста.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randDeck Text 2"/>
          <p:cNvSpPr>
            <a:spLocks noGrp="1"/>
          </p:cNvSpPr>
          <p:nvPr>
            <p:ph type="title"/>
          </p:nvPr>
        </p:nvSpPr>
        <p:spPr>
          <a:xfrm>
            <a:off x="430360" y="338829"/>
            <a:ext cx="3945697" cy="753371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</a:pPr>
            <a:r>
              <a:rPr sz="1800"/>
              <a:t>Затраты времени и ресурсов на рутину</a:t>
            </a:r>
          </a:p>
        </p:txBody>
      </p:sp>
      <p:grpSp>
        <p:nvGrpSpPr>
          <p:cNvPr id="3" name="BrandDeck Diagram icon_grid" descr="icon_grid: Поиск инструкции занимает до 30 минут.; Треть обращений — повторяющиеся вопросы.; Сотрудники тратят время на рутинные задачи."/>
          <p:cNvGrpSpPr/>
          <p:nvPr/>
        </p:nvGrpSpPr>
        <p:grpSpPr>
          <a:xfrm>
            <a:off x="4637088" y="676278"/>
            <a:ext cx="3862386" cy="3737102"/>
            <a:chOff x="4637088" y="676278"/>
            <a:chExt cx="3862386" cy="3737102"/>
          </a:xfrm>
        </p:grpSpPr>
        <p:sp>
          <p:nvSpPr>
            <p:cNvPr id="4" name="BrandDeck Diagram Card 1"/>
            <p:cNvSpPr/>
            <p:nvPr/>
          </p:nvSpPr>
          <p:spPr>
            <a:xfrm>
              <a:off x="4637088" y="676278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BrandDeck Diagram Icon 1 Badge"/>
            <p:cNvSpPr/>
            <p:nvPr/>
          </p:nvSpPr>
          <p:spPr>
            <a:xfrm>
              <a:off x="4768431" y="807621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BrandDeck Icon search"/>
            <p:cNvSpPr/>
            <p:nvPr/>
          </p:nvSpPr>
          <p:spPr>
            <a:xfrm>
              <a:off x="4880154" y="919344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9000" y="11000"/>
                  </a:moveTo>
                  <a:cubicBezTo>
                    <a:pt x="19000" y="15418"/>
                    <a:pt x="15418" y="19000"/>
                    <a:pt x="11000" y="19000"/>
                  </a:cubicBezTo>
                  <a:cubicBezTo>
                    <a:pt x="6582" y="19000"/>
                    <a:pt x="3000" y="15418"/>
                    <a:pt x="3000" y="11000"/>
                  </a:cubicBezTo>
                  <a:cubicBezTo>
                    <a:pt x="3000" y="6582"/>
                    <a:pt x="6582" y="3000"/>
                    <a:pt x="11000" y="3000"/>
                  </a:cubicBezTo>
                  <a:cubicBezTo>
                    <a:pt x="15418" y="3000"/>
                    <a:pt x="19000" y="6582"/>
                    <a:pt x="19000" y="11000"/>
                  </a:cubicBezTo>
                  <a:close/>
                </a:path>
                <a:path w="24000" h="24000" fill="none">
                  <a:moveTo>
                    <a:pt x="21000" y="21000"/>
                  </a:moveTo>
                  <a:lnTo>
                    <a:pt x="16700" y="16700"/>
                  </a:ln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BrandDeck Diagram Text 1"/>
            <p:cNvSpPr txBox="1"/>
            <p:nvPr/>
          </p:nvSpPr>
          <p:spPr>
            <a:xfrm>
              <a:off x="4729028" y="1407393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10" b="0">
                  <a:solidFill>
                    <a:srgbClr val="FFFFFF"/>
                  </a:solidFill>
                  <a:latin typeface="Play"/>
                </a:rPr>
                <a:t>Поиск инструкции занимает до 30 минут.</a:t>
              </a:r>
            </a:p>
          </p:txBody>
        </p:sp>
        <p:sp>
          <p:nvSpPr>
            <p:cNvPr id="8" name="BrandDeck Diagram Card 2"/>
            <p:cNvSpPr/>
            <p:nvPr/>
          </p:nvSpPr>
          <p:spPr>
            <a:xfrm>
              <a:off x="6623145" y="676278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BrandDeck Diagram Icon 2 Badge"/>
            <p:cNvSpPr/>
            <p:nvPr/>
          </p:nvSpPr>
          <p:spPr>
            <a:xfrm>
              <a:off x="6754488" y="807621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BrandDeck Icon headset"/>
            <p:cNvSpPr/>
            <p:nvPr/>
          </p:nvSpPr>
          <p:spPr>
            <a:xfrm>
              <a:off x="6866211" y="919344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3000" y="11000"/>
                  </a:moveTo>
                  <a:lnTo>
                    <a:pt x="6000" y="11000"/>
                  </a:lnTo>
                  <a:cubicBezTo>
                    <a:pt x="7105" y="11000"/>
                    <a:pt x="8000" y="11895"/>
                    <a:pt x="8000" y="13000"/>
                  </a:cubicBezTo>
                  <a:lnTo>
                    <a:pt x="8000" y="16000"/>
                  </a:lnTo>
                  <a:cubicBezTo>
                    <a:pt x="8000" y="17105"/>
                    <a:pt x="7105" y="18000"/>
                    <a:pt x="6000" y="18000"/>
                  </a:cubicBezTo>
                  <a:lnTo>
                    <a:pt x="5000" y="18000"/>
                  </a:lnTo>
                  <a:cubicBezTo>
                    <a:pt x="3895" y="18000"/>
                    <a:pt x="3000" y="17105"/>
                    <a:pt x="3000" y="16000"/>
                  </a:cubicBezTo>
                  <a:lnTo>
                    <a:pt x="3000" y="11000"/>
                  </a:lnTo>
                  <a:close/>
                  <a:moveTo>
                    <a:pt x="3000" y="11000"/>
                  </a:moveTo>
                  <a:cubicBezTo>
                    <a:pt x="3000" y="6029"/>
                    <a:pt x="7029" y="2000"/>
                    <a:pt x="12000" y="2000"/>
                  </a:cubicBezTo>
                  <a:cubicBezTo>
                    <a:pt x="16971" y="2000"/>
                    <a:pt x="21000" y="6029"/>
                    <a:pt x="21000" y="11000"/>
                  </a:cubicBezTo>
                  <a:moveTo>
                    <a:pt x="21000" y="11000"/>
                  </a:moveTo>
                  <a:lnTo>
                    <a:pt x="21000" y="16000"/>
                  </a:lnTo>
                  <a:cubicBezTo>
                    <a:pt x="21000" y="17105"/>
                    <a:pt x="20105" y="18000"/>
                    <a:pt x="19000" y="18000"/>
                  </a:cubicBezTo>
                  <a:lnTo>
                    <a:pt x="18000" y="18000"/>
                  </a:lnTo>
                  <a:cubicBezTo>
                    <a:pt x="16895" y="18000"/>
                    <a:pt x="16000" y="17105"/>
                    <a:pt x="16000" y="16000"/>
                  </a:cubicBezTo>
                  <a:lnTo>
                    <a:pt x="16000" y="13000"/>
                  </a:lnTo>
                  <a:cubicBezTo>
                    <a:pt x="16000" y="11895"/>
                    <a:pt x="16895" y="11000"/>
                    <a:pt x="18000" y="11000"/>
                  </a:cubicBezTo>
                  <a:lnTo>
                    <a:pt x="21000" y="11000"/>
                  </a:lnTo>
                  <a:close/>
                </a:path>
                <a:path w="24000" h="24000" fill="none">
                  <a:moveTo>
                    <a:pt x="21000" y="16000"/>
                  </a:moveTo>
                  <a:lnTo>
                    <a:pt x="21000" y="18000"/>
                  </a:lnTo>
                  <a:cubicBezTo>
                    <a:pt x="21000" y="20209"/>
                    <a:pt x="19209" y="22000"/>
                    <a:pt x="17000" y="22000"/>
                  </a:cubicBezTo>
                  <a:lnTo>
                    <a:pt x="12000" y="22000"/>
                  </a:ln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BrandDeck Diagram Text 2"/>
            <p:cNvSpPr txBox="1"/>
            <p:nvPr/>
          </p:nvSpPr>
          <p:spPr>
            <a:xfrm>
              <a:off x="6715085" y="1407393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10" b="1">
                  <a:solidFill>
                    <a:srgbClr val="FFFFFF"/>
                  </a:solidFill>
                  <a:latin typeface="Play"/>
                </a:rPr>
                <a:t>Треть обращений —</a:t>
              </a:r>
              <a:r>
                <a:rPr sz="1410" b="0">
                  <a:solidFill>
                    <a:srgbClr val="FFFFFF"/>
                  </a:solidFill>
                  <a:latin typeface="Play"/>
                </a:rPr>
                <a:t> повторяющиеся вопросы.</a:t>
              </a:r>
            </a:p>
          </p:txBody>
        </p:sp>
        <p:sp>
          <p:nvSpPr>
            <p:cNvPr id="12" name="BrandDeck Diagram Card 3"/>
            <p:cNvSpPr/>
            <p:nvPr/>
          </p:nvSpPr>
          <p:spPr>
            <a:xfrm>
              <a:off x="4637088" y="2599693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BrandDeck Diagram Icon 3 Badge"/>
            <p:cNvSpPr/>
            <p:nvPr/>
          </p:nvSpPr>
          <p:spPr>
            <a:xfrm>
              <a:off x="4768431" y="2731036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BrandDeck Icon users"/>
            <p:cNvSpPr/>
            <p:nvPr/>
          </p:nvSpPr>
          <p:spPr>
            <a:xfrm>
              <a:off x="4880154" y="2842759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6000" y="21000"/>
                  </a:moveTo>
                  <a:lnTo>
                    <a:pt x="16000" y="19000"/>
                  </a:lnTo>
                  <a:cubicBezTo>
                    <a:pt x="16000" y="16791"/>
                    <a:pt x="14209" y="15000"/>
                    <a:pt x="12000" y="15000"/>
                  </a:cubicBezTo>
                  <a:lnTo>
                    <a:pt x="6000" y="15000"/>
                  </a:lnTo>
                  <a:cubicBezTo>
                    <a:pt x="3791" y="15000"/>
                    <a:pt x="2000" y="16791"/>
                    <a:pt x="2000" y="19000"/>
                  </a:cubicBezTo>
                  <a:lnTo>
                    <a:pt x="2000" y="21000"/>
                  </a:lnTo>
                </a:path>
                <a:path w="24000" h="24000" fill="none">
                  <a:moveTo>
                    <a:pt x="13000" y="7000"/>
                  </a:moveTo>
                  <a:cubicBezTo>
                    <a:pt x="13000" y="9209"/>
                    <a:pt x="11209" y="11000"/>
                    <a:pt x="9000" y="11000"/>
                  </a:cubicBezTo>
                  <a:cubicBezTo>
                    <a:pt x="6791" y="11000"/>
                    <a:pt x="5000" y="9209"/>
                    <a:pt x="5000" y="7000"/>
                  </a:cubicBezTo>
                  <a:cubicBezTo>
                    <a:pt x="5000" y="4791"/>
                    <a:pt x="6791" y="3000"/>
                    <a:pt x="9000" y="3000"/>
                  </a:cubicBezTo>
                  <a:cubicBezTo>
                    <a:pt x="11209" y="3000"/>
                    <a:pt x="13000" y="4791"/>
                    <a:pt x="13000" y="7000"/>
                  </a:cubicBezTo>
                  <a:close/>
                </a:path>
                <a:path w="24000" h="24000" fill="none">
                  <a:moveTo>
                    <a:pt x="22000" y="21000"/>
                  </a:moveTo>
                  <a:lnTo>
                    <a:pt x="22000" y="19000"/>
                  </a:lnTo>
                  <a:cubicBezTo>
                    <a:pt x="21999" y="17177"/>
                    <a:pt x="20765" y="15586"/>
                    <a:pt x="19000" y="15130"/>
                  </a:cubicBezTo>
                </a:path>
                <a:path w="24000" h="24000" fill="none">
                  <a:moveTo>
                    <a:pt x="16000" y="3130"/>
                  </a:moveTo>
                  <a:cubicBezTo>
                    <a:pt x="17770" y="3583"/>
                    <a:pt x="19008" y="5178"/>
                    <a:pt x="19008" y="7005"/>
                  </a:cubicBezTo>
                  <a:cubicBezTo>
                    <a:pt x="19008" y="8832"/>
                    <a:pt x="17770" y="10427"/>
                    <a:pt x="16000" y="10880"/>
                  </a:cubicBez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BrandDeck Diagram Text 3"/>
            <p:cNvSpPr txBox="1"/>
            <p:nvPr/>
          </p:nvSpPr>
          <p:spPr>
            <a:xfrm>
              <a:off x="4729028" y="3330808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10" b="0">
                  <a:solidFill>
                    <a:srgbClr val="FFFFFF"/>
                  </a:solidFill>
                  <a:latin typeface="Play"/>
                </a:rPr>
                <a:t>Сотрудники тратят время на рутинные задачи.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randDeck Text 2"/>
          <p:cNvSpPr>
            <a:spLocks noGrp="1"/>
          </p:cNvSpPr>
          <p:nvPr>
            <p:ph type="title"/>
          </p:nvPr>
        </p:nvSpPr>
        <p:spPr>
          <a:xfrm>
            <a:off x="430360" y="338829"/>
            <a:ext cx="3945697" cy="753371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</a:pPr>
            <a:r>
              <a:rPr sz="1800"/>
              <a:t>ИИ-помощник отвечает на вопросы по регламентам</a:t>
            </a:r>
          </a:p>
        </p:txBody>
      </p:sp>
      <p:grpSp>
        <p:nvGrpSpPr>
          <p:cNvPr id="3" name="BrandDeck Diagram icon_grid" descr="icon_grid: ИИ-помощник отвечает на вопросы по регламентам и инструкциям.; Система автоматически формирует ответ и ссылку на документ-источник.; При отсутствии подтверждённого ответа вопрос передаётся специалисту."/>
          <p:cNvGrpSpPr/>
          <p:nvPr/>
        </p:nvGrpSpPr>
        <p:grpSpPr>
          <a:xfrm>
            <a:off x="4637088" y="676278"/>
            <a:ext cx="3862386" cy="3737102"/>
            <a:chOff x="4637088" y="676278"/>
            <a:chExt cx="3862386" cy="3737102"/>
          </a:xfrm>
        </p:grpSpPr>
        <p:sp>
          <p:nvSpPr>
            <p:cNvPr id="4" name="BrandDeck Diagram Card 1"/>
            <p:cNvSpPr/>
            <p:nvPr/>
          </p:nvSpPr>
          <p:spPr>
            <a:xfrm>
              <a:off x="4637088" y="676278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BrandDeck Diagram Icon 1 Badge"/>
            <p:cNvSpPr/>
            <p:nvPr/>
          </p:nvSpPr>
          <p:spPr>
            <a:xfrm>
              <a:off x="4768431" y="807621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BrandDeck Icon file-text"/>
            <p:cNvSpPr/>
            <p:nvPr/>
          </p:nvSpPr>
          <p:spPr>
            <a:xfrm>
              <a:off x="4880154" y="919344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5000" y="2000"/>
                  </a:moveTo>
                  <a:lnTo>
                    <a:pt x="6000" y="2000"/>
                  </a:lnTo>
                  <a:cubicBezTo>
                    <a:pt x="4895" y="2000"/>
                    <a:pt x="4000" y="2895"/>
                    <a:pt x="4000" y="4000"/>
                  </a:cubicBezTo>
                  <a:lnTo>
                    <a:pt x="4000" y="20000"/>
                  </a:lnTo>
                  <a:cubicBezTo>
                    <a:pt x="4000" y="21105"/>
                    <a:pt x="4895" y="22000"/>
                    <a:pt x="6000" y="22000"/>
                  </a:cubicBezTo>
                  <a:lnTo>
                    <a:pt x="18000" y="22000"/>
                  </a:lnTo>
                  <a:cubicBezTo>
                    <a:pt x="19105" y="22000"/>
                    <a:pt x="20000" y="21105"/>
                    <a:pt x="20000" y="20000"/>
                  </a:cubicBezTo>
                  <a:lnTo>
                    <a:pt x="20000" y="7000"/>
                  </a:lnTo>
                  <a:close/>
                </a:path>
                <a:path w="24000" h="24000" fill="none">
                  <a:moveTo>
                    <a:pt x="14000" y="2000"/>
                  </a:moveTo>
                  <a:lnTo>
                    <a:pt x="14000" y="6000"/>
                  </a:lnTo>
                  <a:cubicBezTo>
                    <a:pt x="14000" y="7105"/>
                    <a:pt x="14895" y="8000"/>
                    <a:pt x="16000" y="8000"/>
                  </a:cubicBezTo>
                  <a:lnTo>
                    <a:pt x="20000" y="8000"/>
                  </a:lnTo>
                </a:path>
                <a:path w="24000" h="24000" fill="none">
                  <a:moveTo>
                    <a:pt x="10000" y="9000"/>
                  </a:moveTo>
                  <a:lnTo>
                    <a:pt x="8000" y="9000"/>
                  </a:lnTo>
                </a:path>
                <a:path w="24000" h="24000" fill="none">
                  <a:moveTo>
                    <a:pt x="16000" y="13000"/>
                  </a:moveTo>
                  <a:lnTo>
                    <a:pt x="8000" y="13000"/>
                  </a:lnTo>
                </a:path>
                <a:path w="24000" h="24000" fill="none">
                  <a:moveTo>
                    <a:pt x="16000" y="17000"/>
                  </a:moveTo>
                  <a:lnTo>
                    <a:pt x="8000" y="17000"/>
                  </a:ln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BrandDeck Diagram Text 1"/>
            <p:cNvSpPr txBox="1"/>
            <p:nvPr/>
          </p:nvSpPr>
          <p:spPr>
            <a:xfrm>
              <a:off x="4729028" y="1407393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170" b="0">
                  <a:solidFill>
                    <a:srgbClr val="000000"/>
                  </a:solidFill>
                  <a:latin typeface="Play"/>
                </a:rPr>
                <a:t>ИИ-помощник отвечает на вопросы по регламентам и инструкциям.</a:t>
              </a:r>
            </a:p>
          </p:txBody>
        </p:sp>
        <p:sp>
          <p:nvSpPr>
            <p:cNvPr id="8" name="BrandDeck Diagram Card 2"/>
            <p:cNvSpPr/>
            <p:nvPr/>
          </p:nvSpPr>
          <p:spPr>
            <a:xfrm>
              <a:off x="6623145" y="676278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BrandDeck Diagram Icon 2 Badge"/>
            <p:cNvSpPr/>
            <p:nvPr/>
          </p:nvSpPr>
          <p:spPr>
            <a:xfrm>
              <a:off x="6754488" y="807621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BrandDeck Icon link"/>
            <p:cNvSpPr/>
            <p:nvPr/>
          </p:nvSpPr>
          <p:spPr>
            <a:xfrm>
              <a:off x="6866211" y="919344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0000" y="13000"/>
                  </a:moveTo>
                  <a:cubicBezTo>
                    <a:pt x="10869" y="14162"/>
                    <a:pt x="12200" y="14889"/>
                    <a:pt x="13647" y="14992"/>
                  </a:cubicBezTo>
                  <a:cubicBezTo>
                    <a:pt x="15094" y="15096"/>
                    <a:pt x="16514" y="14566"/>
                    <a:pt x="17540" y="13540"/>
                  </a:cubicBezTo>
                  <a:lnTo>
                    <a:pt x="20540" y="10540"/>
                  </a:lnTo>
                  <a:cubicBezTo>
                    <a:pt x="22435" y="8578"/>
                    <a:pt x="22408" y="5460"/>
                    <a:pt x="20479" y="3531"/>
                  </a:cubicBezTo>
                  <a:cubicBezTo>
                    <a:pt x="18550" y="1602"/>
                    <a:pt x="15432" y="1575"/>
                    <a:pt x="13470" y="3470"/>
                  </a:cubicBezTo>
                  <a:lnTo>
                    <a:pt x="11750" y="5180"/>
                  </a:lnTo>
                </a:path>
                <a:path w="24000" h="24000" fill="none">
                  <a:moveTo>
                    <a:pt x="14000" y="11000"/>
                  </a:moveTo>
                  <a:cubicBezTo>
                    <a:pt x="13131" y="9838"/>
                    <a:pt x="11800" y="9111"/>
                    <a:pt x="10353" y="9008"/>
                  </a:cubicBezTo>
                  <a:cubicBezTo>
                    <a:pt x="8906" y="8904"/>
                    <a:pt x="7486" y="9434"/>
                    <a:pt x="6460" y="10460"/>
                  </a:cubicBezTo>
                  <a:lnTo>
                    <a:pt x="3460" y="13460"/>
                  </a:lnTo>
                  <a:cubicBezTo>
                    <a:pt x="1565" y="15422"/>
                    <a:pt x="1592" y="18540"/>
                    <a:pt x="3521" y="20469"/>
                  </a:cubicBezTo>
                  <a:cubicBezTo>
                    <a:pt x="5450" y="22398"/>
                    <a:pt x="8568" y="22425"/>
                    <a:pt x="10530" y="20530"/>
                  </a:cubicBezTo>
                  <a:lnTo>
                    <a:pt x="12240" y="18820"/>
                  </a:ln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BrandDeck Diagram Text 2"/>
            <p:cNvSpPr txBox="1"/>
            <p:nvPr/>
          </p:nvSpPr>
          <p:spPr>
            <a:xfrm>
              <a:off x="6715085" y="1407393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170" b="0">
                  <a:solidFill>
                    <a:srgbClr val="000000"/>
                  </a:solidFill>
                  <a:latin typeface="Play"/>
                </a:rPr>
                <a:t>Система автоматически формирует ответ и ссылку на документ-источник.</a:t>
              </a:r>
            </a:p>
          </p:txBody>
        </p:sp>
        <p:sp>
          <p:nvSpPr>
            <p:cNvPr id="12" name="BrandDeck Diagram Card 3"/>
            <p:cNvSpPr/>
            <p:nvPr/>
          </p:nvSpPr>
          <p:spPr>
            <a:xfrm>
              <a:off x="4637088" y="2599693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BrandDeck Diagram Icon 3 Badge"/>
            <p:cNvSpPr/>
            <p:nvPr/>
          </p:nvSpPr>
          <p:spPr>
            <a:xfrm>
              <a:off x="4768431" y="2731036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BrandDeck Icon circle-check"/>
            <p:cNvSpPr/>
            <p:nvPr/>
          </p:nvSpPr>
          <p:spPr>
            <a:xfrm>
              <a:off x="4880154" y="2842759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22000" y="12000"/>
                  </a:moveTo>
                  <a:cubicBezTo>
                    <a:pt x="22000" y="17523"/>
                    <a:pt x="17523" y="22000"/>
                    <a:pt x="12000" y="22000"/>
                  </a:cubicBezTo>
                  <a:cubicBezTo>
                    <a:pt x="6477" y="22000"/>
                    <a:pt x="2000" y="17523"/>
                    <a:pt x="2000" y="12000"/>
                  </a:cubicBezTo>
                  <a:cubicBezTo>
                    <a:pt x="2000" y="6477"/>
                    <a:pt x="6477" y="2000"/>
                    <a:pt x="12000" y="2000"/>
                  </a:cubicBezTo>
                  <a:cubicBezTo>
                    <a:pt x="17523" y="2000"/>
                    <a:pt x="22000" y="6477"/>
                    <a:pt x="22000" y="12000"/>
                  </a:cubicBezTo>
                  <a:close/>
                </a:path>
                <a:path w="24000" h="24000" fill="none">
                  <a:moveTo>
                    <a:pt x="9000" y="12000"/>
                  </a:moveTo>
                  <a:lnTo>
                    <a:pt x="11000" y="14000"/>
                  </a:lnTo>
                  <a:lnTo>
                    <a:pt x="15000" y="10000"/>
                  </a:ln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BrandDeck Diagram Text 3"/>
            <p:cNvSpPr txBox="1"/>
            <p:nvPr/>
          </p:nvSpPr>
          <p:spPr>
            <a:xfrm>
              <a:off x="4729028" y="3330808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170" b="0">
                  <a:solidFill>
                    <a:srgbClr val="000000"/>
                  </a:solidFill>
                  <a:latin typeface="Play"/>
                </a:rPr>
                <a:t>При отсутствии подтверждённого ответа вопрос передаётся специалисту.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87" name="Google Shape;987;p64"/>
          <p:cNvSpPr/>
          <p:nvPr/>
        </p:nvSpPr>
        <p:spPr>
          <a:xfrm>
            <a:off x="285748" y="286048"/>
            <a:ext cx="8572456" cy="415235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8" name="Google Shape;988;p64"/>
          <p:cNvSpPr/>
          <p:nvPr/>
        </p:nvSpPr>
        <p:spPr>
          <a:xfrm>
            <a:off x="285748" y="1209852"/>
            <a:ext cx="8572456" cy="32285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9" name="Google Shape;989;p64"/>
          <p:cNvSpPr/>
          <p:nvPr/>
        </p:nvSpPr>
        <p:spPr>
          <a:xfrm>
            <a:off x="285748" y="1209852"/>
            <a:ext cx="8572456" cy="179522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2" name="Google Shape;1012;p64"/>
          <p:cNvSpPr/>
          <p:nvPr/>
        </p:nvSpPr>
        <p:spPr>
          <a:xfrm>
            <a:off x="285748" y="3176509"/>
            <a:ext cx="8572456" cy="126189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7" name="BrandDeck Text 1017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800"/>
              <a:t>Вопросы без ответа передаются специалисту</a:t>
            </a:r>
            <a:endParaRPr/>
          </a:p>
        </p:txBody>
      </p:sp>
      <p:sp>
        <p:nvSpPr>
          <p:cNvPr id="1022" name="BrandDeck Body"/>
          <p:cNvSpPr txBox="1"/>
          <p:nvPr/>
        </p:nvSpPr>
        <p:spPr>
          <a:xfrm>
            <a:off x="585216" y="1144312"/>
            <a:ext cx="2129088" cy="3583136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79"/>
              </a:spcAft>
            </a:pPr>
            <a:r>
              <a:rPr sz="1200">
                <a:solidFill>
                  <a:srgbClr val="001515"/>
                </a:solidFill>
                <a:latin typeface="Play"/>
              </a:rPr>
              <a:t>• Отсутствующий ответ перенаправляет вопрос специалисту.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79"/>
              </a:spcAft>
            </a:pPr>
            <a:r>
              <a:rPr sz="1200">
                <a:solidFill>
                  <a:srgbClr val="001515"/>
                </a:solidFill>
                <a:latin typeface="Play"/>
              </a:rPr>
              <a:t>• В запрос включается контекст предыдущих попыток.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79"/>
              </a:spcAft>
            </a:pPr>
            <a:r>
              <a:rPr sz="1200">
                <a:solidFill>
                  <a:srgbClr val="001515"/>
                </a:solidFill>
                <a:latin typeface="Play"/>
              </a:rPr>
              <a:t>• Сотрудник получает помощь без ожидания ответа.</a:t>
            </a:r>
          </a:p>
        </p:txBody>
      </p:sp>
      <p:pic>
        <p:nvPicPr>
          <p:cNvPr id="1023" name="BrandDeck Image" descr="сотрудник специалист поддержки"/>
          <p:cNvPicPr>
            <a:picLocks noChangeAspect="1"/>
          </p:cNvPicPr>
          <p:nvPr/>
        </p:nvPicPr>
        <p:blipFill>
          <a:blip r:embed="rId9"/>
          <a:srcRect l="28445" r="28445"/>
          <a:stretch>
            <a:fillRect/>
          </a:stretch>
        </p:blipFill>
        <p:spPr>
          <a:xfrm>
            <a:off x="2970336" y="1144312"/>
            <a:ext cx="2744663" cy="35831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51" name="BrandDeck Text 1351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800">
                <a:latin typeface="Play"/>
              </a:rPr>
              <a:t>Модель работает внутри контура компании</a:t>
            </a:r>
            <a:endParaRPr/>
          </a:p>
        </p:txBody>
      </p:sp>
      <p:sp>
        <p:nvSpPr>
          <p:cNvPr id="1469" name="BrandDeck Body"/>
          <p:cNvSpPr txBox="1"/>
          <p:nvPr/>
        </p:nvSpPr>
        <p:spPr>
          <a:xfrm>
            <a:off x="181435" y="1144312"/>
            <a:ext cx="2375238" cy="1659436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65"/>
              </a:spcAft>
            </a:pPr>
            <a:r>
              <a:rPr sz="1100">
                <a:solidFill>
                  <a:srgbClr val="000000"/>
                </a:solidFill>
                <a:latin typeface="Play"/>
              </a:rPr>
              <a:t>• Модель с открытыми весами работает внутри контура компании.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65"/>
              </a:spcAft>
            </a:pPr>
            <a:r>
              <a:rPr sz="1100">
                <a:solidFill>
                  <a:srgbClr val="000000"/>
                </a:solidFill>
                <a:latin typeface="Play"/>
              </a:rPr>
              <a:t>• Документы не покидают внутреннюю сеть и не уходят наружу.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65"/>
              </a:spcAft>
            </a:pPr>
            <a:r>
              <a:rPr sz="1100">
                <a:solidFill>
                  <a:srgbClr val="000000"/>
                </a:solidFill>
                <a:latin typeface="Play"/>
              </a:rPr>
              <a:t>• Обработка запросов происходит без передачи данных внешним сервисам.</a:t>
            </a:r>
          </a:p>
        </p:txBody>
      </p:sp>
      <p:pic>
        <p:nvPicPr>
          <p:cNvPr id="1470" name="BrandDeck Image" descr="внутренний контур серверная"/>
          <p:cNvPicPr>
            <a:picLocks noChangeAspect="1"/>
          </p:cNvPicPr>
          <p:nvPr/>
        </p:nvPicPr>
        <p:blipFill>
          <a:blip r:embed="rId4"/>
          <a:srcRect l="2791" r="2791"/>
          <a:stretch>
            <a:fillRect/>
          </a:stretch>
        </p:blipFill>
        <p:spPr>
          <a:xfrm>
            <a:off x="2812705" y="1144312"/>
            <a:ext cx="6011254" cy="35831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03" name="BrandDeck Text 503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800"/>
              <a:t>Сотрудник получает мгновенный ответ и ссылку</a:t>
            </a:r>
            <a:endParaRPr/>
          </a:p>
        </p:txBody>
      </p:sp>
      <p:grpSp>
        <p:nvGrpSpPr>
          <p:cNvPr id="2" name="BrandDeck Diagram icon_grid" descr="icon_grid: Модель отвечает на вопросы по регламентам и инструкциям.; При отсутствии ответа вопрос передаётся специалисту с контекстом.; Сотрудник сразу получает подтверждённый ответ и ссылку на документ."/>
          <p:cNvGrpSpPr/>
          <p:nvPr/>
        </p:nvGrpSpPr>
        <p:grpSpPr>
          <a:xfrm>
            <a:off x="4637088" y="676278"/>
            <a:ext cx="3862386" cy="3737102"/>
            <a:chOff x="4637088" y="676278"/>
            <a:chExt cx="3862386" cy="3737102"/>
          </a:xfrm>
        </p:grpSpPr>
        <p:sp>
          <p:nvSpPr>
            <p:cNvPr id="508" name="BrandDeck Diagram Card 1"/>
            <p:cNvSpPr/>
            <p:nvPr/>
          </p:nvSpPr>
          <p:spPr>
            <a:xfrm>
              <a:off x="4637088" y="676278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9" name="BrandDeck Diagram Icon 1 Badge"/>
            <p:cNvSpPr/>
            <p:nvPr/>
          </p:nvSpPr>
          <p:spPr>
            <a:xfrm>
              <a:off x="4768431" y="807621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0" name="BrandDeck Icon file-text"/>
            <p:cNvSpPr/>
            <p:nvPr/>
          </p:nvSpPr>
          <p:spPr>
            <a:xfrm>
              <a:off x="4880154" y="919344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5000" y="2000"/>
                  </a:moveTo>
                  <a:lnTo>
                    <a:pt x="6000" y="2000"/>
                  </a:lnTo>
                  <a:cubicBezTo>
                    <a:pt x="4895" y="2000"/>
                    <a:pt x="4000" y="2895"/>
                    <a:pt x="4000" y="4000"/>
                  </a:cubicBezTo>
                  <a:lnTo>
                    <a:pt x="4000" y="20000"/>
                  </a:lnTo>
                  <a:cubicBezTo>
                    <a:pt x="4000" y="21105"/>
                    <a:pt x="4895" y="22000"/>
                    <a:pt x="6000" y="22000"/>
                  </a:cubicBezTo>
                  <a:lnTo>
                    <a:pt x="18000" y="22000"/>
                  </a:lnTo>
                  <a:cubicBezTo>
                    <a:pt x="19105" y="22000"/>
                    <a:pt x="20000" y="21105"/>
                    <a:pt x="20000" y="20000"/>
                  </a:cubicBezTo>
                  <a:lnTo>
                    <a:pt x="20000" y="7000"/>
                  </a:lnTo>
                  <a:close/>
                </a:path>
                <a:path w="24000" h="24000" fill="none">
                  <a:moveTo>
                    <a:pt x="14000" y="2000"/>
                  </a:moveTo>
                  <a:lnTo>
                    <a:pt x="14000" y="6000"/>
                  </a:lnTo>
                  <a:cubicBezTo>
                    <a:pt x="14000" y="7105"/>
                    <a:pt x="14895" y="8000"/>
                    <a:pt x="16000" y="8000"/>
                  </a:cubicBezTo>
                  <a:lnTo>
                    <a:pt x="20000" y="8000"/>
                  </a:lnTo>
                </a:path>
                <a:path w="24000" h="24000" fill="none">
                  <a:moveTo>
                    <a:pt x="10000" y="9000"/>
                  </a:moveTo>
                  <a:lnTo>
                    <a:pt x="8000" y="9000"/>
                  </a:lnTo>
                </a:path>
                <a:path w="24000" h="24000" fill="none">
                  <a:moveTo>
                    <a:pt x="16000" y="13000"/>
                  </a:moveTo>
                  <a:lnTo>
                    <a:pt x="8000" y="13000"/>
                  </a:lnTo>
                </a:path>
                <a:path w="24000" h="24000" fill="none">
                  <a:moveTo>
                    <a:pt x="16000" y="17000"/>
                  </a:moveTo>
                  <a:lnTo>
                    <a:pt x="8000" y="17000"/>
                  </a:ln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1" name="BrandDeck Diagram Text 1"/>
            <p:cNvSpPr txBox="1"/>
            <p:nvPr/>
          </p:nvSpPr>
          <p:spPr>
            <a:xfrm>
              <a:off x="4729028" y="1407393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170" b="0">
                  <a:solidFill>
                    <a:srgbClr val="000000"/>
                  </a:solidFill>
                  <a:latin typeface="Play"/>
                </a:rPr>
                <a:t>Модель отвечает на вопросы по регламентам и инструкциям.</a:t>
              </a:r>
            </a:p>
          </p:txBody>
        </p:sp>
        <p:sp>
          <p:nvSpPr>
            <p:cNvPr id="512" name="BrandDeck Diagram Card 2"/>
            <p:cNvSpPr/>
            <p:nvPr/>
          </p:nvSpPr>
          <p:spPr>
            <a:xfrm>
              <a:off x="6623145" y="676278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3" name="BrandDeck Diagram Icon 2 Badge"/>
            <p:cNvSpPr/>
            <p:nvPr/>
          </p:nvSpPr>
          <p:spPr>
            <a:xfrm>
              <a:off x="6754488" y="807621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4" name="BrandDeck Icon circle-help"/>
            <p:cNvSpPr/>
            <p:nvPr/>
          </p:nvSpPr>
          <p:spPr>
            <a:xfrm>
              <a:off x="6866211" y="919344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22000" y="12000"/>
                  </a:moveTo>
                  <a:cubicBezTo>
                    <a:pt x="22000" y="17523"/>
                    <a:pt x="17523" y="22000"/>
                    <a:pt x="12000" y="22000"/>
                  </a:cubicBezTo>
                  <a:cubicBezTo>
                    <a:pt x="6477" y="22000"/>
                    <a:pt x="2000" y="17523"/>
                    <a:pt x="2000" y="12000"/>
                  </a:cubicBezTo>
                  <a:cubicBezTo>
                    <a:pt x="2000" y="6477"/>
                    <a:pt x="6477" y="2000"/>
                    <a:pt x="12000" y="2000"/>
                  </a:cubicBezTo>
                  <a:cubicBezTo>
                    <a:pt x="17523" y="2000"/>
                    <a:pt x="22000" y="6477"/>
                    <a:pt x="22000" y="12000"/>
                  </a:cubicBezTo>
                  <a:close/>
                </a:path>
                <a:path w="24000" h="24000" fill="none">
                  <a:moveTo>
                    <a:pt x="9090" y="9000"/>
                  </a:moveTo>
                  <a:cubicBezTo>
                    <a:pt x="9575" y="7620"/>
                    <a:pt x="10985" y="6791"/>
                    <a:pt x="12427" y="7039"/>
                  </a:cubicBezTo>
                  <a:cubicBezTo>
                    <a:pt x="13869" y="7286"/>
                    <a:pt x="14922" y="8537"/>
                    <a:pt x="14920" y="10000"/>
                  </a:cubicBezTo>
                  <a:cubicBezTo>
                    <a:pt x="14920" y="12000"/>
                    <a:pt x="11920" y="13000"/>
                    <a:pt x="11920" y="13000"/>
                  </a:cubicBezTo>
                </a:path>
                <a:path w="24000" h="24000" fill="none">
                  <a:moveTo>
                    <a:pt x="12000" y="17000"/>
                  </a:moveTo>
                  <a:lnTo>
                    <a:pt x="12010" y="17000"/>
                  </a:ln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5" name="BrandDeck Diagram Text 2"/>
            <p:cNvSpPr txBox="1"/>
            <p:nvPr/>
          </p:nvSpPr>
          <p:spPr>
            <a:xfrm>
              <a:off x="6715085" y="1407393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170" b="0">
                  <a:solidFill>
                    <a:srgbClr val="000000"/>
                  </a:solidFill>
                  <a:latin typeface="Play"/>
                </a:rPr>
                <a:t>При отсутствии ответа вопрос передаётся специалисту с контекстом.</a:t>
              </a:r>
            </a:p>
          </p:txBody>
        </p:sp>
        <p:sp>
          <p:nvSpPr>
            <p:cNvPr id="516" name="BrandDeck Diagram Card 3"/>
            <p:cNvSpPr/>
            <p:nvPr/>
          </p:nvSpPr>
          <p:spPr>
            <a:xfrm>
              <a:off x="4637088" y="2599693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7" name="BrandDeck Diagram Icon 3 Badge"/>
            <p:cNvSpPr/>
            <p:nvPr/>
          </p:nvSpPr>
          <p:spPr>
            <a:xfrm>
              <a:off x="4768431" y="2731036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8" name="BrandDeck Icon users"/>
            <p:cNvSpPr/>
            <p:nvPr/>
          </p:nvSpPr>
          <p:spPr>
            <a:xfrm>
              <a:off x="4880154" y="2842759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6000" y="21000"/>
                  </a:moveTo>
                  <a:lnTo>
                    <a:pt x="16000" y="19000"/>
                  </a:lnTo>
                  <a:cubicBezTo>
                    <a:pt x="16000" y="16791"/>
                    <a:pt x="14209" y="15000"/>
                    <a:pt x="12000" y="15000"/>
                  </a:cubicBezTo>
                  <a:lnTo>
                    <a:pt x="6000" y="15000"/>
                  </a:lnTo>
                  <a:cubicBezTo>
                    <a:pt x="3791" y="15000"/>
                    <a:pt x="2000" y="16791"/>
                    <a:pt x="2000" y="19000"/>
                  </a:cubicBezTo>
                  <a:lnTo>
                    <a:pt x="2000" y="21000"/>
                  </a:lnTo>
                </a:path>
                <a:path w="24000" h="24000" fill="none">
                  <a:moveTo>
                    <a:pt x="13000" y="7000"/>
                  </a:moveTo>
                  <a:cubicBezTo>
                    <a:pt x="13000" y="9209"/>
                    <a:pt x="11209" y="11000"/>
                    <a:pt x="9000" y="11000"/>
                  </a:cubicBezTo>
                  <a:cubicBezTo>
                    <a:pt x="6791" y="11000"/>
                    <a:pt x="5000" y="9209"/>
                    <a:pt x="5000" y="7000"/>
                  </a:cubicBezTo>
                  <a:cubicBezTo>
                    <a:pt x="5000" y="4791"/>
                    <a:pt x="6791" y="3000"/>
                    <a:pt x="9000" y="3000"/>
                  </a:cubicBezTo>
                  <a:cubicBezTo>
                    <a:pt x="11209" y="3000"/>
                    <a:pt x="13000" y="4791"/>
                    <a:pt x="13000" y="7000"/>
                  </a:cubicBezTo>
                  <a:close/>
                </a:path>
                <a:path w="24000" h="24000" fill="none">
                  <a:moveTo>
                    <a:pt x="22000" y="21000"/>
                  </a:moveTo>
                  <a:lnTo>
                    <a:pt x="22000" y="19000"/>
                  </a:lnTo>
                  <a:cubicBezTo>
                    <a:pt x="21999" y="17177"/>
                    <a:pt x="20765" y="15586"/>
                    <a:pt x="19000" y="15130"/>
                  </a:cubicBezTo>
                </a:path>
                <a:path w="24000" h="24000" fill="none">
                  <a:moveTo>
                    <a:pt x="16000" y="3130"/>
                  </a:moveTo>
                  <a:cubicBezTo>
                    <a:pt x="17770" y="3583"/>
                    <a:pt x="19008" y="5178"/>
                    <a:pt x="19008" y="7005"/>
                  </a:cubicBezTo>
                  <a:cubicBezTo>
                    <a:pt x="19008" y="8832"/>
                    <a:pt x="17770" y="10427"/>
                    <a:pt x="16000" y="10880"/>
                  </a:cubicBez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9" name="BrandDeck Diagram Text 3"/>
            <p:cNvSpPr txBox="1"/>
            <p:nvPr/>
          </p:nvSpPr>
          <p:spPr>
            <a:xfrm>
              <a:off x="4729028" y="3330808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170" b="0">
                  <a:solidFill>
                    <a:srgbClr val="000000"/>
                  </a:solidFill>
                  <a:latin typeface="Play"/>
                </a:rPr>
                <a:t>Сотрудник сразу получает подтверждённый ответ и ссылку на документ.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randDeck Text 2"/>
          <p:cNvSpPr>
            <a:spLocks noGrp="1"/>
          </p:cNvSpPr>
          <p:nvPr>
            <p:ph type="title"/>
          </p:nvPr>
        </p:nvSpPr>
        <p:spPr>
          <a:xfrm>
            <a:off x="430360" y="338829"/>
            <a:ext cx="3945697" cy="753371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1"/>
              </a:spcAft>
            </a:pPr>
            <a:r>
              <a:rPr sz="1410"/>
              <a:t>Пилот охватывает 2 подразделения и 150 сотрудников</a:t>
            </a:r>
          </a:p>
        </p:txBody>
      </p:sp>
      <p:grpSp>
        <p:nvGrpSpPr>
          <p:cNvPr id="3" name="BrandDeck Diagram pyramid" descr="pyramid: 150 сотрудников Пользователи пилотной группы; 2 подразделения Охват тестирования; 6 недель Срок проведения пилота"/>
          <p:cNvGrpSpPr/>
          <p:nvPr/>
        </p:nvGrpSpPr>
        <p:grpSpPr>
          <a:xfrm>
            <a:off x="4643624" y="768667"/>
            <a:ext cx="3855850" cy="3511296"/>
            <a:chOff x="4643624" y="768667"/>
            <a:chExt cx="3855850" cy="3511296"/>
          </a:xfrm>
        </p:grpSpPr>
        <p:sp>
          <p:nvSpPr>
            <p:cNvPr id="4" name="BrandDeck Diagram Level 1"/>
            <p:cNvSpPr/>
            <p:nvPr/>
          </p:nvSpPr>
          <p:spPr>
            <a:xfrm>
              <a:off x="5210107" y="768667"/>
              <a:ext cx="553410" cy="1133856"/>
            </a:xfrm>
            <a:custGeom>
              <a:avLst/>
              <a:gdLst/>
              <a:ahLst/>
              <a:cxnLst/>
              <a:rect l="l" t="t" r="r" b="b"/>
              <a:pathLst>
                <a:path w="605" h="1240" stroke="0">
                  <a:moveTo>
                    <a:pt x="278" y="0"/>
                  </a:moveTo>
                  <a:lnTo>
                    <a:pt x="328" y="0"/>
                  </a:lnTo>
                  <a:lnTo>
                    <a:pt x="605" y="1240"/>
                  </a:lnTo>
                  <a:lnTo>
                    <a:pt x="0" y="1240"/>
                  </a:lnTo>
                  <a:close/>
                </a:path>
              </a:pathLst>
            </a:custGeom>
            <a:solidFill>
              <a:srgbClr val="006DEB"/>
            </a:solidFill>
            <a:ln w="0"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BrandDeck Diagram Text 1"/>
            <p:cNvSpPr txBox="1"/>
            <p:nvPr/>
          </p:nvSpPr>
          <p:spPr>
            <a:xfrm>
              <a:off x="6610858" y="768667"/>
              <a:ext cx="1888616" cy="11338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10" b="1">
                  <a:solidFill>
                    <a:srgbClr val="FFFFFF"/>
                  </a:solidFill>
                  <a:latin typeface="Play"/>
                </a:rPr>
                <a:t>150 сотрудников</a:t>
              </a:r>
            </a:p>
            <a:p>
              <a:pPr algn="l">
                <a:lnSpc>
                  <a:spcPct val="110000"/>
                </a:lnSpc>
                <a:spcBef>
                  <a:spcPts val="352"/>
                </a:spcBef>
              </a:pPr>
              <a:r>
                <a:rPr sz="1410" b="0">
                  <a:solidFill>
                    <a:srgbClr val="FFFFFF"/>
                  </a:solidFill>
                  <a:latin typeface="Play"/>
                </a:rPr>
                <a:t>Пользователи пилотной группы</a:t>
              </a:r>
            </a:p>
          </p:txBody>
        </p:sp>
        <p:sp>
          <p:nvSpPr>
            <p:cNvPr id="6" name="BrandDeck Diagram Level 2"/>
            <p:cNvSpPr/>
            <p:nvPr/>
          </p:nvSpPr>
          <p:spPr>
            <a:xfrm>
              <a:off x="4926866" y="1957387"/>
              <a:ext cx="1119894" cy="1133856"/>
            </a:xfrm>
            <a:custGeom>
              <a:avLst/>
              <a:gdLst/>
              <a:ahLst/>
              <a:cxnLst/>
              <a:rect l="l" t="t" r="r" b="b"/>
              <a:pathLst>
                <a:path w="1225" h="1240" stroke="0">
                  <a:moveTo>
                    <a:pt x="295" y="0"/>
                  </a:moveTo>
                  <a:lnTo>
                    <a:pt x="929" y="0"/>
                  </a:lnTo>
                  <a:lnTo>
                    <a:pt x="1225" y="1240"/>
                  </a:lnTo>
                  <a:lnTo>
                    <a:pt x="0" y="1240"/>
                  </a:lnTo>
                  <a:close/>
                </a:path>
              </a:pathLst>
            </a:custGeom>
            <a:solidFill>
              <a:srgbClr val="0052B0"/>
            </a:solidFill>
            <a:ln w="0"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10" b="1">
                  <a:solidFill>
                    <a:srgbClr val="FFFFFF"/>
                  </a:solidFill>
                  <a:latin typeface="Play"/>
                </a:rPr>
                <a:t>02</a:t>
              </a:r>
            </a:p>
          </p:txBody>
        </p:sp>
        <p:sp>
          <p:nvSpPr>
            <p:cNvPr id="7" name="BrandDeck Diagram Text 2"/>
            <p:cNvSpPr txBox="1"/>
            <p:nvPr/>
          </p:nvSpPr>
          <p:spPr>
            <a:xfrm>
              <a:off x="6610858" y="1957387"/>
              <a:ext cx="1888616" cy="11338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10" b="1">
                  <a:solidFill>
                    <a:srgbClr val="FFFFFF"/>
                  </a:solidFill>
                  <a:latin typeface="Play"/>
                </a:rPr>
                <a:t>2 подразделения</a:t>
              </a:r>
            </a:p>
            <a:p>
              <a:pPr algn="l">
                <a:lnSpc>
                  <a:spcPct val="110000"/>
                </a:lnSpc>
                <a:spcBef>
                  <a:spcPts val="352"/>
                </a:spcBef>
              </a:pPr>
              <a:r>
                <a:rPr sz="1410" b="0">
                  <a:solidFill>
                    <a:srgbClr val="FFFFFF"/>
                  </a:solidFill>
                  <a:latin typeface="Play"/>
                </a:rPr>
                <a:t>Охват тестирования</a:t>
              </a:r>
            </a:p>
          </p:txBody>
        </p:sp>
        <p:sp>
          <p:nvSpPr>
            <p:cNvPr id="8" name="BrandDeck Diagram Level 3"/>
            <p:cNvSpPr/>
            <p:nvPr/>
          </p:nvSpPr>
          <p:spPr>
            <a:xfrm>
              <a:off x="4643624" y="3146107"/>
              <a:ext cx="1686377" cy="1133856"/>
            </a:xfrm>
            <a:custGeom>
              <a:avLst/>
              <a:gdLst/>
              <a:ahLst/>
              <a:cxnLst/>
              <a:rect l="l" t="t" r="r" b="b"/>
              <a:pathLst>
                <a:path w="1844" h="1240" stroke="0">
                  <a:moveTo>
                    <a:pt x="295" y="0"/>
                  </a:moveTo>
                  <a:lnTo>
                    <a:pt x="1549" y="0"/>
                  </a:lnTo>
                  <a:lnTo>
                    <a:pt x="1844" y="1240"/>
                  </a:lnTo>
                  <a:lnTo>
                    <a:pt x="0" y="1240"/>
                  </a:lnTo>
                  <a:close/>
                </a:path>
              </a:pathLst>
            </a:custGeom>
            <a:solidFill>
              <a:srgbClr val="003676"/>
            </a:solidFill>
            <a:ln w="0"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10" b="1">
                  <a:solidFill>
                    <a:srgbClr val="FFFFFF"/>
                  </a:solidFill>
                  <a:latin typeface="Play"/>
                </a:rPr>
                <a:t>03</a:t>
              </a:r>
            </a:p>
          </p:txBody>
        </p:sp>
        <p:sp>
          <p:nvSpPr>
            <p:cNvPr id="9" name="BrandDeck Diagram Text 3"/>
            <p:cNvSpPr txBox="1"/>
            <p:nvPr/>
          </p:nvSpPr>
          <p:spPr>
            <a:xfrm>
              <a:off x="6610858" y="3146107"/>
              <a:ext cx="1888616" cy="11338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10" b="1">
                  <a:solidFill>
                    <a:srgbClr val="FFFFFF"/>
                  </a:solidFill>
                  <a:latin typeface="Play"/>
                </a:rPr>
                <a:t>6 недель</a:t>
              </a:r>
            </a:p>
            <a:p>
              <a:pPr algn="l">
                <a:lnSpc>
                  <a:spcPct val="110000"/>
                </a:lnSpc>
                <a:spcBef>
                  <a:spcPts val="352"/>
                </a:spcBef>
              </a:pPr>
              <a:r>
                <a:rPr sz="1410" b="0">
                  <a:solidFill>
                    <a:srgbClr val="FFFFFF"/>
                  </a:solidFill>
                  <a:latin typeface="Play"/>
                </a:rPr>
                <a:t>Срок проведения пилота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randDeck Text 2"/>
          <p:cNvSpPr>
            <a:spLocks noGrp="1"/>
          </p:cNvSpPr>
          <p:nvPr>
            <p:ph type="title"/>
          </p:nvPr>
        </p:nvSpPr>
        <p:spPr>
          <a:xfrm>
            <a:off x="430360" y="338829"/>
            <a:ext cx="3945697" cy="753371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</a:pPr>
            <a:r>
              <a:rPr sz="1800"/>
              <a:t>Срок пилота составляет 6 недель</a:t>
            </a:r>
          </a:p>
        </p:txBody>
      </p:sp>
      <p:grpSp>
        <p:nvGrpSpPr>
          <p:cNvPr id="3" name="BrandDeck Diagram process" descr="process: Старт пилота Запуск в 2 подразделения; Период работы Длительность 6 недель; Финал пилота Анализ результатов"/>
          <p:cNvGrpSpPr/>
          <p:nvPr/>
        </p:nvGrpSpPr>
        <p:grpSpPr>
          <a:xfrm>
            <a:off x="4637088" y="703710"/>
            <a:ext cx="3862387" cy="3682237"/>
            <a:chOff x="4637088" y="703710"/>
            <a:chExt cx="3862387" cy="3682237"/>
          </a:xfrm>
        </p:grpSpPr>
        <p:sp>
          <p:nvSpPr>
            <p:cNvPr id="4" name="BrandDeck Diagram Connector"/>
            <p:cNvSpPr/>
            <p:nvPr/>
          </p:nvSpPr>
          <p:spPr>
            <a:xfrm>
              <a:off x="4876660" y="1299128"/>
              <a:ext cx="32918" cy="2491401"/>
            </a:xfrm>
            <a:prstGeom prst="rect">
              <a:avLst/>
            </a:prstGeom>
            <a:solidFill>
              <a:srgbClr val="004D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BrandDeck Diagram Step 1 Badge"/>
            <p:cNvSpPr/>
            <p:nvPr/>
          </p:nvSpPr>
          <p:spPr>
            <a:xfrm>
              <a:off x="4637088" y="1043096"/>
              <a:ext cx="512064" cy="51206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10" b="1">
                  <a:solidFill>
                    <a:srgbClr val="FFFFFF"/>
                  </a:solidFill>
                  <a:latin typeface="Play"/>
                </a:rPr>
                <a:t>01</a:t>
              </a:r>
            </a:p>
          </p:txBody>
        </p:sp>
        <p:sp>
          <p:nvSpPr>
            <p:cNvPr id="6" name="BrandDeck Diagram Detail Card 1"/>
            <p:cNvSpPr/>
            <p:nvPr/>
          </p:nvSpPr>
          <p:spPr>
            <a:xfrm>
              <a:off x="5258880" y="703710"/>
              <a:ext cx="3240595" cy="1190836"/>
            </a:xfrm>
            <a:prstGeom prst="roundRect">
              <a:avLst>
                <a:gd name="adj" fmla="val 12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BrandDeck Diagram Text 1"/>
            <p:cNvSpPr txBox="1"/>
            <p:nvPr/>
          </p:nvSpPr>
          <p:spPr>
            <a:xfrm>
              <a:off x="5350320" y="703710"/>
              <a:ext cx="3149155" cy="119083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Старт пилота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FFFFFF"/>
                  </a:solidFill>
                  <a:latin typeface="Play"/>
                </a:rPr>
                <a:t>Запуск в 2 подразделения</a:t>
              </a:r>
            </a:p>
          </p:txBody>
        </p:sp>
        <p:sp>
          <p:nvSpPr>
            <p:cNvPr id="8" name="BrandDeck Diagram Step 2 Badge"/>
            <p:cNvSpPr/>
            <p:nvPr/>
          </p:nvSpPr>
          <p:spPr>
            <a:xfrm>
              <a:off x="4637088" y="2288797"/>
              <a:ext cx="512064" cy="51206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10" b="1">
                  <a:solidFill>
                    <a:srgbClr val="FFFFFF"/>
                  </a:solidFill>
                  <a:latin typeface="Play"/>
                </a:rPr>
                <a:t>02</a:t>
              </a:r>
            </a:p>
          </p:txBody>
        </p:sp>
        <p:sp>
          <p:nvSpPr>
            <p:cNvPr id="9" name="BrandDeck Diagram Detail Card 2"/>
            <p:cNvSpPr/>
            <p:nvPr/>
          </p:nvSpPr>
          <p:spPr>
            <a:xfrm>
              <a:off x="5258880" y="1949410"/>
              <a:ext cx="3240595" cy="1190836"/>
            </a:xfrm>
            <a:prstGeom prst="roundRect">
              <a:avLst>
                <a:gd name="adj" fmla="val 12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BrandDeck Diagram Text 2"/>
            <p:cNvSpPr txBox="1"/>
            <p:nvPr/>
          </p:nvSpPr>
          <p:spPr>
            <a:xfrm>
              <a:off x="5350320" y="1949410"/>
              <a:ext cx="3149155" cy="119083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Период работы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FFFFFF"/>
                  </a:solidFill>
                  <a:latin typeface="Play"/>
                </a:rPr>
                <a:t>Длительность 6 недель</a:t>
              </a:r>
            </a:p>
          </p:txBody>
        </p:sp>
        <p:sp>
          <p:nvSpPr>
            <p:cNvPr id="11" name="BrandDeck Diagram Step 3 Badge"/>
            <p:cNvSpPr/>
            <p:nvPr/>
          </p:nvSpPr>
          <p:spPr>
            <a:xfrm>
              <a:off x="4637088" y="3534497"/>
              <a:ext cx="512064" cy="51206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10" b="1">
                  <a:solidFill>
                    <a:srgbClr val="FFFFFF"/>
                  </a:solidFill>
                  <a:latin typeface="Play"/>
                </a:rPr>
                <a:t>03</a:t>
              </a:r>
            </a:p>
          </p:txBody>
        </p:sp>
        <p:sp>
          <p:nvSpPr>
            <p:cNvPr id="12" name="BrandDeck Diagram Detail Card 3"/>
            <p:cNvSpPr/>
            <p:nvPr/>
          </p:nvSpPr>
          <p:spPr>
            <a:xfrm>
              <a:off x="5258880" y="3195111"/>
              <a:ext cx="3240595" cy="1190836"/>
            </a:xfrm>
            <a:prstGeom prst="roundRect">
              <a:avLst>
                <a:gd name="adj" fmla="val 12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BrandDeck Diagram Text 3"/>
            <p:cNvSpPr txBox="1"/>
            <p:nvPr/>
          </p:nvSpPr>
          <p:spPr>
            <a:xfrm>
              <a:off x="5350320" y="3195111"/>
              <a:ext cx="3149155" cy="119083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Финал пилота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FFFFFF"/>
                  </a:solidFill>
                  <a:latin typeface="Play"/>
                </a:rPr>
                <a:t>Анализ результатов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03" name="BrandDeck Text 503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800"/>
              <a:t>Измерим время поиска и долю закрытых обращений</a:t>
            </a:r>
            <a:endParaRPr/>
          </a:p>
        </p:txBody>
      </p:sp>
      <p:grpSp>
        <p:nvGrpSpPr>
          <p:cNvPr id="2" name="BrandDeck Diagram icon_grid" descr="icon_grid: Время поиска Сокращение с 30 минут до минимума; Доля закрытых Процент вопросов без участия специалиста"/>
          <p:cNvGrpSpPr/>
          <p:nvPr/>
        </p:nvGrpSpPr>
        <p:grpSpPr>
          <a:xfrm>
            <a:off x="4637088" y="824281"/>
            <a:ext cx="3862387" cy="3347618"/>
            <a:chOff x="4637088" y="824281"/>
            <a:chExt cx="3862387" cy="3347618"/>
          </a:xfrm>
        </p:grpSpPr>
        <p:sp>
          <p:nvSpPr>
            <p:cNvPr id="508" name="BrandDeck Diagram Card 1"/>
            <p:cNvSpPr/>
            <p:nvPr/>
          </p:nvSpPr>
          <p:spPr>
            <a:xfrm>
              <a:off x="4637088" y="824281"/>
              <a:ext cx="3862387" cy="1618945"/>
            </a:xfrm>
            <a:prstGeom prst="roundRect">
              <a:avLst>
                <a:gd name="adj" fmla="val 8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9" name="BrandDeck Diagram Icon 1 Badge"/>
            <p:cNvSpPr/>
            <p:nvPr/>
          </p:nvSpPr>
          <p:spPr>
            <a:xfrm>
              <a:off x="4856544" y="1379838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0" name="BrandDeck Icon clock"/>
            <p:cNvSpPr/>
            <p:nvPr/>
          </p:nvSpPr>
          <p:spPr>
            <a:xfrm>
              <a:off x="4968267" y="1491561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22000" y="12000"/>
                  </a:moveTo>
                  <a:cubicBezTo>
                    <a:pt x="22000" y="17523"/>
                    <a:pt x="17523" y="22000"/>
                    <a:pt x="12000" y="22000"/>
                  </a:cubicBezTo>
                  <a:cubicBezTo>
                    <a:pt x="6477" y="22000"/>
                    <a:pt x="2000" y="17523"/>
                    <a:pt x="2000" y="12000"/>
                  </a:cubicBezTo>
                  <a:cubicBezTo>
                    <a:pt x="2000" y="6477"/>
                    <a:pt x="6477" y="2000"/>
                    <a:pt x="12000" y="2000"/>
                  </a:cubicBezTo>
                  <a:cubicBezTo>
                    <a:pt x="17523" y="2000"/>
                    <a:pt x="22000" y="6477"/>
                    <a:pt x="22000" y="12000"/>
                  </a:cubicBezTo>
                  <a:close/>
                </a:path>
                <a:path w="24000" h="24000" fill="none">
                  <a:moveTo>
                    <a:pt x="12000" y="6000"/>
                  </a:moveTo>
                  <a:lnTo>
                    <a:pt x="12000" y="12000"/>
                  </a:lnTo>
                  <a:lnTo>
                    <a:pt x="16000" y="14000"/>
                  </a:ln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1" name="BrandDeck Diagram Text 1"/>
            <p:cNvSpPr txBox="1"/>
            <p:nvPr/>
          </p:nvSpPr>
          <p:spPr>
            <a:xfrm>
              <a:off x="5496049" y="955955"/>
              <a:ext cx="2783969" cy="1355598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000000"/>
                  </a:solidFill>
                  <a:latin typeface="Play"/>
                </a:rPr>
                <a:t>Время поиска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Сокращение с 30 минут до минимума</a:t>
              </a:r>
            </a:p>
          </p:txBody>
        </p:sp>
        <p:sp>
          <p:nvSpPr>
            <p:cNvPr id="512" name="BrandDeck Diagram Card 2"/>
            <p:cNvSpPr/>
            <p:nvPr/>
          </p:nvSpPr>
          <p:spPr>
            <a:xfrm>
              <a:off x="4637088" y="2552954"/>
              <a:ext cx="3862387" cy="1618945"/>
            </a:xfrm>
            <a:prstGeom prst="roundRect">
              <a:avLst>
                <a:gd name="adj" fmla="val 8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3" name="BrandDeck Diagram Icon 2 Badge"/>
            <p:cNvSpPr/>
            <p:nvPr/>
          </p:nvSpPr>
          <p:spPr>
            <a:xfrm>
              <a:off x="4856544" y="3108511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4" name="BrandDeck Icon chart-pie"/>
            <p:cNvSpPr/>
            <p:nvPr/>
          </p:nvSpPr>
          <p:spPr>
            <a:xfrm>
              <a:off x="4968267" y="3220234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21000" y="12000"/>
                  </a:moveTo>
                  <a:cubicBezTo>
                    <a:pt x="21552" y="12000"/>
                    <a:pt x="22005" y="11551"/>
                    <a:pt x="21950" y="11002"/>
                  </a:cubicBezTo>
                  <a:cubicBezTo>
                    <a:pt x="21475" y="6269"/>
                    <a:pt x="17731" y="2525"/>
                    <a:pt x="12997" y="2051"/>
                  </a:cubicBezTo>
                  <a:cubicBezTo>
                    <a:pt x="12447" y="1996"/>
                    <a:pt x="11999" y="2449"/>
                    <a:pt x="11999" y="3001"/>
                  </a:cubicBezTo>
                  <a:lnTo>
                    <a:pt x="11999" y="11001"/>
                  </a:lnTo>
                  <a:cubicBezTo>
                    <a:pt x="11999" y="11553"/>
                    <a:pt x="12447" y="12001"/>
                    <a:pt x="12999" y="12001"/>
                  </a:cubicBezTo>
                  <a:close/>
                </a:path>
                <a:path w="24000" h="24000" fill="none">
                  <a:moveTo>
                    <a:pt x="21210" y="15890"/>
                  </a:moveTo>
                  <a:cubicBezTo>
                    <a:pt x="19460" y="20029"/>
                    <a:pt x="15164" y="22492"/>
                    <a:pt x="10708" y="21912"/>
                  </a:cubicBezTo>
                  <a:cubicBezTo>
                    <a:pt x="6252" y="21331"/>
                    <a:pt x="2730" y="17849"/>
                    <a:pt x="2099" y="13400"/>
                  </a:cubicBezTo>
                  <a:cubicBezTo>
                    <a:pt x="1467" y="8951"/>
                    <a:pt x="3881" y="4627"/>
                    <a:pt x="8000" y="2830"/>
                  </a:cubicBez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5" name="BrandDeck Diagram Text 2"/>
            <p:cNvSpPr txBox="1"/>
            <p:nvPr/>
          </p:nvSpPr>
          <p:spPr>
            <a:xfrm>
              <a:off x="5496049" y="2684628"/>
              <a:ext cx="2783969" cy="1355598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000000"/>
                  </a:solidFill>
                  <a:latin typeface="Play"/>
                </a:rPr>
                <a:t>Доля закрытых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Процент вопросов без участия специалиста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randDeck Text 2"/>
          <p:cNvSpPr>
            <a:spLocks noGrp="1"/>
          </p:cNvSpPr>
          <p:nvPr>
            <p:ph type="title"/>
          </p:nvPr>
        </p:nvSpPr>
        <p:spPr>
          <a:xfrm>
            <a:off x="430360" y="338829"/>
            <a:ext cx="3945697" cy="753371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</a:pPr>
            <a:r>
              <a:rPr sz="1800"/>
              <a:t>Одобрить пилот и выделить команду из 3 человек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 anchor="t">
            <a:normAutofit/>
          </a:bodyPr>
          <a:lstStyle/>
          <a:p>
            <a:pPr/>
          </a:p>
        </p:txBody>
      </p:sp>
      <p:sp>
        <p:nvSpPr>
          <p:cNvPr id="4" name="BrandDeck Text 4"/>
          <p:cNvSpPr>
            <a:spLocks noGrp="1"/>
          </p:cNvSpPr>
          <p:nvPr>
            <p:ph type="body" idx="2"/>
          </p:nvPr>
        </p:nvSpPr>
        <p:spPr/>
        <p:txBody>
          <a:bodyPr wrap="square" anchor="t">
            <a:norm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/>
              <a:t>Одобрить запуск пилота ИИ-помощника для 2 подразделений.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/>
              <a:t>Выделить команду из 3 человек для реализации проекта.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/>
              <a:t>Запустить пилот в течение 6 недель для оценки эффективности.</a:t>
            </a:r>
          </a:p>
        </p:txBody>
      </p:sp>
      <p:sp>
        <p:nvSpPr>
          <p:cNvPr id="5" name="BrandDeck Subtitle"/>
          <p:cNvSpPr txBox="1"/>
          <p:nvPr/>
        </p:nvSpPr>
        <p:spPr>
          <a:xfrm>
            <a:off x="430360" y="1137920"/>
            <a:ext cx="394569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65"/>
              </a:spcAft>
            </a:pPr>
            <a:r>
              <a:rPr sz="1100">
                <a:solidFill>
                  <a:srgbClr val="000000"/>
                </a:solidFill>
                <a:latin typeface="Play"/>
              </a:rPr>
              <a:t>Решение о запуске пилота и выделении команды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ИИ-помощник во внутреннем портале</dc:title>
  <cp:lastModifiedBy/>
  <cp:revision>1</cp:revision>
  <dcterms:modified xsi:type="dcterms:W3CDTF">2026-09-26T07:53:20Z</dcterms:modified>
  <dc:subject>Template-adaptive presentation</dc:subject>
  <cp:keywords>BrandDeck, template-adaptive, presentation</cp:keywords>
  <dc:creator/>
  <dc:description/>
</cp:coreProperties>
</file>