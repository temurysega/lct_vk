
<file path=[Content_Types].xml><?xml version="1.0" encoding="utf-8"?>
<Types xmlns="http://schemas.openxmlformats.org/package/2006/content-types">
  <Default Extension="jpeg" ContentType="image/jpeg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1.xml"/><Relationship Id="rId63" Type="http://schemas.openxmlformats.org/officeDocument/2006/relationships/slide" Target="slides/slide2.xml"/><Relationship Id="rId64" Type="http://schemas.openxmlformats.org/officeDocument/2006/relationships/slide" Target="slides/slide3.xml"/><Relationship Id="rId65" Type="http://schemas.openxmlformats.org/officeDocument/2006/relationships/slide" Target="slides/slide4.xml"/><Relationship Id="rId66" Type="http://schemas.openxmlformats.org/officeDocument/2006/relationships/slide" Target="slides/slide5.xml"/><Relationship Id="rId67" Type="http://schemas.openxmlformats.org/officeDocument/2006/relationships/slide" Target="slides/slide6.xml"/><Relationship Id="rId68" Type="http://schemas.openxmlformats.org/officeDocument/2006/relationships/slide" Target="slides/slide7.xml"/><Relationship Id="rId69" Type="http://schemas.openxmlformats.org/officeDocument/2006/relationships/slide" Target="slides/slide8.xml"/><Relationship Id="rId70" Type="http://schemas.openxmlformats.org/officeDocument/2006/relationships/slide" Target="slides/slide9.xml"/><Relationship Id="rId71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Слайд вводит тему проекта по внедрению ИИ-помощника во внутренний портал.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Треть обращений в поддержку приходится на повторяющиеся вопросы, что перегружает команду специалистов.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Сейчас поиск инструкции занимает до 30 минут, что тормозит работу. Мы будем измерять сокращение этого времени в ходе пилота.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ИИ-помощник автоматически отвечает на вопросы сотрудников по регламентам и предоставляет ссылку на исходный документ.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Модель функционирует внутри корпоративного контура, обеспечивая локальность работы и не выводя документы наружу.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Если ИИ не находит ответ, вопрос автоматически передаётся специалисту вместе с контекстом.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В рамках пилота модель будет тестироваться на двух подразделениях с общим числом сотрудников 150 человек.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оценки эффективности пилота мы будем отслеживать время поиска ответа и долю обращений, закрытых без участия специалиста.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Пилот пройдет в течение 6 недель с командой из трех человек, оценивая время поиска и долю закрытых обращений.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Для реализации пилота необходимо одобрить команду из трёх человек и запустить проект на шесть недель.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Содержание">
  <p:cSld name="3_Содержание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102" name="Google Shape;102;p1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03" name="Google Shape;103;p1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04" name="Google Shape;104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05" name="Google Shape;105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6" name="Google Shape;106;p1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1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2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86" name="Google Shape;186;p2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87" name="Google Shape;187;p2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88" name="Google Shape;188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одержание">
  <p:cSld name="4_Содержание">
    <p:bg>
      <p:bgPr>
        <a:solidFill>
          <a:schemeClr val="dk1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0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grpSp>
        <p:nvGrpSpPr>
          <p:cNvPr id="308" name="Google Shape;308;p30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309" name="Google Shape;309;p30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310" name="Google Shape;310;p3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311" name="Google Shape;311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2" name="Google Shape;312;p30"/>
          <p:cNvSpPr/>
          <p:nvPr/>
        </p:nvSpPr>
        <p:spPr>
          <a:xfrm>
            <a:off x="1270160" y="1092200"/>
            <a:ext cx="2781410" cy="2571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4637088" y="338139"/>
            <a:ext cx="3862387" cy="246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0"/>
          <p:cNvSpPr txBox="1"/>
          <p:nvPr>
            <p:ph idx="2" type="body"/>
          </p:nvPr>
        </p:nvSpPr>
        <p:spPr>
          <a:xfrm>
            <a:off x="4637088" y="676278"/>
            <a:ext cx="3862387" cy="3737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210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5" Type="http://schemas.openxmlformats.org/officeDocument/2006/relationships/slideLayout" Target="../slideLayouts/slideLayout8.xml"/><Relationship Id="rId8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8.xml"/><Relationship Id="rId25" Type="http://schemas.openxmlformats.org/officeDocument/2006/relationships/slideLayout" Target="../slideLayouts/slideLayout28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5"/>
    <p:sldLayoutId id="2147483658" r:id="rId8"/>
    <p:sldLayoutId id="2147483665" r:id="rId15"/>
    <p:sldLayoutId id="2147483675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210.png"/><Relationship Id="rId3" Type="http://schemas.openxmlformats.org/officeDocument/2006/relationships/image" Target="../media/image185.png"/><Relationship Id="rId4" Type="http://schemas.openxmlformats.org/officeDocument/2006/relationships/image" Target="../media/image213.png"/><Relationship Id="rId5" Type="http://schemas.openxmlformats.org/officeDocument/2006/relationships/image" Target="../media/image188.png"/><Relationship Id="rId6" Type="http://schemas.openxmlformats.org/officeDocument/2006/relationships/image" Target="../media/image189.png"/><Relationship Id="rId7" Type="http://schemas.openxmlformats.org/officeDocument/2006/relationships/image" Target="../media/image204.png"/><Relationship Id="rId8" Type="http://schemas.openxmlformats.org/officeDocument/2006/relationships/image" Target="../media/image191.png"/><Relationship Id="rId9" Type="http://schemas.openxmlformats.org/officeDocument/2006/relationships/image" Target="../media/image174.png"/><Relationship Id="rId10" Type="http://schemas.openxmlformats.org/officeDocument/2006/relationships/image" Target="../media/image177.png"/><Relationship Id="rId11" Type="http://schemas.openxmlformats.org/officeDocument/2006/relationships/image" Target="../media/image183.png"/><Relationship Id="rId12" Type="http://schemas.openxmlformats.org/officeDocument/2006/relationships/image" Target="../media/image194.png"/><Relationship Id="rId13" Type="http://schemas.openxmlformats.org/officeDocument/2006/relationships/image" Target="../media/image195.png"/><Relationship Id="rId14" Type="http://schemas.openxmlformats.org/officeDocument/2006/relationships/image" Target="../media/image202.png"/><Relationship Id="rId15" Type="http://schemas.openxmlformats.org/officeDocument/2006/relationships/image" Target="../media/image193.png"/><Relationship Id="rId16" Type="http://schemas.openxmlformats.org/officeDocument/2006/relationships/image" Target="../media/image173.png"/><Relationship Id="rId17" Type="http://schemas.openxmlformats.org/officeDocument/2006/relationships/image" Target="../media/image180.png"/><Relationship Id="rId18" Type="http://schemas.openxmlformats.org/officeDocument/2006/relationships/image" Target="../media/image200.png"/><Relationship Id="rId19" Type="http://schemas.openxmlformats.org/officeDocument/2006/relationships/image" Target="../media/image172.png"/><Relationship Id="rId20" Type="http://schemas.openxmlformats.org/officeDocument/2006/relationships/image" Target="../media/image175.png"/><Relationship Id="rId21" Type="http://schemas.openxmlformats.org/officeDocument/2006/relationships/image" Target="../media/image197.png"/><Relationship Id="rId22" Type="http://schemas.openxmlformats.org/officeDocument/2006/relationships/image" Target="../media/image198.png"/><Relationship Id="rId23" Type="http://schemas.openxmlformats.org/officeDocument/2006/relationships/image" Target="../media/image178.png"/><Relationship Id="rId24" Type="http://schemas.openxmlformats.org/officeDocument/2006/relationships/image" Target="../media/image199.png"/><Relationship Id="rId25" Type="http://schemas.openxmlformats.org/officeDocument/2006/relationships/image" Target="../media/image186.png"/><Relationship Id="rId26" Type="http://schemas.openxmlformats.org/officeDocument/2006/relationships/image" Target="../media/image196.png"/><Relationship Id="rId27" Type="http://schemas.openxmlformats.org/officeDocument/2006/relationships/image" Target="../media/image182.png"/><Relationship Id="rId28" Type="http://schemas.openxmlformats.org/officeDocument/2006/relationships/image" Target="../media/image201.png"/><Relationship Id="rId29" Type="http://schemas.openxmlformats.org/officeDocument/2006/relationships/image" Target="../media/image176.png"/><Relationship Id="rId30" Type="http://schemas.openxmlformats.org/officeDocument/2006/relationships/image" Target="../media/image203.png"/><Relationship Id="rId31" Type="http://schemas.openxmlformats.org/officeDocument/2006/relationships/image" Target="../media/image192.png"/><Relationship Id="rId32" Type="http://schemas.openxmlformats.org/officeDocument/2006/relationships/image" Target="../media/image206.png"/><Relationship Id="rId33" Type="http://schemas.openxmlformats.org/officeDocument/2006/relationships/image" Target="../media/image179.png"/><Relationship Id="rId34" Type="http://schemas.openxmlformats.org/officeDocument/2006/relationships/image" Target="../media/image212.png"/><Relationship Id="rId35" Type="http://schemas.openxmlformats.org/officeDocument/2006/relationships/image" Target="../media/image184.png"/><Relationship Id="rId36" Type="http://schemas.openxmlformats.org/officeDocument/2006/relationships/image" Target="../media/image205.png"/><Relationship Id="rId37" Type="http://schemas.openxmlformats.org/officeDocument/2006/relationships/image" Target="../media/image181.png"/><Relationship Id="rId38" Type="http://schemas.openxmlformats.org/officeDocument/2006/relationships/image" Target="../media/image207.png"/><Relationship Id="rId39" Type="http://schemas.openxmlformats.org/officeDocument/2006/relationships/image" Target="../media/image190.png"/><Relationship Id="rId40" Type="http://schemas.openxmlformats.org/officeDocument/2006/relationships/image" Target="../media/image187.png"/><Relationship Id="rId41" Type="http://schemas.openxmlformats.org/officeDocument/2006/relationships/image" Target="../media/image223.jpeg"/><Relationship Id="rId42" Type="http://schemas.openxmlformats.org/officeDocument/2006/relationships/notesSlide" Target="../notesSlides/notesSlide5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3.png"/><Relationship Id="rId3" Type="http://schemas.openxmlformats.org/officeDocument/2006/relationships/image" Target="../media/image49.png"/><Relationship Id="rId4" Type="http://schemas.openxmlformats.org/officeDocument/2006/relationships/image" Target="../media/image57.png"/><Relationship Id="rId5" Type="http://schemas.openxmlformats.org/officeDocument/2006/relationships/image" Target="../media/image55.png"/><Relationship Id="rId6" Type="http://schemas.openxmlformats.org/officeDocument/2006/relationships/image" Target="../media/image47.png"/><Relationship Id="rId7" Type="http://schemas.openxmlformats.org/officeDocument/2006/relationships/image" Target="../media/image53.png"/><Relationship Id="rId8" Type="http://schemas.openxmlformats.org/officeDocument/2006/relationships/image" Target="../media/image72.png"/><Relationship Id="rId9" Type="http://schemas.openxmlformats.org/officeDocument/2006/relationships/image" Target="../media/image224.jpeg"/><Relationship Id="rId10" Type="http://schemas.openxmlformats.org/officeDocument/2006/relationships/notesSlide" Target="../notesSlides/notesSlide5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1" name="BrandDeck Text 401"/>
          <p:cNvSpPr txBox="1"/>
          <p:nvPr>
            <p:ph type="title"/>
          </p:nvPr>
        </p:nvSpPr>
        <p:spPr>
          <a:xfrm>
            <a:off x="1143190" y="1190618"/>
            <a:ext cx="6949440" cy="544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 vert="horz">
            <a:normAutofit/>
          </a:bodyPr>
          <a:lstStyle/>
          <a:p>
            <a:pPr indent="0" marL="0" rtl="0" algn="ctr">
              <a:lnSpc>
                <a:spcPct val="115000"/>
              </a:lnSpc>
              <a:spcBef>
                <a:spcPts val="0"/>
              </a:spcBef>
              <a:spcAft>
                <a:spcPts val="359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2400"/>
              <a:t>Поиск инструкции занимает до 30 минут</a:t>
            </a:r>
            <a:endParaRPr/>
          </a:p>
        </p:txBody>
      </p:sp>
      <p:sp>
        <p:nvSpPr>
          <p:cNvPr id="402" name="BrandDeck Text 402"/>
          <p:cNvSpPr txBox="1"/>
          <p:nvPr>
            <p:ph idx="1" type="body"/>
          </p:nvPr>
        </p:nvSpPr>
        <p:spPr>
          <a:xfrm>
            <a:off x="1143190" y="1836152"/>
            <a:ext cx="6949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 vert="horz">
            <a:normAutofit/>
          </a:bodyPr>
          <a:lstStyle/>
          <a:p>
            <a:pPr indent="-171450" marL="171450" rtl="0" algn="ctr">
              <a:lnSpc>
                <a:spcPct val="115000"/>
              </a:lnSpc>
              <a:spcBef>
                <a:spcPts val="0"/>
              </a:spcBef>
              <a:spcAft>
                <a:spcPts val="182"/>
              </a:spcAft>
              <a:buClr>
                <a:schemeClr val="lt1"/>
              </a:buClr>
              <a:buSzPts val="1600"/>
              <a:buNone/>
            </a:pPr>
            <a:r>
              <a:rPr sz="1220"/>
              <a:t>Инициатива по внедрению ИИ-помощника для ускорения работы сотрудников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18" name="Google Shape;2618;p94"/>
          <p:cNvSpPr/>
          <p:nvPr/>
        </p:nvSpPr>
        <p:spPr>
          <a:xfrm>
            <a:off x="3839015" y="1429011"/>
            <a:ext cx="211339" cy="211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9" name="Google Shape;2619;p94"/>
          <p:cNvSpPr/>
          <p:nvPr/>
        </p:nvSpPr>
        <p:spPr>
          <a:xfrm>
            <a:off x="3839015" y="1429011"/>
            <a:ext cx="211339" cy="211313"/>
          </a:xfrm>
          <a:prstGeom prst="rect">
            <a:avLst/>
          </a:prstGeom>
          <a:solidFill>
            <a:srgbClr val="D9D9D9">
              <a:alpha val="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1" name="Google Shape;2621;p94"/>
          <p:cNvSpPr/>
          <p:nvPr/>
        </p:nvSpPr>
        <p:spPr>
          <a:xfrm>
            <a:off x="3491117" y="1458270"/>
            <a:ext cx="211327" cy="211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4" name="Google Shape;2664;p94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5" name="BrandDeck Text 2665"/>
          <p:cNvSpPr/>
          <p:nvPr/>
        </p:nvSpPr>
        <p:spPr>
          <a:xfrm>
            <a:off x="285749" y="286048"/>
            <a:ext cx="3528421" cy="7888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 vert="horz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53"/>
              </a:spcAft>
              <a:buNone/>
            </a:pPr>
            <a:r>
              <a:rPr sz="1689" b="0">
                <a:solidFill>
                  <a:srgbClr val="151515"/>
                </a:solidFill>
                <a:latin typeface="Play"/>
              </a:rPr>
              <a:t>Треть обращений в поддержку — повторяющиеся вопросы</a:t>
            </a:r>
            <a:endParaRPr b="0" i="0" sz="243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6" name="BrandDeck Body"/>
          <p:cNvSpPr txBox="1"/>
          <p:nvPr/>
        </p:nvSpPr>
        <p:spPr>
          <a:xfrm>
            <a:off x="582548" y="1643184"/>
            <a:ext cx="3432945" cy="2641256"/>
          </a:xfrm>
          <a:prstGeom prst="rect">
            <a:avLst/>
          </a:prstGeom>
          <a:noFill/>
        </p:spPr>
        <p:txBody>
          <a:bodyPr wrap="square" vert="horz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151515"/>
                </a:solidFill>
                <a:latin typeface="Play"/>
              </a:rPr>
              <a:t>• Треть обращений в поддержку — повторяющиеся вопросы.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151515"/>
                </a:solidFill>
                <a:latin typeface="Play"/>
              </a:rPr>
              <a:t>• Это создает лишнюю нагрузку на службу поддержки.</a:t>
            </a:r>
          </a:p>
        </p:txBody>
      </p:sp>
      <p:pic>
        <p:nvPicPr>
          <p:cNvPr id="2667" name="BrandDeck Image" descr="сотрудник специалист поддержки"/>
          <p:cNvPicPr>
            <a:picLocks noChangeAspect="1"/>
          </p:cNvPicPr>
          <p:nvPr/>
        </p:nvPicPr>
        <p:blipFill>
          <a:blip r:embed="rId41"/>
          <a:srcRect l="3079" r="3079"/>
          <a:stretch>
            <a:fillRect/>
          </a:stretch>
        </p:blipFill>
        <p:spPr>
          <a:xfrm>
            <a:off x="4271525" y="1643184"/>
            <a:ext cx="4404117" cy="26412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vert="horz"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3"/>
              </a:spcAft>
            </a:pPr>
            <a:r>
              <a:rPr sz="1689"/>
              <a:t>Сотрудники тратят до 30 минут на поиск нужной инструкции</a:t>
            </a:r>
          </a:p>
        </p:txBody>
      </p:sp>
      <p:grpSp>
        <p:nvGrpSpPr>
          <p:cNvPr id="3" name="BrandDeck Diagram icon_grid" descr="icon_grid: Сотрудник тратит до 30 минут на поиск нужной инструкции.; Долгий поиск снижает продуктивность при работе с регламентами.; Текущее время поиска является базой для оценки эффекта пилота."/>
          <p:cNvGrpSpPr/>
          <p:nvPr/>
        </p:nvGrpSpPr>
        <p:grpSpPr>
          <a:xfrm>
            <a:off x="4637088" y="676278"/>
            <a:ext cx="3862387" cy="3737101"/>
            <a:chOff x="4637088" y="676278"/>
            <a:chExt cx="3862387" cy="3737101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3862387" cy="1172548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856544" y="1079672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users"/>
            <p:cNvSpPr/>
            <p:nvPr/>
          </p:nvSpPr>
          <p:spPr>
            <a:xfrm>
              <a:off x="4937011" y="1160139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5353977" y="807951"/>
              <a:ext cx="2926041" cy="909201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89" b="0">
                  <a:solidFill>
                    <a:srgbClr val="000000"/>
                  </a:solidFill>
                  <a:latin typeface="Play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4637088" y="1958554"/>
              <a:ext cx="3862387" cy="1172548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4856544" y="236194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search"/>
            <p:cNvSpPr/>
            <p:nvPr/>
          </p:nvSpPr>
          <p:spPr>
            <a:xfrm>
              <a:off x="4937011" y="2442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11000"/>
                  </a:moveTo>
                  <a:cubicBezTo>
                    <a:pt x="19000" y="15418"/>
                    <a:pt x="15418" y="19000"/>
                    <a:pt x="11000" y="19000"/>
                  </a:cubicBezTo>
                  <a:cubicBezTo>
                    <a:pt x="6582" y="19000"/>
                    <a:pt x="3000" y="15418"/>
                    <a:pt x="3000" y="11000"/>
                  </a:cubicBezTo>
                  <a:cubicBezTo>
                    <a:pt x="3000" y="6582"/>
                    <a:pt x="6582" y="3000"/>
                    <a:pt x="11000" y="3000"/>
                  </a:cubicBezTo>
                  <a:cubicBezTo>
                    <a:pt x="15418" y="3000"/>
                    <a:pt x="19000" y="6582"/>
                    <a:pt x="19000" y="11000"/>
                  </a:cubicBezTo>
                  <a:close/>
                </a:path>
                <a:path w="24000" h="24000" fill="none">
                  <a:moveTo>
                    <a:pt x="21000" y="21000"/>
                  </a:moveTo>
                  <a:lnTo>
                    <a:pt x="16700" y="167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5353977" y="2090228"/>
              <a:ext cx="2926041" cy="909201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89" b="0">
                  <a:solidFill>
                    <a:srgbClr val="000000"/>
                  </a:solidFill>
                  <a:latin typeface="Play"/>
                </a:rPr>
                <a:t>Долгий поиск снижает продуктивность при работе с регламентами.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3240831"/>
              <a:ext cx="3862387" cy="1172548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856544" y="3644225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lock"/>
            <p:cNvSpPr/>
            <p:nvPr/>
          </p:nvSpPr>
          <p:spPr>
            <a:xfrm>
              <a:off x="4937011" y="3724692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12000" y="6000"/>
                  </a:moveTo>
                  <a:lnTo>
                    <a:pt x="12000" y="12000"/>
                  </a:lnTo>
                  <a:lnTo>
                    <a:pt x="16000" y="14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5353977" y="3372504"/>
              <a:ext cx="2926041" cy="909201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89" b="0">
                  <a:solidFill>
                    <a:srgbClr val="000000"/>
                  </a:solidFill>
                  <a:latin typeface="Play"/>
                </a:rPr>
                <a:t>Текущее время поиска является базой для оценки эффекта пилота.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3" name="BrandDeck Text 503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 vert="horz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182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220"/>
              <a:t>ИИ-помощник отвечает на вопросы по регламентам и дает ссылку на документ</a:t>
            </a:r>
            <a:endParaRPr/>
          </a:p>
        </p:txBody>
      </p:sp>
      <p:grpSp>
        <p:nvGrpSpPr>
          <p:cNvPr id="2" name="BrandDeck Diagram icon_grid" descr="icon_grid: ИИ-помощник отвечает на вопросы по регламентам и инструкциям.; Система автоматически дает ссылку на документ-источник.; Ответ формируется на основе внутренних правил компании."/>
          <p:cNvGrpSpPr/>
          <p:nvPr/>
        </p:nvGrpSpPr>
        <p:grpSpPr>
          <a:xfrm>
            <a:off x="4637088" y="676278"/>
            <a:ext cx="3862387" cy="3737101"/>
            <a:chOff x="4637088" y="676278"/>
            <a:chExt cx="3862387" cy="3737101"/>
          </a:xfrm>
        </p:grpSpPr>
        <p:sp>
          <p:nvSpPr>
            <p:cNvPr id="508" name="BrandDeck Diagram Card 1"/>
            <p:cNvSpPr/>
            <p:nvPr/>
          </p:nvSpPr>
          <p:spPr>
            <a:xfrm>
              <a:off x="4637088" y="676278"/>
              <a:ext cx="3862387" cy="1172548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BrandDeck Diagram Icon 1 Badge"/>
            <p:cNvSpPr/>
            <p:nvPr/>
          </p:nvSpPr>
          <p:spPr>
            <a:xfrm>
              <a:off x="4856544" y="1079672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0" name="BrandDeck Icon file-text"/>
            <p:cNvSpPr/>
            <p:nvPr/>
          </p:nvSpPr>
          <p:spPr>
            <a:xfrm>
              <a:off x="4937011" y="1160139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1" name="BrandDeck Diagram Text 1"/>
            <p:cNvSpPr txBox="1"/>
            <p:nvPr/>
          </p:nvSpPr>
          <p:spPr>
            <a:xfrm>
              <a:off x="5353977" y="807951"/>
              <a:ext cx="2926041" cy="909201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ИИ-помощник отвечает на вопросы по регламентам и инструкциям.</a:t>
              </a:r>
            </a:p>
          </p:txBody>
        </p:sp>
        <p:sp>
          <p:nvSpPr>
            <p:cNvPr id="512" name="BrandDeck Diagram Card 2"/>
            <p:cNvSpPr/>
            <p:nvPr/>
          </p:nvSpPr>
          <p:spPr>
            <a:xfrm>
              <a:off x="4637088" y="1958554"/>
              <a:ext cx="3862387" cy="1172548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BrandDeck Diagram Icon 2 Badge"/>
            <p:cNvSpPr/>
            <p:nvPr/>
          </p:nvSpPr>
          <p:spPr>
            <a:xfrm>
              <a:off x="4856544" y="236194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BrandDeck Icon link"/>
            <p:cNvSpPr/>
            <p:nvPr/>
          </p:nvSpPr>
          <p:spPr>
            <a:xfrm>
              <a:off x="4937011" y="2442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0000" y="13000"/>
                  </a:moveTo>
                  <a:cubicBezTo>
                    <a:pt x="10869" y="14162"/>
                    <a:pt x="12200" y="14889"/>
                    <a:pt x="13647" y="14992"/>
                  </a:cubicBezTo>
                  <a:cubicBezTo>
                    <a:pt x="15094" y="15096"/>
                    <a:pt x="16514" y="14566"/>
                    <a:pt x="17540" y="13540"/>
                  </a:cubicBezTo>
                  <a:lnTo>
                    <a:pt x="20540" y="10540"/>
                  </a:lnTo>
                  <a:cubicBezTo>
                    <a:pt x="22435" y="8578"/>
                    <a:pt x="22408" y="5460"/>
                    <a:pt x="20479" y="3531"/>
                  </a:cubicBezTo>
                  <a:cubicBezTo>
                    <a:pt x="18550" y="1602"/>
                    <a:pt x="15432" y="1575"/>
                    <a:pt x="13470" y="3470"/>
                  </a:cubicBezTo>
                  <a:lnTo>
                    <a:pt x="11750" y="5180"/>
                  </a:lnTo>
                </a:path>
                <a:path w="24000" h="24000" fill="none">
                  <a:moveTo>
                    <a:pt x="14000" y="11000"/>
                  </a:moveTo>
                  <a:cubicBezTo>
                    <a:pt x="13131" y="9838"/>
                    <a:pt x="11800" y="9111"/>
                    <a:pt x="10353" y="9008"/>
                  </a:cubicBezTo>
                  <a:cubicBezTo>
                    <a:pt x="8906" y="8904"/>
                    <a:pt x="7486" y="9434"/>
                    <a:pt x="6460" y="10460"/>
                  </a:cubicBezTo>
                  <a:lnTo>
                    <a:pt x="3460" y="13460"/>
                  </a:lnTo>
                  <a:cubicBezTo>
                    <a:pt x="1565" y="15422"/>
                    <a:pt x="1592" y="18540"/>
                    <a:pt x="3521" y="20469"/>
                  </a:cubicBezTo>
                  <a:cubicBezTo>
                    <a:pt x="5450" y="22398"/>
                    <a:pt x="8568" y="22425"/>
                    <a:pt x="10530" y="20530"/>
                  </a:cubicBezTo>
                  <a:lnTo>
                    <a:pt x="12240" y="1882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5" name="BrandDeck Diagram Text 2"/>
            <p:cNvSpPr txBox="1"/>
            <p:nvPr/>
          </p:nvSpPr>
          <p:spPr>
            <a:xfrm>
              <a:off x="5353977" y="2090228"/>
              <a:ext cx="2926041" cy="909201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Система автоматически дает ссылку на документ-источник.</a:t>
              </a:r>
            </a:p>
          </p:txBody>
        </p:sp>
        <p:sp>
          <p:nvSpPr>
            <p:cNvPr id="516" name="BrandDeck Diagram Card 3"/>
            <p:cNvSpPr/>
            <p:nvPr/>
          </p:nvSpPr>
          <p:spPr>
            <a:xfrm>
              <a:off x="4637088" y="3240831"/>
              <a:ext cx="3862387" cy="1172548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BrandDeck Diagram Icon 3 Badge"/>
            <p:cNvSpPr/>
            <p:nvPr/>
          </p:nvSpPr>
          <p:spPr>
            <a:xfrm>
              <a:off x="4856544" y="3644225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BrandDeck Icon scroll-text"/>
            <p:cNvSpPr/>
            <p:nvPr/>
          </p:nvSpPr>
          <p:spPr>
            <a:xfrm>
              <a:off x="4937011" y="3724692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12000"/>
                  </a:moveTo>
                  <a:lnTo>
                    <a:pt x="10000" y="12000"/>
                  </a:lnTo>
                </a:path>
                <a:path w="24000" h="24000" fill="none">
                  <a:moveTo>
                    <a:pt x="15000" y="8000"/>
                  </a:moveTo>
                  <a:lnTo>
                    <a:pt x="10000" y="8000"/>
                  </a:lnTo>
                </a:path>
                <a:path w="24000" h="24000" fill="none">
                  <a:moveTo>
                    <a:pt x="19000" y="17000"/>
                  </a:moveTo>
                  <a:lnTo>
                    <a:pt x="19000" y="5000"/>
                  </a:lnTo>
                  <a:cubicBezTo>
                    <a:pt x="19000" y="3895"/>
                    <a:pt x="18105" y="3000"/>
                    <a:pt x="17000" y="3000"/>
                  </a:cubicBezTo>
                  <a:lnTo>
                    <a:pt x="4000" y="3000"/>
                  </a:lnTo>
                </a:path>
                <a:path w="24000" h="24000" fill="none">
                  <a:moveTo>
                    <a:pt x="8000" y="21000"/>
                  </a:moveTo>
                  <a:lnTo>
                    <a:pt x="20000" y="21000"/>
                  </a:lnTo>
                  <a:cubicBezTo>
                    <a:pt x="21105" y="21000"/>
                    <a:pt x="22000" y="20105"/>
                    <a:pt x="22000" y="19000"/>
                  </a:cubicBezTo>
                  <a:lnTo>
                    <a:pt x="22000" y="18000"/>
                  </a:lnTo>
                  <a:cubicBezTo>
                    <a:pt x="22000" y="17448"/>
                    <a:pt x="21552" y="17000"/>
                    <a:pt x="21000" y="17000"/>
                  </a:cubicBezTo>
                  <a:lnTo>
                    <a:pt x="11000" y="17000"/>
                  </a:lnTo>
                  <a:cubicBezTo>
                    <a:pt x="10448" y="17000"/>
                    <a:pt x="10000" y="17448"/>
                    <a:pt x="10000" y="18000"/>
                  </a:cubicBezTo>
                  <a:lnTo>
                    <a:pt x="10000" y="19000"/>
                  </a:lnTo>
                  <a:cubicBezTo>
                    <a:pt x="10000" y="20105"/>
                    <a:pt x="9105" y="21000"/>
                    <a:pt x="8000" y="21000"/>
                  </a:cubicBezTo>
                  <a:cubicBezTo>
                    <a:pt x="6895" y="21000"/>
                    <a:pt x="6000" y="20105"/>
                    <a:pt x="6000" y="19000"/>
                  </a:cubicBezTo>
                  <a:lnTo>
                    <a:pt x="6000" y="5000"/>
                  </a:lnTo>
                  <a:cubicBezTo>
                    <a:pt x="6000" y="3895"/>
                    <a:pt x="5105" y="3000"/>
                    <a:pt x="4000" y="3000"/>
                  </a:cubicBezTo>
                  <a:cubicBezTo>
                    <a:pt x="2895" y="3000"/>
                    <a:pt x="2000" y="3895"/>
                    <a:pt x="2000" y="5000"/>
                  </a:cubicBezTo>
                  <a:lnTo>
                    <a:pt x="2000" y="7000"/>
                  </a:lnTo>
                  <a:cubicBezTo>
                    <a:pt x="2000" y="7552"/>
                    <a:pt x="2448" y="8000"/>
                    <a:pt x="3000" y="8000"/>
                  </a:cubicBezTo>
                  <a:lnTo>
                    <a:pt x="6000" y="8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BrandDeck Diagram Text 3"/>
            <p:cNvSpPr txBox="1"/>
            <p:nvPr/>
          </p:nvSpPr>
          <p:spPr>
            <a:xfrm>
              <a:off x="5353977" y="3372504"/>
              <a:ext cx="2926041" cy="909201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000000"/>
                  </a:solidFill>
                  <a:latin typeface="Play"/>
                </a:rPr>
                <a:t>Ответ формируется на основе внутренних правил компании.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87" name="Google Shape;987;p64"/>
          <p:cNvSpPr/>
          <p:nvPr/>
        </p:nvSpPr>
        <p:spPr>
          <a:xfrm>
            <a:off x="285748" y="286048"/>
            <a:ext cx="8572456" cy="415235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64"/>
          <p:cNvSpPr/>
          <p:nvPr/>
        </p:nvSpPr>
        <p:spPr>
          <a:xfrm>
            <a:off x="285748" y="1209852"/>
            <a:ext cx="8572456" cy="3228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64"/>
          <p:cNvSpPr/>
          <p:nvPr/>
        </p:nvSpPr>
        <p:spPr>
          <a:xfrm>
            <a:off x="285748" y="1209852"/>
            <a:ext cx="8572456" cy="1795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64"/>
          <p:cNvSpPr/>
          <p:nvPr/>
        </p:nvSpPr>
        <p:spPr>
          <a:xfrm>
            <a:off x="285748" y="3176509"/>
            <a:ext cx="8572456" cy="126189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BrandDeck Text 1017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 vert="horz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800"/>
              <a:t>Модель работает внутри контура компании, документы не уходят наружу</a:t>
            </a:r>
            <a:endParaRPr/>
          </a:p>
        </p:txBody>
      </p:sp>
      <p:sp>
        <p:nvSpPr>
          <p:cNvPr id="1022" name="BrandDeck Body"/>
          <p:cNvSpPr txBox="1"/>
          <p:nvPr/>
        </p:nvSpPr>
        <p:spPr>
          <a:xfrm>
            <a:off x="585216" y="1144312"/>
            <a:ext cx="2129088" cy="3583136"/>
          </a:xfrm>
          <a:prstGeom prst="rect">
            <a:avLst/>
          </a:prstGeom>
          <a:noFill/>
        </p:spPr>
        <p:txBody>
          <a:bodyPr wrap="square" vert="horz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001515"/>
                </a:solidFill>
                <a:latin typeface="Play"/>
              </a:rPr>
              <a:t>• Модель с открытыми весами работает внутри контура компании.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001515"/>
                </a:solidFill>
                <a:latin typeface="Play"/>
              </a:rPr>
              <a:t>• Документы не уходят наружу при обработке запросов.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79"/>
              </a:spcAft>
            </a:pPr>
            <a:r>
              <a:rPr sz="1200">
                <a:solidFill>
                  <a:srgbClr val="001515"/>
                </a:solidFill>
                <a:latin typeface="Play"/>
              </a:rPr>
              <a:t>• Если подтверждённого ответа нет, вопрос уходит специалисту.</a:t>
            </a:r>
          </a:p>
        </p:txBody>
      </p:sp>
      <p:pic>
        <p:nvPicPr>
          <p:cNvPr id="1023" name="BrandDeck Image" descr="внутренний контур серверная"/>
          <p:cNvPicPr>
            <a:picLocks noChangeAspect="1"/>
          </p:cNvPicPr>
          <p:nvPr/>
        </p:nvPicPr>
        <p:blipFill>
          <a:blip r:embed="rId9"/>
          <a:srcRect l="28445" r="28445"/>
          <a:stretch>
            <a:fillRect/>
          </a:stretch>
        </p:blipFill>
        <p:spPr>
          <a:xfrm>
            <a:off x="2970336" y="1144312"/>
            <a:ext cx="2744663" cy="35831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vert="horz"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82"/>
              </a:spcAft>
            </a:pPr>
            <a:r>
              <a:rPr sz="1220"/>
              <a:t>Если подтвержденного ответа нет, вопрос уходит специалисту с контекстом</a:t>
            </a:r>
          </a:p>
        </p:txBody>
      </p:sp>
      <p:grpSp>
        <p:nvGrpSpPr>
          <p:cNvPr id="3" name="BrandDeck Diagram process" descr="process: Нет ответа Система не нашла подтверждённый ответ; Передача Вопрос уходит специалисту с деталями; Решение Сотрудник отвечает вручную"/>
          <p:cNvGrpSpPr/>
          <p:nvPr/>
        </p:nvGrpSpPr>
        <p:grpSpPr>
          <a:xfrm>
            <a:off x="4637088" y="703710"/>
            <a:ext cx="3862387" cy="3682237"/>
            <a:chOff x="4637088" y="703710"/>
            <a:chExt cx="3862387" cy="3682237"/>
          </a:xfrm>
        </p:grpSpPr>
        <p:sp>
          <p:nvSpPr>
            <p:cNvPr id="4" name="BrandDeck Diagram Connector"/>
            <p:cNvSpPr/>
            <p:nvPr/>
          </p:nvSpPr>
          <p:spPr>
            <a:xfrm>
              <a:off x="4876660" y="1299128"/>
              <a:ext cx="32918" cy="2491401"/>
            </a:xfrm>
            <a:prstGeom prst="rect">
              <a:avLst/>
            </a:prstGeom>
            <a:solidFill>
              <a:srgbClr val="004D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Step 1 Badge"/>
            <p:cNvSpPr/>
            <p:nvPr/>
          </p:nvSpPr>
          <p:spPr>
            <a:xfrm>
              <a:off x="4637088" y="1043096"/>
              <a:ext cx="512064" cy="5120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10" b="1">
                  <a:solidFill>
                    <a:srgbClr val="FFFFFF"/>
                  </a:solidFill>
                  <a:latin typeface="Play"/>
                </a:rPr>
                <a:t>01</a:t>
              </a:r>
            </a:p>
          </p:txBody>
        </p:sp>
        <p:sp>
          <p:nvSpPr>
            <p:cNvPr id="6" name="BrandDeck Diagram Detail Card 1"/>
            <p:cNvSpPr/>
            <p:nvPr/>
          </p:nvSpPr>
          <p:spPr>
            <a:xfrm>
              <a:off x="5258880" y="703710"/>
              <a:ext cx="3240595" cy="1190836"/>
            </a:xfrm>
            <a:prstGeom prst="roundRect">
              <a:avLst>
                <a:gd name="adj" fmla="val 12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5350320" y="703710"/>
              <a:ext cx="3149155" cy="119083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Нет ответа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Система не нашла подтверждённый ответ</a:t>
              </a:r>
            </a:p>
          </p:txBody>
        </p:sp>
        <p:sp>
          <p:nvSpPr>
            <p:cNvPr id="8" name="BrandDeck Diagram Step 2 Badge"/>
            <p:cNvSpPr/>
            <p:nvPr/>
          </p:nvSpPr>
          <p:spPr>
            <a:xfrm>
              <a:off x="4637088" y="2288797"/>
              <a:ext cx="512064" cy="5120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10" b="1">
                  <a:solidFill>
                    <a:srgbClr val="FFFFFF"/>
                  </a:solidFill>
                  <a:latin typeface="Play"/>
                </a:rPr>
                <a:t>02</a:t>
              </a:r>
            </a:p>
          </p:txBody>
        </p:sp>
        <p:sp>
          <p:nvSpPr>
            <p:cNvPr id="9" name="BrandDeck Diagram Detail Card 2"/>
            <p:cNvSpPr/>
            <p:nvPr/>
          </p:nvSpPr>
          <p:spPr>
            <a:xfrm>
              <a:off x="5258880" y="1949410"/>
              <a:ext cx="3240595" cy="1190836"/>
            </a:xfrm>
            <a:prstGeom prst="roundRect">
              <a:avLst>
                <a:gd name="adj" fmla="val 12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Diagram Text 2"/>
            <p:cNvSpPr txBox="1"/>
            <p:nvPr/>
          </p:nvSpPr>
          <p:spPr>
            <a:xfrm>
              <a:off x="5350320" y="1949410"/>
              <a:ext cx="3149155" cy="119083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Передача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Вопрос уходит специалисту с деталями</a:t>
              </a:r>
            </a:p>
          </p:txBody>
        </p:sp>
        <p:sp>
          <p:nvSpPr>
            <p:cNvPr id="11" name="BrandDeck Diagram Step 3 Badge"/>
            <p:cNvSpPr/>
            <p:nvPr/>
          </p:nvSpPr>
          <p:spPr>
            <a:xfrm>
              <a:off x="4637088" y="3534497"/>
              <a:ext cx="512064" cy="51206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 wrap="square" lIns="0" tIns="0" rIns="0" bIns="0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410" b="1">
                  <a:solidFill>
                    <a:srgbClr val="FFFFFF"/>
                  </a:solidFill>
                  <a:latin typeface="Play"/>
                </a:rPr>
                <a:t>03</a:t>
              </a:r>
            </a:p>
          </p:txBody>
        </p:sp>
        <p:sp>
          <p:nvSpPr>
            <p:cNvPr id="12" name="BrandDeck Diagram Detail Card 3"/>
            <p:cNvSpPr/>
            <p:nvPr/>
          </p:nvSpPr>
          <p:spPr>
            <a:xfrm>
              <a:off x="5258880" y="3195111"/>
              <a:ext cx="3240595" cy="1190836"/>
            </a:xfrm>
            <a:prstGeom prst="roundRect">
              <a:avLst>
                <a:gd name="adj" fmla="val 12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Text 3"/>
            <p:cNvSpPr txBox="1"/>
            <p:nvPr/>
          </p:nvSpPr>
          <p:spPr>
            <a:xfrm>
              <a:off x="5350320" y="3195111"/>
              <a:ext cx="3149155" cy="119083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1">
                  <a:solidFill>
                    <a:srgbClr val="FFFFFF"/>
                  </a:solidFill>
                  <a:latin typeface="Play"/>
                </a:rPr>
                <a:t>Решение</a:t>
              </a:r>
            </a:p>
            <a:p>
              <a:pPr algn="l">
                <a:lnSpc>
                  <a:spcPct val="110000"/>
                </a:lnSpc>
                <a:spcBef>
                  <a:spcPts val="400"/>
                </a:spcBef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Сотрудник отвечает вручную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vert="horz"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11"/>
              </a:spcAft>
            </a:pPr>
            <a:r>
              <a:rPr sz="1410"/>
              <a:t>Пилот охватывает 2 подразделения и 150 сотрудников</a:t>
            </a:r>
          </a:p>
        </p:txBody>
      </p:sp>
      <p:grpSp>
        <p:nvGrpSpPr>
          <p:cNvPr id="3" name="BrandDeck Diagram icon_grid" descr="icon_grid: Охват 2 подразделения, 150 сотрудников; Длительность 6 недель пилотного запуска"/>
          <p:cNvGrpSpPr/>
          <p:nvPr/>
        </p:nvGrpSpPr>
        <p:grpSpPr>
          <a:xfrm>
            <a:off x="4637088" y="676278"/>
            <a:ext cx="3862387" cy="3737101"/>
            <a:chOff x="4637088" y="676278"/>
            <a:chExt cx="3862387" cy="3737101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3862387" cy="2176424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856544" y="895734"/>
              <a:ext cx="603504" cy="603504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building-2"/>
            <p:cNvSpPr/>
            <p:nvPr/>
          </p:nvSpPr>
          <p:spPr>
            <a:xfrm>
              <a:off x="4989314" y="1028504"/>
              <a:ext cx="337962" cy="337962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2000"/>
                  </a:moveTo>
                  <a:lnTo>
                    <a:pt x="6000" y="4000"/>
                  </a:lnTo>
                  <a:cubicBezTo>
                    <a:pt x="6000" y="2895"/>
                    <a:pt x="6895" y="2000"/>
                    <a:pt x="8000" y="2000"/>
                  </a:cubicBezTo>
                  <a:lnTo>
                    <a:pt x="16000" y="2000"/>
                  </a:lnTo>
                  <a:cubicBezTo>
                    <a:pt x="17105" y="2000"/>
                    <a:pt x="18000" y="2895"/>
                    <a:pt x="18000" y="4000"/>
                  </a:cubicBezTo>
                  <a:lnTo>
                    <a:pt x="18000" y="22000"/>
                  </a:lnTo>
                  <a:close/>
                </a:path>
                <a:path w="24000" h="24000" fill="none">
                  <a:moveTo>
                    <a:pt x="6000" y="12000"/>
                  </a:moveTo>
                  <a:lnTo>
                    <a:pt x="4000" y="12000"/>
                  </a:lnTo>
                  <a:cubicBezTo>
                    <a:pt x="2895" y="12000"/>
                    <a:pt x="2000" y="12895"/>
                    <a:pt x="2000" y="14000"/>
                  </a:cubicBezTo>
                  <a:lnTo>
                    <a:pt x="2000" y="20000"/>
                  </a:lnTo>
                  <a:cubicBezTo>
                    <a:pt x="2000" y="21105"/>
                    <a:pt x="2895" y="22000"/>
                    <a:pt x="4000" y="22000"/>
                  </a:cubicBezTo>
                  <a:lnTo>
                    <a:pt x="6000" y="22000"/>
                  </a:lnTo>
                </a:path>
                <a:path w="24000" h="24000" fill="none">
                  <a:moveTo>
                    <a:pt x="18000" y="9000"/>
                  </a:moveTo>
                  <a:lnTo>
                    <a:pt x="20000" y="9000"/>
                  </a:lnTo>
                  <a:cubicBezTo>
                    <a:pt x="21105" y="9000"/>
                    <a:pt x="22000" y="9895"/>
                    <a:pt x="22000" y="11000"/>
                  </a:cubicBezTo>
                  <a:lnTo>
                    <a:pt x="22000" y="20000"/>
                  </a:lnTo>
                  <a:cubicBezTo>
                    <a:pt x="22000" y="21105"/>
                    <a:pt x="21105" y="22000"/>
                    <a:pt x="20000" y="22000"/>
                  </a:cubicBezTo>
                  <a:lnTo>
                    <a:pt x="18000" y="22000"/>
                  </a:lnTo>
                </a:path>
                <a:path w="24000" h="24000" fill="none">
                  <a:moveTo>
                    <a:pt x="10000" y="6000"/>
                  </a:moveTo>
                  <a:lnTo>
                    <a:pt x="14000" y="6000"/>
                  </a:lnTo>
                </a:path>
                <a:path w="24000" h="24000" fill="none">
                  <a:moveTo>
                    <a:pt x="10000" y="10000"/>
                  </a:moveTo>
                  <a:lnTo>
                    <a:pt x="14000" y="10000"/>
                  </a:lnTo>
                </a:path>
                <a:path w="24000" h="24000" fill="none">
                  <a:moveTo>
                    <a:pt x="10000" y="14000"/>
                  </a:moveTo>
                  <a:lnTo>
                    <a:pt x="14000" y="14000"/>
                  </a:lnTo>
                </a:path>
                <a:path w="24000" h="24000" fill="none">
                  <a:moveTo>
                    <a:pt x="10000" y="18000"/>
                  </a:moveTo>
                  <a:lnTo>
                    <a:pt x="14000" y="18000"/>
                  </a:lnTo>
                </a:path>
              </a:pathLst>
            </a:custGeom>
            <a:noFill/>
            <a:ln w="28163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4790707" y="1652857"/>
              <a:ext cx="3555148" cy="1090117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Охват</a:t>
              </a:r>
            </a:p>
            <a:p>
              <a:pPr algn="l">
                <a:lnSpc>
                  <a:spcPct val="110000"/>
                </a:lnSpc>
                <a:spcBef>
                  <a:spcPts val="450"/>
                </a:spcBef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2 подразделения, 150 сотрудников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4637088" y="2962430"/>
              <a:ext cx="3862387" cy="1450949"/>
            </a:xfrm>
            <a:prstGeom prst="roundRect">
              <a:avLst>
                <a:gd name="adj" fmla="val 8000"/>
              </a:avLst>
            </a:prstGeom>
            <a:solidFill>
              <a:srgbClr val="E8F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4856544" y="3484772"/>
              <a:ext cx="406265" cy="40626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rocket"/>
            <p:cNvSpPr/>
            <p:nvPr/>
          </p:nvSpPr>
          <p:spPr>
            <a:xfrm>
              <a:off x="4945922" y="3574150"/>
              <a:ext cx="227508" cy="227508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18959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5394483" y="3094104"/>
              <a:ext cx="2885535" cy="1187602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000000"/>
                  </a:solidFill>
                  <a:latin typeface="Play"/>
                </a:rPr>
                <a:t>Длительность</a:t>
              </a:r>
            </a:p>
            <a:p>
              <a:pPr algn="l">
                <a:lnSpc>
                  <a:spcPct val="110000"/>
                </a:lnSpc>
                <a:spcBef>
                  <a:spcPts val="450"/>
                </a:spcBef>
              </a:pPr>
              <a:r>
                <a:rPr sz="1800" b="0">
                  <a:solidFill>
                    <a:srgbClr val="000000"/>
                  </a:solidFill>
                  <a:latin typeface="Play"/>
                </a:rPr>
                <a:t>6 недель пилотного запуска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03" name="BrandDeck Text 503"/>
          <p:cNvSpPr txBox="1"/>
          <p:nvPr>
            <p:ph type="title"/>
          </p:nvPr>
        </p:nvSpPr>
        <p:spPr>
          <a:xfrm>
            <a:off x="430360" y="338829"/>
            <a:ext cx="3945697" cy="753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 vert="horz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182"/>
              </a:spcAft>
              <a:buClr>
                <a:schemeClr val="dk1"/>
              </a:buClr>
              <a:buSzPts val="2400"/>
              <a:buFont typeface="Play"/>
              <a:buNone/>
            </a:pPr>
            <a:r>
              <a:rPr sz="1220"/>
              <a:t>Успех пилота измеряется временем поиска ответа и долей закрытых без специалиста обращений</a:t>
            </a:r>
            <a:endParaRPr/>
          </a:p>
        </p:txBody>
      </p:sp>
      <p:graphicFrame>
        <p:nvGraphicFramePr>
          <p:cNvPr id="508" name="BrandDeck Table"/>
          <p:cNvGraphicFramePr>
            <a:graphicFrameLocks noGrp="1"/>
          </p:cNvGraphicFramePr>
          <p:nvPr/>
        </p:nvGraphicFramePr>
        <p:xfrm>
          <a:off x="4637088" y="676278"/>
          <a:ext cx="3862387" cy="3737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1193"/>
                <a:gridCol w="1931194"/>
              </a:tblGrid>
              <a:tr h="809836">
                <a:tc>
                  <a:txBody>
                    <a:bodyPr/>
                    <a:lstStyle/>
                    <a:p>
                      <a:pPr algn="l"/>
                      <a:r>
                        <a:rPr sz="1320" b="1">
                          <a:solidFill>
                            <a:srgbClr val="FFFFFF"/>
                          </a:solidFill>
                          <a:latin typeface="Play"/>
                        </a:rPr>
                        <a:t>Метрика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1">
                          <a:solidFill>
                            <a:srgbClr val="FFFFFF"/>
                          </a:solidFill>
                          <a:latin typeface="Play"/>
                        </a:rPr>
                        <a:t>Что измеряется</a:t>
                      </a:r>
                    </a:p>
                  </a:txBody>
                  <a:tcPr marL="54864" marR="54864" anchor="ctr">
                    <a:solidFill>
                      <a:srgbClr val="006DEB"/>
                    </a:solidFill>
                  </a:tcPr>
                </a:tc>
              </a:tr>
              <a:tr h="1463632">
                <a:tc>
                  <a:txBody>
                    <a:bodyPr/>
                    <a:lstStyle/>
                    <a:p>
                      <a:pPr algn="l"/>
                      <a:r>
                        <a:rPr sz="1320" b="0">
                          <a:solidFill>
                            <a:srgbClr val="111111"/>
                          </a:solidFill>
                          <a:latin typeface="Play"/>
                        </a:rPr>
                        <a:t>Время поиска ответа</a:t>
                      </a:r>
                    </a:p>
                  </a:txBody>
                  <a:tcPr marL="54864" marR="54864" anchor="ctr"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>
                          <a:solidFill>
                            <a:srgbClr val="111111"/>
                          </a:solidFill>
                          <a:latin typeface="Play"/>
                        </a:rPr>
                        <a:t>Сколько времени сотрудник тратит на поиск нужной инструкции</a:t>
                      </a:r>
                    </a:p>
                  </a:txBody>
                  <a:tcPr marL="54864" marR="54864" anchor="ctr">
                    <a:solidFill>
                      <a:srgbClr val="FEFFFF"/>
                    </a:solidFill>
                  </a:tcPr>
                </a:tc>
              </a:tr>
              <a:tr h="1463632">
                <a:tc>
                  <a:txBody>
                    <a:bodyPr/>
                    <a:lstStyle/>
                    <a:p>
                      <a:pPr algn="l"/>
                      <a:r>
                        <a:rPr sz="1320" b="0">
                          <a:solidFill>
                            <a:srgbClr val="111111"/>
                          </a:solidFill>
                          <a:latin typeface="Play"/>
                        </a:rPr>
                        <a:t>Доля закрытых обращений</a:t>
                      </a:r>
                    </a:p>
                  </a:txBody>
                  <a:tcPr marL="54864" marR="54864" anchor="ctr">
                    <a:solidFill>
                      <a:srgbClr val="FE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20" b="0">
                          <a:solidFill>
                            <a:srgbClr val="111111"/>
                          </a:solidFill>
                          <a:latin typeface="Play"/>
                        </a:rPr>
                        <a:t>Процент вопросов, решённых ИИ без участия специалиста</a:t>
                      </a:r>
                    </a:p>
                  </a:txBody>
                  <a:tcPr marL="54864" marR="54864" anchor="ctr">
                    <a:solidFill>
                      <a:srgbClr val="FE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vert="horz"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Пилот длится 6 недель, требуется команда из 3 человек</a:t>
            </a:r>
          </a:p>
        </p:txBody>
      </p:sp>
      <p:grpSp>
        <p:nvGrpSpPr>
          <p:cNvPr id="3" name="BrandDeck Diagram icon_grid" descr="icon_grid: Пилот длится 6 недель.; Требуется команда из 3 человек.; Успех измеряется временем поиска и долей закрытых обращений."/>
          <p:cNvGrpSpPr/>
          <p:nvPr/>
        </p:nvGrpSpPr>
        <p:grpSpPr>
          <a:xfrm>
            <a:off x="4637088" y="676278"/>
            <a:ext cx="3862387" cy="3737101"/>
            <a:chOff x="4637088" y="676278"/>
            <a:chExt cx="3862387" cy="3737101"/>
          </a:xfrm>
        </p:grpSpPr>
        <p:sp>
          <p:nvSpPr>
            <p:cNvPr id="4" name="BrandDeck Diagram Card 1"/>
            <p:cNvSpPr/>
            <p:nvPr/>
          </p:nvSpPr>
          <p:spPr>
            <a:xfrm>
              <a:off x="4637088" y="676278"/>
              <a:ext cx="3862387" cy="1172548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BrandDeck Diagram Icon 1 Badge"/>
            <p:cNvSpPr/>
            <p:nvPr/>
          </p:nvSpPr>
          <p:spPr>
            <a:xfrm>
              <a:off x="4856544" y="1079672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randDeck Icon rocket"/>
            <p:cNvSpPr/>
            <p:nvPr/>
          </p:nvSpPr>
          <p:spPr>
            <a:xfrm>
              <a:off x="4937011" y="1160139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4500" y="16500"/>
                  </a:moveTo>
                  <a:cubicBezTo>
                    <a:pt x="3000" y="17760"/>
                    <a:pt x="2500" y="21500"/>
                    <a:pt x="2500" y="21500"/>
                  </a:cubicBezTo>
                  <a:cubicBezTo>
                    <a:pt x="2500" y="21500"/>
                    <a:pt x="6240" y="21000"/>
                    <a:pt x="7500" y="19500"/>
                  </a:cubicBezTo>
                  <a:cubicBezTo>
                    <a:pt x="8210" y="18660"/>
                    <a:pt x="8200" y="17370"/>
                    <a:pt x="7410" y="16590"/>
                  </a:cubicBezTo>
                  <a:cubicBezTo>
                    <a:pt x="6605" y="15822"/>
                    <a:pt x="5351" y="15783"/>
                    <a:pt x="4500" y="16500"/>
                  </a:cubicBezTo>
                  <a:close/>
                </a:path>
                <a:path w="24000" h="24000" fill="none">
                  <a:moveTo>
                    <a:pt x="12000" y="15000"/>
                  </a:moveTo>
                  <a:lnTo>
                    <a:pt x="9000" y="12000"/>
                  </a:lnTo>
                  <a:cubicBezTo>
                    <a:pt x="9532" y="10619"/>
                    <a:pt x="10202" y="9296"/>
                    <a:pt x="11000" y="8050"/>
                  </a:cubicBezTo>
                  <a:cubicBezTo>
                    <a:pt x="13369" y="4262"/>
                    <a:pt x="17532" y="1972"/>
                    <a:pt x="22000" y="2000"/>
                  </a:cubicBezTo>
                  <a:cubicBezTo>
                    <a:pt x="22000" y="4720"/>
                    <a:pt x="21220" y="9500"/>
                    <a:pt x="16000" y="13000"/>
                  </a:cubicBezTo>
                  <a:cubicBezTo>
                    <a:pt x="14737" y="13799"/>
                    <a:pt x="13397" y="14469"/>
                    <a:pt x="12000" y="15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4000" y="12000"/>
                  </a:lnTo>
                  <a:cubicBezTo>
                    <a:pt x="4000" y="12000"/>
                    <a:pt x="4550" y="8970"/>
                    <a:pt x="6000" y="8000"/>
                  </a:cubicBezTo>
                  <a:cubicBezTo>
                    <a:pt x="7620" y="6920"/>
                    <a:pt x="11000" y="8000"/>
                    <a:pt x="11000" y="8000"/>
                  </a:cubicBezTo>
                </a:path>
                <a:path w="24000" h="24000" fill="none">
                  <a:moveTo>
                    <a:pt x="12000" y="15000"/>
                  </a:moveTo>
                  <a:lnTo>
                    <a:pt x="12000" y="20000"/>
                  </a:lnTo>
                  <a:cubicBezTo>
                    <a:pt x="12000" y="20000"/>
                    <a:pt x="15030" y="19450"/>
                    <a:pt x="16000" y="18000"/>
                  </a:cubicBezTo>
                  <a:cubicBezTo>
                    <a:pt x="17080" y="16380"/>
                    <a:pt x="16000" y="13000"/>
                    <a:pt x="16000" y="1300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randDeck Diagram Text 1"/>
            <p:cNvSpPr txBox="1"/>
            <p:nvPr/>
          </p:nvSpPr>
          <p:spPr>
            <a:xfrm>
              <a:off x="5353977" y="807951"/>
              <a:ext cx="2926041" cy="909201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Пилот длится 6 недель.</a:t>
              </a:r>
            </a:p>
          </p:txBody>
        </p:sp>
        <p:sp>
          <p:nvSpPr>
            <p:cNvPr id="8" name="BrandDeck Diagram Card 2"/>
            <p:cNvSpPr/>
            <p:nvPr/>
          </p:nvSpPr>
          <p:spPr>
            <a:xfrm>
              <a:off x="4637088" y="1958554"/>
              <a:ext cx="3862387" cy="1172548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randDeck Diagram Icon 2 Badge"/>
            <p:cNvSpPr/>
            <p:nvPr/>
          </p:nvSpPr>
          <p:spPr>
            <a:xfrm>
              <a:off x="4856544" y="2361949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randDeck Icon users"/>
            <p:cNvSpPr/>
            <p:nvPr/>
          </p:nvSpPr>
          <p:spPr>
            <a:xfrm>
              <a:off x="4937011" y="2442416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randDeck Diagram Text 2"/>
            <p:cNvSpPr txBox="1"/>
            <p:nvPr/>
          </p:nvSpPr>
          <p:spPr>
            <a:xfrm>
              <a:off x="5353977" y="2090228"/>
              <a:ext cx="2926041" cy="909201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Требуется команда из 3 человек.</a:t>
              </a:r>
            </a:p>
          </p:txBody>
        </p:sp>
        <p:sp>
          <p:nvSpPr>
            <p:cNvPr id="12" name="BrandDeck Diagram Card 3"/>
            <p:cNvSpPr/>
            <p:nvPr/>
          </p:nvSpPr>
          <p:spPr>
            <a:xfrm>
              <a:off x="4637088" y="3240831"/>
              <a:ext cx="3862387" cy="1172548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BrandDeck Diagram Icon 3 Badge"/>
            <p:cNvSpPr/>
            <p:nvPr/>
          </p:nvSpPr>
          <p:spPr>
            <a:xfrm>
              <a:off x="4856544" y="3644225"/>
              <a:ext cx="365760" cy="365760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BrandDeck Icon chart-column"/>
            <p:cNvSpPr/>
            <p:nvPr/>
          </p:nvSpPr>
          <p:spPr>
            <a:xfrm>
              <a:off x="4937011" y="3724692"/>
              <a:ext cx="204825" cy="204825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3000"/>
                  </a:moveTo>
                  <a:lnTo>
                    <a:pt x="3000" y="19000"/>
                  </a:lnTo>
                  <a:cubicBezTo>
                    <a:pt x="3000" y="20105"/>
                    <a:pt x="3895" y="21000"/>
                    <a:pt x="5000" y="21000"/>
                  </a:cubicBezTo>
                  <a:lnTo>
                    <a:pt x="21000" y="21000"/>
                  </a:lnTo>
                </a:path>
                <a:path w="24000" h="24000" fill="none">
                  <a:moveTo>
                    <a:pt x="18000" y="17000"/>
                  </a:moveTo>
                  <a:lnTo>
                    <a:pt x="18000" y="9000"/>
                  </a:lnTo>
                </a:path>
                <a:path w="24000" h="24000" fill="none">
                  <a:moveTo>
                    <a:pt x="13000" y="17000"/>
                  </a:moveTo>
                  <a:lnTo>
                    <a:pt x="13000" y="5000"/>
                  </a:lnTo>
                </a:path>
                <a:path w="24000" h="24000" fill="none">
                  <a:moveTo>
                    <a:pt x="8000" y="17000"/>
                  </a:moveTo>
                  <a:lnTo>
                    <a:pt x="8000" y="14000"/>
                  </a:lnTo>
                </a:path>
              </a:pathLst>
            </a:custGeom>
            <a:noFill/>
            <a:ln w="17068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BrandDeck Diagram Text 3"/>
            <p:cNvSpPr txBox="1"/>
            <p:nvPr/>
          </p:nvSpPr>
          <p:spPr>
            <a:xfrm>
              <a:off x="5353977" y="3372504"/>
              <a:ext cx="2926041" cy="909201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600" b="0">
                  <a:solidFill>
                    <a:srgbClr val="FFFFFF"/>
                  </a:solidFill>
                  <a:latin typeface="Play"/>
                </a:rPr>
                <a:t>Успех измеряется временем поиска и долей закрытых обращений.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andDeck Text 2"/>
          <p:cNvSpPr>
            <a:spLocks noGrp="1"/>
          </p:cNvSpPr>
          <p:nvPr>
            <p:ph type="title"/>
          </p:nvPr>
        </p:nvSpPr>
        <p:spPr>
          <a:xfrm>
            <a:off x="430360" y="338829"/>
            <a:ext cx="3945697" cy="753371"/>
          </a:xfrm>
        </p:spPr>
        <p:txBody>
          <a:bodyPr vert="horz" wrap="square" anchor="t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53"/>
              </a:spcAft>
            </a:pPr>
            <a:r>
              <a:rPr sz="1689"/>
              <a:t>Просим одобрить пилот и выделить команду из 3 человек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t">
            <a:normAutofit/>
          </a:bodyPr>
          <a:lstStyle/>
          <a:p>
            <a:pPr/>
          </a:p>
        </p:txBody>
      </p:sp>
      <p:sp>
        <p:nvSpPr>
          <p:cNvPr id="4" name="BrandDeck Text 4"/>
          <p:cNvSpPr>
            <a:spLocks noGrp="1"/>
          </p:cNvSpPr>
          <p:nvPr>
            <p:ph type="body" idx="2"/>
          </p:nvPr>
        </p:nvSpPr>
        <p:spPr/>
        <p:txBody>
          <a:bodyPr vert="horz" wrap="square" anchor="t"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Одобрить запуск пилота с 2 подразделениями и 150 сотрудниками.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Выделить команду из 3 человек для работы в течение 6 недель.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/>
              <a:t>Зафиксировать метрики успеха: время поиска и долю закрытых обращений.</a:t>
            </a:r>
          </a:p>
        </p:txBody>
      </p:sp>
      <p:sp>
        <p:nvSpPr>
          <p:cNvPr id="5" name="BrandDeck Subtitle"/>
          <p:cNvSpPr txBox="1"/>
          <p:nvPr/>
        </p:nvSpPr>
        <p:spPr>
          <a:xfrm>
            <a:off x="430360" y="1137920"/>
            <a:ext cx="3945696" cy="457200"/>
          </a:xfrm>
          <a:prstGeom prst="rect">
            <a:avLst/>
          </a:prstGeom>
          <a:noFill/>
        </p:spPr>
        <p:txBody>
          <a:bodyPr wrap="square" vert="horz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65"/>
              </a:spcAft>
            </a:pPr>
            <a:r>
              <a:rPr sz="1100">
                <a:solidFill>
                  <a:srgbClr val="000000"/>
                </a:solidFill>
                <a:latin typeface="Play"/>
              </a:rPr>
              <a:t>Решение о старте пилота и выделении команды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ИИ-помощник во внутреннем портале</dc:title>
  <cp:lastModifiedBy/>
  <cp:revision>1</cp:revision>
  <dcterms:modified xsi:type="dcterms:W3CDTF">2026-09-28T15:57:01Z</dcterms:modified>
  <dc:subject>Template-adaptive presentation</dc:subject>
  <cp:keywords>BrandDeck, template-adaptive, presentation</cp:keywords>
  <dc:creator/>
  <dc:description/>
</cp:coreProperties>
</file>