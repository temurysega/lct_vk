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1.xml"/><Relationship Id="rId63" Type="http://schemas.openxmlformats.org/officeDocument/2006/relationships/slide" Target="slides/slide2.xml"/><Relationship Id="rId64" Type="http://schemas.openxmlformats.org/officeDocument/2006/relationships/slide" Target="slides/slide3.xml"/><Relationship Id="rId65" Type="http://schemas.openxmlformats.org/officeDocument/2006/relationships/slide" Target="slides/slide4.xml"/><Relationship Id="rId66" Type="http://schemas.openxmlformats.org/officeDocument/2006/relationships/slide" Target="slides/slide5.xml"/><Relationship Id="rId67" Type="http://schemas.openxmlformats.org/officeDocument/2006/relationships/slide" Target="slides/slide6.xml"/><Relationship Id="rId68" Type="http://schemas.openxmlformats.org/officeDocument/2006/relationships/slide" Target="slides/slide7.xml"/><Relationship Id="rId69" Type="http://schemas.openxmlformats.org/officeDocument/2006/relationships/slide" Target="slides/slide8.xml"/><Relationship Id="rId70" Type="http://schemas.openxmlformats.org/officeDocument/2006/relationships/slide" Target="slides/slide9.xml"/><Relationship Id="rId71" Type="http://schemas.openxmlformats.org/officeDocument/2006/relationships/slide" Target="slides/slide10.xml"/><Relationship Id="rId72" Type="http://schemas.openxmlformats.org/officeDocument/2006/relationships/slide" Target="slides/slide11.xml"/><Relationship Id="rId73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Слайд представляет инициативу по внедрению ИИ-помощника для ускорения работы сотрудников и снижения нагрузки на поддержку.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сотрудникам требуется до 30 минут, чтобы найти нужную инструкцию, что замедляет их работу и снижает общую эффективность отдела.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треть обращений в поддержку — это повторяющиеся вопросы, которые занимают время и ресурсы.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ИИ-помощник одновременно ускоряет работу сотрудников и разгружает команду поддержки за счет автоматизации типовых запросов.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ИИ-помощник автоматически отвечает на вопросы сотрудников и предоставляет ссылку на исходный документ.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Модель работает внутри корпоративного контура, поэтому документы не покидают сеть компании, что исключает утечку данных при обучении или обработке запросов. Это обеспечивает безопасность внутренней информации сотрудников и регламентов. Мы используем только факты из брифа, чтобы избежать необоснованных заявлений о безопасности, так как в исходных данных сделан акцент именно на том, что документы не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Если ИИ не находит подтверждённый ответ, вопрос автоматически перенаправляется специалисту с полным контекстом.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Пилотный запуск охватывает два подразделения с общим количеством сотрудников 150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Срок пилота фиксирован на шесть недель для сбора достаточной статистики.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оценки успеха пилота мы будем измерять время поиска ответа и долю обращений, закрытых без участия специалиста.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реализации пилота необходимо выделить команду из трех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После одобрения мы сразу начнем работу с двумя подразделениями и сформируем команду для реализации пилота.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5" Type="http://schemas.openxmlformats.org/officeDocument/2006/relationships/slideLayout" Target="../slideLayouts/slideLayout8.xml"/><Relationship Id="rId8" Type="http://schemas.openxmlformats.org/officeDocument/2006/relationships/slideLayout" Target="../slideLayouts/slideLayout11.xml"/><Relationship Id="rId25" Type="http://schemas.openxmlformats.org/officeDocument/2006/relationships/slideLayout" Target="../slideLayouts/slideLayout28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5" r:id="rId5"/>
    <p:sldLayoutId id="2147483658" r:id="rId8"/>
    <p:sldLayoutId id="2147483675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3.png"/><Relationship Id="rId3" Type="http://schemas.openxmlformats.org/officeDocument/2006/relationships/image" Target="../media/image49.png"/><Relationship Id="rId4" Type="http://schemas.openxmlformats.org/officeDocument/2006/relationships/image" Target="../media/image57.png"/><Relationship Id="rId5" Type="http://schemas.openxmlformats.org/officeDocument/2006/relationships/image" Target="../media/image55.png"/><Relationship Id="rId6" Type="http://schemas.openxmlformats.org/officeDocument/2006/relationships/image" Target="../media/image47.png"/><Relationship Id="rId7" Type="http://schemas.openxmlformats.org/officeDocument/2006/relationships/image" Target="../media/image53.png"/><Relationship Id="rId8" Type="http://schemas.openxmlformats.org/officeDocument/2006/relationships/image" Target="../media/image72.png"/><Relationship Id="rId9" Type="http://schemas.openxmlformats.org/officeDocument/2006/relationships/image" Target="../media/image223.jpeg"/><Relationship Id="rId10" Type="http://schemas.openxmlformats.org/officeDocument/2006/relationships/notesSlide" Target="../notesSlides/notesSlide5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5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224.jpeg"/><Relationship Id="rId5" Type="http://schemas.openxmlformats.org/officeDocument/2006/relationships/notesSlide" Target="../notesSlides/notesSlide6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6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6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randDeck Text 401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ctr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sz="1800"/>
              <a:t>Ускорение работы сотрудников через ИИ</a:t>
            </a:r>
            <a:endParaRPr/>
          </a:p>
        </p:txBody>
      </p:sp>
      <p:sp>
        <p:nvSpPr>
          <p:cNvPr id="402" name="BrandDeck Text 402"/>
          <p:cNvSpPr txBox="1"/>
          <p:nvPr>
            <p:ph idx="1" type="body"/>
          </p:nvPr>
        </p:nvSpPr>
        <p:spPr>
          <a:xfrm>
            <a:off x="2473770" y="2199720"/>
            <a:ext cx="428827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1450" marL="171450" rtl="0" algn="ctr">
              <a:lnSpc>
                <a:spcPct val="115000"/>
              </a:lnSpc>
              <a:spcBef>
                <a:spcPts val="0"/>
              </a:spcBef>
              <a:spcAft>
                <a:spcPts val="165"/>
              </a:spcAft>
              <a:buClr>
                <a:schemeClr val="lt1"/>
              </a:buClr>
              <a:buSzPts val="1600"/>
              <a:buNone/>
            </a:pPr>
            <a:r>
              <a:rPr sz="1100"/>
              <a:t>Инициатива по внедрению ИИ-помощника во внутренний портал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Поиск инструкции занимает до 30 минут</a:t>
            </a:r>
          </a:p>
        </p:txBody>
      </p:sp>
      <p:grpSp>
        <p:nvGrpSpPr>
          <p:cNvPr id="3" name="BrandDeck Diagram icon_grid" descr="icon_grid: Сотрудники тратят до 30 минут на поиск нужной инструкции.; Время поиска напрямую влияет на общую эффективность отдела."/>
          <p:cNvGrpSpPr/>
          <p:nvPr/>
        </p:nvGrpSpPr>
        <p:grpSpPr>
          <a:xfrm>
            <a:off x="4637088" y="676278"/>
            <a:ext cx="3862387" cy="3737102"/>
            <a:chOff x="4637088" y="676278"/>
            <a:chExt cx="3862387" cy="3737102"/>
          </a:xfrm>
        </p:grpSpPr>
        <p:sp>
          <p:nvSpPr>
            <p:cNvPr id="4" name="BrandDeck Diagram Card 1"/>
            <p:cNvSpPr/>
            <p:nvPr/>
          </p:nvSpPr>
          <p:spPr>
            <a:xfrm>
              <a:off x="4637088" y="676278"/>
              <a:ext cx="3862387" cy="1813687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4856544" y="1329205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users"/>
            <p:cNvSpPr/>
            <p:nvPr/>
          </p:nvSpPr>
          <p:spPr>
            <a:xfrm>
              <a:off x="4968267" y="1440928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5496049" y="807951"/>
              <a:ext cx="2783969" cy="1550339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Сотрудники тратят до 30 минут на поиск нужной инструкции.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4637088" y="2599693"/>
              <a:ext cx="3862387" cy="1813687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4856544" y="3252620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clock"/>
            <p:cNvSpPr/>
            <p:nvPr/>
          </p:nvSpPr>
          <p:spPr>
            <a:xfrm>
              <a:off x="4968267" y="3364343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2000" y="6000"/>
                  </a:moveTo>
                  <a:lnTo>
                    <a:pt x="12000" y="12000"/>
                  </a:lnTo>
                  <a:lnTo>
                    <a:pt x="16000" y="14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5496049" y="2731366"/>
              <a:ext cx="2783969" cy="1550339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Время поиска напрямую влияет на общую эффективность отдела.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3" name="BrandDeck Text 503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Треть обращений — повторяющиеся вопросы</a:t>
            </a:r>
            <a:endParaRPr/>
          </a:p>
        </p:txBody>
      </p:sp>
      <p:grpSp>
        <p:nvGrpSpPr>
          <p:cNvPr id="2" name="BrandDeck Diagram icon_grid" descr="icon_grid: Треть всех обращений в поддержку — повторяющиеся вопросы.; Эти запросы требуют времени на поиск инструкций.; Рутинные вопросы отвлекают специалистов от сложных задач."/>
          <p:cNvGrpSpPr/>
          <p:nvPr/>
        </p:nvGrpSpPr>
        <p:grpSpPr>
          <a:xfrm>
            <a:off x="4637088" y="676278"/>
            <a:ext cx="3862386" cy="3737102"/>
            <a:chOff x="4637088" y="676278"/>
            <a:chExt cx="3862386" cy="3737102"/>
          </a:xfrm>
        </p:grpSpPr>
        <p:sp>
          <p:nvSpPr>
            <p:cNvPr id="508" name="BrandDeck Diagram Card 1"/>
            <p:cNvSpPr/>
            <p:nvPr/>
          </p:nvSpPr>
          <p:spPr>
            <a:xfrm>
              <a:off x="4637088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9" name="BrandDeck Diagram Icon 1 Badge"/>
            <p:cNvSpPr/>
            <p:nvPr/>
          </p:nvSpPr>
          <p:spPr>
            <a:xfrm>
              <a:off x="4768431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0" name="BrandDeck Icon headset"/>
            <p:cNvSpPr/>
            <p:nvPr/>
          </p:nvSpPr>
          <p:spPr>
            <a:xfrm>
              <a:off x="4880154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3000" y="11000"/>
                  </a:moveTo>
                  <a:lnTo>
                    <a:pt x="6000" y="11000"/>
                  </a:lnTo>
                  <a:cubicBezTo>
                    <a:pt x="7105" y="11000"/>
                    <a:pt x="8000" y="11895"/>
                    <a:pt x="8000" y="13000"/>
                  </a:cubicBezTo>
                  <a:lnTo>
                    <a:pt x="8000" y="16000"/>
                  </a:lnTo>
                  <a:cubicBezTo>
                    <a:pt x="8000" y="17105"/>
                    <a:pt x="7105" y="18000"/>
                    <a:pt x="6000" y="18000"/>
                  </a:cubicBezTo>
                  <a:lnTo>
                    <a:pt x="5000" y="18000"/>
                  </a:lnTo>
                  <a:cubicBezTo>
                    <a:pt x="3895" y="18000"/>
                    <a:pt x="3000" y="17105"/>
                    <a:pt x="3000" y="16000"/>
                  </a:cubicBezTo>
                  <a:lnTo>
                    <a:pt x="3000" y="11000"/>
                  </a:lnTo>
                  <a:close/>
                  <a:moveTo>
                    <a:pt x="3000" y="11000"/>
                  </a:moveTo>
                  <a:cubicBezTo>
                    <a:pt x="3000" y="6029"/>
                    <a:pt x="7029" y="2000"/>
                    <a:pt x="12000" y="2000"/>
                  </a:cubicBezTo>
                  <a:cubicBezTo>
                    <a:pt x="16971" y="2000"/>
                    <a:pt x="21000" y="6029"/>
                    <a:pt x="21000" y="11000"/>
                  </a:cubicBezTo>
                  <a:moveTo>
                    <a:pt x="21000" y="11000"/>
                  </a:moveTo>
                  <a:lnTo>
                    <a:pt x="21000" y="16000"/>
                  </a:lnTo>
                  <a:cubicBezTo>
                    <a:pt x="21000" y="17105"/>
                    <a:pt x="20105" y="18000"/>
                    <a:pt x="19000" y="18000"/>
                  </a:cubicBezTo>
                  <a:lnTo>
                    <a:pt x="18000" y="18000"/>
                  </a:lnTo>
                  <a:cubicBezTo>
                    <a:pt x="16895" y="18000"/>
                    <a:pt x="16000" y="17105"/>
                    <a:pt x="16000" y="16000"/>
                  </a:cubicBezTo>
                  <a:lnTo>
                    <a:pt x="16000" y="13000"/>
                  </a:lnTo>
                  <a:cubicBezTo>
                    <a:pt x="16000" y="11895"/>
                    <a:pt x="16895" y="11000"/>
                    <a:pt x="18000" y="11000"/>
                  </a:cubicBezTo>
                  <a:lnTo>
                    <a:pt x="21000" y="11000"/>
                  </a:lnTo>
                  <a:close/>
                </a:path>
                <a:path w="24000" h="24000" fill="none">
                  <a:moveTo>
                    <a:pt x="21000" y="16000"/>
                  </a:moveTo>
                  <a:lnTo>
                    <a:pt x="21000" y="18000"/>
                  </a:lnTo>
                  <a:cubicBezTo>
                    <a:pt x="21000" y="20209"/>
                    <a:pt x="19209" y="22000"/>
                    <a:pt x="17000" y="22000"/>
                  </a:cubicBezTo>
                  <a:lnTo>
                    <a:pt x="12000" y="22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1" name="BrandDeck Diagram Text 1"/>
            <p:cNvSpPr txBox="1"/>
            <p:nvPr/>
          </p:nvSpPr>
          <p:spPr>
            <a:xfrm>
              <a:off x="4729028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1">
                  <a:solidFill>
                    <a:srgbClr val="000000"/>
                  </a:solidFill>
                  <a:latin typeface="Play"/>
                </a:rPr>
                <a:t>Треть всех обращений в поддержку —</a:t>
              </a:r>
              <a:r>
                <a:rPr sz="1170" b="0">
                  <a:solidFill>
                    <a:srgbClr val="000000"/>
                  </a:solidFill>
                  <a:latin typeface="Play"/>
                </a:rPr>
                <a:t> повторяющиеся вопросы.</a:t>
              </a:r>
            </a:p>
          </p:txBody>
        </p:sp>
        <p:sp>
          <p:nvSpPr>
            <p:cNvPr id="512" name="BrandDeck Diagram Card 2"/>
            <p:cNvSpPr/>
            <p:nvPr/>
          </p:nvSpPr>
          <p:spPr>
            <a:xfrm>
              <a:off x="6623145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3" name="BrandDeck Diagram Icon 2 Badge"/>
            <p:cNvSpPr/>
            <p:nvPr/>
          </p:nvSpPr>
          <p:spPr>
            <a:xfrm>
              <a:off x="6754488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4" name="BrandDeck Icon clock"/>
            <p:cNvSpPr/>
            <p:nvPr/>
          </p:nvSpPr>
          <p:spPr>
            <a:xfrm>
              <a:off x="6866211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2000" y="6000"/>
                  </a:moveTo>
                  <a:lnTo>
                    <a:pt x="12000" y="12000"/>
                  </a:lnTo>
                  <a:lnTo>
                    <a:pt x="16000" y="14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5" name="BrandDeck Diagram Text 2"/>
            <p:cNvSpPr txBox="1"/>
            <p:nvPr/>
          </p:nvSpPr>
          <p:spPr>
            <a:xfrm>
              <a:off x="6715085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000000"/>
                  </a:solidFill>
                  <a:latin typeface="Play"/>
                </a:rPr>
                <a:t>Эти запросы требуют времени на поиск инструкций.</a:t>
              </a:r>
            </a:p>
          </p:txBody>
        </p:sp>
        <p:sp>
          <p:nvSpPr>
            <p:cNvPr id="516" name="BrandDeck Diagram Card 3"/>
            <p:cNvSpPr/>
            <p:nvPr/>
          </p:nvSpPr>
          <p:spPr>
            <a:xfrm>
              <a:off x="4637088" y="2599693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7" name="BrandDeck Diagram Icon 3 Badge"/>
            <p:cNvSpPr/>
            <p:nvPr/>
          </p:nvSpPr>
          <p:spPr>
            <a:xfrm>
              <a:off x="4768431" y="2731036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8" name="BrandDeck Icon circle-help"/>
            <p:cNvSpPr/>
            <p:nvPr/>
          </p:nvSpPr>
          <p:spPr>
            <a:xfrm>
              <a:off x="4880154" y="2842759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9090" y="9000"/>
                  </a:moveTo>
                  <a:cubicBezTo>
                    <a:pt x="9575" y="7620"/>
                    <a:pt x="10985" y="6791"/>
                    <a:pt x="12427" y="7039"/>
                  </a:cubicBezTo>
                  <a:cubicBezTo>
                    <a:pt x="13869" y="7286"/>
                    <a:pt x="14922" y="8537"/>
                    <a:pt x="14920" y="10000"/>
                  </a:cubicBezTo>
                  <a:cubicBezTo>
                    <a:pt x="14920" y="12000"/>
                    <a:pt x="11920" y="13000"/>
                    <a:pt x="11920" y="13000"/>
                  </a:cubicBezTo>
                </a:path>
                <a:path w="24000" h="24000" fill="none">
                  <a:moveTo>
                    <a:pt x="12000" y="17000"/>
                  </a:moveTo>
                  <a:lnTo>
                    <a:pt x="12010" y="17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9" name="BrandDeck Diagram Text 3"/>
            <p:cNvSpPr txBox="1"/>
            <p:nvPr/>
          </p:nvSpPr>
          <p:spPr>
            <a:xfrm>
              <a:off x="4729028" y="3330808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000000"/>
                  </a:solidFill>
                  <a:latin typeface="Play"/>
                </a:rPr>
                <a:t>Рутинные вопросы отвлекают специалистов от сложных задач.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87" name="Google Shape;987;p64"/>
          <p:cNvSpPr/>
          <p:nvPr/>
        </p:nvSpPr>
        <p:spPr>
          <a:xfrm>
            <a:off x="285748" y="286048"/>
            <a:ext cx="8572456" cy="415235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8" name="Google Shape;988;p64"/>
          <p:cNvSpPr/>
          <p:nvPr/>
        </p:nvSpPr>
        <p:spPr>
          <a:xfrm>
            <a:off x="285748" y="1209852"/>
            <a:ext cx="8572456" cy="32285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9" name="Google Shape;989;p64"/>
          <p:cNvSpPr/>
          <p:nvPr/>
        </p:nvSpPr>
        <p:spPr>
          <a:xfrm>
            <a:off x="285748" y="1209852"/>
            <a:ext cx="8572456" cy="1795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2" name="Google Shape;1012;p64"/>
          <p:cNvSpPr/>
          <p:nvPr/>
        </p:nvSpPr>
        <p:spPr>
          <a:xfrm>
            <a:off x="285748" y="3176509"/>
            <a:ext cx="8572456" cy="126189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7" name="BrandDeck Text 1017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Влияет на всех сотрудников и специалистов поддержки</a:t>
            </a:r>
            <a:endParaRPr/>
          </a:p>
        </p:txBody>
      </p:sp>
      <p:sp>
        <p:nvSpPr>
          <p:cNvPr id="1022" name="BrandDeck Body"/>
          <p:cNvSpPr txBox="1"/>
          <p:nvPr/>
        </p:nvSpPr>
        <p:spPr>
          <a:xfrm>
            <a:off x="585216" y="1144312"/>
            <a:ext cx="2129088" cy="3583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79"/>
              </a:spcAft>
            </a:pPr>
            <a:r>
              <a:rPr sz="1200">
                <a:solidFill>
                  <a:srgbClr val="001515"/>
                </a:solidFill>
                <a:latin typeface="Play"/>
              </a:rPr>
              <a:t>• Сокращает время поиска инструкций для сотрудников.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79"/>
              </a:spcAft>
            </a:pPr>
            <a:r>
              <a:rPr sz="1200">
                <a:solidFill>
                  <a:srgbClr val="001515"/>
                </a:solidFill>
                <a:latin typeface="Play"/>
              </a:rPr>
              <a:t>• Снижает нагрузку на специалистов поддержки.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79"/>
              </a:spcAft>
            </a:pPr>
            <a:r>
              <a:rPr sz="1200">
                <a:solidFill>
                  <a:srgbClr val="001515"/>
                </a:solidFill>
                <a:latin typeface="Play"/>
              </a:rPr>
              <a:t>• Обеспечивает быстрый доступ к актуальным регламентам.</a:t>
            </a:r>
          </a:p>
        </p:txBody>
      </p:sp>
      <p:pic>
        <p:nvPicPr>
          <p:cNvPr id="1023" name="BrandDeck Image" descr="сотрудник специалист поддержки"/>
          <p:cNvPicPr>
            <a:picLocks noChangeAspect="1"/>
          </p:cNvPicPr>
          <p:nvPr/>
        </p:nvPicPr>
        <p:blipFill>
          <a:blip r:embed="rId9"/>
          <a:srcRect l="28445" r="28445"/>
          <a:stretch>
            <a:fillRect/>
          </a:stretch>
        </p:blipFill>
        <p:spPr>
          <a:xfrm>
            <a:off x="2970336" y="1144312"/>
            <a:ext cx="2744663" cy="35831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ИИ отвечает на вопросы и дает ссылку на документ</a:t>
            </a:r>
          </a:p>
        </p:txBody>
      </p:sp>
      <p:grpSp>
        <p:nvGrpSpPr>
          <p:cNvPr id="3" name="BrandDeck Diagram icon_grid" descr="icon_grid: ИИ отвечает на вопросы по регламентам и инструкциям.; Система автоматически добавляет ссылку на документ-источник.; Ответ формируется на основе внутренних знаний компании."/>
          <p:cNvGrpSpPr/>
          <p:nvPr/>
        </p:nvGrpSpPr>
        <p:grpSpPr>
          <a:xfrm>
            <a:off x="4637088" y="676278"/>
            <a:ext cx="3862386" cy="3737102"/>
            <a:chOff x="4637088" y="676278"/>
            <a:chExt cx="3862386" cy="3737102"/>
          </a:xfrm>
        </p:grpSpPr>
        <p:sp>
          <p:nvSpPr>
            <p:cNvPr id="4" name="BrandDeck Diagram Card 1"/>
            <p:cNvSpPr/>
            <p:nvPr/>
          </p:nvSpPr>
          <p:spPr>
            <a:xfrm>
              <a:off x="4637088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4768431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file-text"/>
            <p:cNvSpPr/>
            <p:nvPr/>
          </p:nvSpPr>
          <p:spPr>
            <a:xfrm>
              <a:off x="4880154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2000"/>
                  </a:moveTo>
                  <a:lnTo>
                    <a:pt x="6000" y="2000"/>
                  </a:lnTo>
                  <a:cubicBezTo>
                    <a:pt x="4895" y="2000"/>
                    <a:pt x="4000" y="2895"/>
                    <a:pt x="4000" y="4000"/>
                  </a:cubicBezTo>
                  <a:lnTo>
                    <a:pt x="4000" y="20000"/>
                  </a:lnTo>
                  <a:cubicBezTo>
                    <a:pt x="4000" y="21105"/>
                    <a:pt x="4895" y="22000"/>
                    <a:pt x="6000" y="22000"/>
                  </a:cubicBezTo>
                  <a:lnTo>
                    <a:pt x="18000" y="22000"/>
                  </a:lnTo>
                  <a:cubicBezTo>
                    <a:pt x="19105" y="22000"/>
                    <a:pt x="20000" y="21105"/>
                    <a:pt x="20000" y="20000"/>
                  </a:cubicBezTo>
                  <a:lnTo>
                    <a:pt x="20000" y="7000"/>
                  </a:lnTo>
                  <a:close/>
                </a:path>
                <a:path w="24000" h="24000" fill="none">
                  <a:moveTo>
                    <a:pt x="14000" y="2000"/>
                  </a:moveTo>
                  <a:lnTo>
                    <a:pt x="14000" y="6000"/>
                  </a:lnTo>
                  <a:cubicBezTo>
                    <a:pt x="14000" y="7105"/>
                    <a:pt x="14895" y="8000"/>
                    <a:pt x="16000" y="8000"/>
                  </a:cubicBezTo>
                  <a:lnTo>
                    <a:pt x="20000" y="8000"/>
                  </a:lnTo>
                </a:path>
                <a:path w="24000" h="24000" fill="none">
                  <a:moveTo>
                    <a:pt x="10000" y="9000"/>
                  </a:moveTo>
                  <a:lnTo>
                    <a:pt x="8000" y="9000"/>
                  </a:lnTo>
                </a:path>
                <a:path w="24000" h="24000" fill="none">
                  <a:moveTo>
                    <a:pt x="16000" y="13000"/>
                  </a:moveTo>
                  <a:lnTo>
                    <a:pt x="8000" y="13000"/>
                  </a:lnTo>
                </a:path>
                <a:path w="24000" h="24000" fill="none">
                  <a:moveTo>
                    <a:pt x="16000" y="17000"/>
                  </a:moveTo>
                  <a:lnTo>
                    <a:pt x="8000" y="17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4729028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FFFFFF"/>
                  </a:solidFill>
                  <a:latin typeface="Play"/>
                </a:rPr>
                <a:t>ИИ отвечает на вопросы по регламентам и инструкциям.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6623145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6754488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link"/>
            <p:cNvSpPr/>
            <p:nvPr/>
          </p:nvSpPr>
          <p:spPr>
            <a:xfrm>
              <a:off x="6866211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0000" y="13000"/>
                  </a:moveTo>
                  <a:cubicBezTo>
                    <a:pt x="10869" y="14162"/>
                    <a:pt x="12200" y="14889"/>
                    <a:pt x="13647" y="14992"/>
                  </a:cubicBezTo>
                  <a:cubicBezTo>
                    <a:pt x="15094" y="15096"/>
                    <a:pt x="16514" y="14566"/>
                    <a:pt x="17540" y="13540"/>
                  </a:cubicBezTo>
                  <a:lnTo>
                    <a:pt x="20540" y="10540"/>
                  </a:lnTo>
                  <a:cubicBezTo>
                    <a:pt x="22435" y="8578"/>
                    <a:pt x="22408" y="5460"/>
                    <a:pt x="20479" y="3531"/>
                  </a:cubicBezTo>
                  <a:cubicBezTo>
                    <a:pt x="18550" y="1602"/>
                    <a:pt x="15432" y="1575"/>
                    <a:pt x="13470" y="3470"/>
                  </a:cubicBezTo>
                  <a:lnTo>
                    <a:pt x="11750" y="5180"/>
                  </a:lnTo>
                </a:path>
                <a:path w="24000" h="24000" fill="none">
                  <a:moveTo>
                    <a:pt x="14000" y="11000"/>
                  </a:moveTo>
                  <a:cubicBezTo>
                    <a:pt x="13131" y="9838"/>
                    <a:pt x="11800" y="9111"/>
                    <a:pt x="10353" y="9008"/>
                  </a:cubicBezTo>
                  <a:cubicBezTo>
                    <a:pt x="8906" y="8904"/>
                    <a:pt x="7486" y="9434"/>
                    <a:pt x="6460" y="10460"/>
                  </a:cubicBezTo>
                  <a:lnTo>
                    <a:pt x="3460" y="13460"/>
                  </a:lnTo>
                  <a:cubicBezTo>
                    <a:pt x="1565" y="15422"/>
                    <a:pt x="1592" y="18540"/>
                    <a:pt x="3521" y="20469"/>
                  </a:cubicBezTo>
                  <a:cubicBezTo>
                    <a:pt x="5450" y="22398"/>
                    <a:pt x="8568" y="22425"/>
                    <a:pt x="10530" y="20530"/>
                  </a:cubicBezTo>
                  <a:lnTo>
                    <a:pt x="12240" y="1882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6715085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FFFFFF"/>
                  </a:solidFill>
                  <a:latin typeface="Play"/>
                </a:rPr>
                <a:t>Система автоматически добавляет ссылку на документ-источник.</a:t>
              </a:r>
            </a:p>
          </p:txBody>
        </p:sp>
        <p:sp>
          <p:nvSpPr>
            <p:cNvPr id="12" name="BrandDeck Diagram Card 3"/>
            <p:cNvSpPr/>
            <p:nvPr/>
          </p:nvSpPr>
          <p:spPr>
            <a:xfrm>
              <a:off x="4637088" y="2599693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Icon 3 Badge"/>
            <p:cNvSpPr/>
            <p:nvPr/>
          </p:nvSpPr>
          <p:spPr>
            <a:xfrm>
              <a:off x="4768431" y="2731036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randDeck Icon book-open"/>
            <p:cNvSpPr/>
            <p:nvPr/>
          </p:nvSpPr>
          <p:spPr>
            <a:xfrm>
              <a:off x="4880154" y="2842759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2000" y="7000"/>
                  </a:moveTo>
                  <a:lnTo>
                    <a:pt x="12000" y="21000"/>
                  </a:lnTo>
                </a:path>
                <a:path w="24000" h="24000" fill="none">
                  <a:moveTo>
                    <a:pt x="3000" y="18000"/>
                  </a:moveTo>
                  <a:cubicBezTo>
                    <a:pt x="2448" y="18000"/>
                    <a:pt x="2000" y="17552"/>
                    <a:pt x="2000" y="17000"/>
                  </a:cubicBezTo>
                  <a:lnTo>
                    <a:pt x="2000" y="4000"/>
                  </a:lnTo>
                  <a:cubicBezTo>
                    <a:pt x="2000" y="3448"/>
                    <a:pt x="2448" y="3000"/>
                    <a:pt x="3000" y="3000"/>
                  </a:cubicBezTo>
                  <a:lnTo>
                    <a:pt x="8000" y="3000"/>
                  </a:lnTo>
                  <a:cubicBezTo>
                    <a:pt x="10209" y="3000"/>
                    <a:pt x="12000" y="4791"/>
                    <a:pt x="12000" y="7000"/>
                  </a:cubicBezTo>
                  <a:cubicBezTo>
                    <a:pt x="12000" y="4791"/>
                    <a:pt x="13791" y="3000"/>
                    <a:pt x="16000" y="3000"/>
                  </a:cubicBezTo>
                  <a:lnTo>
                    <a:pt x="21000" y="3000"/>
                  </a:lnTo>
                  <a:cubicBezTo>
                    <a:pt x="21552" y="3000"/>
                    <a:pt x="22000" y="3448"/>
                    <a:pt x="22000" y="4000"/>
                  </a:cubicBezTo>
                  <a:lnTo>
                    <a:pt x="22000" y="17000"/>
                  </a:lnTo>
                  <a:cubicBezTo>
                    <a:pt x="22000" y="17552"/>
                    <a:pt x="21552" y="18000"/>
                    <a:pt x="21000" y="18000"/>
                  </a:cubicBezTo>
                  <a:lnTo>
                    <a:pt x="15000" y="18000"/>
                  </a:lnTo>
                  <a:cubicBezTo>
                    <a:pt x="13343" y="18000"/>
                    <a:pt x="12000" y="19343"/>
                    <a:pt x="12000" y="21000"/>
                  </a:cubicBezTo>
                  <a:cubicBezTo>
                    <a:pt x="12000" y="19343"/>
                    <a:pt x="10657" y="18000"/>
                    <a:pt x="9000" y="18000"/>
                  </a:cubicBezTo>
                  <a:close/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BrandDeck Diagram Text 3"/>
            <p:cNvSpPr txBox="1"/>
            <p:nvPr/>
          </p:nvSpPr>
          <p:spPr>
            <a:xfrm>
              <a:off x="4729028" y="3330808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FFFFFF"/>
                  </a:solidFill>
                  <a:latin typeface="Play"/>
                </a:rPr>
                <a:t>Ответ формируется на основе внутренних знаний компании.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97" name="BrandDeck Text 2097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Модель с открытыми весами работает внутри контура</a:t>
            </a:r>
            <a:endParaRPr/>
          </a:p>
        </p:txBody>
      </p:sp>
      <p:sp>
        <p:nvSpPr>
          <p:cNvPr id="2099" name="BrandDeck Body"/>
          <p:cNvSpPr txBox="1"/>
          <p:nvPr/>
        </p:nvSpPr>
        <p:spPr>
          <a:xfrm>
            <a:off x="181435" y="1144312"/>
            <a:ext cx="2375239" cy="16594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Модель с открытыми весами работает внутри контура компании.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Документы не уходят наружу при обработке запросов.</a:t>
            </a:r>
          </a:p>
        </p:txBody>
      </p:sp>
      <p:pic>
        <p:nvPicPr>
          <p:cNvPr id="2100" name="BrandDeck Image" descr="внутренний контур серверная"/>
          <p:cNvPicPr>
            <a:picLocks noChangeAspect="1"/>
          </p:cNvPicPr>
          <p:nvPr/>
        </p:nvPicPr>
        <p:blipFill>
          <a:blip r:embed="rId4"/>
          <a:srcRect l="2791" r="2791"/>
          <a:stretch>
            <a:fillRect/>
          </a:stretch>
        </p:blipFill>
        <p:spPr>
          <a:xfrm>
            <a:off x="2812706" y="1144312"/>
            <a:ext cx="6011253" cy="35831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3" name="BrandDeck Text 503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11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410"/>
              <a:t>Отсутствие подтвержденного ответа перенаправляет вопрос специалисту</a:t>
            </a:r>
            <a:endParaRPr/>
          </a:p>
        </p:txBody>
      </p:sp>
      <p:grpSp>
        <p:nvGrpSpPr>
          <p:cNvPr id="2" name="BrandDeck Diagram process" descr="process: Вопрос сотрудника Отправлен ИИ-помощнику; Ответ не найден Перенаправляется специалисту"/>
          <p:cNvGrpSpPr/>
          <p:nvPr/>
        </p:nvGrpSpPr>
        <p:grpSpPr>
          <a:xfrm>
            <a:off x="4637088" y="703710"/>
            <a:ext cx="3862387" cy="3682238"/>
            <a:chOff x="4637088" y="703710"/>
            <a:chExt cx="3862387" cy="3682238"/>
          </a:xfrm>
        </p:grpSpPr>
        <p:sp>
          <p:nvSpPr>
            <p:cNvPr id="508" name="BrandDeck Diagram Connector"/>
            <p:cNvSpPr/>
            <p:nvPr/>
          </p:nvSpPr>
          <p:spPr>
            <a:xfrm>
              <a:off x="4876660" y="1610553"/>
              <a:ext cx="32918" cy="1868551"/>
            </a:xfrm>
            <a:prstGeom prst="rect">
              <a:avLst/>
            </a:prstGeom>
            <a:solidFill>
              <a:srgbClr val="58A6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9" name="BrandDeck Diagram Step 1 Badge"/>
            <p:cNvSpPr/>
            <p:nvPr/>
          </p:nvSpPr>
          <p:spPr>
            <a:xfrm>
              <a:off x="4637088" y="1354521"/>
              <a:ext cx="512064" cy="5120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510" name="BrandDeck Diagram Detail Card 1"/>
            <p:cNvSpPr/>
            <p:nvPr/>
          </p:nvSpPr>
          <p:spPr>
            <a:xfrm>
              <a:off x="5258880" y="703710"/>
              <a:ext cx="3240595" cy="1813687"/>
            </a:xfrm>
            <a:prstGeom prst="roundRect">
              <a:avLst>
                <a:gd name="adj" fmla="val 12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1" name="BrandDeck Diagram Text 1"/>
            <p:cNvSpPr txBox="1"/>
            <p:nvPr/>
          </p:nvSpPr>
          <p:spPr>
            <a:xfrm>
              <a:off x="5350320" y="703710"/>
              <a:ext cx="3149155" cy="1813687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Вопрос сотрудника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Отправлен ИИ-помощнику</a:t>
              </a:r>
            </a:p>
          </p:txBody>
        </p:sp>
        <p:sp>
          <p:nvSpPr>
            <p:cNvPr id="512" name="BrandDeck Diagram Step 2 Badge"/>
            <p:cNvSpPr/>
            <p:nvPr/>
          </p:nvSpPr>
          <p:spPr>
            <a:xfrm>
              <a:off x="4637088" y="3223072"/>
              <a:ext cx="512064" cy="5120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513" name="BrandDeck Diagram Detail Card 2"/>
            <p:cNvSpPr/>
            <p:nvPr/>
          </p:nvSpPr>
          <p:spPr>
            <a:xfrm>
              <a:off x="5258880" y="2572261"/>
              <a:ext cx="3240595" cy="1813687"/>
            </a:xfrm>
            <a:prstGeom prst="roundRect">
              <a:avLst>
                <a:gd name="adj" fmla="val 12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4" name="BrandDeck Diagram Text 2"/>
            <p:cNvSpPr txBox="1"/>
            <p:nvPr/>
          </p:nvSpPr>
          <p:spPr>
            <a:xfrm>
              <a:off x="5350320" y="2572261"/>
              <a:ext cx="3149155" cy="1813687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Ответ не найден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Перенаправляется специалисту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1"/>
              </a:spcAft>
            </a:pPr>
            <a:r>
              <a:rPr sz="1410"/>
              <a:t>Пилот охватывает 2 подразделения и 150 сотрудников</a:t>
            </a:r>
          </a:p>
        </p:txBody>
      </p:sp>
      <p:grpSp>
        <p:nvGrpSpPr>
          <p:cNvPr id="3" name="BrandDeck Diagram pyramid" descr="pyramid: 2 подразделения География пилотного запуска; 150 сотрудников Общее число участников"/>
          <p:cNvGrpSpPr/>
          <p:nvPr/>
        </p:nvGrpSpPr>
        <p:grpSpPr>
          <a:xfrm>
            <a:off x="4645054" y="1011898"/>
            <a:ext cx="3854420" cy="2871216"/>
            <a:chOff x="4645054" y="1011898"/>
            <a:chExt cx="3854420" cy="2871216"/>
          </a:xfrm>
        </p:grpSpPr>
        <p:sp>
          <p:nvSpPr>
            <p:cNvPr id="4" name="BrandDeck Diagram Level 1"/>
            <p:cNvSpPr/>
            <p:nvPr/>
          </p:nvSpPr>
          <p:spPr>
            <a:xfrm>
              <a:off x="5069916" y="1011898"/>
              <a:ext cx="833792" cy="1408176"/>
            </a:xfrm>
            <a:custGeom>
              <a:avLst/>
              <a:gdLst/>
              <a:ahLst/>
              <a:cxnLst/>
              <a:rect l="l" t="t" r="r" b="b"/>
              <a:pathLst>
                <a:path w="912" h="1540" stroke="0">
                  <a:moveTo>
                    <a:pt x="431" y="0"/>
                  </a:moveTo>
                  <a:lnTo>
                    <a:pt x="481" y="0"/>
                  </a:lnTo>
                  <a:lnTo>
                    <a:pt x="912" y="1540"/>
                  </a:lnTo>
                  <a:lnTo>
                    <a:pt x="0" y="1540"/>
                  </a:lnTo>
                  <a:close/>
                </a:path>
              </a:pathLst>
            </a:custGeom>
            <a:solidFill>
              <a:srgbClr val="006DEB"/>
            </a:solidFill>
            <a:ln w="0">
              <a:noFill/>
            </a:ln>
          </p:spPr>
          <p:txBody>
            <a:bodyPr rtlCol="0" anchor="b" wrap="square" lIns="18288" tIns="0" rIns="18288" bIns="7315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5" name="BrandDeck Diagram Text 1"/>
            <p:cNvSpPr txBox="1"/>
            <p:nvPr/>
          </p:nvSpPr>
          <p:spPr>
            <a:xfrm>
              <a:off x="6610858" y="1011898"/>
              <a:ext cx="1888616" cy="140817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2 подразделения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География пилотного запуска</a:t>
              </a:r>
            </a:p>
          </p:txBody>
        </p:sp>
        <p:sp>
          <p:nvSpPr>
            <p:cNvPr id="6" name="BrandDeck Diagram Level 2"/>
            <p:cNvSpPr/>
            <p:nvPr/>
          </p:nvSpPr>
          <p:spPr>
            <a:xfrm>
              <a:off x="4645054" y="2474938"/>
              <a:ext cx="1683517" cy="1408176"/>
            </a:xfrm>
            <a:custGeom>
              <a:avLst/>
              <a:gdLst/>
              <a:ahLst/>
              <a:cxnLst/>
              <a:rect l="l" t="t" r="r" b="b"/>
              <a:pathLst>
                <a:path w="1841" h="1540" stroke="0">
                  <a:moveTo>
                    <a:pt x="447" y="0"/>
                  </a:moveTo>
                  <a:lnTo>
                    <a:pt x="1394" y="0"/>
                  </a:lnTo>
                  <a:lnTo>
                    <a:pt x="1841" y="1540"/>
                  </a:lnTo>
                  <a:lnTo>
                    <a:pt x="0" y="1540"/>
                  </a:lnTo>
                  <a:close/>
                </a:path>
              </a:pathLst>
            </a:custGeom>
            <a:solidFill>
              <a:srgbClr val="7DB4F5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000000"/>
                  </a:solidFill>
                  <a:latin typeface="Play"/>
                </a:rPr>
                <a:t>02</a:t>
              </a:r>
            </a:p>
          </p:txBody>
        </p:sp>
        <p:sp>
          <p:nvSpPr>
            <p:cNvPr id="7" name="BrandDeck Diagram Text 2"/>
            <p:cNvSpPr txBox="1"/>
            <p:nvPr/>
          </p:nvSpPr>
          <p:spPr>
            <a:xfrm>
              <a:off x="6610858" y="2474938"/>
              <a:ext cx="1888616" cy="140817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150 сотрудников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Общее число участников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Срок пилота составляет 6 недель</a:t>
            </a:r>
          </a:p>
        </p:txBody>
      </p:sp>
      <p:grpSp>
        <p:nvGrpSpPr>
          <p:cNvPr id="3" name="BrandDeck Diagram cycle" descr="cycle: Старт Запуск в 2 подразделениях; Процесс Сбор данных 6 недель; Финал Анализ метрик эффективности"/>
          <p:cNvGrpSpPr/>
          <p:nvPr/>
        </p:nvGrpSpPr>
        <p:grpSpPr>
          <a:xfrm>
            <a:off x="4708141" y="711456"/>
            <a:ext cx="3791333" cy="3666745"/>
            <a:chOff x="4708141" y="711456"/>
            <a:chExt cx="3791333" cy="3666745"/>
          </a:xfrm>
        </p:grpSpPr>
        <p:sp>
          <p:nvSpPr>
            <p:cNvPr id="4" name="BrandDeck Diagram Ring"/>
            <p:cNvSpPr/>
            <p:nvPr/>
          </p:nvSpPr>
          <p:spPr>
            <a:xfrm>
              <a:off x="4838256" y="2014477"/>
              <a:ext cx="1060704" cy="1060704"/>
            </a:xfrm>
            <a:prstGeom prst="ellipse">
              <a:avLst/>
            </a:prstGeom>
            <a:noFill/>
            <a:ln w="28575">
              <a:solidFill>
                <a:srgbClr val="004D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Arrow 1"/>
            <p:cNvSpPr/>
            <p:nvPr/>
          </p:nvSpPr>
          <p:spPr>
            <a:xfrm rot="9000000">
              <a:off x="5755485" y="2207232"/>
              <a:ext cx="144840" cy="144840"/>
            </a:xfrm>
            <a:prstGeom prst="triangle">
              <a:avLst/>
            </a:prstGeom>
            <a:solidFill>
              <a:srgbClr val="004D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Diagram Arrow 2"/>
            <p:cNvSpPr/>
            <p:nvPr/>
          </p:nvSpPr>
          <p:spPr>
            <a:xfrm rot="16200000">
              <a:off x="5296187" y="3002760"/>
              <a:ext cx="144840" cy="144840"/>
            </a:xfrm>
            <a:prstGeom prst="triangle">
              <a:avLst/>
            </a:prstGeom>
            <a:solidFill>
              <a:srgbClr val="004D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Arrow 3"/>
            <p:cNvSpPr/>
            <p:nvPr/>
          </p:nvSpPr>
          <p:spPr>
            <a:xfrm rot="1800000">
              <a:off x="4836889" y="2207232"/>
              <a:ext cx="144840" cy="144840"/>
            </a:xfrm>
            <a:prstGeom prst="triangle">
              <a:avLst/>
            </a:prstGeom>
            <a:solidFill>
              <a:srgbClr val="004D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BrandDeck Diagram Node 1 Badge"/>
            <p:cNvSpPr/>
            <p:nvPr/>
          </p:nvSpPr>
          <p:spPr>
            <a:xfrm>
              <a:off x="5167440" y="1813309"/>
              <a:ext cx="402336" cy="40233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1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9" name="BrandDeck Diagram Node 2 Badge"/>
            <p:cNvSpPr/>
            <p:nvPr/>
          </p:nvSpPr>
          <p:spPr>
            <a:xfrm>
              <a:off x="5626738" y="2608837"/>
              <a:ext cx="402336" cy="40233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10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10" name="BrandDeck Diagram Node 3 Badge"/>
            <p:cNvSpPr/>
            <p:nvPr/>
          </p:nvSpPr>
          <p:spPr>
            <a:xfrm>
              <a:off x="4708141" y="2608837"/>
              <a:ext cx="402336" cy="40233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100" b="1">
                  <a:solidFill>
                    <a:srgbClr val="FFFFFF"/>
                  </a:solidFill>
                  <a:latin typeface="Play"/>
                </a:rPr>
                <a:t>03</a:t>
              </a:r>
            </a:p>
          </p:txBody>
        </p:sp>
        <p:sp>
          <p:nvSpPr>
            <p:cNvPr id="11" name="BrandDeck Diagram Legend 1 Badge"/>
            <p:cNvSpPr/>
            <p:nvPr/>
          </p:nvSpPr>
          <p:spPr>
            <a:xfrm>
              <a:off x="6420168" y="1154941"/>
              <a:ext cx="310896" cy="31089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0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12" name="BrandDeck Diagram Text 1"/>
            <p:cNvSpPr txBox="1"/>
            <p:nvPr/>
          </p:nvSpPr>
          <p:spPr>
            <a:xfrm>
              <a:off x="6877368" y="711456"/>
              <a:ext cx="1622106" cy="1197864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Старт</a:t>
              </a:r>
            </a:p>
            <a:p>
              <a:pPr algn="l">
                <a:lnSpc>
                  <a:spcPct val="110000"/>
                </a:lnSpc>
                <a:spcBef>
                  <a:spcPts val="352"/>
                </a:spcBef>
              </a:pPr>
              <a:r>
                <a:rPr sz="1410" b="0">
                  <a:solidFill>
                    <a:srgbClr val="FFFFFF"/>
                  </a:solidFill>
                  <a:latin typeface="Play"/>
                </a:rPr>
                <a:t>Запуск в 2 подразделениях</a:t>
              </a:r>
            </a:p>
          </p:txBody>
        </p:sp>
        <p:sp>
          <p:nvSpPr>
            <p:cNvPr id="13" name="BrandDeck Diagram Legend 2 Badge"/>
            <p:cNvSpPr/>
            <p:nvPr/>
          </p:nvSpPr>
          <p:spPr>
            <a:xfrm>
              <a:off x="6420168" y="2389381"/>
              <a:ext cx="310896" cy="31089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00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14" name="BrandDeck Diagram Text 2"/>
            <p:cNvSpPr txBox="1"/>
            <p:nvPr/>
          </p:nvSpPr>
          <p:spPr>
            <a:xfrm>
              <a:off x="6877368" y="1945897"/>
              <a:ext cx="1622106" cy="1197864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Процесс</a:t>
              </a:r>
            </a:p>
            <a:p>
              <a:pPr algn="l">
                <a:lnSpc>
                  <a:spcPct val="110000"/>
                </a:lnSpc>
                <a:spcBef>
                  <a:spcPts val="352"/>
                </a:spcBef>
              </a:pPr>
              <a:r>
                <a:rPr sz="1410" b="0">
                  <a:solidFill>
                    <a:srgbClr val="FFFFFF"/>
                  </a:solidFill>
                  <a:latin typeface="Play"/>
                </a:rPr>
                <a:t>Сбор данных 6 недель</a:t>
              </a:r>
            </a:p>
          </p:txBody>
        </p:sp>
        <p:sp>
          <p:nvSpPr>
            <p:cNvPr id="15" name="BrandDeck Diagram Legend 3 Badge"/>
            <p:cNvSpPr/>
            <p:nvPr/>
          </p:nvSpPr>
          <p:spPr>
            <a:xfrm>
              <a:off x="6420168" y="3623821"/>
              <a:ext cx="310896" cy="31089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000" b="1">
                  <a:solidFill>
                    <a:srgbClr val="FFFFFF"/>
                  </a:solidFill>
                  <a:latin typeface="Play"/>
                </a:rPr>
                <a:t>03</a:t>
              </a:r>
            </a:p>
          </p:txBody>
        </p:sp>
        <p:sp>
          <p:nvSpPr>
            <p:cNvPr id="16" name="BrandDeck Diagram Text 3"/>
            <p:cNvSpPr txBox="1"/>
            <p:nvPr/>
          </p:nvSpPr>
          <p:spPr>
            <a:xfrm>
              <a:off x="6877368" y="3180337"/>
              <a:ext cx="1622106" cy="1197864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Финал</a:t>
              </a:r>
            </a:p>
            <a:p>
              <a:pPr algn="l">
                <a:lnSpc>
                  <a:spcPct val="110000"/>
                </a:lnSpc>
                <a:spcBef>
                  <a:spcPts val="352"/>
                </a:spcBef>
              </a:pPr>
              <a:r>
                <a:rPr sz="1410" b="0">
                  <a:solidFill>
                    <a:srgbClr val="FFFFFF"/>
                  </a:solidFill>
                  <a:latin typeface="Play"/>
                </a:rPr>
                <a:t>Анализ метрик эффективности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3" name="BrandDeck Text 503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11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410"/>
              <a:t>Измеряем время поиска и долю закрытых обращений без специалиста</a:t>
            </a:r>
            <a:endParaRPr/>
          </a:p>
        </p:txBody>
      </p:sp>
      <p:graphicFrame>
        <p:nvGraphicFramePr>
          <p:cNvPr id="508" name="BrandDeck Table"/>
          <p:cNvGraphicFramePr>
            <a:graphicFrameLocks noGrp="1"/>
          </p:cNvGraphicFramePr>
          <p:nvPr/>
        </p:nvGraphicFramePr>
        <p:xfrm>
          <a:off x="4637088" y="676278"/>
          <a:ext cx="3862387" cy="373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1193"/>
                <a:gridCol w="1931194"/>
              </a:tblGrid>
              <a:tr h="955124">
                <a:tc>
                  <a:txBody>
                    <a:bodyPr/>
                    <a:lstStyle/>
                    <a:p>
                      <a:pPr algn="l"/>
                      <a:r>
                        <a:rPr sz="1320" b="1">
                          <a:solidFill>
                            <a:srgbClr val="FFFFFF"/>
                          </a:solidFill>
                          <a:latin typeface="Play"/>
                        </a:rPr>
                        <a:t>Метрика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20" b="1">
                          <a:solidFill>
                            <a:srgbClr val="FFFFFF"/>
                          </a:solidFill>
                          <a:latin typeface="Play"/>
                        </a:rPr>
                        <a:t>Что измеряем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</a:tr>
              <a:tr h="1390988">
                <a:tc>
                  <a:txBody>
                    <a:bodyPr/>
                    <a:lstStyle/>
                    <a:p>
                      <a:pPr algn="l"/>
                      <a:r>
                        <a:rPr sz="1320" b="0">
                          <a:solidFill>
                            <a:srgbClr val="111111"/>
                          </a:solidFill>
                          <a:latin typeface="Play"/>
                        </a:rPr>
                        <a:t>Время поиска ответа</a:t>
                      </a:r>
                    </a:p>
                  </a:txBody>
                  <a:tcPr marL="54864" marR="54864" anchor="ctr"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20" b="0">
                          <a:solidFill>
                            <a:srgbClr val="111111"/>
                          </a:solidFill>
                          <a:latin typeface="Play"/>
                        </a:rPr>
                        <a:t>Сколько минут тратит сотрудник на инструкцию</a:t>
                      </a:r>
                    </a:p>
                  </a:txBody>
                  <a:tcPr marL="54864" marR="54864" anchor="ctr">
                    <a:solidFill>
                      <a:srgbClr val="FEFFFF"/>
                    </a:solidFill>
                  </a:tcPr>
                </a:tc>
              </a:tr>
              <a:tr h="1390988">
                <a:tc>
                  <a:txBody>
                    <a:bodyPr/>
                    <a:lstStyle/>
                    <a:p>
                      <a:pPr algn="l"/>
                      <a:r>
                        <a:rPr sz="1320" b="0">
                          <a:solidFill>
                            <a:srgbClr val="111111"/>
                          </a:solidFill>
                          <a:latin typeface="Play"/>
                        </a:rPr>
                        <a:t>Доля закрытых обращений</a:t>
                      </a:r>
                    </a:p>
                  </a:txBody>
                  <a:tcPr marL="54864" marR="54864" anchor="ctr"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20" b="0">
                          <a:solidFill>
                            <a:srgbClr val="111111"/>
                          </a:solidFill>
                          <a:latin typeface="Play"/>
                        </a:rPr>
                        <a:t>Процент вопросов, решенных без специалиста</a:t>
                      </a:r>
                    </a:p>
                  </a:txBody>
                  <a:tcPr marL="54864" marR="54864" anchor="ctr"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Требуется команда из 3 человек для реализации</a:t>
            </a:r>
          </a:p>
        </p:txBody>
      </p:sp>
      <p:grpSp>
        <p:nvGrpSpPr>
          <p:cNvPr id="3" name="BrandDeck Diagram hierarchy" descr="hierarchy: Команда 3 специалиста для реализации пилота; Задача Выделение ресурсов для запуска проекта"/>
          <p:cNvGrpSpPr/>
          <p:nvPr/>
        </p:nvGrpSpPr>
        <p:grpSpPr>
          <a:xfrm>
            <a:off x="4637088" y="955527"/>
            <a:ext cx="3862386" cy="3002234"/>
            <a:chOff x="4637088" y="955527"/>
            <a:chExt cx="3862386" cy="3002234"/>
          </a:xfrm>
        </p:grpSpPr>
        <p:sp>
          <p:nvSpPr>
            <p:cNvPr id="4" name="BrandDeck Diagram Root"/>
            <p:cNvSpPr/>
            <p:nvPr/>
          </p:nvSpPr>
          <p:spPr>
            <a:xfrm>
              <a:off x="5757180" y="955527"/>
              <a:ext cx="1622202" cy="731520"/>
            </a:xfrm>
            <a:prstGeom prst="roundRect">
              <a:avLst>
                <a:gd name="adj" fmla="val 18000"/>
              </a:avLst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109728" tIns="36576" rIns="109728" bIns="36576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Команда из 3 человек</a:t>
              </a:r>
            </a:p>
          </p:txBody>
        </p:sp>
        <p:cxnSp>
          <p:nvCxnSpPr>
            <p:cNvPr id="5" name="BrandDeck Diagram Link Root"/>
            <p:cNvCxnSpPr/>
            <p:nvPr/>
          </p:nvCxnSpPr>
          <p:spPr>
            <a:xfrm>
              <a:off x="6568281" y="1687047"/>
              <a:ext cx="0" cy="261597"/>
            </a:xfrm>
            <a:prstGeom prst="line">
              <a:avLst/>
            </a:prstGeom>
            <a:ln w="19050">
              <a:solidFill>
                <a:srgbClr val="004D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BrandDeck Diagram Link Bus"/>
            <p:cNvCxnSpPr/>
            <p:nvPr/>
          </p:nvCxnSpPr>
          <p:spPr>
            <a:xfrm>
              <a:off x="5575252" y="1948644"/>
              <a:ext cx="1986058" cy="0"/>
            </a:xfrm>
            <a:prstGeom prst="line">
              <a:avLst/>
            </a:prstGeom>
            <a:ln w="19050">
              <a:solidFill>
                <a:srgbClr val="004D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BrandDeck Diagram Link 1"/>
            <p:cNvCxnSpPr/>
            <p:nvPr/>
          </p:nvCxnSpPr>
          <p:spPr>
            <a:xfrm>
              <a:off x="5575252" y="1948644"/>
              <a:ext cx="0" cy="261598"/>
            </a:xfrm>
            <a:prstGeom prst="line">
              <a:avLst/>
            </a:prstGeom>
            <a:ln w="19050">
              <a:solidFill>
                <a:srgbClr val="004D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randDeck Diagram Card 1"/>
            <p:cNvSpPr/>
            <p:nvPr/>
          </p:nvSpPr>
          <p:spPr>
            <a:xfrm>
              <a:off x="4637088" y="2210242"/>
              <a:ext cx="1876329" cy="1747519"/>
            </a:xfrm>
            <a:prstGeom prst="roundRect">
              <a:avLst>
                <a:gd name="adj" fmla="val 6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Marker 1"/>
            <p:cNvSpPr/>
            <p:nvPr/>
          </p:nvSpPr>
          <p:spPr>
            <a:xfrm>
              <a:off x="4765104" y="2319970"/>
              <a:ext cx="548640" cy="45720"/>
            </a:xfrm>
            <a:prstGeom prst="rect">
              <a:avLst/>
            </a:prstGeom>
            <a:solidFill>
              <a:srgbClr val="0077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Diagram Text 1"/>
            <p:cNvSpPr txBox="1"/>
            <p:nvPr/>
          </p:nvSpPr>
          <p:spPr>
            <a:xfrm>
              <a:off x="4728528" y="2447986"/>
              <a:ext cx="1693449" cy="1418336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Команда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3 специалиста для реализации пилота</a:t>
              </a:r>
            </a:p>
          </p:txBody>
        </p:sp>
        <p:cxnSp>
          <p:nvCxnSpPr>
            <p:cNvPr id="11" name="BrandDeck Diagram Link 2"/>
            <p:cNvCxnSpPr/>
            <p:nvPr/>
          </p:nvCxnSpPr>
          <p:spPr>
            <a:xfrm>
              <a:off x="7561310" y="1948644"/>
              <a:ext cx="0" cy="261598"/>
            </a:xfrm>
            <a:prstGeom prst="line">
              <a:avLst/>
            </a:prstGeom>
            <a:ln w="19050">
              <a:solidFill>
                <a:srgbClr val="004D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BrandDeck Diagram Card 2"/>
            <p:cNvSpPr/>
            <p:nvPr/>
          </p:nvSpPr>
          <p:spPr>
            <a:xfrm>
              <a:off x="6623145" y="2210242"/>
              <a:ext cx="1876329" cy="1747519"/>
            </a:xfrm>
            <a:prstGeom prst="roundRect">
              <a:avLst>
                <a:gd name="adj" fmla="val 6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Marker 2"/>
            <p:cNvSpPr/>
            <p:nvPr/>
          </p:nvSpPr>
          <p:spPr>
            <a:xfrm>
              <a:off x="6751161" y="2319970"/>
              <a:ext cx="548640" cy="45720"/>
            </a:xfrm>
            <a:prstGeom prst="rect">
              <a:avLst/>
            </a:prstGeom>
            <a:solidFill>
              <a:srgbClr val="0077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randDeck Diagram Text 2"/>
            <p:cNvSpPr txBox="1"/>
            <p:nvPr/>
          </p:nvSpPr>
          <p:spPr>
            <a:xfrm>
              <a:off x="6714585" y="2447986"/>
              <a:ext cx="1693449" cy="1418336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Задача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Выделение ресурсов для запуска проекта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Одобрить пилот и выделить команду из 3 человек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anchor="t">
            <a:normAutofit/>
          </a:bodyPr>
          <a:lstStyle/>
          <a:p>
            <a:pPr/>
          </a:p>
        </p:txBody>
      </p:sp>
      <p:sp>
        <p:nvSpPr>
          <p:cNvPr id="4" name="BrandDeck Text 4"/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Запустить пилот в двух подразделениях.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Назначить команду из трех человек.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Измерить время поиска и долю закрытых обращений.</a:t>
            </a:r>
          </a:p>
        </p:txBody>
      </p:sp>
      <p:sp>
        <p:nvSpPr>
          <p:cNvPr id="5" name="BrandDeck Subtitle"/>
          <p:cNvSpPr txBox="1"/>
          <p:nvPr/>
        </p:nvSpPr>
        <p:spPr>
          <a:xfrm>
            <a:off x="430360" y="1137920"/>
            <a:ext cx="394569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1"/>
              </a:spcAft>
            </a:pPr>
            <a:r>
              <a:rPr sz="1410">
                <a:solidFill>
                  <a:srgbClr val="000000"/>
                </a:solidFill>
                <a:latin typeface="Play"/>
              </a:rPr>
              <a:t>Следующие шаги после утверждения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ИИ-помощник во внутреннем портале</dc:title>
  <cp:lastModifiedBy/>
  <cp:revision>1</cp:revision>
  <dcterms:modified xsi:type="dcterms:W3CDTF">2026-09-26T20:25:29Z</dcterms:modified>
  <dc:subject>Template-adaptive presentation</dc:subject>
  <cp:keywords>BrandDeck, template-adaptive, presentation</cp:keywords>
  <dc:creator/>
  <dc:description/>
</cp:coreProperties>
</file>