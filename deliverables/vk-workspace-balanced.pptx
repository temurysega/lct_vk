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1.xml"/><Relationship Id="rId39" Type="http://schemas.openxmlformats.org/officeDocument/2006/relationships/slide" Target="slides/slide2.xml"/><Relationship Id="rId40" Type="http://schemas.openxmlformats.org/officeDocument/2006/relationships/slide" Target="slides/slide3.xml"/><Relationship Id="rId41" Type="http://schemas.openxmlformats.org/officeDocument/2006/relationships/slide" Target="slides/slide4.xml"/><Relationship Id="rId42" Type="http://schemas.openxmlformats.org/officeDocument/2006/relationships/slide" Target="slides/slide5.xml"/><Relationship Id="rId43" Type="http://schemas.openxmlformats.org/officeDocument/2006/relationships/slide" Target="slides/slide6.xml"/><Relationship Id="rId44" Type="http://schemas.openxmlformats.org/officeDocument/2006/relationships/slide" Target="slides/slide7.xml"/><Relationship Id="rId45" Type="http://schemas.openxmlformats.org/officeDocument/2006/relationships/slide" Target="slides/slide8.xml"/><Relationship Id="rId46" Type="http://schemas.openxmlformats.org/officeDocument/2006/relationships/slide" Target="slides/slide9.xml"/><Relationship Id="rId47" Type="http://schemas.openxmlformats.org/officeDocument/2006/relationships/slide" Target="slides/slide10.xml"/><Relationship Id="rId48" Type="http://schemas.openxmlformats.org/officeDocument/2006/relationships/slide" Target="slides/slide11.xml"/><Relationship Id="rId4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Слайд представляет инициативу по внедрению ИИ-помощника во внутренний портал для автоматизации ответов на вопросы сотрудников и сокращения времени поиска инструкций.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поиск инструкции занимает до 30 минут, а треть обращений дублируется.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Пилотный проект затронет 150 сотрудников двух подразделений, которые ежедневно сталкиваются с поиском инструкций.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ИИ-помощник обеспечивает мгновенный доступ к регламентам, предоставляя ссылки на оригинальные документы.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Система работает исключительно внутри контура компании, гарантируя, что документы не покидают внутреннюю инфраструктуру.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Если ИИ не находит подтверждённый ответ, вопрос автоматически передаётся специалисту поддержки вместе с контекстом запроса.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 фокусируется только на двух подразделениях, чтобы исключить влияние глобальных настроек и внешних CRM.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 рамках пилота мы фокусируемся только на базовом функционале ИИ-помощника. Изменения глобальных настроек портала и интеграция с внешними CRM не входят в текущий план.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Метрики успеха пилота включают сокращение времени поиска ответа и рост доли обращений, закрытых без участия специалиста.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 длится 6 недель с командой из трех человек для проверки гипотезы.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Ключевой риск — низкое качество ответов, который мы снижаем обучением модели на внутренних регламентах.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Просим утвердить пилотный запуск и выделить команду из трех специалистов для реализации.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Титульный слайд">
  <p:cSld name="9_Титульный слайд">
    <p:bg>
      <p:bgPr>
        <a:solidFill>
          <a:schemeClr val="dk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3"/>
          <p:cNvPicPr preferRelativeResize="0"/>
          <p:nvPr/>
        </p:nvPicPr>
        <p:blipFill rotWithShape="1">
          <a:blip r:embed="rId2">
            <a:alphaModFix/>
          </a:blip>
          <a:srcRect b="-1" l="0" r="50023" t="66636"/>
          <a:stretch/>
        </p:blipFill>
        <p:spPr>
          <a:xfrm>
            <a:off x="794" y="4572000"/>
            <a:ext cx="6093175" cy="2285998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3"/>
          <p:cNvSpPr/>
          <p:nvPr/>
        </p:nvSpPr>
        <p:spPr>
          <a:xfrm>
            <a:off x="1" y="5747081"/>
            <a:ext cx="4487332" cy="111091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745067" y="6160788"/>
            <a:ext cx="4487332" cy="69721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8" name="Google Shape;88;p3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89" name="Google Shape;89;p3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0" name="Google Shape;90;p3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1" name="Google Shape;91;p3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2" name="Google Shape;92;p3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3" name="Google Shape;93;p3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4" name="Google Shape;94;p3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5" name="Google Shape;95;p3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6" name="Google Shape;96;p3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7" name="Google Shape;97;p3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8" name="Google Shape;98;p3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9" name="Google Shape;99;p3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0" name="Google Shape;100;p3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1" name="Google Shape;101;p3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2" name="Google Shape;102;p3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3" name="Google Shape;103;p3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4" name="Google Shape;104;p3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5" name="Google Shape;105;p3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6" name="Google Shape;106;p3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7" name="Google Shape;107;p3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08" name="Google Shape;108;p3"/>
          <p:cNvSpPr txBox="1"/>
          <p:nvPr>
            <p:ph type="title"/>
          </p:nvPr>
        </p:nvSpPr>
        <p:spPr>
          <a:xfrm>
            <a:off x="429254" y="1609196"/>
            <a:ext cx="480314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09" name="Google Shape;109;p3"/>
          <p:cNvPicPr preferRelativeResize="0"/>
          <p:nvPr/>
        </p:nvPicPr>
        <p:blipFill rotWithShape="1">
          <a:blip r:embed="rId2">
            <a:alphaModFix/>
          </a:blip>
          <a:srcRect b="77450" l="52729" r="0" t="17827"/>
          <a:stretch/>
        </p:blipFill>
        <p:spPr>
          <a:xfrm flipH="1">
            <a:off x="0" y="0"/>
            <a:ext cx="5763224" cy="323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3"/>
          <p:cNvSpPr/>
          <p:nvPr/>
        </p:nvSpPr>
        <p:spPr>
          <a:xfrm>
            <a:off x="4487333" y="4377664"/>
            <a:ext cx="1608667" cy="248033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112" name="Google Shape;112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Заголовок">
  <p:cSld name="19_Заголовок">
    <p:bg>
      <p:bgPr>
        <a:solidFill>
          <a:schemeClr val="dk1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4" name="Google Shape;114;p4"/>
          <p:cNvPicPr preferRelativeResize="0"/>
          <p:nvPr/>
        </p:nvPicPr>
        <p:blipFill rotWithShape="1">
          <a:blip r:embed="rId2">
            <a:alphaModFix/>
          </a:blip>
          <a:srcRect b="0" l="0" r="61122" t="0"/>
          <a:stretch/>
        </p:blipFill>
        <p:spPr>
          <a:xfrm>
            <a:off x="0" y="0"/>
            <a:ext cx="4739951" cy="6857143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6" name="Google Shape;11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Заголовок">
  <p:cSld name="8_Заголовок">
    <p:bg>
      <p:bgPr>
        <a:solidFill>
          <a:schemeClr val="dk1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8"/>
          <p:cNvPicPr preferRelativeResize="0"/>
          <p:nvPr/>
        </p:nvPicPr>
        <p:blipFill rotWithShape="1">
          <a:blip r:embed="rId2">
            <a:alphaModFix/>
          </a:blip>
          <a:srcRect b="25668" l="13456" r="0" t="10446"/>
          <a:stretch/>
        </p:blipFill>
        <p:spPr>
          <a:xfrm flipH="1">
            <a:off x="2907772" y="-1"/>
            <a:ext cx="928422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8"/>
          <p:cNvPicPr preferRelativeResize="0"/>
          <p:nvPr/>
        </p:nvPicPr>
        <p:blipFill rotWithShape="1">
          <a:blip r:embed="rId3">
            <a:alphaModFix/>
          </a:blip>
          <a:srcRect b="8691" l="36156" r="0" t="22176"/>
          <a:stretch/>
        </p:blipFill>
        <p:spPr>
          <a:xfrm flipH="1">
            <a:off x="5862319" y="-2"/>
            <a:ext cx="6329681" cy="6863317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06" name="Google Shape;20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07" name="Google Shape;207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Титульный слайд">
  <p:cSld name="14_Титульный слайд">
    <p:bg>
      <p:bgPr>
        <a:solidFill>
          <a:schemeClr val="dk1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35" name="Google Shape;235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96000" y="5844358"/>
            <a:ext cx="6096000" cy="10136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6" name="Google Shape;236;p10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37" name="Google Shape;237;p10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8" name="Google Shape;238;p10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9" name="Google Shape;239;p10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0" name="Google Shape;240;p10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1" name="Google Shape;241;p10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2" name="Google Shape;242;p10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3" name="Google Shape;243;p10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4" name="Google Shape;244;p10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5" name="Google Shape;245;p10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6" name="Google Shape;246;p10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7" name="Google Shape;247;p10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8" name="Google Shape;248;p10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9" name="Google Shape;249;p10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0" name="Google Shape;250;p10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1" name="Google Shape;251;p10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2" name="Google Shape;252;p10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3" name="Google Shape;253;p10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4" name="Google Shape;254;p10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5" name="Google Shape;255;p10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56" name="Google Shape;256;p10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57" name="Google Shape;25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66292" y="0"/>
            <a:ext cx="1325708" cy="372397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6" Type="http://schemas.openxmlformats.org/officeDocument/2006/relationships/slideLayout" Target="../slideLayouts/slideLayout5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2" r:id="rId6"/>
    <p:sldLayoutId id="2147483654" r:id="rId8"/>
    <p:sldLayoutId id="2147483655" r:id="rId9"/>
    <p:sldLayoutId id="2147483656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32.png"/><Relationship Id="rId4" Type="http://schemas.openxmlformats.org/officeDocument/2006/relationships/image" Target="../media/image33.jpeg"/><Relationship Id="rId5" Type="http://schemas.openxmlformats.org/officeDocument/2006/relationships/notesSlide" Target="../notesSlides/notesSlide3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32.png"/><Relationship Id="rId4" Type="http://schemas.openxmlformats.org/officeDocument/2006/relationships/image" Target="../media/image34.jpeg"/><Relationship Id="rId5" Type="http://schemas.openxmlformats.org/officeDocument/2006/relationships/notesSlide" Target="../notesSlides/notesSlide3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1" name="BrandDeck Text 381"/>
          <p:cNvSpPr txBox="1"/>
          <p:nvPr>
            <p:ph type="title"/>
          </p:nvPr>
        </p:nvSpPr>
        <p:spPr>
          <a:xfrm>
            <a:off x="429253" y="24905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48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sz="3200"/>
              <a:t>Автоматизация поиска инструкций и ответов поддержки</a:t>
            </a:r>
            <a:endParaRPr sz="4800"/>
          </a:p>
        </p:txBody>
      </p:sp>
      <p:sp>
        <p:nvSpPr>
          <p:cNvPr id="383" name="BrandDeck Text 383"/>
          <p:cNvSpPr txBox="1"/>
          <p:nvPr/>
        </p:nvSpPr>
        <p:spPr>
          <a:xfrm>
            <a:off x="1510259" y="4682209"/>
            <a:ext cx="2213844" cy="8342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179"/>
              </a:spcAft>
              <a:buClr>
                <a:srgbClr val="AFB8C2"/>
              </a:buClr>
              <a:buSzPts val="1600"/>
              <a:buFont typeface="Play"/>
              <a:buNone/>
            </a:pPr>
            <a:r>
              <a:rPr sz="1200" b="0">
                <a:solidFill>
                  <a:srgbClr val="AFB8C2"/>
                </a:solidFill>
                <a:latin typeface="Play"/>
              </a:rPr>
              <a:t>Инициатива по внедрению ИИ-помощника для снижения нагрузки на поддержку и ускорения поиска информации</a:t>
            </a:r>
            <a:endParaRPr b="0" i="0" sz="1600" u="none" cap="none" strike="noStrike">
              <a:solidFill>
                <a:srgbClr val="AFB8C2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8" name="BrandDeck Text 71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42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800"/>
              <a:t>Поиск инструкции занимает до 30 минут, а треть обращений дублируется</a:t>
            </a:r>
            <a:endParaRPr/>
          </a:p>
        </p:txBody>
      </p:sp>
      <p:grpSp>
        <p:nvGrpSpPr>
          <p:cNvPr id="2" name="BrandDeck Diagram pyramid" descr="pyramid: Время поиска до 30 минут на инструкцию; Дублирование треть обращений повторяется"/>
          <p:cNvGrpSpPr/>
          <p:nvPr/>
        </p:nvGrpSpPr>
        <p:grpSpPr>
          <a:xfrm>
            <a:off x="446398" y="2126084"/>
            <a:ext cx="10263166" cy="2871216"/>
            <a:chOff x="446398" y="2126084"/>
            <a:chExt cx="10263166" cy="2871216"/>
          </a:xfrm>
        </p:grpSpPr>
        <p:sp>
          <p:nvSpPr>
            <p:cNvPr id="721" name="BrandDeck Diagram Level 1"/>
            <p:cNvSpPr/>
            <p:nvPr/>
          </p:nvSpPr>
          <p:spPr>
            <a:xfrm>
              <a:off x="1360798" y="2126084"/>
              <a:ext cx="1794510" cy="1408176"/>
            </a:xfrm>
            <a:custGeom>
              <a:avLst/>
              <a:gdLst/>
              <a:ahLst/>
              <a:cxnLst/>
              <a:rect l="l" t="t" r="r" b="b"/>
              <a:pathLst>
                <a:path w="1963" h="1540" stroke="0">
                  <a:moveTo>
                    <a:pt x="956" y="0"/>
                  </a:moveTo>
                  <a:lnTo>
                    <a:pt x="1006" y="0"/>
                  </a:lnTo>
                  <a:lnTo>
                    <a:pt x="1963" y="1540"/>
                  </a:lnTo>
                  <a:lnTo>
                    <a:pt x="0" y="1540"/>
                  </a:lnTo>
                  <a:close/>
                </a:path>
              </a:pathLst>
            </a:custGeom>
            <a:solidFill>
              <a:srgbClr val="006DEB"/>
            </a:solidFill>
            <a:ln w="0">
              <a:noFill/>
            </a:ln>
          </p:spPr>
          <p:txBody>
            <a:bodyPr rtlCol="0" anchor="b" wrap="square" lIns="18288" tIns="0" rIns="18288" bIns="7315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722" name="BrandDeck Diagram Text 1"/>
            <p:cNvSpPr txBox="1"/>
            <p:nvPr/>
          </p:nvSpPr>
          <p:spPr>
            <a:xfrm>
              <a:off x="4361173" y="2126084"/>
              <a:ext cx="6348391" cy="140817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Время поиска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до 30 минут на инструкцию</a:t>
              </a:r>
            </a:p>
          </p:txBody>
        </p:sp>
        <p:sp>
          <p:nvSpPr>
            <p:cNvPr id="723" name="BrandDeck Diagram Level 2"/>
            <p:cNvSpPr/>
            <p:nvPr/>
          </p:nvSpPr>
          <p:spPr>
            <a:xfrm>
              <a:off x="446398" y="3589124"/>
              <a:ext cx="3623310" cy="1408176"/>
            </a:xfrm>
            <a:custGeom>
              <a:avLst/>
              <a:gdLst/>
              <a:ahLst/>
              <a:cxnLst/>
              <a:rect l="l" t="t" r="r" b="b"/>
              <a:pathLst>
                <a:path w="3963" h="1540" stroke="0">
                  <a:moveTo>
                    <a:pt x="963" y="0"/>
                  </a:moveTo>
                  <a:lnTo>
                    <a:pt x="3000" y="0"/>
                  </a:lnTo>
                  <a:lnTo>
                    <a:pt x="3963" y="1540"/>
                  </a:lnTo>
                  <a:lnTo>
                    <a:pt x="0" y="1540"/>
                  </a:lnTo>
                  <a:close/>
                </a:path>
              </a:pathLst>
            </a:custGeom>
            <a:solidFill>
              <a:srgbClr val="003676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724" name="BrandDeck Diagram Text 2"/>
            <p:cNvSpPr txBox="1"/>
            <p:nvPr/>
          </p:nvSpPr>
          <p:spPr>
            <a:xfrm>
              <a:off x="4361173" y="3589124"/>
              <a:ext cx="6348391" cy="140817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Дублирование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треть обращений повторяется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BrandDeck Text 45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400"/>
              <a:t>Влияет на 150 сотрудников двух подразделений при ежедневном использовании</a:t>
            </a:r>
            <a:endParaRPr/>
          </a:p>
        </p:txBody>
      </p:sp>
      <p:grpSp>
        <p:nvGrpSpPr>
          <p:cNvPr id="2" name="BrandDeck Diagram icon_grid" descr="icon_grid: Целевая аудитория 150 сотрудников двух подразделений; Масштаб влияния Ежедневное использование; Объем пилота 2 подразделения"/>
          <p:cNvGrpSpPr/>
          <p:nvPr/>
        </p:nvGrpSpPr>
        <p:grpSpPr>
          <a:xfrm>
            <a:off x="415687" y="1905982"/>
            <a:ext cx="10733793" cy="2894782"/>
            <a:chOff x="415687" y="1905982"/>
            <a:chExt cx="10733793" cy="2894782"/>
          </a:xfrm>
        </p:grpSpPr>
        <p:sp>
          <p:nvSpPr>
            <p:cNvPr id="468" name="BrandDeck Diagram Card 1"/>
            <p:cNvSpPr/>
            <p:nvPr/>
          </p:nvSpPr>
          <p:spPr>
            <a:xfrm>
              <a:off x="415687" y="1905982"/>
              <a:ext cx="5259559" cy="1340053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9" name="BrandDeck Diagram Icon 1 Badge"/>
            <p:cNvSpPr/>
            <p:nvPr/>
          </p:nvSpPr>
          <p:spPr>
            <a:xfrm>
              <a:off x="635143" y="2344286"/>
              <a:ext cx="463445" cy="463445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0" name="BrandDeck Icon users"/>
            <p:cNvSpPr/>
            <p:nvPr/>
          </p:nvSpPr>
          <p:spPr>
            <a:xfrm>
              <a:off x="737101" y="2446244"/>
              <a:ext cx="259529" cy="259529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1627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1" name="BrandDeck Diagram Text 1"/>
            <p:cNvSpPr txBox="1"/>
            <p:nvPr/>
          </p:nvSpPr>
          <p:spPr>
            <a:xfrm>
              <a:off x="1230262" y="2037656"/>
              <a:ext cx="4225527" cy="107670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Целевая аудитория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150 сотрудников двух подразделений</a:t>
              </a:r>
            </a:p>
          </p:txBody>
        </p:sp>
        <p:sp>
          <p:nvSpPr>
            <p:cNvPr id="472" name="BrandDeck Diagram Card 2"/>
            <p:cNvSpPr/>
            <p:nvPr/>
          </p:nvSpPr>
          <p:spPr>
            <a:xfrm>
              <a:off x="5889921" y="1905982"/>
              <a:ext cx="5259559" cy="1340053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3" name="BrandDeck Diagram Icon 2 Badge"/>
            <p:cNvSpPr/>
            <p:nvPr/>
          </p:nvSpPr>
          <p:spPr>
            <a:xfrm>
              <a:off x="6109377" y="2344286"/>
              <a:ext cx="463445" cy="463445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4" name="BrandDeck Icon trending-up"/>
            <p:cNvSpPr/>
            <p:nvPr/>
          </p:nvSpPr>
          <p:spPr>
            <a:xfrm>
              <a:off x="6211335" y="2446244"/>
              <a:ext cx="259529" cy="259529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7000"/>
                  </a:moveTo>
                  <a:lnTo>
                    <a:pt x="13500" y="15500"/>
                  </a:lnTo>
                  <a:lnTo>
                    <a:pt x="8500" y="10500"/>
                  </a:lnTo>
                  <a:lnTo>
                    <a:pt x="2000" y="17000"/>
                  </a:lnTo>
                </a:path>
                <a:path w="24000" h="24000" fill="none">
                  <a:moveTo>
                    <a:pt x="16000" y="7000"/>
                  </a:moveTo>
                  <a:lnTo>
                    <a:pt x="22000" y="7000"/>
                  </a:lnTo>
                  <a:lnTo>
                    <a:pt x="22000" y="13000"/>
                  </a:lnTo>
                </a:path>
              </a:pathLst>
            </a:custGeom>
            <a:noFill/>
            <a:ln w="21627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5" name="BrandDeck Diagram Text 2"/>
            <p:cNvSpPr txBox="1"/>
            <p:nvPr/>
          </p:nvSpPr>
          <p:spPr>
            <a:xfrm>
              <a:off x="6704497" y="2037656"/>
              <a:ext cx="4225527" cy="107670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Масштаб влияния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Ежедневное использование</a:t>
              </a:r>
            </a:p>
          </p:txBody>
        </p:sp>
        <p:sp>
          <p:nvSpPr>
            <p:cNvPr id="476" name="BrandDeck Diagram Card 3"/>
            <p:cNvSpPr/>
            <p:nvPr/>
          </p:nvSpPr>
          <p:spPr>
            <a:xfrm>
              <a:off x="415687" y="3460711"/>
              <a:ext cx="5259559" cy="1340053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7" name="BrandDeck Diagram Icon 3 Badge"/>
            <p:cNvSpPr/>
            <p:nvPr/>
          </p:nvSpPr>
          <p:spPr>
            <a:xfrm>
              <a:off x="635143" y="3899015"/>
              <a:ext cx="463445" cy="463445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8" name="BrandDeck Icon building-2"/>
            <p:cNvSpPr/>
            <p:nvPr/>
          </p:nvSpPr>
          <p:spPr>
            <a:xfrm>
              <a:off x="737101" y="4000973"/>
              <a:ext cx="259529" cy="259529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6000" y="22000"/>
                  </a:moveTo>
                  <a:lnTo>
                    <a:pt x="6000" y="4000"/>
                  </a:lnTo>
                  <a:cubicBezTo>
                    <a:pt x="6000" y="2895"/>
                    <a:pt x="6895" y="2000"/>
                    <a:pt x="8000" y="2000"/>
                  </a:cubicBezTo>
                  <a:lnTo>
                    <a:pt x="16000" y="2000"/>
                  </a:lnTo>
                  <a:cubicBezTo>
                    <a:pt x="17105" y="2000"/>
                    <a:pt x="18000" y="2895"/>
                    <a:pt x="18000" y="4000"/>
                  </a:cubicBezTo>
                  <a:lnTo>
                    <a:pt x="18000" y="22000"/>
                  </a:lnTo>
                  <a:close/>
                </a:path>
                <a:path w="24000" h="24000" fill="none">
                  <a:moveTo>
                    <a:pt x="6000" y="12000"/>
                  </a:moveTo>
                  <a:lnTo>
                    <a:pt x="4000" y="12000"/>
                  </a:lnTo>
                  <a:cubicBezTo>
                    <a:pt x="2895" y="12000"/>
                    <a:pt x="2000" y="12895"/>
                    <a:pt x="2000" y="14000"/>
                  </a:cubicBezTo>
                  <a:lnTo>
                    <a:pt x="2000" y="20000"/>
                  </a:lnTo>
                  <a:cubicBezTo>
                    <a:pt x="2000" y="21105"/>
                    <a:pt x="2895" y="22000"/>
                    <a:pt x="4000" y="22000"/>
                  </a:cubicBezTo>
                  <a:lnTo>
                    <a:pt x="6000" y="22000"/>
                  </a:lnTo>
                </a:path>
                <a:path w="24000" h="24000" fill="none">
                  <a:moveTo>
                    <a:pt x="18000" y="9000"/>
                  </a:moveTo>
                  <a:lnTo>
                    <a:pt x="20000" y="9000"/>
                  </a:lnTo>
                  <a:cubicBezTo>
                    <a:pt x="21105" y="9000"/>
                    <a:pt x="22000" y="9895"/>
                    <a:pt x="22000" y="11000"/>
                  </a:cubicBezTo>
                  <a:lnTo>
                    <a:pt x="22000" y="20000"/>
                  </a:lnTo>
                  <a:cubicBezTo>
                    <a:pt x="22000" y="21105"/>
                    <a:pt x="21105" y="22000"/>
                    <a:pt x="20000" y="22000"/>
                  </a:cubicBezTo>
                  <a:lnTo>
                    <a:pt x="18000" y="22000"/>
                  </a:lnTo>
                </a:path>
                <a:path w="24000" h="24000" fill="none">
                  <a:moveTo>
                    <a:pt x="10000" y="6000"/>
                  </a:moveTo>
                  <a:lnTo>
                    <a:pt x="14000" y="6000"/>
                  </a:lnTo>
                </a:path>
                <a:path w="24000" h="24000" fill="none">
                  <a:moveTo>
                    <a:pt x="10000" y="10000"/>
                  </a:moveTo>
                  <a:lnTo>
                    <a:pt x="14000" y="10000"/>
                  </a:lnTo>
                </a:path>
                <a:path w="24000" h="24000" fill="none">
                  <a:moveTo>
                    <a:pt x="10000" y="14000"/>
                  </a:moveTo>
                  <a:lnTo>
                    <a:pt x="14000" y="14000"/>
                  </a:lnTo>
                </a:path>
                <a:path w="24000" h="24000" fill="none">
                  <a:moveTo>
                    <a:pt x="10000" y="18000"/>
                  </a:moveTo>
                  <a:lnTo>
                    <a:pt x="14000" y="18000"/>
                  </a:lnTo>
                </a:path>
              </a:pathLst>
            </a:custGeom>
            <a:noFill/>
            <a:ln w="21627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9" name="BrandDeck Diagram Text 3"/>
            <p:cNvSpPr txBox="1"/>
            <p:nvPr/>
          </p:nvSpPr>
          <p:spPr>
            <a:xfrm>
              <a:off x="1230262" y="3592385"/>
              <a:ext cx="4225527" cy="107670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Объем пилота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2 подразделения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BrandDeck Text 68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000"/>
              <a:t>ИИ-помощник отвечает на вопросы по регламентам и дает ссылку на документ-источник</a:t>
            </a:r>
            <a:endParaRPr/>
          </a:p>
        </p:txBody>
      </p:sp>
      <p:sp>
        <p:nvSpPr>
          <p:cNvPr id="681" name="BrandDeck Text 681"/>
          <p:cNvSpPr/>
          <p:nvPr/>
        </p:nvSpPr>
        <p:spPr>
          <a:xfrm>
            <a:off x="427864" y="1837067"/>
            <a:ext cx="3636000" cy="2022006"/>
          </a:xfrm>
          <a:prstGeom prst="roundRect">
            <a:avLst>
              <a:gd fmla="val 6326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solidFill>
                  <a:srgbClr val="FFFFFF"/>
                </a:solidFill>
                <a:latin typeface="Play"/>
              </a:rPr>
              <a:t>ИИ-помощник отвечает на вопросы по регламентам и инструкциям.</a:t>
            </a:r>
            <a:endParaRPr/>
          </a:p>
        </p:txBody>
      </p:sp>
      <p:sp>
        <p:nvSpPr>
          <p:cNvPr id="682" name="BrandDeck Text 682"/>
          <p:cNvSpPr/>
          <p:nvPr/>
        </p:nvSpPr>
        <p:spPr>
          <a:xfrm>
            <a:off x="4217594" y="1837067"/>
            <a:ext cx="3636000" cy="2022006"/>
          </a:xfrm>
          <a:prstGeom prst="roundRect">
            <a:avLst>
              <a:gd fmla="val 6871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solidFill>
                  <a:srgbClr val="FFFFFF"/>
                </a:solidFill>
                <a:latin typeface="Play"/>
              </a:rPr>
              <a:t>Система автоматически формирует ссылку на документ-источник.</a:t>
            </a:r>
            <a:endParaRPr/>
          </a:p>
        </p:txBody>
      </p:sp>
      <p:sp>
        <p:nvSpPr>
          <p:cNvPr id="683" name="BrandDeck Text 683"/>
          <p:cNvSpPr/>
          <p:nvPr/>
        </p:nvSpPr>
        <p:spPr>
          <a:xfrm>
            <a:off x="8007324" y="1837067"/>
            <a:ext cx="3636000" cy="2022006"/>
          </a:xfrm>
          <a:prstGeom prst="roundRect">
            <a:avLst>
              <a:gd fmla="val 5781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solidFill>
                  <a:srgbClr val="FFFFFF"/>
                </a:solidFill>
                <a:latin typeface="Play"/>
              </a:rPr>
              <a:t>Ответы генерируются на основе внутренних данных компании.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12" name="BrandDeck Text 812"/>
          <p:cNvSpPr txBox="1"/>
          <p:nvPr>
            <p:ph type="title"/>
          </p:nvPr>
        </p:nvSpPr>
        <p:spPr>
          <a:xfrm>
            <a:off x="429253" y="424691"/>
            <a:ext cx="2341359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600"/>
              <a:t>Система работает внутри контура компании, не выводя документы наружу</a:t>
            </a:r>
            <a:endParaRPr/>
          </a:p>
        </p:txBody>
      </p:sp>
      <p:pic>
        <p:nvPicPr>
          <p:cNvPr id="835" name="BrandDeck Image" descr="внутренний контур серверная"/>
          <p:cNvPicPr>
            <a:picLocks noChangeAspect="1"/>
          </p:cNvPicPr>
          <p:nvPr/>
        </p:nvPicPr>
        <p:blipFill>
          <a:blip r:embed="rId4"/>
          <a:srcRect l="20599" r="20599"/>
          <a:stretch>
            <a:fillRect/>
          </a:stretch>
        </p:blipFill>
        <p:spPr>
          <a:xfrm>
            <a:off x="5362697" y="324571"/>
            <a:ext cx="6826255" cy="6533429"/>
          </a:xfrm>
          <a:prstGeom prst="rect">
            <a:avLst/>
          </a:prstGeom>
        </p:spPr>
      </p:pic>
      <p:sp>
        <p:nvSpPr>
          <p:cNvPr id="834" name="BrandDeck Body"/>
          <p:cNvSpPr txBox="1"/>
          <p:nvPr/>
        </p:nvSpPr>
        <p:spPr>
          <a:xfrm>
            <a:off x="1036774" y="1729423"/>
            <a:ext cx="4143042" cy="4717097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Все данные обрабатываются внутри контура компании.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Документы не покидают внутреннюю инфраструктуру.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Обеспечивается полная локализация обработки запросов.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12" name="BrandDeck Text 812"/>
          <p:cNvSpPr txBox="1"/>
          <p:nvPr>
            <p:ph type="title"/>
          </p:nvPr>
        </p:nvSpPr>
        <p:spPr>
          <a:xfrm>
            <a:off x="429253" y="424691"/>
            <a:ext cx="2341359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195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300"/>
              <a:t>При отсутствии подтвержденного ответа вопрос автоматически передается специалисту поддержки с контекстом</a:t>
            </a:r>
            <a:endParaRPr/>
          </a:p>
        </p:txBody>
      </p:sp>
      <p:pic>
        <p:nvPicPr>
          <p:cNvPr id="835" name="BrandDeck Image" descr="сотрудник специалист поддержки"/>
          <p:cNvPicPr>
            <a:picLocks noChangeAspect="1"/>
          </p:cNvPicPr>
          <p:nvPr/>
        </p:nvPicPr>
        <p:blipFill>
          <a:blip r:embed="rId4"/>
          <a:srcRect l="20599" r="20599"/>
          <a:stretch>
            <a:fillRect/>
          </a:stretch>
        </p:blipFill>
        <p:spPr>
          <a:xfrm>
            <a:off x="5362697" y="324571"/>
            <a:ext cx="6826255" cy="6533429"/>
          </a:xfrm>
          <a:prstGeom prst="rect">
            <a:avLst/>
          </a:prstGeom>
        </p:spPr>
      </p:pic>
      <p:sp>
        <p:nvSpPr>
          <p:cNvPr id="834" name="BrandDeck Body"/>
          <p:cNvSpPr txBox="1"/>
          <p:nvPr/>
        </p:nvSpPr>
        <p:spPr>
          <a:xfrm>
            <a:off x="1036774" y="1729423"/>
            <a:ext cx="4143042" cy="4717097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При отсутствии ответа вопрос уходит специалисту с контекстом.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Система не выводит документы наружу контура компании.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ИИ-помощник даёт ссылку на документ-источник в ответе.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8" name="BrandDeck Text 71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42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800"/>
              <a:t>В пилот включены 2 подразделения, исключены остальные отделы</a:t>
            </a:r>
            <a:endParaRPr/>
          </a:p>
        </p:txBody>
      </p:sp>
      <p:grpSp>
        <p:nvGrpSpPr>
          <p:cNvPr id="2" name="BrandDeck Diagram pyramid" descr="pyramid: Включено 2 подразделения, 150 сотрудников; Исключено Остальные отделы и внешние системы"/>
          <p:cNvGrpSpPr/>
          <p:nvPr/>
        </p:nvGrpSpPr>
        <p:grpSpPr>
          <a:xfrm>
            <a:off x="446398" y="2126084"/>
            <a:ext cx="10263166" cy="2871216"/>
            <a:chOff x="446398" y="2126084"/>
            <a:chExt cx="10263166" cy="2871216"/>
          </a:xfrm>
        </p:grpSpPr>
        <p:sp>
          <p:nvSpPr>
            <p:cNvPr id="721" name="BrandDeck Diagram Level 1"/>
            <p:cNvSpPr/>
            <p:nvPr/>
          </p:nvSpPr>
          <p:spPr>
            <a:xfrm>
              <a:off x="1360798" y="2126084"/>
              <a:ext cx="1794510" cy="1408176"/>
            </a:xfrm>
            <a:custGeom>
              <a:avLst/>
              <a:gdLst/>
              <a:ahLst/>
              <a:cxnLst/>
              <a:rect l="l" t="t" r="r" b="b"/>
              <a:pathLst>
                <a:path w="1963" h="1540" stroke="0">
                  <a:moveTo>
                    <a:pt x="956" y="0"/>
                  </a:moveTo>
                  <a:lnTo>
                    <a:pt x="1006" y="0"/>
                  </a:lnTo>
                  <a:lnTo>
                    <a:pt x="1963" y="1540"/>
                  </a:lnTo>
                  <a:lnTo>
                    <a:pt x="0" y="1540"/>
                  </a:lnTo>
                  <a:close/>
                </a:path>
              </a:pathLst>
            </a:custGeom>
            <a:solidFill>
              <a:srgbClr val="006DEB"/>
            </a:solidFill>
            <a:ln w="0">
              <a:noFill/>
            </a:ln>
          </p:spPr>
          <p:txBody>
            <a:bodyPr rtlCol="0" anchor="b" wrap="square" lIns="18288" tIns="0" rIns="18288" bIns="7315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722" name="BrandDeck Diagram Text 1"/>
            <p:cNvSpPr txBox="1"/>
            <p:nvPr/>
          </p:nvSpPr>
          <p:spPr>
            <a:xfrm>
              <a:off x="4361173" y="2126084"/>
              <a:ext cx="6348391" cy="140817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Включено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2 подразделения, 150 сотрудников</a:t>
              </a:r>
            </a:p>
          </p:txBody>
        </p:sp>
        <p:sp>
          <p:nvSpPr>
            <p:cNvPr id="723" name="BrandDeck Diagram Level 2"/>
            <p:cNvSpPr/>
            <p:nvPr/>
          </p:nvSpPr>
          <p:spPr>
            <a:xfrm>
              <a:off x="446398" y="3589124"/>
              <a:ext cx="3623310" cy="1408176"/>
            </a:xfrm>
            <a:custGeom>
              <a:avLst/>
              <a:gdLst/>
              <a:ahLst/>
              <a:cxnLst/>
              <a:rect l="l" t="t" r="r" b="b"/>
              <a:pathLst>
                <a:path w="3963" h="1540" stroke="0">
                  <a:moveTo>
                    <a:pt x="963" y="0"/>
                  </a:moveTo>
                  <a:lnTo>
                    <a:pt x="3000" y="0"/>
                  </a:lnTo>
                  <a:lnTo>
                    <a:pt x="3963" y="1540"/>
                  </a:lnTo>
                  <a:lnTo>
                    <a:pt x="0" y="1540"/>
                  </a:lnTo>
                  <a:close/>
                </a:path>
              </a:pathLst>
            </a:custGeom>
            <a:solidFill>
              <a:srgbClr val="003676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724" name="BrandDeck Diagram Text 2"/>
            <p:cNvSpPr txBox="1"/>
            <p:nvPr/>
          </p:nvSpPr>
          <p:spPr>
            <a:xfrm>
              <a:off x="4361173" y="3589124"/>
              <a:ext cx="6348391" cy="140817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Исключено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Остальные отделы и внешние системы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BrandDeck Text 45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000"/>
              <a:t>В пилот не входят изменения глобальных настроек портала или интеграция с внешними CRM</a:t>
            </a:r>
            <a:endParaRPr/>
          </a:p>
        </p:txBody>
      </p:sp>
      <p:grpSp>
        <p:nvGrpSpPr>
          <p:cNvPr id="2" name="BrandDeck Diagram pyramid" descr="pyramid: Входит в пилот Ответы по регламентам и ссылки на документы; Не входит в пилот Изменения глобальных настроек портала"/>
          <p:cNvGrpSpPr/>
          <p:nvPr/>
        </p:nvGrpSpPr>
        <p:grpSpPr>
          <a:xfrm>
            <a:off x="432832" y="1921521"/>
            <a:ext cx="10716649" cy="2871216"/>
            <a:chOff x="432832" y="1921521"/>
            <a:chExt cx="10716649" cy="2871216"/>
          </a:xfrm>
        </p:grpSpPr>
        <p:sp>
          <p:nvSpPr>
            <p:cNvPr id="468" name="BrandDeck Diagram Level 1"/>
            <p:cNvSpPr/>
            <p:nvPr/>
          </p:nvSpPr>
          <p:spPr>
            <a:xfrm>
              <a:off x="1347231" y="1921521"/>
              <a:ext cx="1794510" cy="1408176"/>
            </a:xfrm>
            <a:custGeom>
              <a:avLst/>
              <a:gdLst/>
              <a:ahLst/>
              <a:cxnLst/>
              <a:rect l="l" t="t" r="r" b="b"/>
              <a:pathLst>
                <a:path w="1963" h="1540" stroke="0">
                  <a:moveTo>
                    <a:pt x="956" y="0"/>
                  </a:moveTo>
                  <a:lnTo>
                    <a:pt x="1006" y="0"/>
                  </a:lnTo>
                  <a:lnTo>
                    <a:pt x="1963" y="1540"/>
                  </a:lnTo>
                  <a:lnTo>
                    <a:pt x="0" y="1540"/>
                  </a:lnTo>
                  <a:close/>
                </a:path>
              </a:pathLst>
            </a:custGeom>
            <a:solidFill>
              <a:srgbClr val="006DEB"/>
            </a:solidFill>
            <a:ln w="0">
              <a:noFill/>
            </a:ln>
          </p:spPr>
          <p:txBody>
            <a:bodyPr rtlCol="0" anchor="b" wrap="square" lIns="18288" tIns="0" rIns="18288" bIns="7315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469" name="BrandDeck Diagram Text 1"/>
            <p:cNvSpPr txBox="1"/>
            <p:nvPr/>
          </p:nvSpPr>
          <p:spPr>
            <a:xfrm>
              <a:off x="4347607" y="1921521"/>
              <a:ext cx="6801874" cy="140817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Входит в пилот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Ответы по регламентам и ссылки на документы</a:t>
              </a:r>
            </a:p>
          </p:txBody>
        </p:sp>
        <p:sp>
          <p:nvSpPr>
            <p:cNvPr id="470" name="BrandDeck Diagram Level 2"/>
            <p:cNvSpPr/>
            <p:nvPr/>
          </p:nvSpPr>
          <p:spPr>
            <a:xfrm>
              <a:off x="432832" y="3384561"/>
              <a:ext cx="3623310" cy="1408176"/>
            </a:xfrm>
            <a:custGeom>
              <a:avLst/>
              <a:gdLst/>
              <a:ahLst/>
              <a:cxnLst/>
              <a:rect l="l" t="t" r="r" b="b"/>
              <a:pathLst>
                <a:path w="3963" h="1540" stroke="0">
                  <a:moveTo>
                    <a:pt x="963" y="0"/>
                  </a:moveTo>
                  <a:lnTo>
                    <a:pt x="3000" y="0"/>
                  </a:lnTo>
                  <a:lnTo>
                    <a:pt x="3963" y="1540"/>
                  </a:lnTo>
                  <a:lnTo>
                    <a:pt x="0" y="1540"/>
                  </a:lnTo>
                  <a:close/>
                </a:path>
              </a:pathLst>
            </a:custGeom>
            <a:solidFill>
              <a:srgbClr val="003676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471" name="BrandDeck Diagram Text 2"/>
            <p:cNvSpPr txBox="1"/>
            <p:nvPr/>
          </p:nvSpPr>
          <p:spPr>
            <a:xfrm>
              <a:off x="4347607" y="3384561"/>
              <a:ext cx="6801874" cy="140817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Не входит в пилот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Изменения глобальных настроек портала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8" name="BrandDeck Text 388"/>
          <p:cNvSpPr txBox="1"/>
          <p:nvPr>
            <p:ph type="title"/>
          </p:nvPr>
        </p:nvSpPr>
        <p:spPr>
          <a:xfrm>
            <a:off x="429254" y="1609196"/>
            <a:ext cx="480314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000"/>
              <a:t>Успех измеряется сокращением времени поиска ответа и долей обращений, закрытых без участия специалиста</a:t>
            </a:r>
            <a:endParaRPr/>
          </a:p>
        </p:txBody>
      </p:sp>
      <p:graphicFrame>
        <p:nvGraphicFramePr>
          <p:cNvPr id="399" name="BrandDeck Table"/>
          <p:cNvGraphicFramePr>
            <a:graphicFrameLocks noGrp="1"/>
          </p:cNvGraphicFramePr>
          <p:nvPr/>
        </p:nvGraphicFramePr>
        <p:xfrm>
          <a:off x="429768" y="3623246"/>
          <a:ext cx="7827263" cy="2823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3631"/>
                <a:gridCol w="3913632"/>
              </a:tblGrid>
              <a:tr h="79800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lay"/>
                        </a:rPr>
                        <a:t>Метрика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lay"/>
                        </a:rPr>
                        <a:t>Цель измерения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</a:tr>
              <a:tr h="101263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Время поиска ответа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Сокращение текущего времени до 30 минут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</a:tr>
              <a:tr h="101263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Доля закрытых обращений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Рост процента ответов без участия специалиста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BrandDeck Text 45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48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3200"/>
              <a:t>Пилотный запуск запланирован на 6 недель с командой из 3 человек</a:t>
            </a:r>
            <a:endParaRPr/>
          </a:p>
        </p:txBody>
      </p:sp>
      <p:grpSp>
        <p:nvGrpSpPr>
          <p:cNvPr id="2" name="BrandDeck Diagram cycle" descr="cycle: Подготовка Настройка модели и данных; Запуск 6 недель с 150 сотрудниками; Анализ Измерение времени поиска и закрытия"/>
          <p:cNvGrpSpPr/>
          <p:nvPr/>
        </p:nvGrpSpPr>
        <p:grpSpPr>
          <a:xfrm>
            <a:off x="607715" y="1666499"/>
            <a:ext cx="10541765" cy="3506713"/>
            <a:chOff x="607715" y="1666499"/>
            <a:chExt cx="10541765" cy="3506713"/>
          </a:xfrm>
        </p:grpSpPr>
        <p:sp>
          <p:nvSpPr>
            <p:cNvPr id="468" name="BrandDeck Diagram Ring"/>
            <p:cNvSpPr/>
            <p:nvPr/>
          </p:nvSpPr>
          <p:spPr>
            <a:xfrm>
              <a:off x="744870" y="1995683"/>
              <a:ext cx="2866634" cy="2866634"/>
            </a:xfrm>
            <a:prstGeom prst="ellipse">
              <a:avLst/>
            </a:prstGeom>
            <a:noFill/>
            <a:ln w="28575">
              <a:solidFill>
                <a:srgbClr val="004D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9" name="BrandDeck Diagram Arrow 1"/>
            <p:cNvSpPr/>
            <p:nvPr/>
          </p:nvSpPr>
          <p:spPr>
            <a:xfrm rot="9000000">
              <a:off x="3318892" y="2611757"/>
              <a:ext cx="201168" cy="201168"/>
            </a:xfrm>
            <a:prstGeom prst="triangle">
              <a:avLst/>
            </a:prstGeom>
            <a:solidFill>
              <a:srgbClr val="004D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0" name="BrandDeck Diagram Arrow 2"/>
            <p:cNvSpPr/>
            <p:nvPr/>
          </p:nvSpPr>
          <p:spPr>
            <a:xfrm rot="16200000">
              <a:off x="2077604" y="4761733"/>
              <a:ext cx="201168" cy="201168"/>
            </a:xfrm>
            <a:prstGeom prst="triangle">
              <a:avLst/>
            </a:prstGeom>
            <a:solidFill>
              <a:srgbClr val="004D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1" name="BrandDeck Diagram Arrow 3"/>
            <p:cNvSpPr/>
            <p:nvPr/>
          </p:nvSpPr>
          <p:spPr>
            <a:xfrm rot="1800000">
              <a:off x="836315" y="2611757"/>
              <a:ext cx="201168" cy="201168"/>
            </a:xfrm>
            <a:prstGeom prst="triangle">
              <a:avLst/>
            </a:prstGeom>
            <a:solidFill>
              <a:srgbClr val="004D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2" name="BrandDeck Diagram Node 1 Badge"/>
            <p:cNvSpPr/>
            <p:nvPr/>
          </p:nvSpPr>
          <p:spPr>
            <a:xfrm>
              <a:off x="1849004" y="1666499"/>
              <a:ext cx="658368" cy="658368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473" name="BrandDeck Diagram Node 2 Badge"/>
            <p:cNvSpPr/>
            <p:nvPr/>
          </p:nvSpPr>
          <p:spPr>
            <a:xfrm>
              <a:off x="3090292" y="3816474"/>
              <a:ext cx="658368" cy="658368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474" name="BrandDeck Diagram Node 3 Badge"/>
            <p:cNvSpPr/>
            <p:nvPr/>
          </p:nvSpPr>
          <p:spPr>
            <a:xfrm>
              <a:off x="607715" y="3816474"/>
              <a:ext cx="658368" cy="658368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03</a:t>
              </a:r>
            </a:p>
          </p:txBody>
        </p:sp>
        <p:sp>
          <p:nvSpPr>
            <p:cNvPr id="475" name="BrandDeck Diagram Legend 1 Badge"/>
            <p:cNvSpPr/>
            <p:nvPr/>
          </p:nvSpPr>
          <p:spPr>
            <a:xfrm>
              <a:off x="4260728" y="2098551"/>
              <a:ext cx="310896" cy="31089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2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476" name="BrandDeck Diagram Text 1"/>
            <p:cNvSpPr txBox="1"/>
            <p:nvPr/>
          </p:nvSpPr>
          <p:spPr>
            <a:xfrm>
              <a:off x="4717928" y="1684787"/>
              <a:ext cx="6431552" cy="1138424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Подготовка</a:t>
              </a:r>
            </a:p>
            <a:p>
              <a:pPr algn="l">
                <a:lnSpc>
                  <a:spcPct val="110000"/>
                </a:lnSpc>
                <a:spcBef>
                  <a:spcPts val="350"/>
                </a:spcBef>
              </a:pPr>
              <a:r>
                <a:rPr sz="1400" b="0">
                  <a:solidFill>
                    <a:srgbClr val="FFFFFF"/>
                  </a:solidFill>
                  <a:latin typeface="Play"/>
                </a:rPr>
                <a:t>Настройка модели и данных</a:t>
              </a:r>
            </a:p>
          </p:txBody>
        </p:sp>
        <p:sp>
          <p:nvSpPr>
            <p:cNvPr id="477" name="BrandDeck Diagram Legend 2 Badge"/>
            <p:cNvSpPr/>
            <p:nvPr/>
          </p:nvSpPr>
          <p:spPr>
            <a:xfrm>
              <a:off x="4260728" y="3273552"/>
              <a:ext cx="310896" cy="31089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20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478" name="BrandDeck Diagram Text 2"/>
            <p:cNvSpPr txBox="1"/>
            <p:nvPr/>
          </p:nvSpPr>
          <p:spPr>
            <a:xfrm>
              <a:off x="4717928" y="2859787"/>
              <a:ext cx="6431552" cy="1138424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Запуск</a:t>
              </a:r>
            </a:p>
            <a:p>
              <a:pPr algn="l">
                <a:lnSpc>
                  <a:spcPct val="110000"/>
                </a:lnSpc>
                <a:spcBef>
                  <a:spcPts val="350"/>
                </a:spcBef>
              </a:pPr>
              <a:r>
                <a:rPr sz="1400" b="0">
                  <a:solidFill>
                    <a:srgbClr val="FFFFFF"/>
                  </a:solidFill>
                  <a:latin typeface="Play"/>
                </a:rPr>
                <a:t>6 недель с 150 сотрудниками</a:t>
              </a:r>
            </a:p>
          </p:txBody>
        </p:sp>
        <p:sp>
          <p:nvSpPr>
            <p:cNvPr id="479" name="BrandDeck Diagram Legend 3 Badge"/>
            <p:cNvSpPr/>
            <p:nvPr/>
          </p:nvSpPr>
          <p:spPr>
            <a:xfrm>
              <a:off x="4260728" y="4448552"/>
              <a:ext cx="310896" cy="31089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200" b="1">
                  <a:solidFill>
                    <a:srgbClr val="FFFFFF"/>
                  </a:solidFill>
                  <a:latin typeface="Play"/>
                </a:rPr>
                <a:t>03</a:t>
              </a:r>
            </a:p>
          </p:txBody>
        </p:sp>
        <p:sp>
          <p:nvSpPr>
            <p:cNvPr id="480" name="BrandDeck Diagram Text 3"/>
            <p:cNvSpPr txBox="1"/>
            <p:nvPr/>
          </p:nvSpPr>
          <p:spPr>
            <a:xfrm>
              <a:off x="4717928" y="4034788"/>
              <a:ext cx="6431552" cy="1138424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Анализ</a:t>
              </a:r>
            </a:p>
            <a:p>
              <a:pPr algn="l">
                <a:lnSpc>
                  <a:spcPct val="110000"/>
                </a:lnSpc>
                <a:spcBef>
                  <a:spcPts val="350"/>
                </a:spcBef>
              </a:pPr>
              <a:r>
                <a:rPr sz="1400" b="0">
                  <a:solidFill>
                    <a:srgbClr val="FFFFFF"/>
                  </a:solidFill>
                  <a:latin typeface="Play"/>
                </a:rPr>
                <a:t>Измерение времени поиска и закрытия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7" name="BrandDeck Text 547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800"/>
              <a:t>Основной риск — низкое качество ответов, который минимизируется обучением модели на внутренних регламентах</a:t>
            </a:r>
            <a:endParaRPr/>
          </a:p>
        </p:txBody>
      </p:sp>
      <p:sp>
        <p:nvSpPr>
          <p:cNvPr id="548" name="BrandDeck Text 548"/>
          <p:cNvSpPr/>
          <p:nvPr/>
        </p:nvSpPr>
        <p:spPr>
          <a:xfrm>
            <a:off x="5383513" y="860119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Риск: низкое качество ответов ИИ-помощника.</a:t>
            </a:r>
            <a:endParaRPr/>
          </a:p>
        </p:txBody>
      </p:sp>
      <p:grpSp>
        <p:nvGrpSpPr>
          <p:cNvPr id="549" name="Google Shape;549;p26"/>
          <p:cNvGrpSpPr/>
          <p:nvPr/>
        </p:nvGrpSpPr>
        <p:grpSpPr>
          <a:xfrm>
            <a:off x="5523729" y="996732"/>
            <a:ext cx="515460" cy="515395"/>
            <a:chOff x="5166883" y="996732"/>
            <a:chExt cx="515460" cy="515395"/>
          </a:xfrm>
        </p:grpSpPr>
        <p:sp>
          <p:nvSpPr>
            <p:cNvPr id="550" name="Google Shape;550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1" name="Google Shape;551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2" name="BrandDeck Text 552"/>
          <p:cNvSpPr/>
          <p:nvPr/>
        </p:nvSpPr>
        <p:spPr>
          <a:xfrm>
            <a:off x="5383513" y="2710690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Минимизация: обучение модели на внутренних регламентах.</a:t>
            </a:r>
            <a:endParaRPr/>
          </a:p>
        </p:txBody>
      </p:sp>
      <p:grpSp>
        <p:nvGrpSpPr>
          <p:cNvPr id="553" name="Google Shape;553;p26"/>
          <p:cNvGrpSpPr/>
          <p:nvPr/>
        </p:nvGrpSpPr>
        <p:grpSpPr>
          <a:xfrm>
            <a:off x="5523729" y="2847303"/>
            <a:ext cx="515460" cy="515395"/>
            <a:chOff x="5166883" y="996732"/>
            <a:chExt cx="515460" cy="515395"/>
          </a:xfrm>
        </p:grpSpPr>
        <p:sp>
          <p:nvSpPr>
            <p:cNvPr id="554" name="Google Shape;554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5" name="Google Shape;555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6" name="BrandDeck Text 556"/>
          <p:cNvSpPr/>
          <p:nvPr/>
        </p:nvSpPr>
        <p:spPr>
          <a:xfrm>
            <a:off x="5383513" y="4561261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Цель: точные ответы со ссылкой на документ-источник.</a:t>
            </a:r>
            <a:endParaRPr/>
          </a:p>
        </p:txBody>
      </p:sp>
      <p:grpSp>
        <p:nvGrpSpPr>
          <p:cNvPr id="557" name="Google Shape;557;p26"/>
          <p:cNvGrpSpPr/>
          <p:nvPr/>
        </p:nvGrpSpPr>
        <p:grpSpPr>
          <a:xfrm>
            <a:off x="5523729" y="4697874"/>
            <a:ext cx="515460" cy="515395"/>
            <a:chOff x="5166883" y="996732"/>
            <a:chExt cx="515460" cy="515395"/>
          </a:xfrm>
        </p:grpSpPr>
        <p:sp>
          <p:nvSpPr>
            <p:cNvPr id="558" name="Google Shape;558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9" name="Google Shape;559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1" name="BrandDeck Text 441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800"/>
              <a:t>Одобрить пилот и выделить команду из 3 человек для реализации</a:t>
            </a:r>
            <a:endParaRPr/>
          </a:p>
        </p:txBody>
      </p:sp>
      <p:sp>
        <p:nvSpPr>
          <p:cNvPr id="442" name="BrandDeck Text 442"/>
          <p:cNvSpPr/>
          <p:nvPr/>
        </p:nvSpPr>
        <p:spPr>
          <a:xfrm>
            <a:off x="5383513" y="860119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solidFill>
                  <a:srgbClr val="FFFFFF"/>
                </a:solidFill>
                <a:latin typeface="Play"/>
              </a:rPr>
              <a:t>Одобрить запуск пилота в двух подразделениях на 6 недель.</a:t>
            </a:r>
            <a:endParaRPr/>
          </a:p>
        </p:txBody>
      </p:sp>
      <p:grpSp>
        <p:nvGrpSpPr>
          <p:cNvPr id="443" name="Google Shape;443;p21"/>
          <p:cNvGrpSpPr/>
          <p:nvPr/>
        </p:nvGrpSpPr>
        <p:grpSpPr>
          <a:xfrm>
            <a:off x="5523729" y="996732"/>
            <a:ext cx="515460" cy="515395"/>
            <a:chOff x="5166883" y="996732"/>
            <a:chExt cx="515460" cy="515395"/>
          </a:xfrm>
        </p:grpSpPr>
        <p:sp>
          <p:nvSpPr>
            <p:cNvPr id="444" name="Google Shape;444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45" name="Google Shape;445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46" name="BrandDeck Text 446"/>
          <p:cNvSpPr/>
          <p:nvPr/>
        </p:nvSpPr>
        <p:spPr>
          <a:xfrm>
            <a:off x="5383513" y="2710690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solidFill>
                  <a:srgbClr val="FFFFFF"/>
                </a:solidFill>
                <a:latin typeface="Play"/>
              </a:rPr>
              <a:t>Решение о запуске пилота и выделении команды</a:t>
            </a:r>
            <a:endParaRPr/>
          </a:p>
        </p:txBody>
      </p:sp>
      <p:grpSp>
        <p:nvGrpSpPr>
          <p:cNvPr id="447" name="Google Shape;447;p21"/>
          <p:cNvGrpSpPr/>
          <p:nvPr/>
        </p:nvGrpSpPr>
        <p:grpSpPr>
          <a:xfrm>
            <a:off x="5523729" y="2847303"/>
            <a:ext cx="515460" cy="515395"/>
            <a:chOff x="5166883" y="996732"/>
            <a:chExt cx="515460" cy="515395"/>
          </a:xfrm>
        </p:grpSpPr>
        <p:sp>
          <p:nvSpPr>
            <p:cNvPr id="448" name="Google Shape;448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49" name="Google Shape;449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50" name="BrandDeck Text 450"/>
          <p:cNvSpPr/>
          <p:nvPr/>
        </p:nvSpPr>
        <p:spPr>
          <a:xfrm>
            <a:off x="5383513" y="4561261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  <a:buNone/>
            </a:pPr>
            <a:r>
              <a:rPr sz="1400" b="0">
                <a:solidFill>
                  <a:srgbClr val="FFFFFF"/>
                </a:solidFill>
                <a:latin typeface="Play"/>
              </a:rPr>
              <a:t>Выделить команду из 3 человек для реализации проекта.</a:t>
            </a:r>
            <a:endParaRPr/>
          </a:p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  <a:buNone/>
            </a:pPr>
            <a:r>
              <a:rPr sz="1400" b="0">
                <a:solidFill>
                  <a:srgbClr val="FFFFFF"/>
                </a:solidFill>
                <a:latin typeface="Play"/>
              </a:rPr>
              <a:t>Измерить сокращение времени поиска и долю закрытых обращений.</a:t>
            </a:r>
          </a:p>
        </p:txBody>
      </p:sp>
      <p:grpSp>
        <p:nvGrpSpPr>
          <p:cNvPr id="451" name="Google Shape;451;p21"/>
          <p:cNvGrpSpPr/>
          <p:nvPr/>
        </p:nvGrpSpPr>
        <p:grpSpPr>
          <a:xfrm>
            <a:off x="5523729" y="4697874"/>
            <a:ext cx="515460" cy="515395"/>
            <a:chOff x="5166883" y="996732"/>
            <a:chExt cx="515460" cy="515395"/>
          </a:xfrm>
        </p:grpSpPr>
        <p:sp>
          <p:nvSpPr>
            <p:cNvPr id="452" name="Google Shape;452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53" name="Google Shape;45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ИИ-помощник во внутреннем портале</dc:title>
  <cp:lastModifiedBy/>
  <cp:revision>1</cp:revision>
  <dcterms:modified xsi:type="dcterms:W3CDTF">2026-09-26T07:55:20Z</dcterms:modified>
  <dc:subject>Template-adaptive presentation</dc:subject>
  <cp:keywords>BrandDeck, template-adaptive, presentation</cp:keywords>
  <dc:creator/>
  <dc:description/>
</cp:coreProperties>
</file>