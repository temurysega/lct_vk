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Этот слайд представляет инициативу по внедрению ИИ-помощника во внутренний портал для автоматизации ответов на вопросы по регламентам и снижения нагрузки на службу поддержки.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информации отнимает до 30 минут, а треть обращений дублируются, что создает лишнюю нагрузку на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150 сотрудников двух подразделений тратят до 30 минут на поиск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автоматически генерирует ответ на основе регламентов и сразу указывает ссылку на документ, сокращая время поиска.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Ключевое преимущество системы — строгая изоляция данных: все запросы обрабатываются внутри контура, а исходные документы никогда не покидают корпоративную сеть.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Если ИИ не находит ответ в регламентах, запрос автоматически передаётся специалисту с полным контекстом диалога.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Этот слайд определяет ключевые метрики успеха пилота: скорость поиска и автономность сотрудников, которые мы будем измерять в течение 6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запуск ограничен двумя подразделениями и 150 сотрудниками в течение 6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оценки эффективности пилота мы будем отслеживать время поиска ответа и долю обращений, закрытых ИИ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Архитектура системы полностью изолирована внутри контура компании, что исключает риск утечки документов наружу.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старта пилота необходимо ваше одобрение, выделение команды из трех человек и утверждение бюджета.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старта проекта необходимо утвердить бюджет и выделить команду из трех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4" Type="http://schemas.openxmlformats.org/officeDocument/2006/relationships/slideLayout" Target="../slideLayouts/slideLayout3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0" r:id="rId4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jpeg"/><Relationship Id="rId5" Type="http://schemas.openxmlformats.org/officeDocument/2006/relationships/notesSlide" Target="../notesSlides/notesSlide3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4.jpeg"/><Relationship Id="rId5" Type="http://schemas.openxmlformats.org/officeDocument/2006/relationships/notesSlide" Target="../notesSlides/notesSlide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200"/>
              <a:t>Автоматизация поиска инструкций и ответов в поддержке</a:t>
            </a:r>
            <a:endParaRPr sz="4800"/>
          </a:p>
        </p:txBody>
      </p:sp>
      <p:sp>
        <p:nvSpPr>
          <p:cNvPr id="383" name="BrandDeck Text 383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200" b="0">
                <a:solidFill>
                  <a:srgbClr val="AFB8C2"/>
                </a:solidFill>
                <a:latin typeface="Play"/>
              </a:rPr>
              <a:t>Инициатива по внедрению ИИ-помощника для снижения нагрузки на поддержку и ускорения поиска регламентов</a:t>
            </a: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а треть обращений дублируются</a:t>
            </a:r>
            <a:endParaRPr/>
          </a:p>
        </p:txBody>
      </p:sp>
      <p:sp>
        <p:nvSpPr>
          <p:cNvPr id="681" name="BrandDeck Text 68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Сотрудники тратят до 30 минут на поиск нужной инструкции.</a:t>
            </a:r>
            <a:endParaRPr/>
          </a:p>
        </p:txBody>
      </p:sp>
      <p:sp>
        <p:nvSpPr>
          <p:cNvPr id="682" name="BrandDeck Text 682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Треть всех обращений в поддержку — повторяющиеся вопросы.</a:t>
            </a:r>
            <a:endParaRPr/>
          </a:p>
        </p:txBody>
      </p:sp>
      <p:sp>
        <p:nvSpPr>
          <p:cNvPr id="683" name="BrandDeck Text 683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Текущий ручной процесс перегружает специалистов поддержки.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8" name="BrandDeck Text 71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400"/>
              <a:t>Влияет на 150 сотрудников двух подразделений при текущем ручном процессе</a:t>
            </a:r>
            <a:endParaRPr/>
          </a:p>
        </p:txBody>
      </p:sp>
      <p:grpSp>
        <p:nvGrpSpPr>
          <p:cNvPr id="2" name="BrandDeck Diagram icon_grid" descr="icon_grid: 150 сотрудников Два подразделения; До 30 минут Время поиска инструкции"/>
          <p:cNvGrpSpPr/>
          <p:nvPr/>
        </p:nvGrpSpPr>
        <p:grpSpPr>
          <a:xfrm>
            <a:off x="429253" y="1773238"/>
            <a:ext cx="10280310" cy="3782435"/>
            <a:chOff x="429253" y="1773238"/>
            <a:chExt cx="10280310" cy="3782435"/>
          </a:xfrm>
        </p:grpSpPr>
        <p:sp>
          <p:nvSpPr>
            <p:cNvPr id="721" name="BrandDeck Diagram Card 1"/>
            <p:cNvSpPr/>
            <p:nvPr/>
          </p:nvSpPr>
          <p:spPr>
            <a:xfrm>
              <a:off x="429253" y="1773238"/>
              <a:ext cx="5037352" cy="3782435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BrandDeck Diagram Icon 1 Badge"/>
            <p:cNvSpPr/>
            <p:nvPr/>
          </p:nvSpPr>
          <p:spPr>
            <a:xfrm>
              <a:off x="648708" y="1992694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BrandDeck Icon users"/>
            <p:cNvSpPr/>
            <p:nvPr/>
          </p:nvSpPr>
          <p:spPr>
            <a:xfrm>
              <a:off x="781479" y="212546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BrandDeck Diagram Text 1"/>
            <p:cNvSpPr txBox="1"/>
            <p:nvPr/>
          </p:nvSpPr>
          <p:spPr>
            <a:xfrm>
              <a:off x="582872" y="2749817"/>
              <a:ext cx="4730113" cy="2696127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150 сотрудников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Два подразделения</a:t>
              </a:r>
            </a:p>
          </p:txBody>
        </p:sp>
        <p:sp>
          <p:nvSpPr>
            <p:cNvPr id="725" name="BrandDeck Diagram Card 2"/>
            <p:cNvSpPr/>
            <p:nvPr/>
          </p:nvSpPr>
          <p:spPr>
            <a:xfrm>
              <a:off x="5672211" y="1773238"/>
              <a:ext cx="5037352" cy="3782435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6" name="BrandDeck Diagram Icon 2 Badge"/>
            <p:cNvSpPr/>
            <p:nvPr/>
          </p:nvSpPr>
          <p:spPr>
            <a:xfrm>
              <a:off x="5891667" y="1992694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BrandDeck Icon clock"/>
            <p:cNvSpPr/>
            <p:nvPr/>
          </p:nvSpPr>
          <p:spPr>
            <a:xfrm>
              <a:off x="6024438" y="212546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BrandDeck Diagram Text 2"/>
            <p:cNvSpPr txBox="1"/>
            <p:nvPr/>
          </p:nvSpPr>
          <p:spPr>
            <a:xfrm>
              <a:off x="5825830" y="2749817"/>
              <a:ext cx="4730113" cy="2696127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До 30 минут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Время поиска инструкции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ИИ-помощник отвечает на вопросы по регламентам и сразу дает ссылку на документ-источник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Система отвечает на вопросы по регламентам и инструкциям.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В ответ сразу предоставляется ссылка на документ-источник.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Сотрудник получает подтверждённый ответ без поиска вручную.</a:t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400"/>
              <a:t>Система работает внутри контура компании, документы не покидают периметр безопасности</a:t>
            </a:r>
            <a:endParaRPr/>
          </a:p>
        </p:txBody>
      </p:sp>
      <p:pic>
        <p:nvPicPr>
          <p:cNvPr id="835" name="BrandDeck Image" descr="внутренний контур серверная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Архитектура обеспечивает полную изоляцию данных внутри корпоративного контура.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Модель с открытыми весами работает исключительно во внутренней сети.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Документы инструкций не покидают периметр безопасности компании.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При отсутствии подтвержденного ответа вопрос автоматически передается специалисту с контекстом</a:t>
            </a:r>
            <a:endParaRPr/>
          </a:p>
        </p:txBody>
      </p:sp>
      <p:grpSp>
        <p:nvGrpSpPr>
          <p:cNvPr id="2" name="BrandDeck Diagram process" descr="process: Анализ запроса ИИ проверяет наличие ответа в базе знаний; Отсутствие ответа Система формирует запрос к специалисту; Передача контекста Специалист получает историю и детали вопроса"/>
          <p:cNvGrpSpPr/>
          <p:nvPr/>
        </p:nvGrpSpPr>
        <p:grpSpPr>
          <a:xfrm>
            <a:off x="415687" y="2277355"/>
            <a:ext cx="10733793" cy="1917485"/>
            <a:chOff x="415687" y="2277355"/>
            <a:chExt cx="10733793" cy="1917485"/>
          </a:xfrm>
        </p:grpSpPr>
        <p:sp>
          <p:nvSpPr>
            <p:cNvPr id="468" name="BrandDeck Diagram Step 1"/>
            <p:cNvSpPr/>
            <p:nvPr/>
          </p:nvSpPr>
          <p:spPr>
            <a:xfrm>
              <a:off x="415687" y="2277355"/>
              <a:ext cx="3733571" cy="775500"/>
            </a:xfrm>
            <a:prstGeom prst="homePlate">
              <a:avLst>
                <a:gd name="adj" fmla="val 36000"/>
              </a:avLst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tIns="18288" rIns="334044" bIns="18288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469" name="BrandDeck Diagram Detail Card 1"/>
            <p:cNvSpPr/>
            <p:nvPr/>
          </p:nvSpPr>
          <p:spPr>
            <a:xfrm>
              <a:off x="452262" y="3162584"/>
              <a:ext cx="3504779" cy="1032256"/>
            </a:xfrm>
            <a:prstGeom prst="roundRect">
              <a:avLst>
                <a:gd name="adj" fmla="val 12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Diagram Text 1"/>
            <p:cNvSpPr txBox="1"/>
            <p:nvPr/>
          </p:nvSpPr>
          <p:spPr>
            <a:xfrm>
              <a:off x="525415" y="3235736"/>
              <a:ext cx="3358475" cy="88595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Анализ запроса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ИИ проверяет наличие ответа в базе знаний</a:t>
              </a:r>
            </a:p>
          </p:txBody>
        </p:sp>
        <p:sp>
          <p:nvSpPr>
            <p:cNvPr id="471" name="BrandDeck Diagram Step 2"/>
            <p:cNvSpPr/>
            <p:nvPr/>
          </p:nvSpPr>
          <p:spPr>
            <a:xfrm>
              <a:off x="3915798" y="2277355"/>
              <a:ext cx="3733571" cy="775500"/>
            </a:xfrm>
            <a:prstGeom prst="chevron">
              <a:avLst>
                <a:gd name="adj" fmla="val 36000"/>
              </a:avLst>
            </a:prstGeom>
            <a:solidFill>
              <a:srgbClr val="005DC8"/>
            </a:solidFill>
            <a:ln>
              <a:noFill/>
            </a:ln>
          </p:spPr>
          <p:txBody>
            <a:bodyPr rtlCol="0" anchor="ctr" wrap="square" lIns="334044" tIns="18288" rIns="334044" bIns="18288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472" name="BrandDeck Diagram Detail Card 2"/>
            <p:cNvSpPr/>
            <p:nvPr/>
          </p:nvSpPr>
          <p:spPr>
            <a:xfrm>
              <a:off x="4030194" y="3162584"/>
              <a:ext cx="3504779" cy="1032256"/>
            </a:xfrm>
            <a:prstGeom prst="roundRect">
              <a:avLst>
                <a:gd name="adj" fmla="val 12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Text 2"/>
            <p:cNvSpPr txBox="1"/>
            <p:nvPr/>
          </p:nvSpPr>
          <p:spPr>
            <a:xfrm>
              <a:off x="4103346" y="3235736"/>
              <a:ext cx="3358475" cy="88595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Отсутствие ответа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Система формирует запрос к специалисту</a:t>
              </a:r>
            </a:p>
          </p:txBody>
        </p:sp>
        <p:sp>
          <p:nvSpPr>
            <p:cNvPr id="474" name="BrandDeck Diagram Step 3"/>
            <p:cNvSpPr/>
            <p:nvPr/>
          </p:nvSpPr>
          <p:spPr>
            <a:xfrm>
              <a:off x="7415909" y="2277355"/>
              <a:ext cx="3733571" cy="775500"/>
            </a:xfrm>
            <a:prstGeom prst="chevron">
              <a:avLst>
                <a:gd name="adj" fmla="val 36000"/>
              </a:avLst>
            </a:prstGeom>
            <a:solidFill>
              <a:srgbClr val="004CA4"/>
            </a:solidFill>
            <a:ln>
              <a:noFill/>
            </a:ln>
          </p:spPr>
          <p:txBody>
            <a:bodyPr rtlCol="0" anchor="ctr" wrap="square" lIns="334044" tIns="18288" rIns="334044" bIns="18288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475" name="BrandDeck Diagram Detail Card 3"/>
            <p:cNvSpPr/>
            <p:nvPr/>
          </p:nvSpPr>
          <p:spPr>
            <a:xfrm>
              <a:off x="7608125" y="3162584"/>
              <a:ext cx="3504779" cy="1032256"/>
            </a:xfrm>
            <a:prstGeom prst="roundRect">
              <a:avLst>
                <a:gd name="adj" fmla="val 12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BrandDeck Diagram Text 3"/>
            <p:cNvSpPr txBox="1"/>
            <p:nvPr/>
          </p:nvSpPr>
          <p:spPr>
            <a:xfrm>
              <a:off x="7681277" y="3235736"/>
              <a:ext cx="3358475" cy="88595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Передача контекста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Специалист получает историю и детали вопроса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95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300"/>
              <a:t>Сокращение времени поиска ответа и снижение доли обращений, закрытых без участия специалиста</a:t>
            </a:r>
            <a:endParaRPr/>
          </a:p>
        </p:txBody>
      </p:sp>
      <p:pic>
        <p:nvPicPr>
          <p:cNvPr id="835" name="BrandDeck Image" descr="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Сокращаем время поиска ответа и долю обращений, закрытых без участия специалиста.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Метрики успеха: время поиска и доля автономных ответов.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Цель пилота: подтвердить эффективность на выборке 150 сотрудников.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Пилотный запуск ограничен двумя подразделениями и 150 сотрудниками в течение 6 недель</a:t>
            </a:r>
            <a:endParaRPr/>
          </a:p>
        </p:txBody>
      </p:sp>
      <p:grpSp>
        <p:nvGrpSpPr>
          <p:cNvPr id="2" name="BrandDeck Diagram funnel" descr="funnel: Всего сотрудников 150 сотрудников из 2 подразделений; Длительность теста 6 недель пилотного запуска; Цель пилота Измерить эффективность ИИ-помощника"/>
          <p:cNvGrpSpPr/>
          <p:nvPr/>
        </p:nvGrpSpPr>
        <p:grpSpPr>
          <a:xfrm>
            <a:off x="428183" y="1693931"/>
            <a:ext cx="10721297" cy="3470137"/>
            <a:chOff x="428183" y="1693931"/>
            <a:chExt cx="10721297" cy="3470137"/>
          </a:xfrm>
        </p:grpSpPr>
        <p:sp>
          <p:nvSpPr>
            <p:cNvPr id="468" name="BrandDeck Diagram Level 1"/>
            <p:cNvSpPr/>
            <p:nvPr/>
          </p:nvSpPr>
          <p:spPr>
            <a:xfrm>
              <a:off x="428183" y="1693931"/>
              <a:ext cx="4697876" cy="1120136"/>
            </a:xfrm>
            <a:custGeom>
              <a:avLst/>
              <a:gdLst/>
              <a:ahLst/>
              <a:cxnLst/>
              <a:rect l="l" t="t" r="r" b="b"/>
              <a:pathLst>
                <a:path w="5138" h="1225" stroke="0">
                  <a:moveTo>
                    <a:pt x="0" y="0"/>
                  </a:moveTo>
                  <a:lnTo>
                    <a:pt x="5138" y="0"/>
                  </a:lnTo>
                  <a:lnTo>
                    <a:pt x="4580" y="1225"/>
                  </a:lnTo>
                  <a:lnTo>
                    <a:pt x="558" y="1225"/>
                  </a:lnTo>
                  <a:close/>
                </a:path>
              </a:pathLst>
            </a:custGeom>
            <a:solidFill>
              <a:srgbClr val="003676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469" name="BrandDeck Diagram Text 1"/>
            <p:cNvSpPr txBox="1"/>
            <p:nvPr/>
          </p:nvSpPr>
          <p:spPr>
            <a:xfrm>
              <a:off x="5412876" y="1693931"/>
              <a:ext cx="5736604" cy="11201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Всего сотрудников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150 сотрудников из 2 подразделений</a:t>
              </a:r>
            </a:p>
          </p:txBody>
        </p:sp>
        <p:sp>
          <p:nvSpPr>
            <p:cNvPr id="470" name="BrandDeck Diagram Level 2"/>
            <p:cNvSpPr/>
            <p:nvPr/>
          </p:nvSpPr>
          <p:spPr>
            <a:xfrm>
              <a:off x="963441" y="2868931"/>
              <a:ext cx="3627359" cy="1120136"/>
            </a:xfrm>
            <a:custGeom>
              <a:avLst/>
              <a:gdLst/>
              <a:ahLst/>
              <a:cxnLst/>
              <a:rect l="l" t="t" r="r" b="b"/>
              <a:pathLst>
                <a:path w="3967" h="1225" stroke="0">
                  <a:moveTo>
                    <a:pt x="0" y="0"/>
                  </a:moveTo>
                  <a:lnTo>
                    <a:pt x="3967" y="0"/>
                  </a:lnTo>
                  <a:lnTo>
                    <a:pt x="3409" y="1225"/>
                  </a:lnTo>
                  <a:lnTo>
                    <a:pt x="558" y="1225"/>
                  </a:lnTo>
                  <a:close/>
                </a:path>
              </a:pathLst>
            </a:custGeom>
            <a:solidFill>
              <a:srgbClr val="0052B0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471" name="BrandDeck Diagram Text 2"/>
            <p:cNvSpPr txBox="1"/>
            <p:nvPr/>
          </p:nvSpPr>
          <p:spPr>
            <a:xfrm>
              <a:off x="5412876" y="2868931"/>
              <a:ext cx="5736604" cy="11201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Длительность теста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6 недель пилотного запуска</a:t>
              </a:r>
            </a:p>
          </p:txBody>
        </p:sp>
        <p:sp>
          <p:nvSpPr>
            <p:cNvPr id="472" name="BrandDeck Diagram Level 3"/>
            <p:cNvSpPr/>
            <p:nvPr/>
          </p:nvSpPr>
          <p:spPr>
            <a:xfrm>
              <a:off x="1498700" y="4043932"/>
              <a:ext cx="2556842" cy="1120136"/>
            </a:xfrm>
            <a:custGeom>
              <a:avLst/>
              <a:gdLst/>
              <a:ahLst/>
              <a:cxnLst/>
              <a:rect l="l" t="t" r="r" b="b"/>
              <a:pathLst>
                <a:path w="2796" h="1225" stroke="0">
                  <a:moveTo>
                    <a:pt x="0" y="0"/>
                  </a:moveTo>
                  <a:lnTo>
                    <a:pt x="2796" y="0"/>
                  </a:lnTo>
                  <a:lnTo>
                    <a:pt x="2238" y="1225"/>
                  </a:lnTo>
                  <a:lnTo>
                    <a:pt x="558" y="1225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473" name="BrandDeck Diagram Text 3"/>
            <p:cNvSpPr txBox="1"/>
            <p:nvPr/>
          </p:nvSpPr>
          <p:spPr>
            <a:xfrm>
              <a:off x="5412876" y="4043932"/>
              <a:ext cx="5736604" cy="11201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Цель пилота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Измерить эффективность ИИ-помощника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BrandDeck Text 48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Измерим время поиска ответа и долю обращений, закрытых ИИ без участия специалиста</a:t>
            </a:r>
            <a:endParaRPr/>
          </a:p>
        </p:txBody>
      </p:sp>
      <p:graphicFrame>
        <p:nvGraphicFramePr>
          <p:cNvPr id="505" name="BrandDeck Table"/>
          <p:cNvGraphicFramePr>
            <a:graphicFrameLocks noGrp="1"/>
          </p:cNvGraphicFramePr>
          <p:nvPr/>
        </p:nvGraphicFramePr>
        <p:xfrm>
          <a:off x="437111" y="2883834"/>
          <a:ext cx="11303118" cy="288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706"/>
                <a:gridCol w="3767706"/>
                <a:gridCol w="3767706"/>
              </a:tblGrid>
              <a:tr h="8917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Метод измерения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Период сбора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10635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Время поиска ответа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Среднее время до получения инструкции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6 недель пилота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</a:tr>
              <a:tr h="89172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Доля обращений без специалиста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Процент закрытых ИИ вопросов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6 недель пилота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400"/>
              <a:t>Риск утечки данных исключен архитектурой, работающей только внутри контура компании</a:t>
            </a:r>
            <a:endParaRPr/>
          </a:p>
        </p:txBody>
      </p:sp>
      <p:grpSp>
        <p:nvGrpSpPr>
          <p:cNvPr id="2" name="BrandDeck Diagram hierarchy" descr="hierarchy: Внутренний контур Документы не покидают периметр безопасности; ИИ-помощник Работает только с внутренними регламентами; Сотрудники Получают ответы без передачи данных наружу"/>
          <p:cNvGrpSpPr/>
          <p:nvPr/>
        </p:nvGrpSpPr>
        <p:grpSpPr>
          <a:xfrm>
            <a:off x="415687" y="2074918"/>
            <a:ext cx="10733793" cy="2450213"/>
            <a:chOff x="415687" y="2074918"/>
            <a:chExt cx="10733793" cy="2450213"/>
          </a:xfrm>
        </p:grpSpPr>
        <p:sp>
          <p:nvSpPr>
            <p:cNvPr id="468" name="BrandDeck Diagram Root"/>
            <p:cNvSpPr/>
            <p:nvPr/>
          </p:nvSpPr>
          <p:spPr>
            <a:xfrm>
              <a:off x="3862343" y="2074918"/>
              <a:ext cx="3840480" cy="705000"/>
            </a:xfrm>
            <a:prstGeom prst="roundRect">
              <a:avLst>
                <a:gd name="adj" fmla="val 18000"/>
              </a:avLst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109728" tIns="36576" rIns="109728" bIns="36576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Внутренний контур</a:t>
              </a:r>
            </a:p>
          </p:txBody>
        </p:sp>
        <p:cxnSp>
          <p:nvCxnSpPr>
            <p:cNvPr id="469" name="BrandDeck Diagram Link Root"/>
            <p:cNvCxnSpPr/>
            <p:nvPr/>
          </p:nvCxnSpPr>
          <p:spPr>
            <a:xfrm>
              <a:off x="5782584" y="2779919"/>
              <a:ext cx="0" cy="246750"/>
            </a:xfrm>
            <a:prstGeom prst="line">
              <a:avLst/>
            </a:prstGeom>
            <a:ln w="19050">
              <a:solidFill>
                <a:srgbClr val="004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BrandDeck Diagram Link Bus"/>
            <p:cNvCxnSpPr/>
            <p:nvPr/>
          </p:nvCxnSpPr>
          <p:spPr>
            <a:xfrm>
              <a:off x="2133094" y="3026669"/>
              <a:ext cx="7298979" cy="0"/>
            </a:xfrm>
            <a:prstGeom prst="line">
              <a:avLst/>
            </a:prstGeom>
            <a:ln w="19050">
              <a:solidFill>
                <a:srgbClr val="004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BrandDeck Diagram Link 1"/>
            <p:cNvCxnSpPr/>
            <p:nvPr/>
          </p:nvCxnSpPr>
          <p:spPr>
            <a:xfrm>
              <a:off x="2133094" y="3026669"/>
              <a:ext cx="0" cy="246750"/>
            </a:xfrm>
            <a:prstGeom prst="line">
              <a:avLst/>
            </a:prstGeom>
            <a:ln w="19050">
              <a:solidFill>
                <a:srgbClr val="004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2" name="BrandDeck Diagram Card 1"/>
            <p:cNvSpPr/>
            <p:nvPr/>
          </p:nvSpPr>
          <p:spPr>
            <a:xfrm>
              <a:off x="415687" y="3273419"/>
              <a:ext cx="3434814" cy="1251712"/>
            </a:xfrm>
            <a:prstGeom prst="roundRect">
              <a:avLst>
                <a:gd name="adj" fmla="val 6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Marker 1"/>
            <p:cNvSpPr/>
            <p:nvPr/>
          </p:nvSpPr>
          <p:spPr>
            <a:xfrm>
              <a:off x="543703" y="3383147"/>
              <a:ext cx="548640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Diagram Text 1"/>
            <p:cNvSpPr txBox="1"/>
            <p:nvPr/>
          </p:nvSpPr>
          <p:spPr>
            <a:xfrm>
              <a:off x="507126" y="3511163"/>
              <a:ext cx="3251934" cy="922528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Внутренний контур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Документы не покидают периметр безопасности</a:t>
              </a:r>
            </a:p>
          </p:txBody>
        </p:sp>
        <p:cxnSp>
          <p:nvCxnSpPr>
            <p:cNvPr id="475" name="BrandDeck Diagram Link 2"/>
            <p:cNvCxnSpPr/>
            <p:nvPr/>
          </p:nvCxnSpPr>
          <p:spPr>
            <a:xfrm>
              <a:off x="5782583" y="3026669"/>
              <a:ext cx="0" cy="246750"/>
            </a:xfrm>
            <a:prstGeom prst="line">
              <a:avLst/>
            </a:prstGeom>
            <a:ln w="19050">
              <a:solidFill>
                <a:srgbClr val="004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6" name="BrandDeck Diagram Card 2"/>
            <p:cNvSpPr/>
            <p:nvPr/>
          </p:nvSpPr>
          <p:spPr>
            <a:xfrm>
              <a:off x="4065176" y="3273419"/>
              <a:ext cx="3434814" cy="1251712"/>
            </a:xfrm>
            <a:prstGeom prst="roundRect">
              <a:avLst>
                <a:gd name="adj" fmla="val 6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Marker 2"/>
            <p:cNvSpPr/>
            <p:nvPr/>
          </p:nvSpPr>
          <p:spPr>
            <a:xfrm>
              <a:off x="4193192" y="3383147"/>
              <a:ext cx="548640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Diagram Text 2"/>
            <p:cNvSpPr txBox="1"/>
            <p:nvPr/>
          </p:nvSpPr>
          <p:spPr>
            <a:xfrm>
              <a:off x="4156616" y="3511163"/>
              <a:ext cx="3251934" cy="922528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ИИ-помощник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Работает только с внутренними регламентами</a:t>
              </a:r>
            </a:p>
          </p:txBody>
        </p:sp>
        <p:cxnSp>
          <p:nvCxnSpPr>
            <p:cNvPr id="479" name="BrandDeck Diagram Link 3"/>
            <p:cNvCxnSpPr/>
            <p:nvPr/>
          </p:nvCxnSpPr>
          <p:spPr>
            <a:xfrm>
              <a:off x="9432073" y="3026669"/>
              <a:ext cx="0" cy="246750"/>
            </a:xfrm>
            <a:prstGeom prst="line">
              <a:avLst/>
            </a:prstGeom>
            <a:ln w="19050">
              <a:solidFill>
                <a:srgbClr val="004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BrandDeck Diagram Card 3"/>
            <p:cNvSpPr/>
            <p:nvPr/>
          </p:nvSpPr>
          <p:spPr>
            <a:xfrm>
              <a:off x="7714666" y="3273419"/>
              <a:ext cx="3434814" cy="1251712"/>
            </a:xfrm>
            <a:prstGeom prst="roundRect">
              <a:avLst>
                <a:gd name="adj" fmla="val 6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Marker 3"/>
            <p:cNvSpPr/>
            <p:nvPr/>
          </p:nvSpPr>
          <p:spPr>
            <a:xfrm>
              <a:off x="7842682" y="3383147"/>
              <a:ext cx="548640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Diagram Text 3"/>
            <p:cNvSpPr txBox="1"/>
            <p:nvPr/>
          </p:nvSpPr>
          <p:spPr>
            <a:xfrm>
              <a:off x="7806106" y="3511163"/>
              <a:ext cx="3251934" cy="922528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Сотрудники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Получают ответы без передачи данных наружу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Для реализации требуется одобрение пилота и выделение команды из 3 человек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Требуется одобрение пилота для запуска проекта.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Необходимо выделить команду из 3 человек.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Запуск зависит от утверждения бюджета и формирования команды.</a:t>
            </a:r>
            <a:endParaRPr/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Запуск пилота зависит от утверждения бюджета и формирования команды из 3 специалистов</a:t>
            </a:r>
            <a:endParaRPr/>
          </a:p>
        </p:txBody>
      </p:sp>
      <p:sp>
        <p:nvSpPr>
          <p:cNvPr id="681" name="BrandDeck Text 68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Следующие шаги</a:t>
            </a:r>
            <a:endParaRPr/>
          </a:p>
        </p:txBody>
      </p:sp>
      <p:sp>
        <p:nvSpPr>
          <p:cNvPr id="682" name="BrandDeck Text 682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Утвердить бюджет проекта.</a:t>
            </a:r>
            <a:endParaRPr/>
          </a:p>
        </p:txBody>
      </p:sp>
      <p:sp>
        <p:nvSpPr>
          <p:cNvPr id="683" name="BrandDeck Text 683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Сформировать команду из 3 специалистов.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Начать пилотный запуск.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2026-09-26T20:27:48Z</dcterms:modified>
  <dc:subject>Template-adaptive presentation</dc:subject>
  <cp:keywords>BrandDeck, template-adaptive, presentation</cp:keywords>
  <dc:creator/>
  <dc:description/>
</cp:coreProperties>
</file>