
<file path=[Content_Types].xml><?xml version="1.0" encoding="utf-8"?>
<Types xmlns="http://schemas.openxmlformats.org/package/2006/content-types">
  <Default Extension="jpeg" ContentType="image/jpeg"/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3" r:id="rId5"/>
  </p:sldMasterIdLst>
  <p:notesMasterIdLst>
    <p:notesMasterId r:id="rId6"/>
  </p:notesMasterIdLst>
  <p:sldIdLst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</p:sldIdLst>
  <p:sldSz cy="6858000" cx="12192000"/>
  <p:notesSz cx="6858000" cy="9144000"/>
  <p:embeddedFontLst>
    <p:embeddedFont>
      <p:font typeface="Play"/>
      <p:regular r:id="rId36"/>
      <p:bold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2547">
          <p15:clr>
            <a:srgbClr val="A4A3A4"/>
          </p15:clr>
        </p15:guide>
        <p15:guide id="4" orient="horz" pos="77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AC9AF0A-6FEA-4B71-B213-FBF42B605303}">
  <a:tblStyle styleId="{5AC9AF0A-6FEA-4B71-B213-FBF42B605303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  <p:guide pos="2547"/>
        <p:guide pos="777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36" Type="http://schemas.openxmlformats.org/officeDocument/2006/relationships/font" Target="fonts/Play-regular.fntdata"/><Relationship Id="rId37" Type="http://schemas.openxmlformats.org/officeDocument/2006/relationships/font" Target="fonts/Play-bold.fntdata"/><Relationship Id="rId38" Type="http://schemas.openxmlformats.org/officeDocument/2006/relationships/slide" Target="slides/slide1.xml"/><Relationship Id="rId39" Type="http://schemas.openxmlformats.org/officeDocument/2006/relationships/slide" Target="slides/slide2.xml"/><Relationship Id="rId40" Type="http://schemas.openxmlformats.org/officeDocument/2006/relationships/slide" Target="slides/slide3.xml"/><Relationship Id="rId41" Type="http://schemas.openxmlformats.org/officeDocument/2006/relationships/slide" Target="slides/slide4.xml"/><Relationship Id="rId42" Type="http://schemas.openxmlformats.org/officeDocument/2006/relationships/slide" Target="slides/slide5.xml"/><Relationship Id="rId43" Type="http://schemas.openxmlformats.org/officeDocument/2006/relationships/slide" Target="slides/slide6.xml"/><Relationship Id="rId44" Type="http://schemas.openxmlformats.org/officeDocument/2006/relationships/slide" Target="slides/slide7.xml"/><Relationship Id="rId45" Type="http://schemas.openxmlformats.org/officeDocument/2006/relationships/slide" Target="slides/slide8.xml"/><Relationship Id="rId46" Type="http://schemas.openxmlformats.org/officeDocument/2006/relationships/slide" Target="slides/slide9.xml"/><Relationship Id="rId4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Этот слайд открывает презентацию и обозначает проблему, с которой мы начинаем работу по внедрению ИИ-помощника.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Текущее время поиска инструкции составляет до 30 минут, что создает нагрузку на сотрудников.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Треть всех обращений в поддержку — это повторяющиеся вопросы, которые создают лишнюю нагрузку на специалистов.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Сценарий использования сфокусирован на поиске документации, где треть обращений — это повторяющиеся вопросы по регламентам.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Решение автоматически отвечает сотрудникам на вопросы по регламентам и сразу указывает на источник документа.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Модель функционирует внутри контура компании, при этом документы не покидают внутреннюю сеть. Если ИИ не может дать подтверждённый ответ, запрос передаётся специалисту поддержки с контекстом.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Если ИИ не находит подтверждённый ответ, запрос автоматически передаётся специалисту с полным контекстом диалога.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Пилотный запуск охватывает два подразделения с общим числом сотрудников 150 человек и длится шесть недель.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Успех пилота оценивается по времени поиска ответа и доле обращений, закрытых без участия специалиста.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Для реализации пилота просим одобрить проект и выделить команду из трех человек.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png"/><Relationship Id="rId6" Type="http://schemas.openxmlformats.org/officeDocument/2006/relationships/image" Target="../media/image7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8.jpeg"/><Relationship Id="rId4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Титульный слайд">
  <p:cSld name="7_Титульный слайд">
    <p:bg>
      <p:bgPr>
        <a:solidFill>
          <a:schemeClr val="dk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oogle Shape;55;p2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56" name="Google Shape;56;p2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7" name="Google Shape;57;p2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8" name="Google Shape;58;p2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9" name="Google Shape;59;p2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0" name="Google Shape;60;p2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1" name="Google Shape;61;p2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2" name="Google Shape;62;p2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3" name="Google Shape;63;p2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4" name="Google Shape;64;p2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5" name="Google Shape;65;p2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6" name="Google Shape;66;p2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7" name="Google Shape;67;p2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8" name="Google Shape;68;p2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9" name="Google Shape;69;p2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0" name="Google Shape;70;p2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1" name="Google Shape;71;p2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2" name="Google Shape;72;p2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3" name="Google Shape;73;p2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4" name="Google Shape;74;p2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75" name="Google Shape;75;p2"/>
          <p:cNvSpPr txBox="1"/>
          <p:nvPr>
            <p:ph type="title"/>
          </p:nvPr>
        </p:nvSpPr>
        <p:spPr>
          <a:xfrm>
            <a:off x="429253" y="2546255"/>
            <a:ext cx="7827335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76" name="Google Shape;76;p2"/>
          <p:cNvGrpSpPr/>
          <p:nvPr/>
        </p:nvGrpSpPr>
        <p:grpSpPr>
          <a:xfrm>
            <a:off x="1" y="6350"/>
            <a:ext cx="12192792" cy="6851649"/>
            <a:chOff x="0" y="6350"/>
            <a:chExt cx="24396891" cy="13709651"/>
          </a:xfrm>
        </p:grpSpPr>
        <p:pic>
          <p:nvPicPr>
            <p:cNvPr id="77" name="Google Shape;77;p2"/>
            <p:cNvPicPr preferRelativeResize="0"/>
            <p:nvPr/>
          </p:nvPicPr>
          <p:blipFill rotWithShape="1">
            <a:blip r:embed="rId2">
              <a:alphaModFix/>
            </a:blip>
            <a:srcRect b="0" l="0" r="50023" t="80662"/>
            <a:stretch/>
          </p:blipFill>
          <p:spPr>
            <a:xfrm>
              <a:off x="1587" y="11064874"/>
              <a:ext cx="12192000" cy="265112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8" name="Google Shape;78;p2"/>
            <p:cNvSpPr/>
            <p:nvPr/>
          </p:nvSpPr>
          <p:spPr>
            <a:xfrm>
              <a:off x="0" y="10657492"/>
              <a:ext cx="8335061" cy="3058509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79" name="Google Shape;79;p2"/>
            <p:cNvPicPr preferRelativeResize="0"/>
            <p:nvPr/>
          </p:nvPicPr>
          <p:blipFill rotWithShape="1">
            <a:blip r:embed="rId2">
              <a:alphaModFix/>
            </a:blip>
            <a:srcRect b="0" l="52729" r="0" t="82751"/>
            <a:stretch/>
          </p:blipFill>
          <p:spPr>
            <a:xfrm>
              <a:off x="12853797" y="11351172"/>
              <a:ext cx="11531791" cy="236482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0" name="Google Shape;80;p2"/>
            <p:cNvPicPr preferRelativeResize="0"/>
            <p:nvPr/>
          </p:nvPicPr>
          <p:blipFill rotWithShape="1">
            <a:blip r:embed="rId2">
              <a:alphaModFix/>
            </a:blip>
            <a:srcRect b="76357" l="52729" r="0" t="0"/>
            <a:stretch/>
          </p:blipFill>
          <p:spPr>
            <a:xfrm>
              <a:off x="12865099" y="6350"/>
              <a:ext cx="11531792" cy="324134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1" name="Google Shape;81;p2"/>
            <p:cNvPicPr preferRelativeResize="0"/>
            <p:nvPr/>
          </p:nvPicPr>
          <p:blipFill rotWithShape="1">
            <a:blip r:embed="rId2">
              <a:alphaModFix/>
            </a:blip>
            <a:srcRect b="69917" l="0" r="47271" t="0"/>
            <a:stretch/>
          </p:blipFill>
          <p:spPr>
            <a:xfrm>
              <a:off x="1587" y="6350"/>
              <a:ext cx="12863512" cy="4124216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82" name="Google Shape;82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035040"/>
            <a:ext cx="2653844" cy="41814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83" name="Google Shape;83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58522" y="6160788"/>
            <a:ext cx="934755" cy="29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9_Заголовок">
  <p:cSld name="19_Заголовок">
    <p:bg>
      <p:bgPr>
        <a:solidFill>
          <a:schemeClr val="dk1"/>
        </a:soli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14" name="Google Shape;114;p4"/>
          <p:cNvPicPr preferRelativeResize="0"/>
          <p:nvPr/>
        </p:nvPicPr>
        <p:blipFill rotWithShape="1">
          <a:blip r:embed="rId2">
            <a:alphaModFix/>
          </a:blip>
          <a:srcRect b="0" l="0" r="61122" t="0"/>
          <a:stretch/>
        </p:blipFill>
        <p:spPr>
          <a:xfrm>
            <a:off x="0" y="0"/>
            <a:ext cx="4739951" cy="6857143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4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16" name="Google Shape;11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5_Титульный слайд">
  <p:cSld name="15_Титульный слайд">
    <p:bg>
      <p:bgPr>
        <a:solidFill>
          <a:schemeClr val="dk1"/>
        </a:solid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48" name="Google Shape;148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393786"/>
            <a:ext cx="4655279" cy="46421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49" name="Google Shape;14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31600" y="0"/>
            <a:ext cx="1760400" cy="243127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50" name="Google Shape;150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331498" y="6290333"/>
            <a:ext cx="2860502" cy="56766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1" name="Google Shape;151;p6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152" name="Google Shape;152;p6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3" name="Google Shape;153;p6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4" name="Google Shape;154;p6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5" name="Google Shape;155;p6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6" name="Google Shape;156;p6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7" name="Google Shape;157;p6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8" name="Google Shape;158;p6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9" name="Google Shape;159;p6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0" name="Google Shape;160;p6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1" name="Google Shape;161;p6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2" name="Google Shape;162;p6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3" name="Google Shape;163;p6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4" name="Google Shape;164;p6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5" name="Google Shape;165;p6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6" name="Google Shape;166;p6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7" name="Google Shape;167;p6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8" name="Google Shape;168;p6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9" name="Google Shape;169;p6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0" name="Google Shape;170;p6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71" name="Google Shape;171;p6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72" name="Google Shape;172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73" name="Google Shape;173;p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Титульный слайд">
  <p:cSld name="13_Титульный слайд">
    <p:bg>
      <p:bgPr>
        <a:solidFill>
          <a:schemeClr val="dk1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5" name="Google Shape;175;p7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176" name="Google Shape;176;p7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7" name="Google Shape;177;p7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8" name="Google Shape;178;p7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9" name="Google Shape;179;p7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0" name="Google Shape;180;p7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1" name="Google Shape;181;p7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2" name="Google Shape;182;p7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3" name="Google Shape;183;p7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4" name="Google Shape;184;p7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5" name="Google Shape;185;p7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6" name="Google Shape;186;p7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7" name="Google Shape;187;p7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7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7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7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7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7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7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7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95" name="Google Shape;195;p7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96" name="Google Shape;196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97" name="Google Shape;197;p7"/>
          <p:cNvPicPr preferRelativeResize="0"/>
          <p:nvPr/>
        </p:nvPicPr>
        <p:blipFill rotWithShape="1">
          <a:blip r:embed="rId3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7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7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7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 " id="201" name="Google Shape;201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7_Титульный слайд">
  <p:cSld name="17_Титульный слайд">
    <p:bg>
      <p:bgPr>
        <a:solidFill>
          <a:schemeClr val="dk1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9" name="Google Shape;209;p9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210" name="Google Shape;210;p9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9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9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9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9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9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9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9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9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9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9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9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9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9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9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9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6" name="Google Shape;226;p9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7" name="Google Shape;227;p9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8" name="Google Shape;228;p9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229" name="Google Shape;229;p9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 " id="230" name="Google Shape;230;p9"/>
          <p:cNvPicPr preferRelativeResize="0"/>
          <p:nvPr/>
        </p:nvPicPr>
        <p:blipFill rotWithShape="1">
          <a:blip r:embed="rId2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9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9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9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4" Type="http://schemas.openxmlformats.org/officeDocument/2006/relationships/slideLayout" Target="../slideLayouts/slideLayout3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9" Type="http://schemas.openxmlformats.org/officeDocument/2006/relationships/slideLayout" Target="../slideLayouts/slideLayout8.xml"/><Relationship Id="rId1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427866" y="662333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b="0" i="0" sz="3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9"/>
            <a:ext cx="10855852" cy="43926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295275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•"/>
              <a:defRPr b="0" i="0" sz="105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A6A6A6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3" name="Google Shape;13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4" name="Google Shape;1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2" name="Google Shape;3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3" name="Google Shape;33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4" name="Google Shape;3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2" name="Google Shape;5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pic>
        <p:nvPicPr>
          <p:cNvPr id="53" name="Google Shape;53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419564" y="6161239"/>
            <a:ext cx="932071" cy="288000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50" r:id="rId4"/>
    <p:sldLayoutId id="2147483652" r:id="rId6"/>
    <p:sldLayoutId id="2147483653" r:id="rId7"/>
    <p:sldLayoutId id="2147483655" r:id="rId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257">
          <p15:clr>
            <a:srgbClr val="FDE53C"/>
          </p15:clr>
        </p15:guide>
        <p15:guide id="2" pos="7423">
          <p15:clr>
            <a:srgbClr val="FDE53C"/>
          </p15:clr>
        </p15:guide>
        <p15:guide id="3" orient="horz" pos="4065">
          <p15:clr>
            <a:srgbClr val="FDE53C"/>
          </p15:clr>
        </p15:guide>
        <p15:guide id="4" pos="5201">
          <p15:clr>
            <a:srgbClr val="FDE53C"/>
          </p15:clr>
        </p15:guide>
        <p15:guide id="5" pos="2479">
          <p15:clr>
            <a:srgbClr val="FDE53C"/>
          </p15:clr>
        </p15:guide>
        <p15:guide id="6" pos="3840">
          <p15:clr>
            <a:srgbClr val="FDE53C"/>
          </p15:clr>
        </p15:guide>
        <p15:guide id="7" orient="horz" pos="640">
          <p15:clr>
            <a:srgbClr val="FDE53C"/>
          </p15:clr>
        </p15:guide>
        <p15:guide id="8" orient="horz" pos="1003">
          <p15:clr>
            <a:srgbClr val="FDE53C"/>
          </p15:clr>
        </p15:guide>
        <p15:guide id="9" pos="1073">
          <p15:clr>
            <a:srgbClr val="FDE53C"/>
          </p15:clr>
        </p15:guide>
        <p15:guide id="10" pos="6584">
          <p15:clr>
            <a:srgbClr val="FDE53C"/>
          </p15:clr>
        </p15:guide>
        <p15:guide id="11" orient="horz" pos="255">
          <p15:clr>
            <a:srgbClr val="FDE53C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3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3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3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8.png"/><Relationship Id="rId3" Type="http://schemas.openxmlformats.org/officeDocument/2006/relationships/image" Target="../media/image17.png"/><Relationship Id="rId4" Type="http://schemas.openxmlformats.org/officeDocument/2006/relationships/image" Target="../media/image33.jpeg"/><Relationship Id="rId5" Type="http://schemas.openxmlformats.org/officeDocument/2006/relationships/notesSlide" Target="../notesSlides/notesSlide3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4.jpeg"/><Relationship Id="rId3" Type="http://schemas.openxmlformats.org/officeDocument/2006/relationships/notesSlide" Target="../notesSlides/notesSlide3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3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81" name="BrandDeck Text 381"/>
          <p:cNvSpPr txBox="1"/>
          <p:nvPr>
            <p:ph type="title"/>
          </p:nvPr>
        </p:nvSpPr>
        <p:spPr>
          <a:xfrm>
            <a:off x="429253" y="2490555"/>
            <a:ext cx="7827335" cy="18768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 vert="horz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chemeClr val="lt1"/>
              </a:buClr>
              <a:buSzPts val="4800"/>
              <a:buFont typeface="Play"/>
              <a:buNone/>
            </a:pPr>
            <a:r>
              <a:rPr sz="4000"/>
              <a:t>Поиск инструкции занимает до 30 минут</a:t>
            </a:r>
            <a:endParaRPr sz="4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9" name="Google Shape;679;p31"/>
          <p:cNvSpPr/>
          <p:nvPr/>
        </p:nvSpPr>
        <p:spPr>
          <a:xfrm>
            <a:off x="0" y="4748271"/>
            <a:ext cx="12192000" cy="2109730"/>
          </a:xfrm>
          <a:prstGeom prst="rect">
            <a:avLst/>
          </a:prstGeom>
          <a:gradFill>
            <a:gsLst>
              <a:gs pos="0">
                <a:srgbClr val="0077FF">
                  <a:alpha val="61961"/>
                </a:srgbClr>
              </a:gs>
              <a:gs pos="99000">
                <a:srgbClr val="00AEE8"/>
              </a:gs>
              <a:gs pos="100000">
                <a:srgbClr val="00AEE8"/>
              </a:gs>
            </a:gsLst>
            <a:lin ang="14400000" scaled="0"/>
          </a:gradFill>
          <a:ln>
            <a:noFill/>
          </a:ln>
        </p:spPr>
        <p:txBody>
          <a:bodyPr anchorCtr="0" anchor="ctr" bIns="0" lIns="108000" spcFirstLastPara="1" rIns="914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80" name="BrandDeck Text 680"/>
          <p:cNvSpPr txBox="1"/>
          <p:nvPr>
            <p:ph type="title"/>
          </p:nvPr>
        </p:nvSpPr>
        <p:spPr>
          <a:xfrm>
            <a:off x="427864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 vert="horz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48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sz="3200"/>
              <a:t>Сотрудники тратят до 30 минут на поиск нужной инструкции</a:t>
            </a:r>
            <a:endParaRPr/>
          </a:p>
        </p:txBody>
      </p:sp>
      <p:sp>
        <p:nvSpPr>
          <p:cNvPr id="681" name="BrandDeck Text 681"/>
          <p:cNvSpPr/>
          <p:nvPr/>
        </p:nvSpPr>
        <p:spPr>
          <a:xfrm>
            <a:off x="427864" y="1837067"/>
            <a:ext cx="3636000" cy="2022006"/>
          </a:xfrm>
          <a:prstGeom prst="roundRect">
            <a:avLst>
              <a:gd fmla="val 6326" name="adj"/>
            </a:avLst>
          </a:prstGeom>
          <a:solidFill>
            <a:srgbClr val="212121"/>
          </a:solidFill>
          <a:ln>
            <a:noFill/>
          </a:ln>
        </p:spPr>
        <p:txBody>
          <a:bodyPr anchorCtr="0" anchor="t" bIns="45700" lIns="108000" spcFirstLastPara="1" rIns="91425" wrap="square" tIns="72000" vert="horz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None/>
            </a:pPr>
            <a:r>
              <a:rPr sz="1800">
                <a:solidFill>
                  <a:srgbClr val="FFFFFF"/>
                </a:solidFill>
                <a:latin typeface="Play"/>
              </a:rPr>
              <a:t>Сотрудники тратят до 30 минут на поиск нужной инструкции.</a:t>
            </a:r>
            <a:endParaRPr/>
          </a:p>
        </p:txBody>
      </p:sp>
      <p:sp>
        <p:nvSpPr>
          <p:cNvPr id="682" name="BrandDeck Text 682"/>
          <p:cNvSpPr/>
          <p:nvPr/>
        </p:nvSpPr>
        <p:spPr>
          <a:xfrm>
            <a:off x="4217594" y="1837067"/>
            <a:ext cx="3636000" cy="2022006"/>
          </a:xfrm>
          <a:prstGeom prst="roundRect">
            <a:avLst>
              <a:gd fmla="val 6871" name="adj"/>
            </a:avLst>
          </a:prstGeom>
          <a:solidFill>
            <a:srgbClr val="212121"/>
          </a:solidFill>
          <a:ln>
            <a:noFill/>
          </a:ln>
        </p:spPr>
        <p:txBody>
          <a:bodyPr anchorCtr="0" anchor="t" bIns="45700" lIns="108000" spcFirstLastPara="1" rIns="91425" wrap="square" tIns="72000" vert="horz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None/>
            </a:pPr>
            <a:r>
              <a:rPr sz="1800">
                <a:solidFill>
                  <a:srgbClr val="FFFFFF"/>
                </a:solidFill>
                <a:latin typeface="Play"/>
              </a:rPr>
              <a:t>Это время тратится сотрудниками на поиск информации.</a:t>
            </a:r>
            <a:endParaRPr/>
          </a:p>
        </p:txBody>
      </p:sp>
      <p:sp>
        <p:nvSpPr>
          <p:cNvPr id="683" name="BrandDeck Text 683"/>
          <p:cNvSpPr/>
          <p:nvPr/>
        </p:nvSpPr>
        <p:spPr>
          <a:xfrm>
            <a:off x="8007324" y="1837067"/>
            <a:ext cx="3636000" cy="2022006"/>
          </a:xfrm>
          <a:prstGeom prst="roundRect">
            <a:avLst>
              <a:gd fmla="val 5781" name="adj"/>
            </a:avLst>
          </a:prstGeom>
          <a:solidFill>
            <a:srgbClr val="212121"/>
          </a:solidFill>
          <a:ln>
            <a:noFill/>
          </a:ln>
        </p:spPr>
        <p:txBody>
          <a:bodyPr anchorCtr="0" anchor="t" bIns="45700" lIns="108000" spcFirstLastPara="1" rIns="91425" wrap="square" tIns="72000" vert="horz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None/>
            </a:pPr>
            <a:r>
              <a:rPr sz="1800">
                <a:solidFill>
                  <a:srgbClr val="FFFFFF"/>
                </a:solidFill>
                <a:latin typeface="Play"/>
              </a:rPr>
              <a:t>Актуальность задачи обусловлена длительным поиском инструкций.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59" name="BrandDeck Text 459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 vert="horz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48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sz="3200"/>
              <a:t>Треть обращений в поддержку — повторяющиеся вопросы</a:t>
            </a:r>
            <a:endParaRPr/>
          </a:p>
        </p:txBody>
      </p:sp>
      <p:grpSp>
        <p:nvGrpSpPr>
          <p:cNvPr id="2" name="BrandDeck Diagram icon_grid" descr="icon_grid: Доля Треть обращений — повторяющиеся вопросы; Причина Отсутствие быстрого доступа к инструкциям; Результат Лишняя работа специалистов поддержки"/>
          <p:cNvGrpSpPr/>
          <p:nvPr/>
        </p:nvGrpSpPr>
        <p:grpSpPr>
          <a:xfrm>
            <a:off x="415687" y="1905982"/>
            <a:ext cx="10733793" cy="2894782"/>
            <a:chOff x="415687" y="1905982"/>
            <a:chExt cx="10733793" cy="2894782"/>
          </a:xfrm>
        </p:grpSpPr>
        <p:sp>
          <p:nvSpPr>
            <p:cNvPr id="468" name="BrandDeck Diagram Card 1"/>
            <p:cNvSpPr/>
            <p:nvPr/>
          </p:nvSpPr>
          <p:spPr>
            <a:xfrm>
              <a:off x="415687" y="1905982"/>
              <a:ext cx="5259559" cy="1340053"/>
            </a:xfrm>
            <a:prstGeom prst="roundRect">
              <a:avLst>
                <a:gd name="adj" fmla="val 8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9" name="BrandDeck Diagram Icon 1 Badge"/>
            <p:cNvSpPr/>
            <p:nvPr/>
          </p:nvSpPr>
          <p:spPr>
            <a:xfrm>
              <a:off x="635143" y="2388401"/>
              <a:ext cx="375214" cy="37521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0" name="BrandDeck Icon headset"/>
            <p:cNvSpPr/>
            <p:nvPr/>
          </p:nvSpPr>
          <p:spPr>
            <a:xfrm>
              <a:off x="717690" y="2470948"/>
              <a:ext cx="210120" cy="210120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3000" y="11000"/>
                  </a:moveTo>
                  <a:lnTo>
                    <a:pt x="6000" y="11000"/>
                  </a:lnTo>
                  <a:cubicBezTo>
                    <a:pt x="7105" y="11000"/>
                    <a:pt x="8000" y="11895"/>
                    <a:pt x="8000" y="13000"/>
                  </a:cubicBezTo>
                  <a:lnTo>
                    <a:pt x="8000" y="16000"/>
                  </a:lnTo>
                  <a:cubicBezTo>
                    <a:pt x="8000" y="17105"/>
                    <a:pt x="7105" y="18000"/>
                    <a:pt x="6000" y="18000"/>
                  </a:cubicBezTo>
                  <a:lnTo>
                    <a:pt x="5000" y="18000"/>
                  </a:lnTo>
                  <a:cubicBezTo>
                    <a:pt x="3895" y="18000"/>
                    <a:pt x="3000" y="17105"/>
                    <a:pt x="3000" y="16000"/>
                  </a:cubicBezTo>
                  <a:lnTo>
                    <a:pt x="3000" y="11000"/>
                  </a:lnTo>
                  <a:close/>
                  <a:moveTo>
                    <a:pt x="3000" y="11000"/>
                  </a:moveTo>
                  <a:cubicBezTo>
                    <a:pt x="3000" y="6029"/>
                    <a:pt x="7029" y="2000"/>
                    <a:pt x="12000" y="2000"/>
                  </a:cubicBezTo>
                  <a:cubicBezTo>
                    <a:pt x="16971" y="2000"/>
                    <a:pt x="21000" y="6029"/>
                    <a:pt x="21000" y="11000"/>
                  </a:cubicBezTo>
                  <a:moveTo>
                    <a:pt x="21000" y="11000"/>
                  </a:moveTo>
                  <a:lnTo>
                    <a:pt x="21000" y="16000"/>
                  </a:lnTo>
                  <a:cubicBezTo>
                    <a:pt x="21000" y="17105"/>
                    <a:pt x="20105" y="18000"/>
                    <a:pt x="19000" y="18000"/>
                  </a:cubicBezTo>
                  <a:lnTo>
                    <a:pt x="18000" y="18000"/>
                  </a:lnTo>
                  <a:cubicBezTo>
                    <a:pt x="16895" y="18000"/>
                    <a:pt x="16000" y="17105"/>
                    <a:pt x="16000" y="16000"/>
                  </a:cubicBezTo>
                  <a:lnTo>
                    <a:pt x="16000" y="13000"/>
                  </a:lnTo>
                  <a:cubicBezTo>
                    <a:pt x="16000" y="11895"/>
                    <a:pt x="16895" y="11000"/>
                    <a:pt x="18000" y="11000"/>
                  </a:cubicBezTo>
                  <a:lnTo>
                    <a:pt x="21000" y="11000"/>
                  </a:lnTo>
                  <a:close/>
                </a:path>
                <a:path w="24000" h="24000" fill="none">
                  <a:moveTo>
                    <a:pt x="21000" y="16000"/>
                  </a:moveTo>
                  <a:lnTo>
                    <a:pt x="21000" y="18000"/>
                  </a:lnTo>
                  <a:cubicBezTo>
                    <a:pt x="21000" y="20209"/>
                    <a:pt x="19209" y="22000"/>
                    <a:pt x="17000" y="22000"/>
                  </a:cubicBezTo>
                  <a:lnTo>
                    <a:pt x="12000" y="22000"/>
                  </a:lnTo>
                </a:path>
              </a:pathLst>
            </a:custGeom>
            <a:noFill/>
            <a:ln w="1751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1" name="BrandDeck Diagram Text 1"/>
            <p:cNvSpPr txBox="1"/>
            <p:nvPr/>
          </p:nvSpPr>
          <p:spPr>
            <a:xfrm>
              <a:off x="1142031" y="2037656"/>
              <a:ext cx="4313758" cy="107670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1">
                  <a:solidFill>
                    <a:srgbClr val="FFFFFF"/>
                  </a:solidFill>
                  <a:latin typeface="Play"/>
                </a:rPr>
                <a:t>Доля</a:t>
              </a:r>
            </a:p>
            <a:p>
              <a:pPr algn="l">
                <a:lnSpc>
                  <a:spcPct val="110000"/>
                </a:lnSpc>
                <a:spcBef>
                  <a:spcPts val="450"/>
                </a:spcBef>
              </a:pPr>
              <a:r>
                <a:rPr sz="1800" b="0">
                  <a:solidFill>
                    <a:srgbClr val="FFFFFF"/>
                  </a:solidFill>
                  <a:latin typeface="Play"/>
                </a:rPr>
                <a:t>Треть обращений — повторяющиеся вопросы</a:t>
              </a:r>
            </a:p>
          </p:txBody>
        </p:sp>
        <p:sp>
          <p:nvSpPr>
            <p:cNvPr id="472" name="BrandDeck Diagram Card 2"/>
            <p:cNvSpPr/>
            <p:nvPr/>
          </p:nvSpPr>
          <p:spPr>
            <a:xfrm>
              <a:off x="5889921" y="1905982"/>
              <a:ext cx="5259559" cy="1340053"/>
            </a:xfrm>
            <a:prstGeom prst="roundRect">
              <a:avLst>
                <a:gd name="adj" fmla="val 8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3" name="BrandDeck Diagram Icon 2 Badge"/>
            <p:cNvSpPr/>
            <p:nvPr/>
          </p:nvSpPr>
          <p:spPr>
            <a:xfrm>
              <a:off x="6109377" y="2388401"/>
              <a:ext cx="375214" cy="37521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4" name="BrandDeck Icon timer"/>
            <p:cNvSpPr/>
            <p:nvPr/>
          </p:nvSpPr>
          <p:spPr>
            <a:xfrm>
              <a:off x="6191925" y="2470948"/>
              <a:ext cx="210120" cy="210120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0000" y="2000"/>
                  </a:moveTo>
                  <a:lnTo>
                    <a:pt x="14000" y="2000"/>
                  </a:lnTo>
                </a:path>
                <a:path w="24000" h="24000" fill="none">
                  <a:moveTo>
                    <a:pt x="12000" y="14000"/>
                  </a:moveTo>
                  <a:lnTo>
                    <a:pt x="15000" y="11000"/>
                  </a:lnTo>
                </a:path>
                <a:path w="24000" h="24000" fill="none">
                  <a:moveTo>
                    <a:pt x="20000" y="14000"/>
                  </a:moveTo>
                  <a:cubicBezTo>
                    <a:pt x="20000" y="18418"/>
                    <a:pt x="16418" y="22000"/>
                    <a:pt x="12000" y="22000"/>
                  </a:cubicBezTo>
                  <a:cubicBezTo>
                    <a:pt x="7582" y="22000"/>
                    <a:pt x="4000" y="18418"/>
                    <a:pt x="4000" y="14000"/>
                  </a:cubicBezTo>
                  <a:cubicBezTo>
                    <a:pt x="4000" y="9582"/>
                    <a:pt x="7582" y="6000"/>
                    <a:pt x="12000" y="6000"/>
                  </a:cubicBezTo>
                  <a:cubicBezTo>
                    <a:pt x="16418" y="6000"/>
                    <a:pt x="20000" y="9582"/>
                    <a:pt x="20000" y="14000"/>
                  </a:cubicBezTo>
                  <a:close/>
                </a:path>
              </a:pathLst>
            </a:custGeom>
            <a:noFill/>
            <a:ln w="1751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5" name="BrandDeck Diagram Text 2"/>
            <p:cNvSpPr txBox="1"/>
            <p:nvPr/>
          </p:nvSpPr>
          <p:spPr>
            <a:xfrm>
              <a:off x="6616266" y="2037656"/>
              <a:ext cx="4313758" cy="107670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1">
                  <a:solidFill>
                    <a:srgbClr val="FFFFFF"/>
                  </a:solidFill>
                  <a:latin typeface="Play"/>
                </a:rPr>
                <a:t>Причина</a:t>
              </a:r>
            </a:p>
            <a:p>
              <a:pPr algn="l">
                <a:lnSpc>
                  <a:spcPct val="110000"/>
                </a:lnSpc>
                <a:spcBef>
                  <a:spcPts val="450"/>
                </a:spcBef>
              </a:pPr>
              <a:r>
                <a:rPr sz="1800" b="0">
                  <a:solidFill>
                    <a:srgbClr val="FFFFFF"/>
                  </a:solidFill>
                  <a:latin typeface="Play"/>
                </a:rPr>
                <a:t>Отсутствие быстрого доступа к инструкциям</a:t>
              </a:r>
            </a:p>
          </p:txBody>
        </p:sp>
        <p:sp>
          <p:nvSpPr>
            <p:cNvPr id="476" name="BrandDeck Diagram Card 3"/>
            <p:cNvSpPr/>
            <p:nvPr/>
          </p:nvSpPr>
          <p:spPr>
            <a:xfrm>
              <a:off x="415687" y="3460711"/>
              <a:ext cx="5259559" cy="1340053"/>
            </a:xfrm>
            <a:prstGeom prst="roundRect">
              <a:avLst>
                <a:gd name="adj" fmla="val 8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7" name="BrandDeck Diagram Icon 3 Badge"/>
            <p:cNvSpPr/>
            <p:nvPr/>
          </p:nvSpPr>
          <p:spPr>
            <a:xfrm>
              <a:off x="635143" y="3943130"/>
              <a:ext cx="375214" cy="37521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8" name="BrandDeck Icon trophy"/>
            <p:cNvSpPr/>
            <p:nvPr/>
          </p:nvSpPr>
          <p:spPr>
            <a:xfrm>
              <a:off x="717690" y="4025678"/>
              <a:ext cx="210120" cy="210120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6000" y="9000"/>
                  </a:moveTo>
                  <a:lnTo>
                    <a:pt x="4500" y="9000"/>
                  </a:lnTo>
                  <a:cubicBezTo>
                    <a:pt x="3119" y="9000"/>
                    <a:pt x="2000" y="7881"/>
                    <a:pt x="2000" y="6500"/>
                  </a:cubicBezTo>
                  <a:cubicBezTo>
                    <a:pt x="2000" y="5119"/>
                    <a:pt x="3119" y="4000"/>
                    <a:pt x="4500" y="4000"/>
                  </a:cubicBezTo>
                  <a:lnTo>
                    <a:pt x="6000" y="4000"/>
                  </a:lnTo>
                </a:path>
                <a:path w="24000" h="24000" fill="none">
                  <a:moveTo>
                    <a:pt x="18000" y="9000"/>
                  </a:moveTo>
                  <a:lnTo>
                    <a:pt x="19500" y="9000"/>
                  </a:lnTo>
                  <a:cubicBezTo>
                    <a:pt x="20881" y="9000"/>
                    <a:pt x="22000" y="7881"/>
                    <a:pt x="22000" y="6500"/>
                  </a:cubicBezTo>
                  <a:cubicBezTo>
                    <a:pt x="22000" y="5119"/>
                    <a:pt x="20881" y="4000"/>
                    <a:pt x="19500" y="4000"/>
                  </a:cubicBezTo>
                  <a:lnTo>
                    <a:pt x="18000" y="4000"/>
                  </a:lnTo>
                </a:path>
                <a:path w="24000" h="24000" fill="none">
                  <a:moveTo>
                    <a:pt x="4000" y="22000"/>
                  </a:moveTo>
                  <a:lnTo>
                    <a:pt x="20000" y="22000"/>
                  </a:lnTo>
                </a:path>
                <a:path w="24000" h="24000" fill="none">
                  <a:moveTo>
                    <a:pt x="10000" y="14660"/>
                  </a:moveTo>
                  <a:lnTo>
                    <a:pt x="10000" y="17000"/>
                  </a:lnTo>
                  <a:cubicBezTo>
                    <a:pt x="10000" y="17550"/>
                    <a:pt x="9530" y="17980"/>
                    <a:pt x="9030" y="18210"/>
                  </a:cubicBezTo>
                  <a:cubicBezTo>
                    <a:pt x="7850" y="18750"/>
                    <a:pt x="7000" y="20240"/>
                    <a:pt x="7000" y="22000"/>
                  </a:cubicBezTo>
                </a:path>
                <a:path w="24000" h="24000" fill="none">
                  <a:moveTo>
                    <a:pt x="14000" y="14660"/>
                  </a:moveTo>
                  <a:lnTo>
                    <a:pt x="14000" y="17000"/>
                  </a:lnTo>
                  <a:cubicBezTo>
                    <a:pt x="14000" y="17550"/>
                    <a:pt x="14470" y="17980"/>
                    <a:pt x="14970" y="18210"/>
                  </a:cubicBezTo>
                  <a:cubicBezTo>
                    <a:pt x="16150" y="18750"/>
                    <a:pt x="17000" y="20240"/>
                    <a:pt x="17000" y="22000"/>
                  </a:cubicBezTo>
                </a:path>
                <a:path w="24000" h="24000" fill="none">
                  <a:moveTo>
                    <a:pt x="18000" y="2000"/>
                  </a:moveTo>
                  <a:lnTo>
                    <a:pt x="6000" y="2000"/>
                  </a:lnTo>
                  <a:lnTo>
                    <a:pt x="6000" y="9000"/>
                  </a:lnTo>
                  <a:cubicBezTo>
                    <a:pt x="6000" y="12314"/>
                    <a:pt x="8686" y="15000"/>
                    <a:pt x="12000" y="15000"/>
                  </a:cubicBezTo>
                  <a:cubicBezTo>
                    <a:pt x="15314" y="15000"/>
                    <a:pt x="18000" y="12314"/>
                    <a:pt x="18000" y="9000"/>
                  </a:cubicBezTo>
                  <a:lnTo>
                    <a:pt x="18000" y="2000"/>
                  </a:lnTo>
                  <a:close/>
                </a:path>
              </a:pathLst>
            </a:custGeom>
            <a:noFill/>
            <a:ln w="17510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9" name="BrandDeck Diagram Text 3"/>
            <p:cNvSpPr txBox="1"/>
            <p:nvPr/>
          </p:nvSpPr>
          <p:spPr>
            <a:xfrm>
              <a:off x="1142031" y="3592385"/>
              <a:ext cx="4313758" cy="107670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1">
                  <a:solidFill>
                    <a:srgbClr val="FFFFFF"/>
                  </a:solidFill>
                  <a:latin typeface="Play"/>
                </a:rPr>
                <a:t>Результат</a:t>
              </a:r>
            </a:p>
            <a:p>
              <a:pPr algn="l">
                <a:lnSpc>
                  <a:spcPct val="110000"/>
                </a:lnSpc>
                <a:spcBef>
                  <a:spcPts val="450"/>
                </a:spcBef>
              </a:pPr>
              <a:r>
                <a:rPr sz="1800" b="0">
                  <a:solidFill>
                    <a:srgbClr val="FFFFFF"/>
                  </a:solidFill>
                  <a:latin typeface="Play"/>
                </a:rPr>
                <a:t>Лишняя работа специалистов поддержки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47" name="BrandDeck Text 547"/>
          <p:cNvSpPr txBox="1"/>
          <p:nvPr>
            <p:ph type="title"/>
          </p:nvPr>
        </p:nvSpPr>
        <p:spPr>
          <a:xfrm>
            <a:off x="429253" y="424691"/>
            <a:ext cx="7827311" cy="6268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 vert="horz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359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sz="2400"/>
              <a:t>Вопросы касаются регламентов и инструкций</a:t>
            </a:r>
            <a:endParaRPr/>
          </a:p>
        </p:txBody>
      </p:sp>
      <p:sp>
        <p:nvSpPr>
          <p:cNvPr id="548" name="BrandDeck Text 548"/>
          <p:cNvSpPr/>
          <p:nvPr/>
        </p:nvSpPr>
        <p:spPr>
          <a:xfrm>
            <a:off x="5383513" y="860119"/>
            <a:ext cx="5917558" cy="1705685"/>
          </a:xfrm>
          <a:prstGeom prst="roundRect">
            <a:avLst>
              <a:gd fmla="val 9293" name="adj"/>
            </a:avLst>
          </a:prstGeom>
          <a:solidFill>
            <a:srgbClr val="0077FF">
              <a:alpha val="30196"/>
            </a:srgbClr>
          </a:solidFill>
          <a:ln>
            <a:noFill/>
          </a:ln>
        </p:spPr>
        <p:txBody>
          <a:bodyPr anchorCtr="0" anchor="t" bIns="0" lIns="108000" spcFirstLastPara="1" rIns="0" wrap="square" tIns="756000" vert="horz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None/>
            </a:pPr>
            <a:r>
              <a:rPr sz="1800">
                <a:latin typeface="Play"/>
                <a:solidFill>
                  <a:schemeClr val="lt1"/>
                </a:solidFill>
              </a:rPr>
              <a:t>Сотрудники ищут ответы в регламентах и инструкциях.</a:t>
            </a:r>
            <a:endParaRPr/>
          </a:p>
        </p:txBody>
      </p:sp>
      <p:grpSp>
        <p:nvGrpSpPr>
          <p:cNvPr id="549" name="Google Shape;549;p26"/>
          <p:cNvGrpSpPr/>
          <p:nvPr/>
        </p:nvGrpSpPr>
        <p:grpSpPr>
          <a:xfrm>
            <a:off x="5523729" y="996732"/>
            <a:ext cx="515460" cy="515395"/>
            <a:chOff x="5166883" y="996732"/>
            <a:chExt cx="515460" cy="515395"/>
          </a:xfrm>
        </p:grpSpPr>
        <p:sp>
          <p:nvSpPr>
            <p:cNvPr id="550" name="Google Shape;550;p26"/>
            <p:cNvSpPr/>
            <p:nvPr/>
          </p:nvSpPr>
          <p:spPr>
            <a:xfrm>
              <a:off x="5166883" y="996732"/>
              <a:ext cx="515460" cy="515395"/>
            </a:xfrm>
            <a:prstGeom prst="roundRect">
              <a:avLst>
                <a:gd fmla="val 23586" name="adj"/>
              </a:avLst>
            </a:pr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551" name="Google Shape;551;p26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5291263" y="1117786"/>
              <a:ext cx="266700" cy="2667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52" name="BrandDeck Text 552"/>
          <p:cNvSpPr/>
          <p:nvPr/>
        </p:nvSpPr>
        <p:spPr>
          <a:xfrm>
            <a:off x="5383513" y="2710690"/>
            <a:ext cx="5917558" cy="1705685"/>
          </a:xfrm>
          <a:prstGeom prst="roundRect">
            <a:avLst>
              <a:gd fmla="val 9293" name="adj"/>
            </a:avLst>
          </a:prstGeom>
          <a:solidFill>
            <a:srgbClr val="0077FF">
              <a:alpha val="30196"/>
            </a:srgbClr>
          </a:solidFill>
          <a:ln>
            <a:noFill/>
          </a:ln>
        </p:spPr>
        <p:txBody>
          <a:bodyPr anchorCtr="0" anchor="t" bIns="0" lIns="108000" spcFirstLastPara="1" rIns="0" wrap="square" tIns="756000" vert="horz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None/>
            </a:pPr>
            <a:r>
              <a:rPr sz="1800">
                <a:latin typeface="Play"/>
                <a:solidFill>
                  <a:schemeClr val="lt1"/>
                </a:solidFill>
              </a:rPr>
              <a:t>Частые запросы требуют точных ссылок на документы.</a:t>
            </a:r>
            <a:endParaRPr/>
          </a:p>
        </p:txBody>
      </p:sp>
      <p:grpSp>
        <p:nvGrpSpPr>
          <p:cNvPr id="553" name="Google Shape;553;p26"/>
          <p:cNvGrpSpPr/>
          <p:nvPr/>
        </p:nvGrpSpPr>
        <p:grpSpPr>
          <a:xfrm>
            <a:off x="5523729" y="2847303"/>
            <a:ext cx="515460" cy="515395"/>
            <a:chOff x="5166883" y="996732"/>
            <a:chExt cx="515460" cy="515395"/>
          </a:xfrm>
        </p:grpSpPr>
        <p:sp>
          <p:nvSpPr>
            <p:cNvPr id="554" name="Google Shape;554;p26"/>
            <p:cNvSpPr/>
            <p:nvPr/>
          </p:nvSpPr>
          <p:spPr>
            <a:xfrm>
              <a:off x="5166883" y="996732"/>
              <a:ext cx="515460" cy="515395"/>
            </a:xfrm>
            <a:prstGeom prst="roundRect">
              <a:avLst>
                <a:gd fmla="val 23586" name="adj"/>
              </a:avLst>
            </a:pr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555" name="Google Shape;555;p26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5291263" y="1117786"/>
              <a:ext cx="266700" cy="2667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56" name="BrandDeck Text 556"/>
          <p:cNvSpPr/>
          <p:nvPr/>
        </p:nvSpPr>
        <p:spPr>
          <a:xfrm>
            <a:off x="5383513" y="4561261"/>
            <a:ext cx="5917558" cy="1705685"/>
          </a:xfrm>
          <a:prstGeom prst="roundRect">
            <a:avLst>
              <a:gd fmla="val 9293" name="adj"/>
            </a:avLst>
          </a:prstGeom>
          <a:solidFill>
            <a:srgbClr val="0077FF">
              <a:alpha val="30196"/>
            </a:srgbClr>
          </a:solidFill>
          <a:ln>
            <a:noFill/>
          </a:ln>
        </p:spPr>
        <p:txBody>
          <a:bodyPr anchorCtr="0" anchor="t" bIns="0" lIns="108000" spcFirstLastPara="1" rIns="0" wrap="square" tIns="756000" vert="horz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None/>
            </a:pPr>
            <a:r>
              <a:rPr sz="1800">
                <a:latin typeface="Play"/>
                <a:solidFill>
                  <a:schemeClr val="lt1"/>
                </a:solidFill>
              </a:rPr>
              <a:t>Повторяющиеся вопросы занимают время поддержки.</a:t>
            </a:r>
            <a:endParaRPr/>
          </a:p>
        </p:txBody>
      </p:sp>
      <p:grpSp>
        <p:nvGrpSpPr>
          <p:cNvPr id="557" name="Google Shape;557;p26"/>
          <p:cNvGrpSpPr/>
          <p:nvPr/>
        </p:nvGrpSpPr>
        <p:grpSpPr>
          <a:xfrm>
            <a:off x="5523729" y="4697874"/>
            <a:ext cx="515460" cy="515395"/>
            <a:chOff x="5166883" y="996732"/>
            <a:chExt cx="515460" cy="515395"/>
          </a:xfrm>
        </p:grpSpPr>
        <p:sp>
          <p:nvSpPr>
            <p:cNvPr id="558" name="Google Shape;558;p26"/>
            <p:cNvSpPr/>
            <p:nvPr/>
          </p:nvSpPr>
          <p:spPr>
            <a:xfrm>
              <a:off x="5166883" y="996732"/>
              <a:ext cx="515460" cy="515395"/>
            </a:xfrm>
            <a:prstGeom prst="roundRect">
              <a:avLst>
                <a:gd fmla="val 23586" name="adj"/>
              </a:avLst>
            </a:pr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559" name="Google Shape;559;p26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5291263" y="1117786"/>
              <a:ext cx="266700" cy="2667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41" name="BrandDeck Text 441"/>
          <p:cNvSpPr txBox="1"/>
          <p:nvPr>
            <p:ph type="title"/>
          </p:nvPr>
        </p:nvSpPr>
        <p:spPr>
          <a:xfrm>
            <a:off x="429253" y="424691"/>
            <a:ext cx="7827311" cy="6268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 vert="horz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sz="1800"/>
              <a:t>ИИ-помощник отвечает на вопросы и даёт ссылку на документ-источник</a:t>
            </a:r>
            <a:endParaRPr/>
          </a:p>
        </p:txBody>
      </p:sp>
      <p:sp>
        <p:nvSpPr>
          <p:cNvPr id="442" name="BrandDeck Text 442"/>
          <p:cNvSpPr/>
          <p:nvPr/>
        </p:nvSpPr>
        <p:spPr>
          <a:xfrm>
            <a:off x="5383513" y="860119"/>
            <a:ext cx="5917558" cy="1705685"/>
          </a:xfrm>
          <a:prstGeom prst="roundRect">
            <a:avLst>
              <a:gd fmla="val 9293" name="adj"/>
            </a:avLst>
          </a:prstGeom>
          <a:solidFill>
            <a:srgbClr val="151515"/>
          </a:solidFill>
          <a:ln>
            <a:noFill/>
          </a:ln>
        </p:spPr>
        <p:txBody>
          <a:bodyPr anchorCtr="0" anchor="t" bIns="0" lIns="108000" spcFirstLastPara="1" rIns="0" wrap="square" tIns="756000" vert="horz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None/>
            </a:pPr>
            <a:r>
              <a:rPr sz="1800" b="0">
                <a:solidFill>
                  <a:srgbClr val="FFFFFF"/>
                </a:solidFill>
                <a:latin typeface="Play"/>
              </a:rPr>
              <a:t>ИИ-помощник отвечает на вопросы по регламентам и инструкциям.</a:t>
            </a:r>
            <a:endParaRPr/>
          </a:p>
        </p:txBody>
      </p:sp>
      <p:grpSp>
        <p:nvGrpSpPr>
          <p:cNvPr id="443" name="Google Shape;443;p21"/>
          <p:cNvGrpSpPr/>
          <p:nvPr/>
        </p:nvGrpSpPr>
        <p:grpSpPr>
          <a:xfrm>
            <a:off x="5523729" y="996732"/>
            <a:ext cx="515460" cy="515395"/>
            <a:chOff x="5166883" y="996732"/>
            <a:chExt cx="515460" cy="515395"/>
          </a:xfrm>
        </p:grpSpPr>
        <p:sp>
          <p:nvSpPr>
            <p:cNvPr id="444" name="Google Shape;444;p21"/>
            <p:cNvSpPr/>
            <p:nvPr/>
          </p:nvSpPr>
          <p:spPr>
            <a:xfrm>
              <a:off x="5166883" y="996732"/>
              <a:ext cx="515460" cy="515395"/>
            </a:xfrm>
            <a:prstGeom prst="roundRect">
              <a:avLst>
                <a:gd fmla="val 23586" name="adj"/>
              </a:avLst>
            </a:prstGeom>
            <a:solidFill>
              <a:srgbClr val="21212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445" name="Google Shape;445;p21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5291263" y="1117786"/>
              <a:ext cx="266700" cy="2667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46" name="BrandDeck Text 446"/>
          <p:cNvSpPr/>
          <p:nvPr/>
        </p:nvSpPr>
        <p:spPr>
          <a:xfrm>
            <a:off x="5383513" y="2710690"/>
            <a:ext cx="5917558" cy="1705685"/>
          </a:xfrm>
          <a:prstGeom prst="roundRect">
            <a:avLst>
              <a:gd fmla="val 9293" name="adj"/>
            </a:avLst>
          </a:prstGeom>
          <a:solidFill>
            <a:srgbClr val="151515"/>
          </a:solidFill>
          <a:ln>
            <a:noFill/>
          </a:ln>
        </p:spPr>
        <p:txBody>
          <a:bodyPr anchorCtr="0" anchor="t" bIns="0" lIns="108000" spcFirstLastPara="1" rIns="0" wrap="square" tIns="756000" vert="horz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None/>
            </a:pPr>
            <a:r>
              <a:rPr sz="1800" b="0">
                <a:solidFill>
                  <a:srgbClr val="FFFFFF"/>
                </a:solidFill>
                <a:latin typeface="Play"/>
              </a:rPr>
              <a:t>Система автоматически предоставляет ссылку на документ-источник.</a:t>
            </a:r>
            <a:endParaRPr/>
          </a:p>
        </p:txBody>
      </p:sp>
      <p:grpSp>
        <p:nvGrpSpPr>
          <p:cNvPr id="447" name="Google Shape;447;p21"/>
          <p:cNvGrpSpPr/>
          <p:nvPr/>
        </p:nvGrpSpPr>
        <p:grpSpPr>
          <a:xfrm>
            <a:off x="5523729" y="2847303"/>
            <a:ext cx="515460" cy="515395"/>
            <a:chOff x="5166883" y="996732"/>
            <a:chExt cx="515460" cy="515395"/>
          </a:xfrm>
        </p:grpSpPr>
        <p:sp>
          <p:nvSpPr>
            <p:cNvPr id="448" name="Google Shape;448;p21"/>
            <p:cNvSpPr/>
            <p:nvPr/>
          </p:nvSpPr>
          <p:spPr>
            <a:xfrm>
              <a:off x="5166883" y="996732"/>
              <a:ext cx="515460" cy="515395"/>
            </a:xfrm>
            <a:prstGeom prst="roundRect">
              <a:avLst>
                <a:gd fmla="val 23586" name="adj"/>
              </a:avLst>
            </a:prstGeom>
            <a:solidFill>
              <a:srgbClr val="21212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449" name="Google Shape;449;p21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5291263" y="1117786"/>
              <a:ext cx="266700" cy="2667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4" name="BrandDeck Text 404"/>
          <p:cNvSpPr txBox="1"/>
          <p:nvPr>
            <p:ph type="title"/>
          </p:nvPr>
        </p:nvSpPr>
        <p:spPr>
          <a:xfrm>
            <a:off x="429253" y="1460299"/>
            <a:ext cx="386516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 vert="horz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sz="1800"/>
              <a:t>Модель работает внутри контура компании, документы не уходят наружу</a:t>
            </a:r>
            <a:endParaRPr/>
          </a:p>
        </p:txBody>
      </p:sp>
      <p:sp>
        <p:nvSpPr>
          <p:cNvPr id="418" name="BrandDeck Body"/>
          <p:cNvSpPr txBox="1"/>
          <p:nvPr/>
        </p:nvSpPr>
        <p:spPr>
          <a:xfrm>
            <a:off x="5808913" y="1657446"/>
            <a:ext cx="2265869" cy="4624084"/>
          </a:xfrm>
          <a:prstGeom prst="rect">
            <a:avLst/>
          </a:prstGeom>
          <a:noFill/>
        </p:spPr>
        <p:txBody>
          <a:bodyPr wrap="square" vert="horz" anchor="t" lIns="36576" rIns="36576" tIns="18288" bIns="18288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>
                <a:solidFill>
                  <a:srgbClr val="FFFFFF"/>
                </a:solidFill>
                <a:latin typeface="Play"/>
              </a:rPr>
              <a:t>• Модель работает внутри контура компании.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>
                <a:solidFill>
                  <a:srgbClr val="FFFFFF"/>
                </a:solidFill>
                <a:latin typeface="Play"/>
              </a:rPr>
              <a:t>• Документы не покидают внутреннюю сеть.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>
                <a:solidFill>
                  <a:srgbClr val="FFFFFF"/>
                </a:solidFill>
                <a:latin typeface="Play"/>
              </a:rPr>
              <a:t>• При отсутствии ответа вопрос уходит специалисту.</a:t>
            </a:r>
          </a:p>
        </p:txBody>
      </p:sp>
      <p:pic>
        <p:nvPicPr>
          <p:cNvPr id="419" name="BrandDeck Image" descr="внутренний контур серверная"/>
          <p:cNvPicPr>
            <a:picLocks noChangeAspect="1"/>
          </p:cNvPicPr>
          <p:nvPr/>
        </p:nvPicPr>
        <p:blipFill>
          <a:blip r:embed="rId4"/>
          <a:srcRect l="23238" r="41238"/>
          <a:stretch>
            <a:fillRect/>
          </a:stretch>
        </p:blipFill>
        <p:spPr>
          <a:xfrm>
            <a:off x="8330814" y="1657446"/>
            <a:ext cx="2918746" cy="462408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86" name="BrandDeck Text 486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 vert="horz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359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sz="2400"/>
              <a:t>Если подтверждённого ответа нет, вопрос уходит специалисту с контекстом</a:t>
            </a:r>
            <a:endParaRPr/>
          </a:p>
        </p:txBody>
      </p:sp>
      <p:sp>
        <p:nvSpPr>
          <p:cNvPr id="505" name="BrandDeck Body"/>
          <p:cNvSpPr txBox="1"/>
          <p:nvPr/>
        </p:nvSpPr>
        <p:spPr>
          <a:xfrm>
            <a:off x="437111" y="2883834"/>
            <a:ext cx="4845355" cy="2889807"/>
          </a:xfrm>
          <a:prstGeom prst="rect">
            <a:avLst/>
          </a:prstGeom>
          <a:noFill/>
        </p:spPr>
        <p:txBody>
          <a:bodyPr wrap="square" vert="horz" anchor="t" lIns="36576" rIns="36576" tIns="18288" bIns="18288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>
                <a:solidFill>
                  <a:srgbClr val="E4E7EA"/>
                </a:solidFill>
                <a:latin typeface="Play"/>
              </a:rPr>
              <a:t>• Вопрос уходит специалисту поддержки вместе с контекстом.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>
                <a:solidFill>
                  <a:srgbClr val="E4E7EA"/>
                </a:solidFill>
                <a:latin typeface="Play"/>
              </a:rPr>
              <a:t>• Это происходит, если подтверждённого ответа нет в системе.</a:t>
            </a:r>
          </a:p>
        </p:txBody>
      </p:sp>
      <p:pic>
        <p:nvPicPr>
          <p:cNvPr id="506" name="BrandDeck Image" descr="сотрудник специалист поддержки"/>
          <p:cNvPicPr>
            <a:picLocks noChangeAspect="1"/>
          </p:cNvPicPr>
          <p:nvPr/>
        </p:nvPicPr>
        <p:blipFill>
          <a:blip r:embed="rId2"/>
          <a:srcRect t="6022" b="11183"/>
          <a:stretch>
            <a:fillRect/>
          </a:stretch>
        </p:blipFill>
        <p:spPr>
          <a:xfrm>
            <a:off x="5538498" y="2883834"/>
            <a:ext cx="6201730" cy="288980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59" name="BrandDeck Text 459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 vert="horz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42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sz="2800"/>
              <a:t>Пилот охватывает 2 подразделения и 150 сотрудников в течение 6 недель</a:t>
            </a:r>
            <a:endParaRPr/>
          </a:p>
        </p:txBody>
      </p:sp>
      <p:grpSp>
        <p:nvGrpSpPr>
          <p:cNvPr id="2" name="BrandDeck Diagram icon_grid" descr="icon_grid: Длительность 6 недель; Охват 2 подразделения; Команда 150 сотрудников"/>
          <p:cNvGrpSpPr/>
          <p:nvPr/>
        </p:nvGrpSpPr>
        <p:grpSpPr>
          <a:xfrm>
            <a:off x="415687" y="1666499"/>
            <a:ext cx="10733793" cy="3525001"/>
            <a:chOff x="415687" y="1666499"/>
            <a:chExt cx="10733793" cy="3525001"/>
          </a:xfrm>
        </p:grpSpPr>
        <p:sp>
          <p:nvSpPr>
            <p:cNvPr id="468" name="BrandDeck Diagram Card 1"/>
            <p:cNvSpPr/>
            <p:nvPr/>
          </p:nvSpPr>
          <p:spPr>
            <a:xfrm>
              <a:off x="415687" y="1666499"/>
              <a:ext cx="3434814" cy="3525001"/>
            </a:xfrm>
            <a:prstGeom prst="roundRect">
              <a:avLst>
                <a:gd name="adj" fmla="val 8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9" name="BrandDeck Diagram Icon 1 Badge"/>
            <p:cNvSpPr/>
            <p:nvPr/>
          </p:nvSpPr>
          <p:spPr>
            <a:xfrm>
              <a:off x="635143" y="1885955"/>
              <a:ext cx="603504" cy="60350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0" name="BrandDeck Icon hourglass"/>
            <p:cNvSpPr/>
            <p:nvPr/>
          </p:nvSpPr>
          <p:spPr>
            <a:xfrm>
              <a:off x="767913" y="2018725"/>
              <a:ext cx="337962" cy="337962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5000" y="22000"/>
                  </a:moveTo>
                  <a:lnTo>
                    <a:pt x="19000" y="22000"/>
                  </a:lnTo>
                </a:path>
                <a:path w="24000" h="24000" fill="none">
                  <a:moveTo>
                    <a:pt x="5000" y="2000"/>
                  </a:moveTo>
                  <a:lnTo>
                    <a:pt x="19000" y="2000"/>
                  </a:lnTo>
                </a:path>
                <a:path w="24000" h="24000" fill="none">
                  <a:moveTo>
                    <a:pt x="17000" y="22000"/>
                  </a:moveTo>
                  <a:lnTo>
                    <a:pt x="17000" y="17828"/>
                  </a:lnTo>
                  <a:cubicBezTo>
                    <a:pt x="17000" y="17298"/>
                    <a:pt x="16789" y="16789"/>
                    <a:pt x="16414" y="16414"/>
                  </a:cubicBezTo>
                  <a:lnTo>
                    <a:pt x="12000" y="12000"/>
                  </a:lnTo>
                  <a:lnTo>
                    <a:pt x="7586" y="16414"/>
                  </a:lnTo>
                  <a:cubicBezTo>
                    <a:pt x="7211" y="16789"/>
                    <a:pt x="7000" y="17298"/>
                    <a:pt x="7000" y="17828"/>
                  </a:cubicBezTo>
                  <a:lnTo>
                    <a:pt x="7000" y="22000"/>
                  </a:lnTo>
                </a:path>
                <a:path w="24000" h="24000" fill="none">
                  <a:moveTo>
                    <a:pt x="7000" y="2000"/>
                  </a:moveTo>
                  <a:lnTo>
                    <a:pt x="7000" y="6172"/>
                  </a:lnTo>
                  <a:cubicBezTo>
                    <a:pt x="7000" y="6702"/>
                    <a:pt x="7211" y="7211"/>
                    <a:pt x="7586" y="7586"/>
                  </a:cubicBezTo>
                  <a:lnTo>
                    <a:pt x="12000" y="12000"/>
                  </a:lnTo>
                  <a:lnTo>
                    <a:pt x="16414" y="7586"/>
                  </a:lnTo>
                  <a:cubicBezTo>
                    <a:pt x="16789" y="7211"/>
                    <a:pt x="17000" y="6702"/>
                    <a:pt x="17000" y="6172"/>
                  </a:cubicBezTo>
                  <a:lnTo>
                    <a:pt x="17000" y="2000"/>
                  </a:lnTo>
                </a:path>
              </a:pathLst>
            </a:custGeom>
            <a:noFill/>
            <a:ln w="28163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1" name="BrandDeck Diagram Text 1"/>
            <p:cNvSpPr txBox="1"/>
            <p:nvPr/>
          </p:nvSpPr>
          <p:spPr>
            <a:xfrm>
              <a:off x="569306" y="2643078"/>
              <a:ext cx="3127575" cy="2438694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1">
                  <a:solidFill>
                    <a:srgbClr val="FFFFFF"/>
                  </a:solidFill>
                  <a:latin typeface="Play"/>
                </a:rPr>
                <a:t>Длительность</a:t>
              </a:r>
            </a:p>
            <a:p>
              <a:pPr algn="l">
                <a:lnSpc>
                  <a:spcPct val="110000"/>
                </a:lnSpc>
                <a:spcBef>
                  <a:spcPts val="450"/>
                </a:spcBef>
              </a:pPr>
              <a:r>
                <a:rPr sz="1800" b="0">
                  <a:solidFill>
                    <a:srgbClr val="FFFFFF"/>
                  </a:solidFill>
                  <a:latin typeface="Play"/>
                </a:rPr>
                <a:t>6 недель</a:t>
              </a:r>
            </a:p>
          </p:txBody>
        </p:sp>
        <p:sp>
          <p:nvSpPr>
            <p:cNvPr id="472" name="BrandDeck Diagram Card 2"/>
            <p:cNvSpPr/>
            <p:nvPr/>
          </p:nvSpPr>
          <p:spPr>
            <a:xfrm>
              <a:off x="4065176" y="1666499"/>
              <a:ext cx="3434814" cy="3525001"/>
            </a:xfrm>
            <a:prstGeom prst="roundRect">
              <a:avLst>
                <a:gd name="adj" fmla="val 8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3" name="BrandDeck Diagram Icon 2 Badge"/>
            <p:cNvSpPr/>
            <p:nvPr/>
          </p:nvSpPr>
          <p:spPr>
            <a:xfrm>
              <a:off x="4284632" y="1885955"/>
              <a:ext cx="603504" cy="60350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4" name="BrandDeck Icon building-2"/>
            <p:cNvSpPr/>
            <p:nvPr/>
          </p:nvSpPr>
          <p:spPr>
            <a:xfrm>
              <a:off x="4417403" y="2018725"/>
              <a:ext cx="337962" cy="337962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6000" y="22000"/>
                  </a:moveTo>
                  <a:lnTo>
                    <a:pt x="6000" y="4000"/>
                  </a:lnTo>
                  <a:cubicBezTo>
                    <a:pt x="6000" y="2895"/>
                    <a:pt x="6895" y="2000"/>
                    <a:pt x="8000" y="2000"/>
                  </a:cubicBezTo>
                  <a:lnTo>
                    <a:pt x="16000" y="2000"/>
                  </a:lnTo>
                  <a:cubicBezTo>
                    <a:pt x="17105" y="2000"/>
                    <a:pt x="18000" y="2895"/>
                    <a:pt x="18000" y="4000"/>
                  </a:cubicBezTo>
                  <a:lnTo>
                    <a:pt x="18000" y="22000"/>
                  </a:lnTo>
                  <a:close/>
                </a:path>
                <a:path w="24000" h="24000" fill="none">
                  <a:moveTo>
                    <a:pt x="6000" y="12000"/>
                  </a:moveTo>
                  <a:lnTo>
                    <a:pt x="4000" y="12000"/>
                  </a:lnTo>
                  <a:cubicBezTo>
                    <a:pt x="2895" y="12000"/>
                    <a:pt x="2000" y="12895"/>
                    <a:pt x="2000" y="14000"/>
                  </a:cubicBezTo>
                  <a:lnTo>
                    <a:pt x="2000" y="20000"/>
                  </a:lnTo>
                  <a:cubicBezTo>
                    <a:pt x="2000" y="21105"/>
                    <a:pt x="2895" y="22000"/>
                    <a:pt x="4000" y="22000"/>
                  </a:cubicBezTo>
                  <a:lnTo>
                    <a:pt x="6000" y="22000"/>
                  </a:lnTo>
                </a:path>
                <a:path w="24000" h="24000" fill="none">
                  <a:moveTo>
                    <a:pt x="18000" y="9000"/>
                  </a:moveTo>
                  <a:lnTo>
                    <a:pt x="20000" y="9000"/>
                  </a:lnTo>
                  <a:cubicBezTo>
                    <a:pt x="21105" y="9000"/>
                    <a:pt x="22000" y="9895"/>
                    <a:pt x="22000" y="11000"/>
                  </a:cubicBezTo>
                  <a:lnTo>
                    <a:pt x="22000" y="20000"/>
                  </a:lnTo>
                  <a:cubicBezTo>
                    <a:pt x="22000" y="21105"/>
                    <a:pt x="21105" y="22000"/>
                    <a:pt x="20000" y="22000"/>
                  </a:cubicBezTo>
                  <a:lnTo>
                    <a:pt x="18000" y="22000"/>
                  </a:lnTo>
                </a:path>
                <a:path w="24000" h="24000" fill="none">
                  <a:moveTo>
                    <a:pt x="10000" y="6000"/>
                  </a:moveTo>
                  <a:lnTo>
                    <a:pt x="14000" y="6000"/>
                  </a:lnTo>
                </a:path>
                <a:path w="24000" h="24000" fill="none">
                  <a:moveTo>
                    <a:pt x="10000" y="10000"/>
                  </a:moveTo>
                  <a:lnTo>
                    <a:pt x="14000" y="10000"/>
                  </a:lnTo>
                </a:path>
                <a:path w="24000" h="24000" fill="none">
                  <a:moveTo>
                    <a:pt x="10000" y="14000"/>
                  </a:moveTo>
                  <a:lnTo>
                    <a:pt x="14000" y="14000"/>
                  </a:lnTo>
                </a:path>
                <a:path w="24000" h="24000" fill="none">
                  <a:moveTo>
                    <a:pt x="10000" y="18000"/>
                  </a:moveTo>
                  <a:lnTo>
                    <a:pt x="14000" y="18000"/>
                  </a:lnTo>
                </a:path>
              </a:pathLst>
            </a:custGeom>
            <a:noFill/>
            <a:ln w="28163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5" name="BrandDeck Diagram Text 2"/>
            <p:cNvSpPr txBox="1"/>
            <p:nvPr/>
          </p:nvSpPr>
          <p:spPr>
            <a:xfrm>
              <a:off x="4218796" y="2643078"/>
              <a:ext cx="3127575" cy="2438694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1">
                  <a:solidFill>
                    <a:srgbClr val="FFFFFF"/>
                  </a:solidFill>
                  <a:latin typeface="Play"/>
                </a:rPr>
                <a:t>Охват</a:t>
              </a:r>
            </a:p>
            <a:p>
              <a:pPr algn="l">
                <a:lnSpc>
                  <a:spcPct val="110000"/>
                </a:lnSpc>
                <a:spcBef>
                  <a:spcPts val="450"/>
                </a:spcBef>
              </a:pPr>
              <a:r>
                <a:rPr sz="1800" b="0">
                  <a:solidFill>
                    <a:srgbClr val="FFFFFF"/>
                  </a:solidFill>
                  <a:latin typeface="Play"/>
                </a:rPr>
                <a:t>2 подразделения</a:t>
              </a:r>
            </a:p>
          </p:txBody>
        </p:sp>
        <p:sp>
          <p:nvSpPr>
            <p:cNvPr id="476" name="BrandDeck Diagram Card 3"/>
            <p:cNvSpPr/>
            <p:nvPr/>
          </p:nvSpPr>
          <p:spPr>
            <a:xfrm>
              <a:off x="7714666" y="1666499"/>
              <a:ext cx="3434814" cy="3525001"/>
            </a:xfrm>
            <a:prstGeom prst="roundRect">
              <a:avLst>
                <a:gd name="adj" fmla="val 8000"/>
              </a:avLst>
            </a:prstGeom>
            <a:solidFill>
              <a:srgbClr val="1A1A1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7" name="BrandDeck Diagram Icon 3 Badge"/>
            <p:cNvSpPr/>
            <p:nvPr/>
          </p:nvSpPr>
          <p:spPr>
            <a:xfrm>
              <a:off x="7934122" y="1885955"/>
              <a:ext cx="603504" cy="60350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8" name="BrandDeck Icon users"/>
            <p:cNvSpPr/>
            <p:nvPr/>
          </p:nvSpPr>
          <p:spPr>
            <a:xfrm>
              <a:off x="8066893" y="2018725"/>
              <a:ext cx="337962" cy="337962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6000" y="21000"/>
                  </a:moveTo>
                  <a:lnTo>
                    <a:pt x="16000" y="19000"/>
                  </a:lnTo>
                  <a:cubicBezTo>
                    <a:pt x="16000" y="16791"/>
                    <a:pt x="14209" y="15000"/>
                    <a:pt x="12000" y="15000"/>
                  </a:cubicBezTo>
                  <a:lnTo>
                    <a:pt x="6000" y="15000"/>
                  </a:lnTo>
                  <a:cubicBezTo>
                    <a:pt x="3791" y="15000"/>
                    <a:pt x="2000" y="16791"/>
                    <a:pt x="2000" y="19000"/>
                  </a:cubicBezTo>
                  <a:lnTo>
                    <a:pt x="2000" y="21000"/>
                  </a:lnTo>
                </a:path>
                <a:path w="24000" h="24000" fill="none">
                  <a:moveTo>
                    <a:pt x="13000" y="7000"/>
                  </a:moveTo>
                  <a:cubicBezTo>
                    <a:pt x="13000" y="9209"/>
                    <a:pt x="11209" y="11000"/>
                    <a:pt x="9000" y="11000"/>
                  </a:cubicBezTo>
                  <a:cubicBezTo>
                    <a:pt x="6791" y="11000"/>
                    <a:pt x="5000" y="9209"/>
                    <a:pt x="5000" y="7000"/>
                  </a:cubicBezTo>
                  <a:cubicBezTo>
                    <a:pt x="5000" y="4791"/>
                    <a:pt x="6791" y="3000"/>
                    <a:pt x="9000" y="3000"/>
                  </a:cubicBezTo>
                  <a:cubicBezTo>
                    <a:pt x="11209" y="3000"/>
                    <a:pt x="13000" y="4791"/>
                    <a:pt x="13000" y="7000"/>
                  </a:cubicBezTo>
                  <a:close/>
                </a:path>
                <a:path w="24000" h="24000" fill="none">
                  <a:moveTo>
                    <a:pt x="22000" y="21000"/>
                  </a:moveTo>
                  <a:lnTo>
                    <a:pt x="22000" y="19000"/>
                  </a:lnTo>
                  <a:cubicBezTo>
                    <a:pt x="21999" y="17177"/>
                    <a:pt x="20765" y="15586"/>
                    <a:pt x="19000" y="15130"/>
                  </a:cubicBezTo>
                </a:path>
                <a:path w="24000" h="24000" fill="none">
                  <a:moveTo>
                    <a:pt x="16000" y="3130"/>
                  </a:moveTo>
                  <a:cubicBezTo>
                    <a:pt x="17770" y="3583"/>
                    <a:pt x="19008" y="5178"/>
                    <a:pt x="19008" y="7005"/>
                  </a:cubicBezTo>
                  <a:cubicBezTo>
                    <a:pt x="19008" y="8832"/>
                    <a:pt x="17770" y="10427"/>
                    <a:pt x="16000" y="10880"/>
                  </a:cubicBezTo>
                </a:path>
              </a:pathLst>
            </a:custGeom>
            <a:noFill/>
            <a:ln w="28163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9" name="BrandDeck Diagram Text 3"/>
            <p:cNvSpPr txBox="1"/>
            <p:nvPr/>
          </p:nvSpPr>
          <p:spPr>
            <a:xfrm>
              <a:off x="7868286" y="2643078"/>
              <a:ext cx="3127575" cy="2438694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1">
                  <a:solidFill>
                    <a:srgbClr val="FFFFFF"/>
                  </a:solidFill>
                  <a:latin typeface="Play"/>
                </a:rPr>
                <a:t>Команда</a:t>
              </a:r>
            </a:p>
            <a:p>
              <a:pPr algn="l">
                <a:lnSpc>
                  <a:spcPct val="110000"/>
                </a:lnSpc>
                <a:spcBef>
                  <a:spcPts val="450"/>
                </a:spcBef>
              </a:pPr>
              <a:r>
                <a:rPr sz="1800" b="0">
                  <a:solidFill>
                    <a:srgbClr val="FFFFFF"/>
                  </a:solidFill>
                  <a:latin typeface="Play"/>
                </a:rPr>
                <a:t>150 сотрудников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86" name="BrandDeck Text 486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 vert="horz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359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sz="2400"/>
              <a:t>Успех измеряется временем поиска ответа и долей обращений, закрытых без специалиста</a:t>
            </a:r>
            <a:endParaRPr/>
          </a:p>
        </p:txBody>
      </p:sp>
      <p:graphicFrame>
        <p:nvGraphicFramePr>
          <p:cNvPr id="505" name="BrandDeck Table"/>
          <p:cNvGraphicFramePr>
            <a:graphicFrameLocks noGrp="1"/>
          </p:cNvGraphicFramePr>
          <p:nvPr/>
        </p:nvGraphicFramePr>
        <p:xfrm>
          <a:off x="437111" y="2883834"/>
          <a:ext cx="11303118" cy="28898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51559"/>
                <a:gridCol w="5651559"/>
              </a:tblGrid>
              <a:tr h="96326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Play"/>
                        </a:rPr>
                        <a:t>Метрика</a:t>
                      </a:r>
                    </a:p>
                  </a:txBody>
                  <a:tcPr marL="54864" marR="54864" anchor="ctr">
                    <a:solidFill>
                      <a:srgbClr val="006D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Play"/>
                        </a:rPr>
                        <a:t>Что измеряется</a:t>
                      </a:r>
                    </a:p>
                  </a:txBody>
                  <a:tcPr marL="54864" marR="54864" anchor="ctr">
                    <a:solidFill>
                      <a:srgbClr val="006DEB"/>
                    </a:solidFill>
                  </a:tcPr>
                </a:tc>
              </a:tr>
              <a:tr h="96326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Play"/>
                        </a:rPr>
                        <a:t>Время поиска ответа</a:t>
                      </a:r>
                    </a:p>
                  </a:txBody>
                  <a:tcPr marL="54864" marR="54864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Play"/>
                        </a:rPr>
                        <a:t>Сколько времени сотрудник тратит на поиск инструкции</a:t>
                      </a:r>
                    </a:p>
                  </a:txBody>
                  <a:tcPr marL="54864" marR="54864" anchor="ctr">
                    <a:solidFill>
                      <a:srgbClr val="1A1A1A"/>
                    </a:solidFill>
                  </a:tcPr>
                </a:tc>
              </a:tr>
              <a:tr h="96326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Play"/>
                        </a:rPr>
                        <a:t>Доля обращений без специалиста</a:t>
                      </a:r>
                    </a:p>
                  </a:txBody>
                  <a:tcPr marL="54864" marR="54864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Play"/>
                        </a:rPr>
                        <a:t>Процент вопросов, закрытых ИИ-помощником самостоятельно</a:t>
                      </a:r>
                    </a:p>
                  </a:txBody>
                  <a:tcPr marL="54864" marR="54864" anchor="ctr">
                    <a:solidFill>
                      <a:srgbClr val="1A1A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41" name="BrandDeck Text 441"/>
          <p:cNvSpPr txBox="1"/>
          <p:nvPr>
            <p:ph type="title"/>
          </p:nvPr>
        </p:nvSpPr>
        <p:spPr>
          <a:xfrm>
            <a:off x="429253" y="424691"/>
            <a:ext cx="7827311" cy="6268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 vert="horz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sz="1800"/>
              <a:t>Просим одобрить пилот и выделить команду из 3 человек</a:t>
            </a:r>
            <a:endParaRPr/>
          </a:p>
        </p:txBody>
      </p:sp>
      <p:sp>
        <p:nvSpPr>
          <p:cNvPr id="442" name="BrandDeck Text 442"/>
          <p:cNvSpPr/>
          <p:nvPr/>
        </p:nvSpPr>
        <p:spPr>
          <a:xfrm>
            <a:off x="5383513" y="860119"/>
            <a:ext cx="5917558" cy="1705685"/>
          </a:xfrm>
          <a:prstGeom prst="roundRect">
            <a:avLst>
              <a:gd fmla="val 9293" name="adj"/>
            </a:avLst>
          </a:prstGeom>
          <a:solidFill>
            <a:srgbClr val="151515"/>
          </a:solidFill>
          <a:ln>
            <a:noFill/>
          </a:ln>
        </p:spPr>
        <p:txBody>
          <a:bodyPr anchorCtr="0" anchor="t" bIns="0" lIns="108000" spcFirstLastPara="1" rIns="0" wrap="square" tIns="756000" vert="horz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None/>
            </a:pPr>
            <a:r>
              <a:rPr sz="1800" b="0">
                <a:solidFill>
                  <a:srgbClr val="FFFFFF"/>
                </a:solidFill>
                <a:latin typeface="Play"/>
              </a:rPr>
              <a:t>Просим одобрить запуск пилота.</a:t>
            </a:r>
            <a:endParaRPr/>
          </a:p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None/>
            </a:pPr>
            <a:r>
              <a:rPr sz="1800" b="0">
                <a:solidFill>
                  <a:srgbClr val="FFFFFF"/>
                </a:solidFill>
                <a:latin typeface="Play"/>
              </a:rPr>
              <a:t>Необходимо выделить команду из 3 человек.</a:t>
            </a:r>
          </a:p>
        </p:txBody>
      </p:sp>
      <p:grpSp>
        <p:nvGrpSpPr>
          <p:cNvPr id="443" name="Google Shape;443;p21"/>
          <p:cNvGrpSpPr/>
          <p:nvPr/>
        </p:nvGrpSpPr>
        <p:grpSpPr>
          <a:xfrm>
            <a:off x="5523729" y="996732"/>
            <a:ext cx="515460" cy="515395"/>
            <a:chOff x="5166883" y="996732"/>
            <a:chExt cx="515460" cy="515395"/>
          </a:xfrm>
        </p:grpSpPr>
        <p:sp>
          <p:nvSpPr>
            <p:cNvPr id="444" name="Google Shape;444;p21"/>
            <p:cNvSpPr/>
            <p:nvPr/>
          </p:nvSpPr>
          <p:spPr>
            <a:xfrm>
              <a:off x="5166883" y="996732"/>
              <a:ext cx="515460" cy="515395"/>
            </a:xfrm>
            <a:prstGeom prst="roundRect">
              <a:avLst>
                <a:gd fmla="val 23586" name="adj"/>
              </a:avLst>
            </a:prstGeom>
            <a:solidFill>
              <a:srgbClr val="21212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445" name="Google Shape;445;p21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5291263" y="1117786"/>
              <a:ext cx="266700" cy="2667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46" name="BrandDeck Text 446"/>
          <p:cNvSpPr/>
          <p:nvPr/>
        </p:nvSpPr>
        <p:spPr>
          <a:xfrm>
            <a:off x="5383513" y="2710690"/>
            <a:ext cx="5917558" cy="1705685"/>
          </a:xfrm>
          <a:prstGeom prst="roundRect">
            <a:avLst>
              <a:gd fmla="val 9293" name="adj"/>
            </a:avLst>
          </a:prstGeom>
          <a:solidFill>
            <a:srgbClr val="151515"/>
          </a:solidFill>
          <a:ln>
            <a:noFill/>
          </a:ln>
        </p:spPr>
        <p:txBody>
          <a:bodyPr anchorCtr="0" anchor="t" bIns="0" lIns="108000" spcFirstLastPara="1" rIns="0" wrap="square" tIns="756000" vert="horz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None/>
            </a:pPr>
            <a:r>
              <a:rPr sz="1800" b="0">
                <a:solidFill>
                  <a:srgbClr val="FFFFFF"/>
                </a:solidFill>
                <a:latin typeface="Play"/>
              </a:rPr>
              <a:t>Запрос на одобрение пилота и выделение команды</a:t>
            </a:r>
            <a:endParaRPr/>
          </a:p>
        </p:txBody>
      </p:sp>
      <p:grpSp>
        <p:nvGrpSpPr>
          <p:cNvPr id="447" name="Google Shape;447;p21"/>
          <p:cNvGrpSpPr/>
          <p:nvPr/>
        </p:nvGrpSpPr>
        <p:grpSpPr>
          <a:xfrm>
            <a:off x="5523729" y="2847303"/>
            <a:ext cx="515460" cy="515395"/>
            <a:chOff x="5166883" y="996732"/>
            <a:chExt cx="515460" cy="515395"/>
          </a:xfrm>
        </p:grpSpPr>
        <p:sp>
          <p:nvSpPr>
            <p:cNvPr id="448" name="Google Shape;448;p21"/>
            <p:cNvSpPr/>
            <p:nvPr/>
          </p:nvSpPr>
          <p:spPr>
            <a:xfrm>
              <a:off x="5166883" y="996732"/>
              <a:ext cx="515460" cy="515395"/>
            </a:xfrm>
            <a:prstGeom prst="roundRect">
              <a:avLst>
                <a:gd fmla="val 23586" name="adj"/>
              </a:avLst>
            </a:prstGeom>
            <a:solidFill>
              <a:srgbClr val="21212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449" name="Google Shape;449;p21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5291263" y="1117786"/>
              <a:ext cx="266700" cy="2667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50" name="BrandDeck Text 450"/>
          <p:cNvSpPr/>
          <p:nvPr/>
        </p:nvSpPr>
        <p:spPr>
          <a:xfrm>
            <a:off x="5383513" y="4561261"/>
            <a:ext cx="5917558" cy="1705685"/>
          </a:xfrm>
          <a:prstGeom prst="roundRect">
            <a:avLst>
              <a:gd fmla="val 9293" name="adj"/>
            </a:avLst>
          </a:prstGeom>
          <a:solidFill>
            <a:srgbClr val="151515"/>
          </a:solidFill>
          <a:ln>
            <a:noFill/>
          </a:ln>
        </p:spPr>
        <p:txBody>
          <a:bodyPr anchorCtr="0" anchor="t" bIns="0" lIns="108000" spcFirstLastPara="1" rIns="0" wrap="square" tIns="756000" vert="horz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None/>
            </a:pPr>
            <a:r>
              <a:rPr sz="1800" b="0">
                <a:solidFill>
                  <a:srgbClr val="FFFFFF"/>
                </a:solidFill>
                <a:latin typeface="Play"/>
              </a:rPr>
              <a:t>Пилот охватит 2 подразделения и 150 сотрудников.</a:t>
            </a:r>
            <a:endParaRPr/>
          </a:p>
        </p:txBody>
      </p:sp>
      <p:grpSp>
        <p:nvGrpSpPr>
          <p:cNvPr id="451" name="Google Shape;451;p21"/>
          <p:cNvGrpSpPr/>
          <p:nvPr/>
        </p:nvGrpSpPr>
        <p:grpSpPr>
          <a:xfrm>
            <a:off x="5523729" y="4697874"/>
            <a:ext cx="515460" cy="515395"/>
            <a:chOff x="5166883" y="996732"/>
            <a:chExt cx="515460" cy="515395"/>
          </a:xfrm>
        </p:grpSpPr>
        <p:sp>
          <p:nvSpPr>
            <p:cNvPr id="452" name="Google Shape;452;p21"/>
            <p:cNvSpPr/>
            <p:nvPr/>
          </p:nvSpPr>
          <p:spPr>
            <a:xfrm>
              <a:off x="5166883" y="996732"/>
              <a:ext cx="515460" cy="515395"/>
            </a:xfrm>
            <a:prstGeom prst="roundRect">
              <a:avLst>
                <a:gd fmla="val 23586" name="adj"/>
              </a:avLst>
            </a:prstGeom>
            <a:solidFill>
              <a:srgbClr val="21212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453" name="Google Shape;453;p21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5291263" y="1117786"/>
              <a:ext cx="266700" cy="2667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Контентные">
  <a:themeElements>
    <a:clrScheme name="VK Tech 2024">
      <a:dk1>
        <a:srgbClr val="000000"/>
      </a:dk1>
      <a:lt1>
        <a:srgbClr val="FFFFFF"/>
      </a:lt1>
      <a:dk2>
        <a:srgbClr val="0077FF"/>
      </a:dk2>
      <a:lt2>
        <a:srgbClr val="FFFFFF"/>
      </a:lt2>
      <a:accent1>
        <a:srgbClr val="0077FF"/>
      </a:accent1>
      <a:accent2>
        <a:srgbClr val="00E9FF"/>
      </a:accent2>
      <a:accent3>
        <a:srgbClr val="AAFBFF"/>
      </a:accent3>
      <a:accent4>
        <a:srgbClr val="EDF3FC"/>
      </a:accent4>
      <a:accent5>
        <a:srgbClr val="7C8A9A"/>
      </a:accent5>
      <a:accent6>
        <a:srgbClr val="202020"/>
      </a:accent6>
      <a:hlink>
        <a:srgbClr val="0077FF"/>
      </a:hlink>
      <a:folHlink>
        <a:srgbClr val="00E9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ИИ-помощник во внутреннем портале</dc:title>
  <cp:lastModifiedBy/>
  <cp:revision>1</cp:revision>
  <dcterms:modified xsi:type="dcterms:W3CDTF">2026-09-28T15:59:12Z</dcterms:modified>
  <dc:subject>Template-adaptive presentation</dc:subject>
  <cp:keywords>BrandDeck, template-adaptive, presentation</cp:keywords>
  <dc:creator/>
  <dc:description/>
</cp:coreProperties>
</file>