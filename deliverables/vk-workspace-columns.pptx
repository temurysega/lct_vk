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1.xml"/><Relationship Id="rId39" Type="http://schemas.openxmlformats.org/officeDocument/2006/relationships/slide" Target="slides/slide2.xml"/><Relationship Id="rId40" Type="http://schemas.openxmlformats.org/officeDocument/2006/relationships/slide" Target="slides/slide3.xml"/><Relationship Id="rId41" Type="http://schemas.openxmlformats.org/officeDocument/2006/relationships/slide" Target="slides/slide4.xml"/><Relationship Id="rId42" Type="http://schemas.openxmlformats.org/officeDocument/2006/relationships/slide" Target="slides/slide5.xml"/><Relationship Id="rId43" Type="http://schemas.openxmlformats.org/officeDocument/2006/relationships/slide" Target="slides/slide6.xml"/><Relationship Id="rId44" Type="http://schemas.openxmlformats.org/officeDocument/2006/relationships/slide" Target="slides/slide7.xml"/><Relationship Id="rId45" Type="http://schemas.openxmlformats.org/officeDocument/2006/relationships/slide" Target="slides/slide8.xml"/><Relationship Id="rId46" Type="http://schemas.openxmlformats.org/officeDocument/2006/relationships/slide" Target="slides/slide9.xml"/><Relationship Id="rId47" Type="http://schemas.openxmlformats.org/officeDocument/2006/relationships/slide" Target="slides/slide10.xml"/><Relationship Id="rId48" Type="http://schemas.openxmlformats.org/officeDocument/2006/relationships/slide" Target="slides/slide11.xml"/><Relationship Id="rId4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слайд представляет инициативу по внедрению ИИ-помощника во внутренний портал для автоматизации ответов на вопросы по регламентам и снижения нагрузки на службу поддержки.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информации отнимает до 30 минут, а треть обращений дублируются, что создает лишнюю нагрузку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150 сотрудников двух подразделений тратят до 30 минут на поиск инструкций.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автоматически генерирует ответ на основе регламентов и сразу указывает ссылку на документ, сокращая время поиска.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Ключевое преимущество системы — строгая изоляция данных: все запросы обрабатываются внутри контура, а исходные документы никогда не покидают корпоративную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ответ в регламентах, запрос автоматически передаётся специалисту с полным контекстом диалога.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слайд определяет ключевые метрики успеха пилота: скорость поиска и автономность сотрудников, которые мы будем измерять в течение 6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ограничен двумя подразделениями и 150 сотрудниками в течение 6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оценки эффективности пилота мы будем отслеживать время поиска ответа и долю обращений, закрытых ИИ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Архитектура системы полностью изолирована внутри контура компании, что исключает риск утечки документов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старта пилота необходимо ваше одобрение, выделение команды из трех человек и утверждение бюджета.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старта проекта необходимо утвердить бюджет и выделить команду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4" Type="http://schemas.openxmlformats.org/officeDocument/2006/relationships/slideLayout" Target="../slideLayouts/slideLayout3.xml"/><Relationship Id="rId6" Type="http://schemas.openxmlformats.org/officeDocument/2006/relationships/slideLayout" Target="../slideLayouts/slideLayout5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0" r:id="rId4"/>
    <p:sldLayoutId id="2147483652" r:id="rId6"/>
    <p:sldLayoutId id="2147483654" r:id="rId8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Relationship Id="rId4" Type="http://schemas.openxmlformats.org/officeDocument/2006/relationships/image" Target="../media/image33.jpeg"/><Relationship Id="rId5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Relationship Id="rId4" Type="http://schemas.openxmlformats.org/officeDocument/2006/relationships/image" Target="../media/image34.jpeg"/><Relationship Id="rId5" Type="http://schemas.openxmlformats.org/officeDocument/2006/relationships/notesSlide" Target="../notesSlides/notesSlide3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BrandDeck Text 381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3200"/>
              <a:t>Автоматизация поиска инструкций и ответов в поддержке</a:t>
            </a:r>
            <a:endParaRPr sz="4800"/>
          </a:p>
        </p:txBody>
      </p:sp>
      <p:sp>
        <p:nvSpPr>
          <p:cNvPr id="383" name="BrandDeck Text 383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sz="1200" b="0">
                <a:solidFill>
                  <a:srgbClr val="AFB8C2"/>
                </a:solidFill>
                <a:latin typeface="Play"/>
              </a:rPr>
              <a:t>Инициатива по внедрению ИИ-помощника для снижения нагрузки на поддержку и ускорения поиска регламентов</a:t>
            </a:r>
            <a:endParaRPr b="0" i="0" sz="1600" u="none" cap="none" strike="noStrike">
              <a:solidFill>
                <a:srgbClr val="AFB8C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BrandDeck Text 547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Поиск инструкции занимает до 30 минут, а треть обращений дублируются</a:t>
            </a:r>
            <a:endParaRPr/>
          </a:p>
        </p:txBody>
      </p:sp>
      <p:sp>
        <p:nvSpPr>
          <p:cNvPr id="548" name="BrandDeck Text 548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Сотрудники тратят до 30 минут на поиск нужной инструкции.</a:t>
            </a:r>
            <a:endParaRPr/>
          </a:p>
        </p:txBody>
      </p:sp>
      <p:grpSp>
        <p:nvGrpSpPr>
          <p:cNvPr id="549" name="Google Shape;549;p26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550" name="Google Shape;550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1" name="Google Shape;551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2" name="BrandDeck Text 552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Треть всех обращений в поддержку — повторяющиеся вопросы.</a:t>
            </a:r>
            <a:endParaRPr/>
          </a:p>
        </p:txBody>
      </p:sp>
      <p:grpSp>
        <p:nvGrpSpPr>
          <p:cNvPr id="553" name="Google Shape;553;p26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554" name="Google Shape;554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5" name="Google Shape;555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6" name="BrandDeck Text 556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Текущий ручной процесс перегружает специалистов поддержки.</a:t>
            </a:r>
            <a:endParaRPr/>
          </a:p>
        </p:txBody>
      </p:sp>
      <p:grpSp>
        <p:nvGrpSpPr>
          <p:cNvPr id="557" name="Google Shape;557;p26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558" name="Google Shape;558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9" name="Google Shape;559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Влияет на 150 сотрудников двух подразделений при текущем ручном процессе</a:t>
            </a:r>
            <a:endParaRPr/>
          </a:p>
        </p:txBody>
      </p:sp>
      <p:grpSp>
        <p:nvGrpSpPr>
          <p:cNvPr id="2" name="BrandDeck Diagram icon_grid" descr="icon_grid: 150 сотрудников Два подразделения; До 30 минут Время поиска инструкции"/>
          <p:cNvGrpSpPr/>
          <p:nvPr/>
        </p:nvGrpSpPr>
        <p:grpSpPr>
          <a:xfrm>
            <a:off x="415687" y="1666499"/>
            <a:ext cx="10733793" cy="3525001"/>
            <a:chOff x="415687" y="1666499"/>
            <a:chExt cx="10733793" cy="3525001"/>
          </a:xfrm>
        </p:grpSpPr>
        <p:sp>
          <p:nvSpPr>
            <p:cNvPr id="468" name="BrandDeck Diagram Card 1"/>
            <p:cNvSpPr/>
            <p:nvPr/>
          </p:nvSpPr>
          <p:spPr>
            <a:xfrm>
              <a:off x="415687" y="1666499"/>
              <a:ext cx="5259559" cy="3525001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BrandDeck Diagram Icon 1 Badge"/>
            <p:cNvSpPr/>
            <p:nvPr/>
          </p:nvSpPr>
          <p:spPr>
            <a:xfrm>
              <a:off x="635143" y="1885955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0" name="BrandDeck Icon users"/>
            <p:cNvSpPr/>
            <p:nvPr/>
          </p:nvSpPr>
          <p:spPr>
            <a:xfrm>
              <a:off x="767913" y="2018725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1" name="BrandDeck Diagram Text 1"/>
            <p:cNvSpPr txBox="1"/>
            <p:nvPr/>
          </p:nvSpPr>
          <p:spPr>
            <a:xfrm>
              <a:off x="569306" y="2643078"/>
              <a:ext cx="4952320" cy="2438694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Два подразделения</a:t>
              </a:r>
            </a:p>
          </p:txBody>
        </p:sp>
        <p:sp>
          <p:nvSpPr>
            <p:cNvPr id="472" name="BrandDeck Diagram Card 2"/>
            <p:cNvSpPr/>
            <p:nvPr/>
          </p:nvSpPr>
          <p:spPr>
            <a:xfrm>
              <a:off x="5889921" y="1666499"/>
              <a:ext cx="5259559" cy="3525001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BrandDeck Diagram Icon 2 Badge"/>
            <p:cNvSpPr/>
            <p:nvPr/>
          </p:nvSpPr>
          <p:spPr>
            <a:xfrm>
              <a:off x="6109377" y="1885955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BrandDeck Icon clock"/>
            <p:cNvSpPr/>
            <p:nvPr/>
          </p:nvSpPr>
          <p:spPr>
            <a:xfrm>
              <a:off x="6242148" y="2018725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5" name="BrandDeck Diagram Text 2"/>
            <p:cNvSpPr txBox="1"/>
            <p:nvPr/>
          </p:nvSpPr>
          <p:spPr>
            <a:xfrm>
              <a:off x="6043541" y="2643078"/>
              <a:ext cx="4952320" cy="2438694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До 30 минут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Время поиска инструкции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BrandDeck Text 68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ИИ-помощник отвечает на вопросы по регламентам и сразу дает ссылку на документ-источник</a:t>
            </a:r>
            <a:endParaRPr/>
          </a:p>
        </p:txBody>
      </p:sp>
      <p:sp>
        <p:nvSpPr>
          <p:cNvPr id="681" name="BrandDeck Text 681"/>
          <p:cNvSpPr/>
          <p:nvPr/>
        </p:nvSpPr>
        <p:spPr>
          <a:xfrm>
            <a:off x="427864" y="1837067"/>
            <a:ext cx="3636000" cy="2022006"/>
          </a:xfrm>
          <a:prstGeom prst="roundRect">
            <a:avLst>
              <a:gd fmla="val 632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Система отвечает на вопросы по регламентам и инструкциям.</a:t>
            </a:r>
            <a:endParaRPr/>
          </a:p>
        </p:txBody>
      </p:sp>
      <p:sp>
        <p:nvSpPr>
          <p:cNvPr id="682" name="BrandDeck Text 682"/>
          <p:cNvSpPr/>
          <p:nvPr/>
        </p:nvSpPr>
        <p:spPr>
          <a:xfrm>
            <a:off x="4217594" y="1837067"/>
            <a:ext cx="3636000" cy="2022006"/>
          </a:xfrm>
          <a:prstGeom prst="roundRect">
            <a:avLst>
              <a:gd fmla="val 687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В ответ сразу предоставляется ссылка на документ-источник.</a:t>
            </a:r>
            <a:endParaRPr/>
          </a:p>
        </p:txBody>
      </p:sp>
      <p:sp>
        <p:nvSpPr>
          <p:cNvPr id="683" name="BrandDeck Text 683"/>
          <p:cNvSpPr/>
          <p:nvPr/>
        </p:nvSpPr>
        <p:spPr>
          <a:xfrm>
            <a:off x="8007324" y="1837067"/>
            <a:ext cx="3636000" cy="2022006"/>
          </a:xfrm>
          <a:prstGeom prst="roundRect">
            <a:avLst>
              <a:gd fmla="val 578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Сотрудник получает подтверждённый ответ без поиска вручную.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12" name="BrandDeck Text 812"/>
          <p:cNvSpPr txBox="1"/>
          <p:nvPr>
            <p:ph type="title"/>
          </p:nvPr>
        </p:nvSpPr>
        <p:spPr>
          <a:xfrm>
            <a:off x="429253" y="424691"/>
            <a:ext cx="234135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400"/>
              <a:t>Система работает внутри контура компании, документы не покидают периметр безопасности</a:t>
            </a:r>
            <a:endParaRPr/>
          </a:p>
        </p:txBody>
      </p:sp>
      <p:pic>
        <p:nvPicPr>
          <p:cNvPr id="835" name="BrandDeck Image" descr="внутренний контур серверная"/>
          <p:cNvPicPr>
            <a:picLocks noChangeAspect="1"/>
          </p:cNvPicPr>
          <p:nvPr/>
        </p:nvPicPr>
        <p:blipFill>
          <a:blip r:embed="rId4"/>
          <a:srcRect l="20599" r="20599"/>
          <a:stretch>
            <a:fillRect/>
          </a:stretch>
        </p:blipFill>
        <p:spPr>
          <a:xfrm>
            <a:off x="5362697" y="324571"/>
            <a:ext cx="6826255" cy="6533429"/>
          </a:xfrm>
          <a:prstGeom prst="rect">
            <a:avLst/>
          </a:prstGeom>
        </p:spPr>
      </p:pic>
      <p:sp>
        <p:nvSpPr>
          <p:cNvPr id="834" name="BrandDeck Body"/>
          <p:cNvSpPr txBox="1"/>
          <p:nvPr/>
        </p:nvSpPr>
        <p:spPr>
          <a:xfrm>
            <a:off x="1036774" y="1729423"/>
            <a:ext cx="4143042" cy="4717097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Архитектура обеспечивает полную изоляцию данных внутри корпоративного контура.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Модель с открытыми весами работает исключительно во внутренней сети.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Документы инструкций не покидают периметр безопасности компании.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BrandDeck Text 44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При отсутствии подтвержденного ответа вопрос автоматически передается специалисту с контекстом</a:t>
            </a:r>
            <a:endParaRPr/>
          </a:p>
        </p:txBody>
      </p:sp>
      <p:grpSp>
        <p:nvGrpSpPr>
          <p:cNvPr id="2" name="BrandDeck Diagram process" descr="process: Анализ запроса ИИ проверяет наличие ответа в базе знаний; Отсутствие ответа Система формирует запрос к специалисту; Передача контекста Специалист получает историю и детали вопроса"/>
          <p:cNvGrpSpPr/>
          <p:nvPr/>
        </p:nvGrpSpPr>
        <p:grpSpPr>
          <a:xfrm>
            <a:off x="5383513" y="2738121"/>
            <a:ext cx="5917558" cy="3501392"/>
            <a:chOff x="5383513" y="2738121"/>
            <a:chExt cx="5917558" cy="3501392"/>
          </a:xfrm>
        </p:grpSpPr>
        <p:sp>
          <p:nvSpPr>
            <p:cNvPr id="454" name="BrandDeck Diagram Connector"/>
            <p:cNvSpPr/>
            <p:nvPr/>
          </p:nvSpPr>
          <p:spPr>
            <a:xfrm>
              <a:off x="5623085" y="3303399"/>
              <a:ext cx="32918" cy="2370837"/>
            </a:xfrm>
            <a:prstGeom prst="rect">
              <a:avLst/>
            </a:prstGeom>
            <a:solidFill>
              <a:srgbClr val="004D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5" name="BrandDeck Diagram Step 1 Badge"/>
            <p:cNvSpPr/>
            <p:nvPr/>
          </p:nvSpPr>
          <p:spPr>
            <a:xfrm>
              <a:off x="5383513" y="3047367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456" name="BrandDeck Diagram Detail Card 1"/>
            <p:cNvSpPr/>
            <p:nvPr/>
          </p:nvSpPr>
          <p:spPr>
            <a:xfrm>
              <a:off x="6005305" y="2738121"/>
              <a:ext cx="5295766" cy="1130554"/>
            </a:xfrm>
            <a:prstGeom prst="roundRect">
              <a:avLst>
                <a:gd name="adj" fmla="val 12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BrandDeck Diagram Text 1"/>
            <p:cNvSpPr txBox="1"/>
            <p:nvPr/>
          </p:nvSpPr>
          <p:spPr>
            <a:xfrm>
              <a:off x="6096745" y="2738121"/>
              <a:ext cx="5204326" cy="113055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Анализ запроса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ИИ проверяет наличие ответа в базе знаний</a:t>
              </a:r>
            </a:p>
          </p:txBody>
        </p:sp>
        <p:sp>
          <p:nvSpPr>
            <p:cNvPr id="458" name="BrandDeck Diagram Step 2 Badge"/>
            <p:cNvSpPr/>
            <p:nvPr/>
          </p:nvSpPr>
          <p:spPr>
            <a:xfrm>
              <a:off x="5383513" y="4232785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459" name="BrandDeck Diagram Detail Card 2"/>
            <p:cNvSpPr/>
            <p:nvPr/>
          </p:nvSpPr>
          <p:spPr>
            <a:xfrm>
              <a:off x="6005305" y="3923540"/>
              <a:ext cx="5295766" cy="1130554"/>
            </a:xfrm>
            <a:prstGeom prst="roundRect">
              <a:avLst>
                <a:gd name="adj" fmla="val 12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0" name="BrandDeck Diagram Text 2"/>
            <p:cNvSpPr txBox="1"/>
            <p:nvPr/>
          </p:nvSpPr>
          <p:spPr>
            <a:xfrm>
              <a:off x="6096745" y="3923540"/>
              <a:ext cx="5204326" cy="113055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Отсутствие ответа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Система формирует запрос к специалисту</a:t>
              </a:r>
            </a:p>
          </p:txBody>
        </p:sp>
        <p:sp>
          <p:nvSpPr>
            <p:cNvPr id="461" name="BrandDeck Diagram Step 3 Badge"/>
            <p:cNvSpPr/>
            <p:nvPr/>
          </p:nvSpPr>
          <p:spPr>
            <a:xfrm>
              <a:off x="5383513" y="5418204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462" name="BrandDeck Diagram Detail Card 3"/>
            <p:cNvSpPr/>
            <p:nvPr/>
          </p:nvSpPr>
          <p:spPr>
            <a:xfrm>
              <a:off x="6005305" y="5108959"/>
              <a:ext cx="5295766" cy="1130554"/>
            </a:xfrm>
            <a:prstGeom prst="roundRect">
              <a:avLst>
                <a:gd name="adj" fmla="val 12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BrandDeck Diagram Text 3"/>
            <p:cNvSpPr txBox="1"/>
            <p:nvPr/>
          </p:nvSpPr>
          <p:spPr>
            <a:xfrm>
              <a:off x="6096745" y="5108959"/>
              <a:ext cx="5204326" cy="113055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Передача контекста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Специалист получает историю и детали вопроса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12" name="BrandDeck Text 812"/>
          <p:cNvSpPr txBox="1"/>
          <p:nvPr>
            <p:ph type="title"/>
          </p:nvPr>
        </p:nvSpPr>
        <p:spPr>
          <a:xfrm>
            <a:off x="429253" y="424691"/>
            <a:ext cx="234135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95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300"/>
              <a:t>Сокращение времени поиска ответа и снижение доли обращений, закрытых без участия специалиста</a:t>
            </a:r>
            <a:endParaRPr/>
          </a:p>
        </p:txBody>
      </p:sp>
      <p:pic>
        <p:nvPicPr>
          <p:cNvPr id="835" name="BrandDeck Image" descr="сотрудник специалист поддержки"/>
          <p:cNvPicPr>
            <a:picLocks noChangeAspect="1"/>
          </p:cNvPicPr>
          <p:nvPr/>
        </p:nvPicPr>
        <p:blipFill>
          <a:blip r:embed="rId4"/>
          <a:srcRect l="20599" r="20599"/>
          <a:stretch>
            <a:fillRect/>
          </a:stretch>
        </p:blipFill>
        <p:spPr>
          <a:xfrm>
            <a:off x="5362697" y="324571"/>
            <a:ext cx="6826255" cy="6533429"/>
          </a:xfrm>
          <a:prstGeom prst="rect">
            <a:avLst/>
          </a:prstGeom>
        </p:spPr>
      </p:pic>
      <p:sp>
        <p:nvSpPr>
          <p:cNvPr id="834" name="BrandDeck Body"/>
          <p:cNvSpPr txBox="1"/>
          <p:nvPr/>
        </p:nvSpPr>
        <p:spPr>
          <a:xfrm>
            <a:off x="1036774" y="1729423"/>
            <a:ext cx="4143042" cy="4717097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Сокращаем время поиска ответа и долю обращений, закрытых без участия специалиста.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Метрики успеха: время поиска и доля автономных ответов.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Цель пилота: подтвердить эффективность на выборке 150 сотрудников.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Пилотный запуск ограничен двумя подразделениями и 150 сотрудниками в течение 6 недель</a:t>
            </a:r>
            <a:endParaRPr/>
          </a:p>
        </p:txBody>
      </p:sp>
      <p:grpSp>
        <p:nvGrpSpPr>
          <p:cNvPr id="2" name="BrandDeck Diagram funnel" descr="funnel: Всего сотрудников 150 сотрудников из 2 подразделений; Длительность теста 6 недель пилотного запуска; Цель пилота Измерить эффективность ИИ-помощника"/>
          <p:cNvGrpSpPr/>
          <p:nvPr/>
        </p:nvGrpSpPr>
        <p:grpSpPr>
          <a:xfrm>
            <a:off x="428183" y="1693931"/>
            <a:ext cx="10721297" cy="3470137"/>
            <a:chOff x="428183" y="1693931"/>
            <a:chExt cx="10721297" cy="3470137"/>
          </a:xfrm>
        </p:grpSpPr>
        <p:sp>
          <p:nvSpPr>
            <p:cNvPr id="468" name="BrandDeck Diagram Level 1"/>
            <p:cNvSpPr/>
            <p:nvPr/>
          </p:nvSpPr>
          <p:spPr>
            <a:xfrm>
              <a:off x="428183" y="1693931"/>
              <a:ext cx="4697876" cy="1120136"/>
            </a:xfrm>
            <a:custGeom>
              <a:avLst/>
              <a:gdLst/>
              <a:ahLst/>
              <a:cxnLst/>
              <a:rect l="l" t="t" r="r" b="b"/>
              <a:pathLst>
                <a:path w="5138" h="1225" stroke="0">
                  <a:moveTo>
                    <a:pt x="0" y="0"/>
                  </a:moveTo>
                  <a:lnTo>
                    <a:pt x="5138" y="0"/>
                  </a:lnTo>
                  <a:lnTo>
                    <a:pt x="4580" y="1225"/>
                  </a:lnTo>
                  <a:lnTo>
                    <a:pt x="558" y="1225"/>
                  </a:lnTo>
                  <a:close/>
                </a:path>
              </a:pathLst>
            </a:custGeom>
            <a:solidFill>
              <a:srgbClr val="003676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469" name="BrandDeck Diagram Text 1"/>
            <p:cNvSpPr txBox="1"/>
            <p:nvPr/>
          </p:nvSpPr>
          <p:spPr>
            <a:xfrm>
              <a:off x="5412876" y="1693931"/>
              <a:ext cx="5736604" cy="11201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Всего сотрудников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150 сотрудников из 2 подразделений</a:t>
              </a:r>
            </a:p>
          </p:txBody>
        </p:sp>
        <p:sp>
          <p:nvSpPr>
            <p:cNvPr id="470" name="BrandDeck Diagram Level 2"/>
            <p:cNvSpPr/>
            <p:nvPr/>
          </p:nvSpPr>
          <p:spPr>
            <a:xfrm>
              <a:off x="963441" y="2868931"/>
              <a:ext cx="3627359" cy="1120136"/>
            </a:xfrm>
            <a:custGeom>
              <a:avLst/>
              <a:gdLst/>
              <a:ahLst/>
              <a:cxnLst/>
              <a:rect l="l" t="t" r="r" b="b"/>
              <a:pathLst>
                <a:path w="3967" h="1225" stroke="0">
                  <a:moveTo>
                    <a:pt x="0" y="0"/>
                  </a:moveTo>
                  <a:lnTo>
                    <a:pt x="3967" y="0"/>
                  </a:lnTo>
                  <a:lnTo>
                    <a:pt x="3409" y="1225"/>
                  </a:lnTo>
                  <a:lnTo>
                    <a:pt x="558" y="1225"/>
                  </a:lnTo>
                  <a:close/>
                </a:path>
              </a:pathLst>
            </a:custGeom>
            <a:solidFill>
              <a:srgbClr val="0052B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471" name="BrandDeck Diagram Text 2"/>
            <p:cNvSpPr txBox="1"/>
            <p:nvPr/>
          </p:nvSpPr>
          <p:spPr>
            <a:xfrm>
              <a:off x="5412876" y="2868931"/>
              <a:ext cx="5736604" cy="11201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Длительность теста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6 недель пилотного запуска</a:t>
              </a:r>
            </a:p>
          </p:txBody>
        </p:sp>
        <p:sp>
          <p:nvSpPr>
            <p:cNvPr id="472" name="BrandDeck Diagram Level 3"/>
            <p:cNvSpPr/>
            <p:nvPr/>
          </p:nvSpPr>
          <p:spPr>
            <a:xfrm>
              <a:off x="1498700" y="4043932"/>
              <a:ext cx="2556842" cy="1120136"/>
            </a:xfrm>
            <a:custGeom>
              <a:avLst/>
              <a:gdLst/>
              <a:ahLst/>
              <a:cxnLst/>
              <a:rect l="l" t="t" r="r" b="b"/>
              <a:pathLst>
                <a:path w="2796" h="1225" stroke="0">
                  <a:moveTo>
                    <a:pt x="0" y="0"/>
                  </a:moveTo>
                  <a:lnTo>
                    <a:pt x="2796" y="0"/>
                  </a:lnTo>
                  <a:lnTo>
                    <a:pt x="2238" y="1225"/>
                  </a:lnTo>
                  <a:lnTo>
                    <a:pt x="558" y="1225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473" name="BrandDeck Diagram Text 3"/>
            <p:cNvSpPr txBox="1"/>
            <p:nvPr/>
          </p:nvSpPr>
          <p:spPr>
            <a:xfrm>
              <a:off x="5412876" y="4043932"/>
              <a:ext cx="5736604" cy="11201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Цель пилота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Измерить эффективность ИИ-помощника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3" name="BrandDeck Text 70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Измерим время поиска ответа и долю обращений, закрытых ИИ без участия специалиста</a:t>
            </a:r>
            <a:endParaRPr/>
          </a:p>
        </p:txBody>
      </p:sp>
      <p:graphicFrame>
        <p:nvGraphicFramePr>
          <p:cNvPr id="704" name="BrandDeck Table"/>
          <p:cNvGraphicFramePr>
            <a:graphicFrameLocks noGrp="1"/>
          </p:cNvGraphicFramePr>
          <p:nvPr/>
        </p:nvGraphicFramePr>
        <p:xfrm>
          <a:off x="429768" y="1729423"/>
          <a:ext cx="7827263" cy="43513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087"/>
                <a:gridCol w="2609087"/>
                <a:gridCol w="2609089"/>
              </a:tblGrid>
              <a:tr h="130735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Показатель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Метод измерения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Период сбора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152198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Среднее время до получения инструкции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6 недель пилота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  <a:tr h="152198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Доля обращений без специалиста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Процент закрытых ИИ вопросов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6 недель пилота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BrandDeck Text 547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Риск утечки данных исключен архитектурой, работающей только внутри контура компании</a:t>
            </a:r>
            <a:endParaRPr/>
          </a:p>
        </p:txBody>
      </p:sp>
      <p:grpSp>
        <p:nvGrpSpPr>
          <p:cNvPr id="2" name="BrandDeck Diagram hierarchy" descr="hierarchy: Внутренний контур Документы не покидают периметр безопасности; ИИ-помощник Работает только с внутренними регламентами; Сотрудники Получают ответы без передачи данных наружу"/>
          <p:cNvGrpSpPr/>
          <p:nvPr/>
        </p:nvGrpSpPr>
        <p:grpSpPr>
          <a:xfrm>
            <a:off x="5383513" y="2844337"/>
            <a:ext cx="5917557" cy="3204551"/>
            <a:chOff x="5383513" y="2844337"/>
            <a:chExt cx="5917557" cy="3204551"/>
          </a:xfrm>
        </p:grpSpPr>
        <p:sp>
          <p:nvSpPr>
            <p:cNvPr id="560" name="BrandDeck Diagram Root"/>
            <p:cNvSpPr/>
            <p:nvPr/>
          </p:nvSpPr>
          <p:spPr>
            <a:xfrm>
              <a:off x="7099604" y="2844337"/>
              <a:ext cx="2485374" cy="711251"/>
            </a:xfrm>
            <a:prstGeom prst="roundRect">
              <a:avLst>
                <a:gd name="adj" fmla="val 18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109728" tIns="36576" rIns="109728" bIns="36576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Внутренний контур</a:t>
              </a:r>
            </a:p>
          </p:txBody>
        </p:sp>
        <p:cxnSp>
          <p:nvCxnSpPr>
            <p:cNvPr id="561" name="BrandDeck Diagram Link Root"/>
            <p:cNvCxnSpPr/>
            <p:nvPr/>
          </p:nvCxnSpPr>
          <p:spPr>
            <a:xfrm>
              <a:off x="8342292" y="3555589"/>
              <a:ext cx="0" cy="248938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BrandDeck Diagram Link Bus"/>
            <p:cNvCxnSpPr/>
            <p:nvPr/>
          </p:nvCxnSpPr>
          <p:spPr>
            <a:xfrm>
              <a:off x="6330322" y="3804527"/>
              <a:ext cx="4023939" cy="0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BrandDeck Diagram Link 1"/>
            <p:cNvCxnSpPr/>
            <p:nvPr/>
          </p:nvCxnSpPr>
          <p:spPr>
            <a:xfrm>
              <a:off x="6330322" y="3804527"/>
              <a:ext cx="0" cy="248937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4" name="BrandDeck Diagram Card 1"/>
            <p:cNvSpPr/>
            <p:nvPr/>
          </p:nvSpPr>
          <p:spPr>
            <a:xfrm>
              <a:off x="5383513" y="4053464"/>
              <a:ext cx="1893618" cy="1995424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5" name="BrandDeck Diagram Marker 1"/>
            <p:cNvSpPr/>
            <p:nvPr/>
          </p:nvSpPr>
          <p:spPr>
            <a:xfrm>
              <a:off x="5511529" y="4163192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6" name="BrandDeck Diagram Text 1"/>
            <p:cNvSpPr txBox="1"/>
            <p:nvPr/>
          </p:nvSpPr>
          <p:spPr>
            <a:xfrm>
              <a:off x="5474953" y="4291208"/>
              <a:ext cx="1710738" cy="1666240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Внутренний контур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Документы не покидают периметр безопасности</a:t>
              </a:r>
            </a:p>
          </p:txBody>
        </p:sp>
        <p:cxnSp>
          <p:nvCxnSpPr>
            <p:cNvPr id="567" name="BrandDeck Diagram Link 2"/>
            <p:cNvCxnSpPr/>
            <p:nvPr/>
          </p:nvCxnSpPr>
          <p:spPr>
            <a:xfrm>
              <a:off x="8342292" y="3804527"/>
              <a:ext cx="0" cy="248937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8" name="BrandDeck Diagram Card 2"/>
            <p:cNvSpPr/>
            <p:nvPr/>
          </p:nvSpPr>
          <p:spPr>
            <a:xfrm>
              <a:off x="7395482" y="4053464"/>
              <a:ext cx="1893618" cy="1995424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9" name="BrandDeck Diagram Marker 2"/>
            <p:cNvSpPr/>
            <p:nvPr/>
          </p:nvSpPr>
          <p:spPr>
            <a:xfrm>
              <a:off x="7523498" y="4163192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0" name="BrandDeck Diagram Text 2"/>
            <p:cNvSpPr txBox="1"/>
            <p:nvPr/>
          </p:nvSpPr>
          <p:spPr>
            <a:xfrm>
              <a:off x="7486922" y="4291208"/>
              <a:ext cx="1710738" cy="1666240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ИИ-помощник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Работает только с внутренними регламентами</a:t>
              </a:r>
            </a:p>
          </p:txBody>
        </p:sp>
        <p:cxnSp>
          <p:nvCxnSpPr>
            <p:cNvPr id="571" name="BrandDeck Diagram Link 3"/>
            <p:cNvCxnSpPr/>
            <p:nvPr/>
          </p:nvCxnSpPr>
          <p:spPr>
            <a:xfrm>
              <a:off x="10354261" y="3804527"/>
              <a:ext cx="0" cy="248937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2" name="BrandDeck Diagram Card 3"/>
            <p:cNvSpPr/>
            <p:nvPr/>
          </p:nvSpPr>
          <p:spPr>
            <a:xfrm>
              <a:off x="9407452" y="4053464"/>
              <a:ext cx="1893618" cy="1995424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3" name="BrandDeck Diagram Marker 3"/>
            <p:cNvSpPr/>
            <p:nvPr/>
          </p:nvSpPr>
          <p:spPr>
            <a:xfrm>
              <a:off x="9535468" y="4163192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4" name="BrandDeck Diagram Text 3"/>
            <p:cNvSpPr txBox="1"/>
            <p:nvPr/>
          </p:nvSpPr>
          <p:spPr>
            <a:xfrm>
              <a:off x="9498892" y="4291208"/>
              <a:ext cx="1710738" cy="1666240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Сотрудники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Получают ответы без передачи данных наружу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Для реализации требуется одобрение пилота и выделение команды из 3 человек</a:t>
            </a:r>
            <a:endParaRPr/>
          </a:p>
        </p:txBody>
      </p:sp>
      <p:sp>
        <p:nvSpPr>
          <p:cNvPr id="460" name="BrandDeck Text 460"/>
          <p:cNvSpPr/>
          <p:nvPr/>
        </p:nvSpPr>
        <p:spPr>
          <a:xfrm>
            <a:off x="7729481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 b="0">
                <a:solidFill>
                  <a:srgbClr val="FFFFFF"/>
                </a:solidFill>
                <a:latin typeface="Play"/>
              </a:rPr>
              <a:t>Запуск зависит от утверждения бюджета и формирования команды.</a:t>
            </a:r>
            <a:endParaRPr/>
          </a:p>
        </p:txBody>
      </p:sp>
      <p:sp>
        <p:nvSpPr>
          <p:cNvPr id="461" name="BrandDeck Text 461"/>
          <p:cNvSpPr/>
          <p:nvPr/>
        </p:nvSpPr>
        <p:spPr>
          <a:xfrm>
            <a:off x="4056891" y="1666499"/>
            <a:ext cx="3420000" cy="3525002"/>
          </a:xfrm>
          <a:prstGeom prst="roundRect">
            <a:avLst>
              <a:gd fmla="val 4027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>
                <a:solidFill>
                  <a:srgbClr val="FFFFFF"/>
                </a:solidFill>
                <a:latin typeface="Play"/>
              </a:rPr>
              <a:t>Необходимо выделить команду из 3 человек.</a:t>
            </a:r>
            <a:endParaRPr/>
          </a:p>
        </p:txBody>
      </p:sp>
      <p:sp>
        <p:nvSpPr>
          <p:cNvPr id="462" name="BrandDeck Text 462"/>
          <p:cNvSpPr/>
          <p:nvPr/>
        </p:nvSpPr>
        <p:spPr>
          <a:xfrm>
            <a:off x="415687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>
                <a:solidFill>
                  <a:srgbClr val="FFFFFF"/>
                </a:solidFill>
                <a:latin typeface="Play"/>
              </a:rPr>
              <a:t>Требуется одобрение пилота для запуска проекта.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BrandDeck Text 44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Запуск пилота зависит от утверждения бюджета и формирования команды из 3 специалистов</a:t>
            </a:r>
            <a:endParaRPr/>
          </a:p>
        </p:txBody>
      </p:sp>
      <p:sp>
        <p:nvSpPr>
          <p:cNvPr id="442" name="BrandDeck Text 442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Утвердить бюджет проекта.</a:t>
            </a:r>
            <a:endParaRPr/>
          </a:p>
        </p:txBody>
      </p:sp>
      <p:grpSp>
        <p:nvGrpSpPr>
          <p:cNvPr id="443" name="Google Shape;443;p21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444" name="Google Shape;444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5" name="Google Shape;445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6" name="BrandDeck Text 446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Следующие шаги</a:t>
            </a:r>
            <a:endParaRPr/>
          </a:p>
        </p:txBody>
      </p:sp>
      <p:grpSp>
        <p:nvGrpSpPr>
          <p:cNvPr id="447" name="Google Shape;447;p21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448" name="Google Shape;448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9" name="Google Shape;449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0" name="BrandDeck Text 450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Сформировать команду из 3 специалистов.</a:t>
            </a:r>
            <a:endParaRPr/>
          </a:p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Начать пилотный запуск.</a:t>
            </a:r>
          </a:p>
        </p:txBody>
      </p:sp>
      <p:grpSp>
        <p:nvGrpSpPr>
          <p:cNvPr id="451" name="Google Shape;451;p21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452" name="Google Shape;452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53" name="Google Shape;45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2026-09-26T20:28:34Z</dcterms:modified>
  <dc:subject>Template-adaptive presentation</dc:subject>
  <cp:keywords>BrandDeck, template-adaptive, presentation</cp:keywords>
  <dc:creator/>
  <dc:description/>
</cp:coreProperties>
</file>