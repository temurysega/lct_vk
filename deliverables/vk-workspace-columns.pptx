
<file path=[Content_Types].xml><?xml version="1.0" encoding="utf-8"?>
<Types xmlns="http://schemas.openxmlformats.org/package/2006/content-types"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представляет инициативу по внедрению ИИ-помощника во внутренний портал для автоматизации ответов на вопросы сотрудников и сокращения времени поиска инструкций.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поиск инструкции занимает до 30 минут, а треть обращений дублируется.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проект затронет 150 сотрудников двух подразделений, которые ежедневно сталкиваются с поиском инструкций.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ИИ-помощник обеспечивает мгновенный доступ к регламентам, предоставляя ссылки на оригинальные документы.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Система работает исключительно внутри контура компании, гарантируя, что документы не покидают внутреннюю инфраструктуру.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Если ИИ не находит подтверждённый ответ, вопрос автоматически передаётся специалисту поддержки вместе с контекстом запроса.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 фокусируется только на двух подразделениях, чтобы исключить влияние глобальных настроек и внешних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рамках пилота мы фокусируемся только на базовом функционале ИИ-помощника. Изменения глобальных настроек портала и интеграция с внешними CRM не входят в текущий план.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Метрики успеха пилота включают сокращение времени поиска ответа и рост доли обращений, закрытых без участия специалиста.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 длится 6 недель с командой из трех человек для проверки гипотезы.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Ключевой риск — низкое качество ответов, который мы снижаем обучением модели на внутренних регламентах.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Просим утвердить пилотный запуск и выделить команду из трех специалистов для реализации.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4" Type="http://schemas.openxmlformats.org/officeDocument/2006/relationships/slideLayout" Target="../slideLayouts/slideLayout3.xml"/><Relationship Id="rId6" Type="http://schemas.openxmlformats.org/officeDocument/2006/relationships/slideLayout" Target="../slideLayouts/slideLayout5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50" r:id="rId4"/>
    <p:sldLayoutId id="2147483652" r:id="rId6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3.jpeg"/><Relationship Id="rId5" Type="http://schemas.openxmlformats.org/officeDocument/2006/relationships/notesSlide" Target="../notesSlides/notesSlide3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4.jpeg"/><Relationship Id="rId5" Type="http://schemas.openxmlformats.org/officeDocument/2006/relationships/notesSlide" Target="../notesSlides/notesSlide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BrandDeck Text 381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3200"/>
              <a:t>Автоматизация поиска инструкций и ответов поддержки</a:t>
            </a:r>
            <a:endParaRPr sz="4800"/>
          </a:p>
        </p:txBody>
      </p:sp>
      <p:sp>
        <p:nvSpPr>
          <p:cNvPr id="383" name="BrandDeck Text 383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sz="1200" b="0">
                <a:solidFill>
                  <a:srgbClr val="AFB8C2"/>
                </a:solidFill>
                <a:latin typeface="Play"/>
              </a:rPr>
              <a:t>Инициатива по внедрению ИИ-помощника для снижения нагрузки на поддержку и ускорения поиска информации</a:t>
            </a: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Поиск инструкции занимает до 30 минут, а треть обращений дублируется</a:t>
            </a:r>
            <a:endParaRPr/>
          </a:p>
        </p:txBody>
      </p:sp>
      <p:grpSp>
        <p:nvGrpSpPr>
          <p:cNvPr id="2" name="BrandDeck Diagram pyramid" descr="pyramid: Время поиска до 30 минут на инструкцию; Дублирование треть обращений повторяется"/>
          <p:cNvGrpSpPr/>
          <p:nvPr/>
        </p:nvGrpSpPr>
        <p:grpSpPr>
          <a:xfrm>
            <a:off x="432832" y="1921521"/>
            <a:ext cx="10716649" cy="2871216"/>
            <a:chOff x="432832" y="1921521"/>
            <a:chExt cx="10716649" cy="2871216"/>
          </a:xfrm>
        </p:grpSpPr>
        <p:sp>
          <p:nvSpPr>
            <p:cNvPr id="468" name="BrandDeck Diagram Level 1"/>
            <p:cNvSpPr/>
            <p:nvPr/>
          </p:nvSpPr>
          <p:spPr>
            <a:xfrm>
              <a:off x="1347231" y="1921521"/>
              <a:ext cx="1794510" cy="1408176"/>
            </a:xfrm>
            <a:custGeom>
              <a:avLst/>
              <a:gdLst/>
              <a:ahLst/>
              <a:cxnLst/>
              <a:rect l="l" t="t" r="r" b="b"/>
              <a:pathLst>
                <a:path w="1963" h="1540" stroke="0">
                  <a:moveTo>
                    <a:pt x="956" y="0"/>
                  </a:moveTo>
                  <a:lnTo>
                    <a:pt x="1006" y="0"/>
                  </a:lnTo>
                  <a:lnTo>
                    <a:pt x="1963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6DEB"/>
            </a:solidFill>
            <a:ln w="0">
              <a:noFill/>
            </a:ln>
          </p:spPr>
          <p:txBody>
            <a:bodyPr rtlCol="0" anchor="b" wrap="square" lIns="18288" tIns="0" rIns="18288" bIns="7315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469" name="BrandDeck Diagram Text 1"/>
            <p:cNvSpPr txBox="1"/>
            <p:nvPr/>
          </p:nvSpPr>
          <p:spPr>
            <a:xfrm>
              <a:off x="4347607" y="1921521"/>
              <a:ext cx="6801874" cy="140817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Время поиска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до 30 минут на инструкцию</a:t>
              </a:r>
            </a:p>
          </p:txBody>
        </p:sp>
        <p:sp>
          <p:nvSpPr>
            <p:cNvPr id="470" name="BrandDeck Diagram Level 2"/>
            <p:cNvSpPr/>
            <p:nvPr/>
          </p:nvSpPr>
          <p:spPr>
            <a:xfrm>
              <a:off x="432832" y="3384561"/>
              <a:ext cx="3623310" cy="1408176"/>
            </a:xfrm>
            <a:custGeom>
              <a:avLst/>
              <a:gdLst/>
              <a:ahLst/>
              <a:cxnLst/>
              <a:rect l="l" t="t" r="r" b="b"/>
              <a:pathLst>
                <a:path w="3963" h="1540" stroke="0">
                  <a:moveTo>
                    <a:pt x="963" y="0"/>
                  </a:moveTo>
                  <a:lnTo>
                    <a:pt x="3000" y="0"/>
                  </a:lnTo>
                  <a:lnTo>
                    <a:pt x="3963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3676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471" name="BrandDeck Diagram Text 2"/>
            <p:cNvSpPr txBox="1"/>
            <p:nvPr/>
          </p:nvSpPr>
          <p:spPr>
            <a:xfrm>
              <a:off x="4347607" y="3384561"/>
              <a:ext cx="6801874" cy="140817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Дублирование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треть обращений повторяется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400"/>
              <a:t>Влияет на 150 сотрудников двух подразделений при ежедневном использовании</a:t>
            </a:r>
            <a:endParaRPr/>
          </a:p>
        </p:txBody>
      </p:sp>
      <p:grpSp>
        <p:nvGrpSpPr>
          <p:cNvPr id="2" name="BrandDeck Diagram icon_grid" descr="icon_grid: Целевая аудитория 150 сотрудников двух подразделений; Масштаб влияния Ежедневное использование; Объем пилота 2 подразделения"/>
          <p:cNvGrpSpPr/>
          <p:nvPr/>
        </p:nvGrpSpPr>
        <p:grpSpPr>
          <a:xfrm>
            <a:off x="427864" y="2486825"/>
            <a:ext cx="11215460" cy="2899562"/>
            <a:chOff x="427864" y="2486825"/>
            <a:chExt cx="11215460" cy="2899562"/>
          </a:xfrm>
        </p:grpSpPr>
        <p:sp>
          <p:nvSpPr>
            <p:cNvPr id="686" name="BrandDeck Diagram Card 1"/>
            <p:cNvSpPr/>
            <p:nvPr/>
          </p:nvSpPr>
          <p:spPr>
            <a:xfrm>
              <a:off x="427864" y="2486825"/>
              <a:ext cx="5498002" cy="134005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47319" y="2855100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80090" y="2987870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382497" y="2618499"/>
              <a:ext cx="4323912" cy="107670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Целевая аудитория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150 сотрудников двух подразделений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6145322" y="2486825"/>
              <a:ext cx="5498002" cy="134005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6364778" y="2855100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trending-up"/>
            <p:cNvSpPr/>
            <p:nvPr/>
          </p:nvSpPr>
          <p:spPr>
            <a:xfrm>
              <a:off x="6497548" y="2987870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7000"/>
                  </a:moveTo>
                  <a:lnTo>
                    <a:pt x="13500" y="15500"/>
                  </a:lnTo>
                  <a:lnTo>
                    <a:pt x="8500" y="10500"/>
                  </a:lnTo>
                  <a:lnTo>
                    <a:pt x="2000" y="17000"/>
                  </a:lnTo>
                </a:path>
                <a:path w="24000" h="24000" fill="none">
                  <a:moveTo>
                    <a:pt x="16000" y="7000"/>
                  </a:moveTo>
                  <a:lnTo>
                    <a:pt x="22000" y="7000"/>
                  </a:lnTo>
                  <a:lnTo>
                    <a:pt x="22000" y="13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7099955" y="2618499"/>
              <a:ext cx="4323912" cy="107670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Масштаб влияния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Ежедневное использование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27864" y="4046334"/>
              <a:ext cx="5498002" cy="134005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47319" y="4414609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building-2"/>
            <p:cNvSpPr/>
            <p:nvPr/>
          </p:nvSpPr>
          <p:spPr>
            <a:xfrm>
              <a:off x="780090" y="4547380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lnTo>
                    <a:pt x="6000" y="4000"/>
                  </a:lnTo>
                  <a:cubicBezTo>
                    <a:pt x="6000" y="2895"/>
                    <a:pt x="6895" y="2000"/>
                    <a:pt x="8000" y="2000"/>
                  </a:cubicBezTo>
                  <a:lnTo>
                    <a:pt x="16000" y="2000"/>
                  </a:lnTo>
                  <a:cubicBezTo>
                    <a:pt x="17105" y="2000"/>
                    <a:pt x="18000" y="2895"/>
                    <a:pt x="18000" y="4000"/>
                  </a:cubicBezTo>
                  <a:lnTo>
                    <a:pt x="18000" y="22000"/>
                  </a:lnTo>
                  <a:close/>
                </a:path>
                <a:path w="24000" h="24000" fill="none">
                  <a:moveTo>
                    <a:pt x="6000" y="12000"/>
                  </a:moveTo>
                  <a:lnTo>
                    <a:pt x="4000" y="12000"/>
                  </a:lnTo>
                  <a:cubicBezTo>
                    <a:pt x="2895" y="12000"/>
                    <a:pt x="2000" y="12895"/>
                    <a:pt x="2000" y="14000"/>
                  </a:cubicBezTo>
                  <a:lnTo>
                    <a:pt x="2000" y="20000"/>
                  </a:lnTo>
                  <a:cubicBezTo>
                    <a:pt x="2000" y="21105"/>
                    <a:pt x="2895" y="22000"/>
                    <a:pt x="4000" y="22000"/>
                  </a:cubicBezTo>
                  <a:lnTo>
                    <a:pt x="6000" y="22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20000" y="9000"/>
                  </a:lnTo>
                  <a:cubicBezTo>
                    <a:pt x="21105" y="9000"/>
                    <a:pt x="22000" y="9895"/>
                    <a:pt x="22000" y="11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lnTo>
                    <a:pt x="18000" y="22000"/>
                  </a:lnTo>
                </a:path>
                <a:path w="24000" h="24000" fill="none">
                  <a:moveTo>
                    <a:pt x="10000" y="6000"/>
                  </a:moveTo>
                  <a:lnTo>
                    <a:pt x="14000" y="6000"/>
                  </a:lnTo>
                </a:path>
                <a:path w="24000" h="24000" fill="none">
                  <a:moveTo>
                    <a:pt x="10000" y="10000"/>
                  </a:moveTo>
                  <a:lnTo>
                    <a:pt x="14000" y="10000"/>
                  </a:lnTo>
                </a:path>
                <a:path w="24000" h="24000" fill="none">
                  <a:moveTo>
                    <a:pt x="10000" y="14000"/>
                  </a:moveTo>
                  <a:lnTo>
                    <a:pt x="14000" y="14000"/>
                  </a:lnTo>
                </a:path>
                <a:path w="24000" h="24000" fill="none">
                  <a:moveTo>
                    <a:pt x="10000" y="18000"/>
                  </a:moveTo>
                  <a:lnTo>
                    <a:pt x="14000" y="18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382497" y="4178008"/>
              <a:ext cx="4323912" cy="107670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Объем пилота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2 подразделения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ИИ-помощник отвечает на вопросы по регламентам и дает ссылку на документ-источник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ИИ-помощник отвечает на вопросы по регламентам и инструкциям.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Система автоматически формирует ссылку на документ-источник.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Ответы генерируются на основе внутренних данных компании.</a:t>
            </a:r>
            <a:endParaRPr/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600"/>
              <a:t>Система работает внутри контура компании, не выводя документы наружу</a:t>
            </a:r>
            <a:endParaRPr/>
          </a:p>
        </p:txBody>
      </p:sp>
      <p:pic>
        <p:nvPicPr>
          <p:cNvPr id="835" name="BrandDeck Image" descr="внутренний контур серверная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Все данные обрабатываются внутри контура компании.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Документы не покидают внутреннюю инфраструктуру.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Обеспечивается полная локализация обработки запросов.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95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300"/>
              <a:t>При отсутствии подтвержденного ответа вопрос автоматически передается специалисту поддержки с контекстом</a:t>
            </a:r>
            <a:endParaRPr/>
          </a:p>
        </p:txBody>
      </p:sp>
      <p:pic>
        <p:nvPicPr>
          <p:cNvPr id="835" name="BrandDeck Image" descr="сотрудник специалист поддержки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При отсутствии ответа вопрос уходит специалисту с контекстом.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Система не выводит документы наружу контура компании.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ИИ-помощник даёт ссылку на документ-источник в ответе.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В пилот включены 2 подразделения, исключены остальные отделы</a:t>
            </a:r>
            <a:endParaRPr/>
          </a:p>
        </p:txBody>
      </p:sp>
      <p:grpSp>
        <p:nvGrpSpPr>
          <p:cNvPr id="2" name="BrandDeck Diagram pyramid" descr="pyramid: Включено 2 подразделения, 150 сотрудников; Исключено Остальные отделы и внешние системы"/>
          <p:cNvGrpSpPr/>
          <p:nvPr/>
        </p:nvGrpSpPr>
        <p:grpSpPr>
          <a:xfrm>
            <a:off x="432832" y="1921521"/>
            <a:ext cx="10716649" cy="2871216"/>
            <a:chOff x="432832" y="1921521"/>
            <a:chExt cx="10716649" cy="2871216"/>
          </a:xfrm>
        </p:grpSpPr>
        <p:sp>
          <p:nvSpPr>
            <p:cNvPr id="468" name="BrandDeck Diagram Level 1"/>
            <p:cNvSpPr/>
            <p:nvPr/>
          </p:nvSpPr>
          <p:spPr>
            <a:xfrm>
              <a:off x="1347231" y="1921521"/>
              <a:ext cx="1794510" cy="1408176"/>
            </a:xfrm>
            <a:custGeom>
              <a:avLst/>
              <a:gdLst/>
              <a:ahLst/>
              <a:cxnLst/>
              <a:rect l="l" t="t" r="r" b="b"/>
              <a:pathLst>
                <a:path w="1963" h="1540" stroke="0">
                  <a:moveTo>
                    <a:pt x="956" y="0"/>
                  </a:moveTo>
                  <a:lnTo>
                    <a:pt x="1006" y="0"/>
                  </a:lnTo>
                  <a:lnTo>
                    <a:pt x="1963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6DEB"/>
            </a:solidFill>
            <a:ln w="0">
              <a:noFill/>
            </a:ln>
          </p:spPr>
          <p:txBody>
            <a:bodyPr rtlCol="0" anchor="b" wrap="square" lIns="18288" tIns="0" rIns="18288" bIns="7315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469" name="BrandDeck Diagram Text 1"/>
            <p:cNvSpPr txBox="1"/>
            <p:nvPr/>
          </p:nvSpPr>
          <p:spPr>
            <a:xfrm>
              <a:off x="4347607" y="1921521"/>
              <a:ext cx="6801874" cy="140817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Включено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2 подразделения, 150 сотрудников</a:t>
              </a:r>
            </a:p>
          </p:txBody>
        </p:sp>
        <p:sp>
          <p:nvSpPr>
            <p:cNvPr id="470" name="BrandDeck Diagram Level 2"/>
            <p:cNvSpPr/>
            <p:nvPr/>
          </p:nvSpPr>
          <p:spPr>
            <a:xfrm>
              <a:off x="432832" y="3384561"/>
              <a:ext cx="3623310" cy="1408176"/>
            </a:xfrm>
            <a:custGeom>
              <a:avLst/>
              <a:gdLst/>
              <a:ahLst/>
              <a:cxnLst/>
              <a:rect l="l" t="t" r="r" b="b"/>
              <a:pathLst>
                <a:path w="3963" h="1540" stroke="0">
                  <a:moveTo>
                    <a:pt x="963" y="0"/>
                  </a:moveTo>
                  <a:lnTo>
                    <a:pt x="3000" y="0"/>
                  </a:lnTo>
                  <a:lnTo>
                    <a:pt x="3963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3676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471" name="BrandDeck Diagram Text 2"/>
            <p:cNvSpPr txBox="1"/>
            <p:nvPr/>
          </p:nvSpPr>
          <p:spPr>
            <a:xfrm>
              <a:off x="4347607" y="3384561"/>
              <a:ext cx="6801874" cy="140817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Исключено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Остальные отделы и внешние системы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8" name="BrandDeck Text 71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В пилот не входят изменения глобальных настроек портала или интеграция с внешними CRM</a:t>
            </a:r>
            <a:endParaRPr/>
          </a:p>
        </p:txBody>
      </p:sp>
      <p:grpSp>
        <p:nvGrpSpPr>
          <p:cNvPr id="2" name="BrandDeck Diagram pyramid" descr="pyramid: Входит в пилот Ответы по регламентам и ссылки на документы; Не входит в пилот Изменения глобальных настроек портала"/>
          <p:cNvGrpSpPr/>
          <p:nvPr/>
        </p:nvGrpSpPr>
        <p:grpSpPr>
          <a:xfrm>
            <a:off x="446398" y="2126084"/>
            <a:ext cx="10263166" cy="2871216"/>
            <a:chOff x="446398" y="2126084"/>
            <a:chExt cx="10263166" cy="2871216"/>
          </a:xfrm>
        </p:grpSpPr>
        <p:sp>
          <p:nvSpPr>
            <p:cNvPr id="721" name="BrandDeck Diagram Level 1"/>
            <p:cNvSpPr/>
            <p:nvPr/>
          </p:nvSpPr>
          <p:spPr>
            <a:xfrm>
              <a:off x="1360798" y="2126084"/>
              <a:ext cx="1794510" cy="1408176"/>
            </a:xfrm>
            <a:custGeom>
              <a:avLst/>
              <a:gdLst/>
              <a:ahLst/>
              <a:cxnLst/>
              <a:rect l="l" t="t" r="r" b="b"/>
              <a:pathLst>
                <a:path w="1963" h="1540" stroke="0">
                  <a:moveTo>
                    <a:pt x="956" y="0"/>
                  </a:moveTo>
                  <a:lnTo>
                    <a:pt x="1006" y="0"/>
                  </a:lnTo>
                  <a:lnTo>
                    <a:pt x="1963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6DEB"/>
            </a:solidFill>
            <a:ln w="0">
              <a:noFill/>
            </a:ln>
          </p:spPr>
          <p:txBody>
            <a:bodyPr rtlCol="0" anchor="b" wrap="square" lIns="18288" tIns="0" rIns="18288" bIns="7315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722" name="BrandDeck Diagram Text 1"/>
            <p:cNvSpPr txBox="1"/>
            <p:nvPr/>
          </p:nvSpPr>
          <p:spPr>
            <a:xfrm>
              <a:off x="4361173" y="2126084"/>
              <a:ext cx="6348391" cy="140817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Входит в пилот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Ответы по регламентам и ссылки на документы</a:t>
              </a:r>
            </a:p>
          </p:txBody>
        </p:sp>
        <p:sp>
          <p:nvSpPr>
            <p:cNvPr id="723" name="BrandDeck Diagram Level 2"/>
            <p:cNvSpPr/>
            <p:nvPr/>
          </p:nvSpPr>
          <p:spPr>
            <a:xfrm>
              <a:off x="446398" y="3589124"/>
              <a:ext cx="3623310" cy="1408176"/>
            </a:xfrm>
            <a:custGeom>
              <a:avLst/>
              <a:gdLst/>
              <a:ahLst/>
              <a:cxnLst/>
              <a:rect l="l" t="t" r="r" b="b"/>
              <a:pathLst>
                <a:path w="3963" h="1540" stroke="0">
                  <a:moveTo>
                    <a:pt x="963" y="0"/>
                  </a:moveTo>
                  <a:lnTo>
                    <a:pt x="3000" y="0"/>
                  </a:lnTo>
                  <a:lnTo>
                    <a:pt x="3963" y="1540"/>
                  </a:lnTo>
                  <a:lnTo>
                    <a:pt x="0" y="1540"/>
                  </a:lnTo>
                  <a:close/>
                </a:path>
              </a:pathLst>
            </a:custGeom>
            <a:solidFill>
              <a:srgbClr val="003676"/>
            </a:solidFill>
            <a:ln w="0">
              <a:noFill/>
            </a:ln>
          </p:spPr>
          <p:txBody>
            <a:bodyPr rtlCol="0" anchor="ctr" wrap="square" lIns="18288" tIns="0" rIns="18288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724" name="BrandDeck Diagram Text 2"/>
            <p:cNvSpPr txBox="1"/>
            <p:nvPr/>
          </p:nvSpPr>
          <p:spPr>
            <a:xfrm>
              <a:off x="4361173" y="3589124"/>
              <a:ext cx="6348391" cy="140817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Не входит в пилот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Изменения глобальных настроек портала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BrandDeck Text 70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Успех измеряется сокращением времени поиска ответа и долей обращений, закрытых без участия специалиста</a:t>
            </a:r>
            <a:endParaRPr/>
          </a:p>
        </p:txBody>
      </p:sp>
      <p:graphicFrame>
        <p:nvGraphicFramePr>
          <p:cNvPr id="704" name="BrandDeck Table"/>
          <p:cNvGraphicFramePr>
            <a:graphicFrameLocks noGrp="1"/>
          </p:cNvGraphicFramePr>
          <p:nvPr/>
        </p:nvGraphicFramePr>
        <p:xfrm>
          <a:off x="429768" y="1729423"/>
          <a:ext cx="7827263" cy="4717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3631"/>
                <a:gridCol w="3913632"/>
              </a:tblGrid>
              <a:tr h="142927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Метрика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lay"/>
                        </a:rPr>
                        <a:t>Цель измерения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16439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Время поиска ответа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Сокращение текущего времени до 30 минут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</a:tr>
              <a:tr h="16439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Доля закрытых обращений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Play"/>
                        </a:rPr>
                        <a:t>Рост процента ответов без участия специалиста</a:t>
                      </a:r>
                    </a:p>
                  </a:txBody>
                  <a:tcPr marL="54864" marR="54864" anchor="ctr"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Пилотный запуск запланирован на 6 недель с командой из 3 человек</a:t>
            </a:r>
            <a:endParaRPr/>
          </a:p>
        </p:txBody>
      </p:sp>
      <p:grpSp>
        <p:nvGrpSpPr>
          <p:cNvPr id="2" name="BrandDeck Diagram cycle" descr="cycle: Подготовка Настройка модели и данных; Запуск 6 недель с 150 сотрудниками; Анализ Измерение времени поиска и закрытия"/>
          <p:cNvGrpSpPr/>
          <p:nvPr/>
        </p:nvGrpSpPr>
        <p:grpSpPr>
          <a:xfrm>
            <a:off x="5531212" y="2728978"/>
            <a:ext cx="5769858" cy="3519679"/>
            <a:chOff x="5531212" y="2728978"/>
            <a:chExt cx="5769858" cy="3519679"/>
          </a:xfrm>
        </p:grpSpPr>
        <p:sp>
          <p:nvSpPr>
            <p:cNvPr id="454" name="BrandDeck Diagram Ring"/>
            <p:cNvSpPr/>
            <p:nvPr/>
          </p:nvSpPr>
          <p:spPr>
            <a:xfrm>
              <a:off x="5642110" y="3386376"/>
              <a:ext cx="2204882" cy="2204882"/>
            </a:xfrm>
            <a:prstGeom prst="ellipse">
              <a:avLst/>
            </a:prstGeom>
            <a:noFill/>
            <a:ln w="28575">
              <a:solidFill>
                <a:srgbClr val="004D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BrandDeck Diagram Arrow 1"/>
            <p:cNvSpPr/>
            <p:nvPr/>
          </p:nvSpPr>
          <p:spPr>
            <a:xfrm rot="9000000">
              <a:off x="7606198" y="3844502"/>
              <a:ext cx="186190" cy="186190"/>
            </a:xfrm>
            <a:prstGeom prst="triangle">
              <a:avLst/>
            </a:prstGeom>
            <a:solidFill>
              <a:srgbClr val="004D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BrandDeck Diagram Arrow 2"/>
            <p:cNvSpPr/>
            <p:nvPr/>
          </p:nvSpPr>
          <p:spPr>
            <a:xfrm rot="16200000">
              <a:off x="6651456" y="5498164"/>
              <a:ext cx="186190" cy="186190"/>
            </a:xfrm>
            <a:prstGeom prst="triangle">
              <a:avLst/>
            </a:prstGeom>
            <a:solidFill>
              <a:srgbClr val="004D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BrandDeck Diagram Arrow 3"/>
            <p:cNvSpPr/>
            <p:nvPr/>
          </p:nvSpPr>
          <p:spPr>
            <a:xfrm rot="1800000">
              <a:off x="5696714" y="3844502"/>
              <a:ext cx="186190" cy="186190"/>
            </a:xfrm>
            <a:prstGeom prst="triangle">
              <a:avLst/>
            </a:prstGeom>
            <a:solidFill>
              <a:srgbClr val="004D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BrandDeck Diagram Node 1 Badge"/>
            <p:cNvSpPr/>
            <p:nvPr/>
          </p:nvSpPr>
          <p:spPr>
            <a:xfrm>
              <a:off x="6485954" y="3127779"/>
              <a:ext cx="517194" cy="51719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459" name="BrandDeck Diagram Node 2 Badge"/>
            <p:cNvSpPr/>
            <p:nvPr/>
          </p:nvSpPr>
          <p:spPr>
            <a:xfrm>
              <a:off x="7440696" y="4781441"/>
              <a:ext cx="517194" cy="51719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460" name="BrandDeck Diagram Node 3 Badge"/>
            <p:cNvSpPr/>
            <p:nvPr/>
          </p:nvSpPr>
          <p:spPr>
            <a:xfrm>
              <a:off x="5531212" y="4781441"/>
              <a:ext cx="517194" cy="51719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461" name="BrandDeck Diagram Legend 1 Badge"/>
            <p:cNvSpPr/>
            <p:nvPr/>
          </p:nvSpPr>
          <p:spPr>
            <a:xfrm>
              <a:off x="8425629" y="3147951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462" name="BrandDeck Diagram Text 1"/>
            <p:cNvSpPr txBox="1"/>
            <p:nvPr/>
          </p:nvSpPr>
          <p:spPr>
            <a:xfrm>
              <a:off x="8882829" y="2728978"/>
              <a:ext cx="2418241" cy="1148842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Подготовка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FFFFFF"/>
                  </a:solidFill>
                  <a:latin typeface="Play"/>
                </a:rPr>
                <a:t>Настройка модели и данных</a:t>
              </a:r>
            </a:p>
          </p:txBody>
        </p:sp>
        <p:sp>
          <p:nvSpPr>
            <p:cNvPr id="463" name="BrandDeck Diagram Legend 2 Badge"/>
            <p:cNvSpPr/>
            <p:nvPr/>
          </p:nvSpPr>
          <p:spPr>
            <a:xfrm>
              <a:off x="8425629" y="4333370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464" name="BrandDeck Diagram Text 2"/>
            <p:cNvSpPr txBox="1"/>
            <p:nvPr/>
          </p:nvSpPr>
          <p:spPr>
            <a:xfrm>
              <a:off x="8882829" y="3914396"/>
              <a:ext cx="2418241" cy="1148842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Запуск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FFFFFF"/>
                  </a:solidFill>
                  <a:latin typeface="Play"/>
                </a:rPr>
                <a:t>6 недель с 150 сотрудниками</a:t>
              </a:r>
            </a:p>
          </p:txBody>
        </p:sp>
        <p:sp>
          <p:nvSpPr>
            <p:cNvPr id="465" name="BrandDeck Diagram Legend 3 Badge"/>
            <p:cNvSpPr/>
            <p:nvPr/>
          </p:nvSpPr>
          <p:spPr>
            <a:xfrm>
              <a:off x="8425629" y="5518788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466" name="BrandDeck Diagram Text 3"/>
            <p:cNvSpPr txBox="1"/>
            <p:nvPr/>
          </p:nvSpPr>
          <p:spPr>
            <a:xfrm>
              <a:off x="8882829" y="5099815"/>
              <a:ext cx="2418241" cy="1148842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Анализ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FFFFFF"/>
                  </a:solidFill>
                  <a:latin typeface="Play"/>
                </a:rPr>
                <a:t>Измерение времени поиска и закрытия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BrandDeck Text 68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Основной риск — низкое качество ответов, который минимизируется обучением модели на внутренних регламентах</a:t>
            </a:r>
            <a:endParaRPr/>
          </a:p>
        </p:txBody>
      </p:sp>
      <p:sp>
        <p:nvSpPr>
          <p:cNvPr id="681" name="BrandDeck Text 68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Риск: низкое качество ответов ИИ-помощника.</a:t>
            </a:r>
            <a:endParaRPr/>
          </a:p>
        </p:txBody>
      </p:sp>
      <p:sp>
        <p:nvSpPr>
          <p:cNvPr id="682" name="BrandDeck Text 682"/>
          <p:cNvSpPr/>
          <p:nvPr/>
        </p:nvSpPr>
        <p:spPr>
          <a:xfrm>
            <a:off x="4217594" y="1837067"/>
            <a:ext cx="3636000" cy="2022006"/>
          </a:xfrm>
          <a:prstGeom prst="roundRect">
            <a:avLst>
              <a:gd fmla="val 687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Минимизация: обучение модели на внутренних регламентах.</a:t>
            </a:r>
            <a:endParaRPr/>
          </a:p>
        </p:txBody>
      </p:sp>
      <p:sp>
        <p:nvSpPr>
          <p:cNvPr id="683" name="BrandDeck Text 683"/>
          <p:cNvSpPr/>
          <p:nvPr/>
        </p:nvSpPr>
        <p:spPr>
          <a:xfrm>
            <a:off x="8007324" y="1837067"/>
            <a:ext cx="3636000" cy="2022006"/>
          </a:xfrm>
          <a:prstGeom prst="roundRect">
            <a:avLst>
              <a:gd fmla="val 5781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solidFill>
                  <a:srgbClr val="FFFFFF"/>
                </a:solidFill>
                <a:latin typeface="Play"/>
              </a:rPr>
              <a:t>Цель: точные ответы со ссылкой на документ-источник.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Одобрить пилот и выделить команду из 3 человек для реализации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Одобрить запуск пилота в двух подразделениях на 6 недель.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Решение о запуске пилота и выделении команды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>
                <a:latin typeface="Play"/>
                <a:solidFill>
                  <a:schemeClr val="lt1"/>
                </a:solidFill>
              </a:rPr>
              <a:t>Выделить команду из 3 человек для реализации проекта.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>
                <a:latin typeface="Play"/>
                <a:solidFill>
                  <a:schemeClr val="lt1"/>
                </a:solidFill>
              </a:rPr>
              <a:t>Измерить сокращение времени поиска и долю закрытых обращений.</a:t>
            </a:r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ИИ-помощник во внутреннем портале</dc:title>
  <cp:lastModifiedBy/>
  <cp:revision>1</cp:revision>
  <dcterms:modified xsi:type="dcterms:W3CDTF">2026-09-26T07:55:55Z</dcterms:modified>
  <dc:subject>Template-adaptive presentation</dc:subject>
  <cp:keywords>BrandDeck, template-adaptive, presentation</cp:keywords>
  <dc:creator/>
  <dc:description/>
</cp:coreProperties>
</file>