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открывает презентацию и обозначает проблему, с которой мы начинаем работу по внедрению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Текущее время поиска инструкции составляет до 30 минут, что создает нагрузку на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Треть всех обращений в поддержку — это повторяющиеся вопросы, которые создают лишнюю нагрузку на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Сценарий использования сфокусирован на поиске документации, где треть обращений — это повторяющиеся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Решение автоматически отвечает сотрудникам на вопросы по регламентам и сразу указывает на источник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функционирует внутри контура компании, при этом документы не покидают внутреннюю сеть. Если ИИ не может дать подтверждённый ответ, запрос передаётся специалисту поддержки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числом сотрудников 150 человек и длится шесть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пилота оценивается по времени поиска ответа и доле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просим одобрить проект и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0" r:id="rId4"/>
    <p:sldLayoutId id="2147483652" r:id="rId6"/>
    <p:sldLayoutId id="2147483653" r:id="rId7"/>
    <p:sldLayoutId id="2147483655" r:id="rId9"/>
    <p:sldLayoutId id="2147483656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jpeg"/><Relationship Id="rId3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4000"/>
              <a:t>Поиск инструкции занимает до 30 минут</a:t>
            </a:r>
            <a:endParaRPr sz="4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Сотрудники тратят до 30 минут на поиск нужной инструкции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Сотрудники тратят до 30 минут на поиск нужной инструкции.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Это время тратится сотрудниками на поиск информации.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Актуальность задачи обусловлена длительным поиском инструкций.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BrandDeck Text 71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Треть обращений в поддержку — повторяющиеся вопросы</a:t>
            </a:r>
            <a:endParaRPr/>
          </a:p>
        </p:txBody>
      </p:sp>
      <p:grpSp>
        <p:nvGrpSpPr>
          <p:cNvPr id="2" name="BrandDeck Diagram icon_grid" descr="icon_grid: Доля Треть обращений — повторяющиеся вопросы; Причина Отсутствие быстрого доступа к инструкциям; Результат Лишняя работа специалистов поддержки"/>
          <p:cNvGrpSpPr/>
          <p:nvPr/>
        </p:nvGrpSpPr>
        <p:grpSpPr>
          <a:xfrm>
            <a:off x="429253" y="1773238"/>
            <a:ext cx="10280311" cy="3782434"/>
            <a:chOff x="429253" y="1773238"/>
            <a:chExt cx="10280311" cy="3782434"/>
          </a:xfrm>
        </p:grpSpPr>
        <p:sp>
          <p:nvSpPr>
            <p:cNvPr id="721" name="BrandDeck Diagram Card 1"/>
            <p:cNvSpPr/>
            <p:nvPr/>
          </p:nvSpPr>
          <p:spPr>
            <a:xfrm>
              <a:off x="429253" y="1773238"/>
              <a:ext cx="10280311" cy="1123740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BrandDeck Diagram Icon 1 Badge"/>
            <p:cNvSpPr/>
            <p:nvPr/>
          </p:nvSpPr>
          <p:spPr>
            <a:xfrm>
              <a:off x="648708" y="2152228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BrandDeck Icon headset"/>
            <p:cNvSpPr/>
            <p:nvPr/>
          </p:nvSpPr>
          <p:spPr>
            <a:xfrm>
              <a:off x="729176" y="2232695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BrandDeck Diagram Text 1"/>
            <p:cNvSpPr txBox="1"/>
            <p:nvPr/>
          </p:nvSpPr>
          <p:spPr>
            <a:xfrm>
              <a:off x="1146142" y="1904911"/>
              <a:ext cx="9343965" cy="86039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Доля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Треть обращений — повторяющиеся вопросы</a:t>
              </a:r>
            </a:p>
          </p:txBody>
        </p:sp>
        <p:sp>
          <p:nvSpPr>
            <p:cNvPr id="725" name="BrandDeck Diagram Card 2"/>
            <p:cNvSpPr/>
            <p:nvPr/>
          </p:nvSpPr>
          <p:spPr>
            <a:xfrm>
              <a:off x="429253" y="3102585"/>
              <a:ext cx="10280311" cy="1123740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6" name="BrandDeck Diagram Icon 2 Badge"/>
            <p:cNvSpPr/>
            <p:nvPr/>
          </p:nvSpPr>
          <p:spPr>
            <a:xfrm>
              <a:off x="648708" y="3481575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BrandDeck Icon timer"/>
            <p:cNvSpPr/>
            <p:nvPr/>
          </p:nvSpPr>
          <p:spPr>
            <a:xfrm>
              <a:off x="729176" y="3562042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2000"/>
                  </a:moveTo>
                  <a:lnTo>
                    <a:pt x="14000" y="2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5000" y="11000"/>
                  </a:lnTo>
                </a:path>
                <a:path w="24000" h="24000" fill="none">
                  <a:moveTo>
                    <a:pt x="20000" y="14000"/>
                  </a:moveTo>
                  <a:cubicBezTo>
                    <a:pt x="20000" y="18418"/>
                    <a:pt x="16418" y="22000"/>
                    <a:pt x="12000" y="22000"/>
                  </a:cubicBezTo>
                  <a:cubicBezTo>
                    <a:pt x="7582" y="22000"/>
                    <a:pt x="4000" y="18418"/>
                    <a:pt x="4000" y="14000"/>
                  </a:cubicBezTo>
                  <a:cubicBezTo>
                    <a:pt x="4000" y="9582"/>
                    <a:pt x="7582" y="6000"/>
                    <a:pt x="12000" y="6000"/>
                  </a:cubicBezTo>
                  <a:cubicBezTo>
                    <a:pt x="16418" y="6000"/>
                    <a:pt x="20000" y="9582"/>
                    <a:pt x="20000" y="14000"/>
                  </a:cubicBezTo>
                  <a:close/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BrandDeck Diagram Text 2"/>
            <p:cNvSpPr txBox="1"/>
            <p:nvPr/>
          </p:nvSpPr>
          <p:spPr>
            <a:xfrm>
              <a:off x="1146142" y="3234258"/>
              <a:ext cx="9343965" cy="86039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Причина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Отсутствие быстрого доступа к инструкциям</a:t>
              </a:r>
            </a:p>
          </p:txBody>
        </p:sp>
        <p:sp>
          <p:nvSpPr>
            <p:cNvPr id="729" name="BrandDeck Diagram Card 3"/>
            <p:cNvSpPr/>
            <p:nvPr/>
          </p:nvSpPr>
          <p:spPr>
            <a:xfrm>
              <a:off x="429253" y="4431932"/>
              <a:ext cx="10280311" cy="1123740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0" name="BrandDeck Diagram Icon 3 Badge"/>
            <p:cNvSpPr/>
            <p:nvPr/>
          </p:nvSpPr>
          <p:spPr>
            <a:xfrm>
              <a:off x="648708" y="4810922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1" name="BrandDeck Icon trophy"/>
            <p:cNvSpPr/>
            <p:nvPr/>
          </p:nvSpPr>
          <p:spPr>
            <a:xfrm>
              <a:off x="729176" y="4891389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9000"/>
                  </a:moveTo>
                  <a:lnTo>
                    <a:pt x="4500" y="9000"/>
                  </a:lnTo>
                  <a:cubicBezTo>
                    <a:pt x="3119" y="9000"/>
                    <a:pt x="2000" y="7881"/>
                    <a:pt x="2000" y="6500"/>
                  </a:cubicBezTo>
                  <a:cubicBezTo>
                    <a:pt x="2000" y="5119"/>
                    <a:pt x="3119" y="4000"/>
                    <a:pt x="4500" y="4000"/>
                  </a:cubicBezTo>
                  <a:lnTo>
                    <a:pt x="6000" y="4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19500" y="9000"/>
                  </a:lnTo>
                  <a:cubicBezTo>
                    <a:pt x="20881" y="9000"/>
                    <a:pt x="22000" y="7881"/>
                    <a:pt x="22000" y="6500"/>
                  </a:cubicBezTo>
                  <a:cubicBezTo>
                    <a:pt x="22000" y="5119"/>
                    <a:pt x="20881" y="4000"/>
                    <a:pt x="19500" y="4000"/>
                  </a:cubicBezTo>
                  <a:lnTo>
                    <a:pt x="18000" y="4000"/>
                  </a:lnTo>
                </a:path>
                <a:path w="24000" h="24000" fill="none">
                  <a:moveTo>
                    <a:pt x="4000" y="22000"/>
                  </a:moveTo>
                  <a:lnTo>
                    <a:pt x="20000" y="22000"/>
                  </a:lnTo>
                </a:path>
                <a:path w="24000" h="24000" fill="none">
                  <a:moveTo>
                    <a:pt x="10000" y="14660"/>
                  </a:moveTo>
                  <a:lnTo>
                    <a:pt x="10000" y="17000"/>
                  </a:lnTo>
                  <a:cubicBezTo>
                    <a:pt x="10000" y="17550"/>
                    <a:pt x="9530" y="17980"/>
                    <a:pt x="9030" y="18210"/>
                  </a:cubicBezTo>
                  <a:cubicBezTo>
                    <a:pt x="7850" y="18750"/>
                    <a:pt x="7000" y="20240"/>
                    <a:pt x="7000" y="22000"/>
                  </a:cubicBezTo>
                </a:path>
                <a:path w="24000" h="24000" fill="none">
                  <a:moveTo>
                    <a:pt x="14000" y="14660"/>
                  </a:moveTo>
                  <a:lnTo>
                    <a:pt x="14000" y="17000"/>
                  </a:lnTo>
                  <a:cubicBezTo>
                    <a:pt x="14000" y="17550"/>
                    <a:pt x="14470" y="17980"/>
                    <a:pt x="14970" y="18210"/>
                  </a:cubicBezTo>
                  <a:cubicBezTo>
                    <a:pt x="16150" y="18750"/>
                    <a:pt x="17000" y="20240"/>
                    <a:pt x="17000" y="22000"/>
                  </a:cubicBezTo>
                </a:path>
                <a:path w="24000" h="24000" fill="none">
                  <a:moveTo>
                    <a:pt x="18000" y="2000"/>
                  </a:moveTo>
                  <a:lnTo>
                    <a:pt x="6000" y="2000"/>
                  </a:lnTo>
                  <a:lnTo>
                    <a:pt x="6000" y="9000"/>
                  </a:lnTo>
                  <a:cubicBezTo>
                    <a:pt x="6000" y="12314"/>
                    <a:pt x="8686" y="15000"/>
                    <a:pt x="12000" y="15000"/>
                  </a:cubicBezTo>
                  <a:cubicBezTo>
                    <a:pt x="15314" y="15000"/>
                    <a:pt x="18000" y="12314"/>
                    <a:pt x="18000" y="9000"/>
                  </a:cubicBezTo>
                  <a:lnTo>
                    <a:pt x="18000" y="2000"/>
                  </a:lnTo>
                  <a:close/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BrandDeck Diagram Text 3"/>
            <p:cNvSpPr txBox="1"/>
            <p:nvPr/>
          </p:nvSpPr>
          <p:spPr>
            <a:xfrm>
              <a:off x="1146142" y="4563605"/>
              <a:ext cx="9343965" cy="86039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Результат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Лишняя работа специалистов поддержки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Вопросы касаются регламентов и инструкций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Сотрудники ищут ответы в регламентах и инструкциях.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Частые запросы требуют точных ссылок на документы.</a:t>
            </a:r>
            <a:endParaRPr/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Повторяющиеся вопросы занимают время поддержки.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2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800"/>
              <a:t>ИИ-помощник отвечает на вопросы и даёт ссылку на документ-источник</a:t>
            </a:r>
            <a:endParaRPr/>
          </a:p>
        </p:txBody>
      </p:sp>
      <p:sp>
        <p:nvSpPr>
          <p:cNvPr id="461" name="BrandDeck Text 461"/>
          <p:cNvSpPr/>
          <p:nvPr/>
        </p:nvSpPr>
        <p:spPr>
          <a:xfrm>
            <a:off x="4056891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Система автоматически предоставляет ссылку на документ-источник.</a:t>
            </a:r>
            <a:endParaRPr/>
          </a:p>
        </p:txBody>
      </p:sp>
      <p:sp>
        <p:nvSpPr>
          <p:cNvPr id="462" name="BrandDeck Text 46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ИИ-помощник отвечает на вопросы по регламентам и инструкциям.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4" name="BrandDeck Text 404"/>
          <p:cNvSpPr txBox="1"/>
          <p:nvPr>
            <p:ph type="title"/>
          </p:nvPr>
        </p:nvSpPr>
        <p:spPr>
          <a:xfrm>
            <a:off x="429253" y="1460299"/>
            <a:ext cx="386516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Модель работает внутри контура компании, документы не уходят наружу</a:t>
            </a:r>
            <a:endParaRPr/>
          </a:p>
        </p:txBody>
      </p:sp>
      <p:sp>
        <p:nvSpPr>
          <p:cNvPr id="418" name="BrandDeck Body"/>
          <p:cNvSpPr txBox="1"/>
          <p:nvPr/>
        </p:nvSpPr>
        <p:spPr>
          <a:xfrm>
            <a:off x="5808913" y="1657446"/>
            <a:ext cx="2265869" cy="46240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Модель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не покидают внутреннюю сеть.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При отсутствии ответа вопрос уходит специалисту.</a:t>
            </a:r>
          </a:p>
        </p:txBody>
      </p:sp>
      <p:pic>
        <p:nvPicPr>
          <p:cNvPr id="419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3238" r="41238"/>
          <a:stretch>
            <a:fillRect/>
          </a:stretch>
        </p:blipFill>
        <p:spPr>
          <a:xfrm>
            <a:off x="8330814" y="1657446"/>
            <a:ext cx="2918746" cy="46240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Если подтверждённого ответа нет, вопрос уходит специалисту с контекстом</a:t>
            </a:r>
            <a:endParaRPr/>
          </a:p>
        </p:txBody>
      </p:sp>
      <p:sp>
        <p:nvSpPr>
          <p:cNvPr id="505" name="BrandDeck Body"/>
          <p:cNvSpPr txBox="1"/>
          <p:nvPr/>
        </p:nvSpPr>
        <p:spPr>
          <a:xfrm>
            <a:off x="437111" y="2883834"/>
            <a:ext cx="4845355" cy="2889807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Вопрос уходит специалисту поддержки вместе с контекстом.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Это происходит, если подтверждённого ответа нет в системе.</a:t>
            </a:r>
          </a:p>
        </p:txBody>
      </p:sp>
      <p:pic>
        <p:nvPicPr>
          <p:cNvPr id="506" name="BrandDeck Image" descr="сотрудник специалист поддержки"/>
          <p:cNvPicPr>
            <a:picLocks noChangeAspect="1"/>
          </p:cNvPicPr>
          <p:nvPr/>
        </p:nvPicPr>
        <p:blipFill>
          <a:blip r:embed="rId2"/>
          <a:srcRect t="6022" b="11183"/>
          <a:stretch>
            <a:fillRect/>
          </a:stretch>
        </p:blipFill>
        <p:spPr>
          <a:xfrm>
            <a:off x="5538498" y="2883834"/>
            <a:ext cx="6201730" cy="2889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Пилот охватывает 2 подразделения и 150 сотрудников в течение 6 недель</a:t>
            </a:r>
            <a:endParaRPr/>
          </a:p>
        </p:txBody>
      </p:sp>
      <p:grpSp>
        <p:nvGrpSpPr>
          <p:cNvPr id="2" name="BrandDeck Diagram icon_grid" descr="icon_grid: Длительность 6 недель; Охват 2 подразделения; Команда 150 сотрудников"/>
          <p:cNvGrpSpPr/>
          <p:nvPr/>
        </p:nvGrpSpPr>
        <p:grpSpPr>
          <a:xfrm>
            <a:off x="5383513" y="2710690"/>
            <a:ext cx="5917558" cy="3556255"/>
            <a:chOff x="5383513" y="2710690"/>
            <a:chExt cx="5917558" cy="3556255"/>
          </a:xfrm>
        </p:grpSpPr>
        <p:sp>
          <p:nvSpPr>
            <p:cNvPr id="454" name="BrandDeck Diagram Card 1"/>
            <p:cNvSpPr/>
            <p:nvPr/>
          </p:nvSpPr>
          <p:spPr>
            <a:xfrm>
              <a:off x="5383513" y="2710690"/>
              <a:ext cx="5917558" cy="110651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5" name="BrandDeck Diagram Icon 1 Badge"/>
            <p:cNvSpPr/>
            <p:nvPr/>
          </p:nvSpPr>
          <p:spPr>
            <a:xfrm>
              <a:off x="5602969" y="3081068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6" name="BrandDeck Icon hourglass"/>
            <p:cNvSpPr/>
            <p:nvPr/>
          </p:nvSpPr>
          <p:spPr>
            <a:xfrm>
              <a:off x="5683436" y="3161536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22000"/>
                  </a:moveTo>
                  <a:lnTo>
                    <a:pt x="19000" y="22000"/>
                  </a:lnTo>
                </a:path>
                <a:path w="24000" h="24000" fill="none">
                  <a:moveTo>
                    <a:pt x="5000" y="2000"/>
                  </a:moveTo>
                  <a:lnTo>
                    <a:pt x="19000" y="2000"/>
                  </a:lnTo>
                </a:path>
                <a:path w="24000" h="24000" fill="none">
                  <a:moveTo>
                    <a:pt x="17000" y="22000"/>
                  </a:moveTo>
                  <a:lnTo>
                    <a:pt x="17000" y="17828"/>
                  </a:lnTo>
                  <a:cubicBezTo>
                    <a:pt x="17000" y="17298"/>
                    <a:pt x="16789" y="16789"/>
                    <a:pt x="16414" y="16414"/>
                  </a:cubicBezTo>
                  <a:lnTo>
                    <a:pt x="12000" y="12000"/>
                  </a:lnTo>
                  <a:lnTo>
                    <a:pt x="7586" y="16414"/>
                  </a:lnTo>
                  <a:cubicBezTo>
                    <a:pt x="7211" y="16789"/>
                    <a:pt x="7000" y="17298"/>
                    <a:pt x="7000" y="17828"/>
                  </a:cubicBezTo>
                  <a:lnTo>
                    <a:pt x="7000" y="22000"/>
                  </a:lnTo>
                </a:path>
                <a:path w="24000" h="24000" fill="none">
                  <a:moveTo>
                    <a:pt x="7000" y="2000"/>
                  </a:moveTo>
                  <a:lnTo>
                    <a:pt x="7000" y="6172"/>
                  </a:lnTo>
                  <a:cubicBezTo>
                    <a:pt x="7000" y="6702"/>
                    <a:pt x="7211" y="7211"/>
                    <a:pt x="7586" y="7586"/>
                  </a:cubicBezTo>
                  <a:lnTo>
                    <a:pt x="12000" y="12000"/>
                  </a:lnTo>
                  <a:lnTo>
                    <a:pt x="16414" y="7586"/>
                  </a:lnTo>
                  <a:cubicBezTo>
                    <a:pt x="16789" y="7211"/>
                    <a:pt x="17000" y="6702"/>
                    <a:pt x="17000" y="6172"/>
                  </a:cubicBezTo>
                  <a:lnTo>
                    <a:pt x="17000" y="2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BrandDeck Diagram Text 1"/>
            <p:cNvSpPr txBox="1"/>
            <p:nvPr/>
          </p:nvSpPr>
          <p:spPr>
            <a:xfrm>
              <a:off x="6100402" y="2842363"/>
              <a:ext cx="4981212" cy="84317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458" name="BrandDeck Diagram Card 2"/>
            <p:cNvSpPr/>
            <p:nvPr/>
          </p:nvSpPr>
          <p:spPr>
            <a:xfrm>
              <a:off x="5383513" y="3935559"/>
              <a:ext cx="5917558" cy="110651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BrandDeck Diagram Icon 2 Badge"/>
            <p:cNvSpPr/>
            <p:nvPr/>
          </p:nvSpPr>
          <p:spPr>
            <a:xfrm>
              <a:off x="5602969" y="4305938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0" name="BrandDeck Icon building-2"/>
            <p:cNvSpPr/>
            <p:nvPr/>
          </p:nvSpPr>
          <p:spPr>
            <a:xfrm>
              <a:off x="5683436" y="4386405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1" name="BrandDeck Diagram Text 2"/>
            <p:cNvSpPr txBox="1"/>
            <p:nvPr/>
          </p:nvSpPr>
          <p:spPr>
            <a:xfrm>
              <a:off x="6100402" y="4067232"/>
              <a:ext cx="4981212" cy="84317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2 подразделения</a:t>
              </a:r>
            </a:p>
          </p:txBody>
        </p:sp>
        <p:sp>
          <p:nvSpPr>
            <p:cNvPr id="462" name="BrandDeck Diagram Card 3"/>
            <p:cNvSpPr/>
            <p:nvPr/>
          </p:nvSpPr>
          <p:spPr>
            <a:xfrm>
              <a:off x="5383513" y="5160428"/>
              <a:ext cx="5917558" cy="110651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BrandDeck Diagram Icon 3 Badge"/>
            <p:cNvSpPr/>
            <p:nvPr/>
          </p:nvSpPr>
          <p:spPr>
            <a:xfrm>
              <a:off x="5602969" y="5530807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BrandDeck Icon users"/>
            <p:cNvSpPr/>
            <p:nvPr/>
          </p:nvSpPr>
          <p:spPr>
            <a:xfrm>
              <a:off x="5683436" y="5611274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5" name="BrandDeck Diagram Text 3"/>
            <p:cNvSpPr txBox="1"/>
            <p:nvPr/>
          </p:nvSpPr>
          <p:spPr>
            <a:xfrm>
              <a:off x="6100402" y="5292101"/>
              <a:ext cx="4981212" cy="84317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Успех измеряется временем поиска ответа и долей обращений, закрытых без специалиста</a:t>
            </a:r>
            <a:endParaRPr/>
          </a:p>
        </p:txBody>
      </p:sp>
      <p:graphicFrame>
        <p:nvGraphicFramePr>
          <p:cNvPr id="505" name="BrandDeck Table"/>
          <p:cNvGraphicFramePr>
            <a:graphicFrameLocks noGrp="1"/>
          </p:cNvGraphicFramePr>
          <p:nvPr/>
        </p:nvGraphicFramePr>
        <p:xfrm>
          <a:off x="437111" y="2883834"/>
          <a:ext cx="11303118" cy="2889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1559"/>
                <a:gridCol w="5651559"/>
              </a:tblGrid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измеряется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Сколько времени сотрудник тратит на поиск инструкции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обращений без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Процент вопросов, закрытых ИИ-помощником самостоятельно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Просим одобрить пилот и выделить команду из 3 человек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Запрос на одобрение пилота и выделение команды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Просим одобрить запуск пилота.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Необходимо выделить команду из 3 человек.</a:t>
            </a:r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Пилот охватит 2 подразделения и 150 сотрудников.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2026-09-28T15:59:46Z</dcterms:modified>
  <dc:subject>Template-adaptive presentation</dc:subject>
  <cp:keywords>BrandDeck, template-adaptive, presentation</cp:keywords>
  <dc:creator/>
  <dc:description/>
</cp:coreProperties>
</file>