
<file path=[Content_Types].xml><?xml version="1.0" encoding="utf-8"?>
<Types xmlns="http://schemas.openxmlformats.org/package/2006/content-types">
  <Default Extension="jpeg" ContentType="image/jpeg"/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5"/>
  </p:sldMasterIdLst>
  <p:notesMasterIdLst>
    <p:notesMasterId r:id="rId6"/>
  </p:notesMasterIdLst>
  <p:sldIdLst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</p:sldIdLst>
  <p:sldSz cy="6858000" cx="12192000"/>
  <p:notesSz cx="6858000" cy="9144000"/>
  <p:embeddedFontLst>
    <p:embeddedFont>
      <p:font typeface="Play"/>
      <p:regular r:id="rId36"/>
      <p:bold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547">
          <p15:clr>
            <a:srgbClr val="A4A3A4"/>
          </p15:clr>
        </p15:guide>
        <p15:guide id="4" orient="horz" pos="77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AC9AF0A-6FEA-4B71-B213-FBF42B605303}">
  <a:tblStyle styleId="{5AC9AF0A-6FEA-4B71-B213-FBF42B605303}" styleName="Table_0">
    <a:wholeTbl>
      <a:tcTxStyle b="off" i="off">
        <a:font>
          <a:latin typeface="SF Pro Text Light"/>
          <a:ea typeface="SF Pro Text Light"/>
          <a:cs typeface="SF Pro Text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F"/>
          </a:solidFill>
        </a:fill>
      </a:tcStyle>
    </a:wholeTbl>
    <a:band1H>
      <a:tcTxStyle/>
      <a:tcStyle>
        <a:fill>
          <a:solidFill>
            <a:srgbClr val="CAD5FF"/>
          </a:solidFill>
        </a:fill>
      </a:tcStyle>
    </a:band1H>
    <a:band2H>
      <a:tcTxStyle/>
    </a:band2H>
    <a:band1V>
      <a:tcTxStyle/>
      <a:tcStyle>
        <a:fill>
          <a:solidFill>
            <a:srgbClr val="CAD5FF"/>
          </a:solidFill>
        </a:fill>
      </a:tcStyle>
    </a:band1V>
    <a:band2V>
      <a:tcTxStyle/>
    </a:band2V>
    <a:la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  <p:guide pos="2547"/>
        <p:guide pos="777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36" Type="http://schemas.openxmlformats.org/officeDocument/2006/relationships/font" Target="fonts/Play-regular.fntdata"/><Relationship Id="rId37" Type="http://schemas.openxmlformats.org/officeDocument/2006/relationships/font" Target="fonts/Play-bold.fntdata"/><Relationship Id="rId38" Type="http://schemas.openxmlformats.org/officeDocument/2006/relationships/slide" Target="slides/slide1.xml"/><Relationship Id="rId39" Type="http://schemas.openxmlformats.org/officeDocument/2006/relationships/slide" Target="slides/slide2.xml"/><Relationship Id="rId40" Type="http://schemas.openxmlformats.org/officeDocument/2006/relationships/slide" Target="slides/slide3.xml"/><Relationship Id="rId41" Type="http://schemas.openxmlformats.org/officeDocument/2006/relationships/slide" Target="slides/slide4.xml"/><Relationship Id="rId42" Type="http://schemas.openxmlformats.org/officeDocument/2006/relationships/slide" Target="slides/slide5.xml"/><Relationship Id="rId43" Type="http://schemas.openxmlformats.org/officeDocument/2006/relationships/slide" Target="slides/slide6.xml"/><Relationship Id="rId44" Type="http://schemas.openxmlformats.org/officeDocument/2006/relationships/slide" Target="slides/slide7.xml"/><Relationship Id="rId45" Type="http://schemas.openxmlformats.org/officeDocument/2006/relationships/slide" Target="slides/slide8.xml"/><Relationship Id="rId46" Type="http://schemas.openxmlformats.org/officeDocument/2006/relationships/slide" Target="slides/slide9.xml"/><Relationship Id="rId47" Type="http://schemas.openxmlformats.org/officeDocument/2006/relationships/slide" Target="slides/slide10.xml"/><Relationship Id="rId48" Type="http://schemas.openxmlformats.org/officeDocument/2006/relationships/slide" Target="slides/slide11.xml"/><Relationship Id="rId4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Слайд представляет инициативу по внедрению ИИ-помощника во внутренний портал для автоматизации ответов на вопросы сотрудников и сокращения времени поиска инструкций.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Сейчас поиск инструкции занимает до 30 минут, а треть обращений дублируется.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Пилотный проект затронет 150 сотрудников двух подразделений, которые ежедневно сталкиваются с поиском инструкций.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ИИ-помощник обеспечивает мгновенный доступ к регламентам, предоставляя ссылки на оригинальные документы.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Система работает исключительно внутри контура компании, гарантируя, что документы не покидают внутреннюю инфраструктуру.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Если ИИ не находит подтверждённый ответ, вопрос автоматически передаётся специалисту поддержки вместе с контекстом запроса.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Пилот фокусируется только на двух подразделениях, чтобы исключить влияние глобальных настроек и внешних CRM.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 рамках пилота мы фокусируемся только на базовом функционале ИИ-помощника. Изменения глобальных настроек портала и интеграция с внешними CRM не входят в текущий план.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Метрики успеха пилота включают сокращение времени поиска ответа и рост доли обращений, закрытых без участия специалиста.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Пилот длится 6 недель с командой из трех человек для проверки гипотезы.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Ключевой риск — низкое качество ответов, который мы снижаем обучением модели на внутренних регламентах.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Просим утвердить пилотный запуск и выделить команду из трех специалистов для реализации.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e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7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Титульный слайд">
  <p:cSld name="7_Титульный слайд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2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56" name="Google Shape;56;p2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7" name="Google Shape;57;p2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8" name="Google Shape;58;p2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9" name="Google Shape;59;p2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0" name="Google Shape;60;p2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1" name="Google Shape;61;p2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2" name="Google Shape;62;p2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3" name="Google Shape;63;p2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4" name="Google Shape;64;p2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5" name="Google Shape;65;p2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6" name="Google Shape;66;p2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7" name="Google Shape;67;p2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8" name="Google Shape;68;p2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9" name="Google Shape;69;p2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0" name="Google Shape;70;p2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1" name="Google Shape;71;p2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2" name="Google Shape;72;p2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3" name="Google Shape;73;p2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4" name="Google Shape;74;p2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75" name="Google Shape;75;p2"/>
          <p:cNvSpPr txBox="1"/>
          <p:nvPr>
            <p:ph type="title"/>
          </p:nvPr>
        </p:nvSpPr>
        <p:spPr>
          <a:xfrm>
            <a:off x="429253" y="2546255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6" name="Google Shape;76;p2"/>
          <p:cNvGrpSpPr/>
          <p:nvPr/>
        </p:nvGrpSpPr>
        <p:grpSpPr>
          <a:xfrm>
            <a:off x="1" y="6350"/>
            <a:ext cx="12192792" cy="6851649"/>
            <a:chOff x="0" y="6350"/>
            <a:chExt cx="24396891" cy="13709651"/>
          </a:xfrm>
        </p:grpSpPr>
        <p:pic>
          <p:nvPicPr>
            <p:cNvPr id="77" name="Google Shape;77;p2"/>
            <p:cNvPicPr preferRelativeResize="0"/>
            <p:nvPr/>
          </p:nvPicPr>
          <p:blipFill rotWithShape="1">
            <a:blip r:embed="rId2">
              <a:alphaModFix/>
            </a:blip>
            <a:srcRect b="0" l="0" r="50023" t="80662"/>
            <a:stretch/>
          </p:blipFill>
          <p:spPr>
            <a:xfrm>
              <a:off x="1587" y="11064874"/>
              <a:ext cx="12192000" cy="2651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" name="Google Shape;78;p2"/>
            <p:cNvSpPr/>
            <p:nvPr/>
          </p:nvSpPr>
          <p:spPr>
            <a:xfrm>
              <a:off x="0" y="10657492"/>
              <a:ext cx="8335061" cy="305850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9" name="Google Shape;79;p2"/>
            <p:cNvPicPr preferRelativeResize="0"/>
            <p:nvPr/>
          </p:nvPicPr>
          <p:blipFill rotWithShape="1">
            <a:blip r:embed="rId2">
              <a:alphaModFix/>
            </a:blip>
            <a:srcRect b="0" l="52729" r="0" t="82751"/>
            <a:stretch/>
          </p:blipFill>
          <p:spPr>
            <a:xfrm>
              <a:off x="12853797" y="11351172"/>
              <a:ext cx="11531791" cy="23648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2"/>
            <p:cNvPicPr preferRelativeResize="0"/>
            <p:nvPr/>
          </p:nvPicPr>
          <p:blipFill rotWithShape="1">
            <a:blip r:embed="rId2">
              <a:alphaModFix/>
            </a:blip>
            <a:srcRect b="76357" l="52729" r="0" t="0"/>
            <a:stretch/>
          </p:blipFill>
          <p:spPr>
            <a:xfrm>
              <a:off x="12865099" y="6350"/>
              <a:ext cx="11531792" cy="32413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" name="Google Shape;81;p2"/>
            <p:cNvPicPr preferRelativeResize="0"/>
            <p:nvPr/>
          </p:nvPicPr>
          <p:blipFill rotWithShape="1">
            <a:blip r:embed="rId2">
              <a:alphaModFix/>
            </a:blip>
            <a:srcRect b="69917" l="0" r="47271" t="0"/>
            <a:stretch/>
          </p:blipFill>
          <p:spPr>
            <a:xfrm>
              <a:off x="1587" y="6350"/>
              <a:ext cx="12863512" cy="412421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2" name="Google Shape;8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035040"/>
            <a:ext cx="2653844" cy="4181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3" name="Google Shape;8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Заголовок">
  <p:cSld name="19_Заголовок">
    <p:bg>
      <p:bgPr>
        <a:solidFill>
          <a:schemeClr val="dk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4" name="Google Shape;114;p4"/>
          <p:cNvPicPr preferRelativeResize="0"/>
          <p:nvPr/>
        </p:nvPicPr>
        <p:blipFill rotWithShape="1">
          <a:blip r:embed="rId2">
            <a:alphaModFix/>
          </a:blip>
          <a:srcRect b="0" l="0" r="61122" t="0"/>
          <a:stretch/>
        </p:blipFill>
        <p:spPr>
          <a:xfrm>
            <a:off x="0" y="0"/>
            <a:ext cx="4739951" cy="6857143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4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6" name="Google Shape;11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Титульный слайд">
  <p:cSld name="15_Титульный слайд">
    <p:bg>
      <p:bgPr>
        <a:solidFill>
          <a:schemeClr val="dk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48" name="Google Shape;148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393786"/>
            <a:ext cx="4655279" cy="4642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49" name="Google Shape;1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1600" y="0"/>
            <a:ext cx="1760400" cy="24312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50" name="Google Shape;15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31498" y="6290333"/>
            <a:ext cx="2860502" cy="5676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1" name="Google Shape;151;p6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52" name="Google Shape;152;p6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3" name="Google Shape;153;p6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4" name="Google Shape;154;p6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5" name="Google Shape;155;p6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6" name="Google Shape;156;p6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7" name="Google Shape;157;p6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8" name="Google Shape;158;p6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9" name="Google Shape;159;p6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0" name="Google Shape;160;p6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1" name="Google Shape;161;p6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2" name="Google Shape;162;p6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3" name="Google Shape;163;p6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4" name="Google Shape;164;p6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5" name="Google Shape;165;p6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6" name="Google Shape;166;p6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7" name="Google Shape;167;p6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8" name="Google Shape;168;p6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9" name="Google Shape;169;p6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0" name="Google Shape;170;p6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71" name="Google Shape;171;p6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72" name="Google Shape;17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73" name="Google Shape;173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Титульный слайд">
  <p:cSld name="13_Титульный слайд">
    <p:bg>
      <p:bgPr>
        <a:solidFill>
          <a:schemeClr val="dk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175;p7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76" name="Google Shape;176;p7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7" name="Google Shape;177;p7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8" name="Google Shape;178;p7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9" name="Google Shape;179;p7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0" name="Google Shape;180;p7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1" name="Google Shape;181;p7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2" name="Google Shape;182;p7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3" name="Google Shape;183;p7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4" name="Google Shape;184;p7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5" name="Google Shape;185;p7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6" name="Google Shape;186;p7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7" name="Google Shape;187;p7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8" name="Google Shape;188;p7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9" name="Google Shape;189;p7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0" name="Google Shape;190;p7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1" name="Google Shape;191;p7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2" name="Google Shape;192;p7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3" name="Google Shape;193;p7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4" name="Google Shape;194;p7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95" name="Google Shape;195;p7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96" name="Google Shape;19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97" name="Google Shape;197;p7"/>
          <p:cNvPicPr preferRelativeResize="0"/>
          <p:nvPr/>
        </p:nvPicPr>
        <p:blipFill rotWithShape="1">
          <a:blip r:embed="rId3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7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01" name="Google Shape;20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Заголовок">
  <p:cSld name="8_Заголовок">
    <p:bg>
      <p:bgPr>
        <a:solidFill>
          <a:schemeClr val="dk1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8"/>
          <p:cNvPicPr preferRelativeResize="0"/>
          <p:nvPr/>
        </p:nvPicPr>
        <p:blipFill rotWithShape="1">
          <a:blip r:embed="rId2">
            <a:alphaModFix/>
          </a:blip>
          <a:srcRect b="25668" l="13456" r="0" t="10446"/>
          <a:stretch/>
        </p:blipFill>
        <p:spPr>
          <a:xfrm flipH="1">
            <a:off x="2907772" y="-1"/>
            <a:ext cx="928422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8"/>
          <p:cNvPicPr preferRelativeResize="0"/>
          <p:nvPr/>
        </p:nvPicPr>
        <p:blipFill rotWithShape="1">
          <a:blip r:embed="rId3">
            <a:alphaModFix/>
          </a:blip>
          <a:srcRect b="8691" l="36156" r="0" t="22176"/>
          <a:stretch/>
        </p:blipFill>
        <p:spPr>
          <a:xfrm flipH="1">
            <a:off x="5862319" y="-2"/>
            <a:ext cx="6329681" cy="6863317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8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06" name="Google Shape;20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07" name="Google Shape;20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Титульный слайд">
  <p:cSld name="17_Титульный слайд">
    <p:bg>
      <p:bgPr>
        <a:solidFill>
          <a:schemeClr val="dk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" name="Google Shape;209;p9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10" name="Google Shape;210;p9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1" name="Google Shape;211;p9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2" name="Google Shape;212;p9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3" name="Google Shape;213;p9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4" name="Google Shape;214;p9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5" name="Google Shape;215;p9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6" name="Google Shape;216;p9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7" name="Google Shape;217;p9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8" name="Google Shape;218;p9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9" name="Google Shape;219;p9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0" name="Google Shape;220;p9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1" name="Google Shape;221;p9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2" name="Google Shape;222;p9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3" name="Google Shape;223;p9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4" name="Google Shape;224;p9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5" name="Google Shape;225;p9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6" name="Google Shape;226;p9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7" name="Google Shape;227;p9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8" name="Google Shape;228;p9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29" name="Google Shape;229;p9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230" name="Google Shape;230;p9"/>
          <p:cNvPicPr preferRelativeResize="0"/>
          <p:nvPr/>
        </p:nvPicPr>
        <p:blipFill rotWithShape="1">
          <a:blip r:embed="rId2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9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Заголовок">
  <p:cSld name="11_Заголовок">
    <p:bg>
      <p:bgPr>
        <a:solidFill>
          <a:schemeClr val="dk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1"/>
          <p:cNvSpPr txBox="1"/>
          <p:nvPr>
            <p:ph type="title"/>
          </p:nvPr>
        </p:nvSpPr>
        <p:spPr>
          <a:xfrm>
            <a:off x="429253" y="424691"/>
            <a:ext cx="11354760" cy="767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63" name="Google Shape;26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4" name="Google Shape;26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4" Type="http://schemas.openxmlformats.org/officeDocument/2006/relationships/slideLayout" Target="../slideLayouts/slideLayout3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0.xml"/><Relationship Id="rId1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27866" y="662333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b="0" i="0" sz="3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58813" y="1773239"/>
            <a:ext cx="10855852" cy="4392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295275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  <a:defRPr b="0" i="0" sz="105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A6A6A6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3" name="Google Shape;13;p1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4" name="Google Shape;14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" name="Google Shape;28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" name="Google Shape;29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" name="Google Shape;30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" name="Google Shape;31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2" name="Google Shape;32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33" name="Google Shape;33;p1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34" name="Google Shape;34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" name="Google Shape;35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" name="Google Shape;36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" name="Google Shape;37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8" name="Google Shape;38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9" name="Google Shape;39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0" name="Google Shape;40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1" name="Google Shape;41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2" name="Google Shape;42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" name="Google Shape;43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" name="Google Shape;44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5" name="Google Shape;45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6" name="Google Shape;46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7" name="Google Shape;47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8" name="Google Shape;48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9" name="Google Shape;49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0" name="Google Shape;50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1" name="Google Shape;51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2" name="Google Shape;52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pic>
        <p:nvPicPr>
          <p:cNvPr id="53" name="Google Shape;53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419564" y="6161239"/>
            <a:ext cx="932071" cy="288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50" r:id="rId4"/>
    <p:sldLayoutId id="2147483652" r:id="rId6"/>
    <p:sldLayoutId id="2147483653" r:id="rId7"/>
    <p:sldLayoutId id="2147483654" r:id="rId8"/>
    <p:sldLayoutId id="2147483655" r:id="rId9"/>
    <p:sldLayoutId id="2147483657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57">
          <p15:clr>
            <a:srgbClr val="FDE53C"/>
          </p15:clr>
        </p15:guide>
        <p15:guide id="2" pos="7423">
          <p15:clr>
            <a:srgbClr val="FDE53C"/>
          </p15:clr>
        </p15:guide>
        <p15:guide id="3" orient="horz" pos="4065">
          <p15:clr>
            <a:srgbClr val="FDE53C"/>
          </p15:clr>
        </p15:guide>
        <p15:guide id="4" pos="5201">
          <p15:clr>
            <a:srgbClr val="FDE53C"/>
          </p15:clr>
        </p15:guide>
        <p15:guide id="5" pos="2479">
          <p15:clr>
            <a:srgbClr val="FDE53C"/>
          </p15:clr>
        </p15:guide>
        <p15:guide id="6" pos="3840">
          <p15:clr>
            <a:srgbClr val="FDE53C"/>
          </p15:clr>
        </p15:guide>
        <p15:guide id="7" orient="horz" pos="640">
          <p15:clr>
            <a:srgbClr val="FDE53C"/>
          </p15:clr>
        </p15:guide>
        <p15:guide id="8" orient="horz" pos="1003">
          <p15:clr>
            <a:srgbClr val="FDE53C"/>
          </p15:clr>
        </p15:guide>
        <p15:guide id="9" pos="1073">
          <p15:clr>
            <a:srgbClr val="FDE53C"/>
          </p15:clr>
        </p15:guide>
        <p15:guide id="10" pos="6584">
          <p15:clr>
            <a:srgbClr val="FDE53C"/>
          </p15:clr>
        </p15:guide>
        <p15:guide id="11" orient="horz" pos="255">
          <p15:clr>
            <a:srgbClr val="FDE53C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3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3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3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32.png"/><Relationship Id="rId4" Type="http://schemas.openxmlformats.org/officeDocument/2006/relationships/image" Target="../media/image33.jpeg"/><Relationship Id="rId5" Type="http://schemas.openxmlformats.org/officeDocument/2006/relationships/notesSlide" Target="../notesSlides/notesSlide3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32.png"/><Relationship Id="rId4" Type="http://schemas.openxmlformats.org/officeDocument/2006/relationships/image" Target="../media/image34.jpeg"/><Relationship Id="rId5" Type="http://schemas.openxmlformats.org/officeDocument/2006/relationships/notesSlide" Target="../notesSlides/notesSlide3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3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4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81" name="BrandDeck Text 381"/>
          <p:cNvSpPr txBox="1"/>
          <p:nvPr>
            <p:ph type="title"/>
          </p:nvPr>
        </p:nvSpPr>
        <p:spPr>
          <a:xfrm>
            <a:off x="429253" y="2490555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480"/>
              </a:spcAft>
              <a:buClr>
                <a:schemeClr val="lt1"/>
              </a:buClr>
              <a:buSzPts val="4800"/>
              <a:buFont typeface="Play"/>
              <a:buNone/>
            </a:pPr>
            <a:r>
              <a:rPr sz="3200"/>
              <a:t>Автоматизация поиска инструкций и ответов поддержки</a:t>
            </a:r>
            <a:endParaRPr sz="4800"/>
          </a:p>
        </p:txBody>
      </p:sp>
      <p:sp>
        <p:nvSpPr>
          <p:cNvPr id="383" name="BrandDeck Text 383"/>
          <p:cNvSpPr txBox="1"/>
          <p:nvPr/>
        </p:nvSpPr>
        <p:spPr>
          <a:xfrm>
            <a:off x="1510259" y="4682209"/>
            <a:ext cx="2213844" cy="8342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179"/>
              </a:spcAft>
              <a:buClr>
                <a:srgbClr val="AFB8C2"/>
              </a:buClr>
              <a:buSzPts val="1600"/>
              <a:buFont typeface="Play"/>
              <a:buNone/>
            </a:pPr>
            <a:r>
              <a:rPr sz="1200" b="0">
                <a:solidFill>
                  <a:srgbClr val="AFB8C2"/>
                </a:solidFill>
                <a:latin typeface="Play"/>
              </a:rPr>
              <a:t>Инициатива по внедрению ИИ-помощника для снижения нагрузки на поддержку и ускорения поиска информации</a:t>
            </a:r>
            <a:endParaRPr b="0" i="0" sz="1600" u="none" cap="none" strike="noStrike">
              <a:solidFill>
                <a:srgbClr val="AFB8C2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26" name="BrandDeck Text 726"/>
          <p:cNvSpPr txBox="1"/>
          <p:nvPr>
            <p:ph type="title"/>
          </p:nvPr>
        </p:nvSpPr>
        <p:spPr>
          <a:xfrm>
            <a:off x="429253" y="424691"/>
            <a:ext cx="11354760" cy="767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2000"/>
              <a:t>Поиск инструкции занимает до 30 минут, а треть обращений дублируется</a:t>
            </a:r>
            <a:endParaRPr/>
          </a:p>
        </p:txBody>
      </p:sp>
      <p:pic>
        <p:nvPicPr>
          <p:cNvPr id="727" name="Google Shape;727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562756" y="27789"/>
            <a:ext cx="11737014" cy="70828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BrandDeck Diagram pyramid" descr="pyramid: Время поиска до 30 минут на инструкцию; Дублирование треть обращений повторяется"/>
          <p:cNvGrpSpPr/>
          <p:nvPr/>
        </p:nvGrpSpPr>
        <p:grpSpPr>
          <a:xfrm>
            <a:off x="445911" y="2189269"/>
            <a:ext cx="7811120" cy="2871215"/>
            <a:chOff x="445911" y="2189269"/>
            <a:chExt cx="7811120" cy="2871215"/>
          </a:xfrm>
        </p:grpSpPr>
        <p:sp>
          <p:nvSpPr>
            <p:cNvPr id="736" name="BrandDeck Diagram Level 1"/>
            <p:cNvSpPr/>
            <p:nvPr/>
          </p:nvSpPr>
          <p:spPr>
            <a:xfrm>
              <a:off x="1306910" y="2189269"/>
              <a:ext cx="1689710" cy="1408176"/>
            </a:xfrm>
            <a:custGeom>
              <a:avLst/>
              <a:gdLst/>
              <a:ahLst/>
              <a:cxnLst/>
              <a:rect l="l" t="t" r="r" b="b"/>
              <a:pathLst>
                <a:path w="1848" h="1540" stroke="0">
                  <a:moveTo>
                    <a:pt x="899" y="0"/>
                  </a:moveTo>
                  <a:lnTo>
                    <a:pt x="949" y="0"/>
                  </a:lnTo>
                  <a:lnTo>
                    <a:pt x="1848" y="1540"/>
                  </a:lnTo>
                  <a:lnTo>
                    <a:pt x="0" y="1540"/>
                  </a:lnTo>
                  <a:close/>
                </a:path>
              </a:pathLst>
            </a:custGeom>
            <a:solidFill>
              <a:srgbClr val="006DEB"/>
            </a:solidFill>
            <a:ln w="0">
              <a:noFill/>
            </a:ln>
          </p:spPr>
          <p:txBody>
            <a:bodyPr rtlCol="0" anchor="b" wrap="square" lIns="18288" tIns="0" rIns="18288" bIns="7315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400" b="1">
                  <a:solidFill>
                    <a:srgbClr val="FFFFFF"/>
                  </a:solidFill>
                  <a:latin typeface="Play"/>
                </a:rPr>
                <a:t>01</a:t>
              </a:r>
            </a:p>
          </p:txBody>
        </p:sp>
        <p:sp>
          <p:nvSpPr>
            <p:cNvPr id="737" name="BrandDeck Diagram Text 1"/>
            <p:cNvSpPr txBox="1"/>
            <p:nvPr/>
          </p:nvSpPr>
          <p:spPr>
            <a:xfrm>
              <a:off x="4148084" y="2189269"/>
              <a:ext cx="4108947" cy="140817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600" b="1">
                  <a:solidFill>
                    <a:srgbClr val="FFFFFF"/>
                  </a:solidFill>
                  <a:latin typeface="Play"/>
                </a:rPr>
                <a:t>Время поиска</a:t>
              </a:r>
            </a:p>
            <a:p>
              <a:pPr algn="l">
                <a:lnSpc>
                  <a:spcPct val="110000"/>
                </a:lnSpc>
                <a:spcBef>
                  <a:spcPts val="400"/>
                </a:spcBef>
              </a:pPr>
              <a:r>
                <a:rPr sz="1600" b="0">
                  <a:solidFill>
                    <a:srgbClr val="FFFFFF"/>
                  </a:solidFill>
                  <a:latin typeface="Play"/>
                </a:rPr>
                <a:t>до 30 минут на инструкцию</a:t>
              </a:r>
            </a:p>
          </p:txBody>
        </p:sp>
        <p:sp>
          <p:nvSpPr>
            <p:cNvPr id="738" name="BrandDeck Diagram Level 2"/>
            <p:cNvSpPr/>
            <p:nvPr/>
          </p:nvSpPr>
          <p:spPr>
            <a:xfrm>
              <a:off x="445911" y="3652309"/>
              <a:ext cx="3411708" cy="1408175"/>
            </a:xfrm>
            <a:custGeom>
              <a:avLst/>
              <a:gdLst/>
              <a:ahLst/>
              <a:cxnLst/>
              <a:rect l="l" t="t" r="r" b="b"/>
              <a:pathLst>
                <a:path w="3731" h="1540" stroke="0">
                  <a:moveTo>
                    <a:pt x="906" y="0"/>
                  </a:moveTo>
                  <a:lnTo>
                    <a:pt x="2825" y="0"/>
                  </a:lnTo>
                  <a:lnTo>
                    <a:pt x="3731" y="1540"/>
                  </a:lnTo>
                  <a:lnTo>
                    <a:pt x="0" y="1540"/>
                  </a:lnTo>
                  <a:close/>
                </a:path>
              </a:pathLst>
            </a:custGeom>
            <a:solidFill>
              <a:srgbClr val="003676"/>
            </a:solidFill>
            <a:ln w="0">
              <a:noFill/>
            </a:ln>
          </p:spPr>
          <p:txBody>
            <a:bodyPr rtlCol="0" anchor="ctr" wrap="square" lIns="18288" tIns="0" rIns="18288" bIns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400" b="1">
                  <a:solidFill>
                    <a:srgbClr val="FFFFFF"/>
                  </a:solidFill>
                  <a:latin typeface="Play"/>
                </a:rPr>
                <a:t>02</a:t>
              </a:r>
            </a:p>
          </p:txBody>
        </p:sp>
        <p:sp>
          <p:nvSpPr>
            <p:cNvPr id="739" name="BrandDeck Diagram Text 2"/>
            <p:cNvSpPr txBox="1"/>
            <p:nvPr/>
          </p:nvSpPr>
          <p:spPr>
            <a:xfrm>
              <a:off x="4148084" y="3652309"/>
              <a:ext cx="4108947" cy="14081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600" b="1">
                  <a:solidFill>
                    <a:srgbClr val="FFFFFF"/>
                  </a:solidFill>
                  <a:latin typeface="Play"/>
                </a:rPr>
                <a:t>Дублирование</a:t>
              </a:r>
            </a:p>
            <a:p>
              <a:pPr algn="l">
                <a:lnSpc>
                  <a:spcPct val="110000"/>
                </a:lnSpc>
                <a:spcBef>
                  <a:spcPts val="400"/>
                </a:spcBef>
              </a:pPr>
              <a:r>
                <a:rPr sz="1600" b="0">
                  <a:solidFill>
                    <a:srgbClr val="FFFFFF"/>
                  </a:solidFill>
                  <a:latin typeface="Play"/>
                </a:rPr>
                <a:t>треть обращений повторяется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7" name="BrandDeck Text 547"/>
          <p:cNvSpPr txBox="1"/>
          <p:nvPr>
            <p:ph type="title"/>
          </p:nvPr>
        </p:nvSpPr>
        <p:spPr>
          <a:xfrm>
            <a:off x="429253" y="424691"/>
            <a:ext cx="7827311" cy="626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1800"/>
              <a:t>Влияет на 150 сотрудников двух подразделений при ежедневном использовании</a:t>
            </a:r>
            <a:endParaRPr/>
          </a:p>
        </p:txBody>
      </p:sp>
      <p:grpSp>
        <p:nvGrpSpPr>
          <p:cNvPr id="2" name="BrandDeck Diagram icon_grid" descr="icon_grid: Целевая аудитория 150 сотрудников двух подразделений; Масштаб влияния Ежедневное использование; Объем пилота 2 подразделения"/>
          <p:cNvGrpSpPr/>
          <p:nvPr/>
        </p:nvGrpSpPr>
        <p:grpSpPr>
          <a:xfrm>
            <a:off x="5383513" y="2710690"/>
            <a:ext cx="5917557" cy="3556255"/>
            <a:chOff x="5383513" y="2710690"/>
            <a:chExt cx="5917557" cy="3556255"/>
          </a:xfrm>
        </p:grpSpPr>
        <p:sp>
          <p:nvSpPr>
            <p:cNvPr id="560" name="BrandDeck Diagram Card 1"/>
            <p:cNvSpPr/>
            <p:nvPr/>
          </p:nvSpPr>
          <p:spPr>
            <a:xfrm>
              <a:off x="5383513" y="2710690"/>
              <a:ext cx="2899603" cy="1718952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1" name="BrandDeck Diagram Icon 1 Badge"/>
            <p:cNvSpPr/>
            <p:nvPr/>
          </p:nvSpPr>
          <p:spPr>
            <a:xfrm>
              <a:off x="5586485" y="2913662"/>
              <a:ext cx="481306" cy="481306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2" name="BrandDeck Icon users"/>
            <p:cNvSpPr/>
            <p:nvPr/>
          </p:nvSpPr>
          <p:spPr>
            <a:xfrm>
              <a:off x="5692372" y="3019549"/>
              <a:ext cx="269531" cy="269531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22000" y="21000"/>
                  </a:moveTo>
                  <a:lnTo>
                    <a:pt x="22000" y="19000"/>
                  </a:lnTo>
                  <a:cubicBezTo>
                    <a:pt x="21999" y="17177"/>
                    <a:pt x="20765" y="15586"/>
                    <a:pt x="19000" y="15130"/>
                  </a:cubicBezTo>
                </a:path>
                <a:path w="24000" h="24000" fill="none">
                  <a:moveTo>
                    <a:pt x="16000" y="3130"/>
                  </a:moveTo>
                  <a:cubicBezTo>
                    <a:pt x="17770" y="3583"/>
                    <a:pt x="19008" y="5178"/>
                    <a:pt x="19008" y="7005"/>
                  </a:cubicBezTo>
                  <a:cubicBezTo>
                    <a:pt x="19008" y="8832"/>
                    <a:pt x="17770" y="10427"/>
                    <a:pt x="16000" y="10880"/>
                  </a:cubicBezTo>
                </a:path>
              </a:pathLst>
            </a:custGeom>
            <a:noFill/>
            <a:ln w="22460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3" name="BrandDeck Diagram Text 1"/>
            <p:cNvSpPr txBox="1"/>
            <p:nvPr/>
          </p:nvSpPr>
          <p:spPr>
            <a:xfrm>
              <a:off x="5525593" y="3537049"/>
              <a:ext cx="2615442" cy="791106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300" b="1">
                  <a:solidFill>
                    <a:srgbClr val="FFFFFF"/>
                  </a:solidFill>
                  <a:latin typeface="Play"/>
                </a:rPr>
                <a:t>Целевая аудитория</a:t>
              </a:r>
            </a:p>
            <a:p>
              <a:pPr algn="l">
                <a:lnSpc>
                  <a:spcPct val="110000"/>
                </a:lnSpc>
                <a:spcBef>
                  <a:spcPts val="325"/>
                </a:spcBef>
              </a:pPr>
              <a:r>
                <a:rPr sz="1300" b="0">
                  <a:solidFill>
                    <a:srgbClr val="FFFFFF"/>
                  </a:solidFill>
                  <a:latin typeface="Play"/>
                </a:rPr>
                <a:t>150 сотрудников двух подразделений</a:t>
              </a:r>
            </a:p>
          </p:txBody>
        </p:sp>
        <p:sp>
          <p:nvSpPr>
            <p:cNvPr id="564" name="BrandDeck Diagram Card 2"/>
            <p:cNvSpPr/>
            <p:nvPr/>
          </p:nvSpPr>
          <p:spPr>
            <a:xfrm>
              <a:off x="8401467" y="2710690"/>
              <a:ext cx="2899603" cy="1718952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5" name="BrandDeck Diagram Icon 2 Badge"/>
            <p:cNvSpPr/>
            <p:nvPr/>
          </p:nvSpPr>
          <p:spPr>
            <a:xfrm>
              <a:off x="8604439" y="2913662"/>
              <a:ext cx="481306" cy="481306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6" name="BrandDeck Icon trending-up"/>
            <p:cNvSpPr/>
            <p:nvPr/>
          </p:nvSpPr>
          <p:spPr>
            <a:xfrm>
              <a:off x="8710327" y="3019549"/>
              <a:ext cx="269531" cy="269531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7000"/>
                  </a:moveTo>
                  <a:lnTo>
                    <a:pt x="13500" y="15500"/>
                  </a:lnTo>
                  <a:lnTo>
                    <a:pt x="8500" y="10500"/>
                  </a:lnTo>
                  <a:lnTo>
                    <a:pt x="2000" y="17000"/>
                  </a:lnTo>
                </a:path>
                <a:path w="24000" h="24000" fill="none">
                  <a:moveTo>
                    <a:pt x="16000" y="7000"/>
                  </a:moveTo>
                  <a:lnTo>
                    <a:pt x="22000" y="7000"/>
                  </a:lnTo>
                  <a:lnTo>
                    <a:pt x="22000" y="13000"/>
                  </a:lnTo>
                </a:path>
              </a:pathLst>
            </a:custGeom>
            <a:noFill/>
            <a:ln w="22460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7" name="BrandDeck Diagram Text 2"/>
            <p:cNvSpPr txBox="1"/>
            <p:nvPr/>
          </p:nvSpPr>
          <p:spPr>
            <a:xfrm>
              <a:off x="8543548" y="3537049"/>
              <a:ext cx="2615442" cy="791106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300" b="1">
                  <a:solidFill>
                    <a:srgbClr val="FFFFFF"/>
                  </a:solidFill>
                  <a:latin typeface="Play"/>
                </a:rPr>
                <a:t>Масштаб влияния</a:t>
              </a:r>
            </a:p>
            <a:p>
              <a:pPr algn="l">
                <a:lnSpc>
                  <a:spcPct val="110000"/>
                </a:lnSpc>
                <a:spcBef>
                  <a:spcPts val="325"/>
                </a:spcBef>
              </a:pPr>
              <a:r>
                <a:rPr sz="1300" b="0">
                  <a:solidFill>
                    <a:srgbClr val="FFFFFF"/>
                  </a:solidFill>
                  <a:latin typeface="Play"/>
                </a:rPr>
                <a:t>Ежедневное использование</a:t>
              </a:r>
            </a:p>
          </p:txBody>
        </p:sp>
        <p:sp>
          <p:nvSpPr>
            <p:cNvPr id="568" name="BrandDeck Diagram Card 3"/>
            <p:cNvSpPr/>
            <p:nvPr/>
          </p:nvSpPr>
          <p:spPr>
            <a:xfrm>
              <a:off x="5383513" y="4547993"/>
              <a:ext cx="2899603" cy="1718952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9" name="BrandDeck Diagram Icon 3 Badge"/>
            <p:cNvSpPr/>
            <p:nvPr/>
          </p:nvSpPr>
          <p:spPr>
            <a:xfrm>
              <a:off x="5586485" y="4750965"/>
              <a:ext cx="481306" cy="481306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0" name="BrandDeck Icon building-2"/>
            <p:cNvSpPr/>
            <p:nvPr/>
          </p:nvSpPr>
          <p:spPr>
            <a:xfrm>
              <a:off x="5692372" y="4856853"/>
              <a:ext cx="269531" cy="269531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6000" y="22000"/>
                  </a:moveTo>
                  <a:lnTo>
                    <a:pt x="6000" y="4000"/>
                  </a:lnTo>
                  <a:cubicBezTo>
                    <a:pt x="6000" y="2895"/>
                    <a:pt x="6895" y="2000"/>
                    <a:pt x="8000" y="2000"/>
                  </a:cubicBezTo>
                  <a:lnTo>
                    <a:pt x="16000" y="2000"/>
                  </a:lnTo>
                  <a:cubicBezTo>
                    <a:pt x="17105" y="2000"/>
                    <a:pt x="18000" y="2895"/>
                    <a:pt x="18000" y="4000"/>
                  </a:cubicBezTo>
                  <a:lnTo>
                    <a:pt x="18000" y="22000"/>
                  </a:lnTo>
                  <a:close/>
                </a:path>
                <a:path w="24000" h="24000" fill="none">
                  <a:moveTo>
                    <a:pt x="6000" y="12000"/>
                  </a:moveTo>
                  <a:lnTo>
                    <a:pt x="4000" y="12000"/>
                  </a:lnTo>
                  <a:cubicBezTo>
                    <a:pt x="2895" y="12000"/>
                    <a:pt x="2000" y="12895"/>
                    <a:pt x="2000" y="14000"/>
                  </a:cubicBezTo>
                  <a:lnTo>
                    <a:pt x="2000" y="20000"/>
                  </a:lnTo>
                  <a:cubicBezTo>
                    <a:pt x="2000" y="21105"/>
                    <a:pt x="2895" y="22000"/>
                    <a:pt x="4000" y="22000"/>
                  </a:cubicBezTo>
                  <a:lnTo>
                    <a:pt x="6000" y="22000"/>
                  </a:lnTo>
                </a:path>
                <a:path w="24000" h="24000" fill="none">
                  <a:moveTo>
                    <a:pt x="18000" y="9000"/>
                  </a:moveTo>
                  <a:lnTo>
                    <a:pt x="20000" y="9000"/>
                  </a:lnTo>
                  <a:cubicBezTo>
                    <a:pt x="21105" y="9000"/>
                    <a:pt x="22000" y="9895"/>
                    <a:pt x="22000" y="11000"/>
                  </a:cubicBezTo>
                  <a:lnTo>
                    <a:pt x="22000" y="20000"/>
                  </a:lnTo>
                  <a:cubicBezTo>
                    <a:pt x="22000" y="21105"/>
                    <a:pt x="21105" y="22000"/>
                    <a:pt x="20000" y="22000"/>
                  </a:cubicBezTo>
                  <a:lnTo>
                    <a:pt x="18000" y="22000"/>
                  </a:lnTo>
                </a:path>
                <a:path w="24000" h="24000" fill="none">
                  <a:moveTo>
                    <a:pt x="10000" y="6000"/>
                  </a:moveTo>
                  <a:lnTo>
                    <a:pt x="14000" y="6000"/>
                  </a:lnTo>
                </a:path>
                <a:path w="24000" h="24000" fill="none">
                  <a:moveTo>
                    <a:pt x="10000" y="10000"/>
                  </a:moveTo>
                  <a:lnTo>
                    <a:pt x="14000" y="10000"/>
                  </a:lnTo>
                </a:path>
                <a:path w="24000" h="24000" fill="none">
                  <a:moveTo>
                    <a:pt x="10000" y="14000"/>
                  </a:moveTo>
                  <a:lnTo>
                    <a:pt x="14000" y="14000"/>
                  </a:lnTo>
                </a:path>
                <a:path w="24000" h="24000" fill="none">
                  <a:moveTo>
                    <a:pt x="10000" y="18000"/>
                  </a:moveTo>
                  <a:lnTo>
                    <a:pt x="14000" y="18000"/>
                  </a:lnTo>
                </a:path>
              </a:pathLst>
            </a:custGeom>
            <a:noFill/>
            <a:ln w="22460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1" name="BrandDeck Diagram Text 3"/>
            <p:cNvSpPr txBox="1"/>
            <p:nvPr/>
          </p:nvSpPr>
          <p:spPr>
            <a:xfrm>
              <a:off x="5525593" y="5374353"/>
              <a:ext cx="2615442" cy="791106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300" b="1">
                  <a:solidFill>
                    <a:srgbClr val="FFFFFF"/>
                  </a:solidFill>
                  <a:latin typeface="Play"/>
                </a:rPr>
                <a:t>Объем пилота</a:t>
              </a:r>
            </a:p>
            <a:p>
              <a:pPr algn="l">
                <a:lnSpc>
                  <a:spcPct val="110000"/>
                </a:lnSpc>
                <a:spcBef>
                  <a:spcPts val="325"/>
                </a:spcBef>
              </a:pPr>
              <a:r>
                <a:rPr sz="1300" b="0">
                  <a:solidFill>
                    <a:srgbClr val="FFFFFF"/>
                  </a:solidFill>
                  <a:latin typeface="Play"/>
                </a:rPr>
                <a:t>2 подразделения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41" name="BrandDeck Text 441"/>
          <p:cNvSpPr txBox="1"/>
          <p:nvPr>
            <p:ph type="title"/>
          </p:nvPr>
        </p:nvSpPr>
        <p:spPr>
          <a:xfrm>
            <a:off x="429253" y="424691"/>
            <a:ext cx="7827311" cy="626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1800"/>
              <a:t>ИИ-помощник отвечает на вопросы по регламентам и дает ссылку на документ-источник</a:t>
            </a:r>
            <a:endParaRPr/>
          </a:p>
        </p:txBody>
      </p:sp>
      <p:sp>
        <p:nvSpPr>
          <p:cNvPr id="442" name="BrandDeck Text 442"/>
          <p:cNvSpPr/>
          <p:nvPr/>
        </p:nvSpPr>
        <p:spPr>
          <a:xfrm>
            <a:off x="5383513" y="860119"/>
            <a:ext cx="5917558" cy="1705685"/>
          </a:xfrm>
          <a:prstGeom prst="roundRect">
            <a:avLst>
              <a:gd fmla="val 9293" name="adj"/>
            </a:avLst>
          </a:prstGeom>
          <a:solidFill>
            <a:srgbClr val="151515"/>
          </a:solidFill>
          <a:ln>
            <a:noFill/>
          </a:ln>
        </p:spPr>
        <p:txBody>
          <a:bodyPr anchorCtr="0" anchor="t" bIns="0" lIns="108000" spcFirstLastPara="1" rIns="0" wrap="square" tIns="756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 b="0">
                <a:solidFill>
                  <a:srgbClr val="FFFFFF"/>
                </a:solidFill>
                <a:latin typeface="Play"/>
              </a:rPr>
              <a:t>ИИ-помощник отвечает на вопросы по регламентам и инструкциям.</a:t>
            </a:r>
            <a:endParaRPr/>
          </a:p>
        </p:txBody>
      </p:sp>
      <p:grpSp>
        <p:nvGrpSpPr>
          <p:cNvPr id="443" name="Google Shape;443;p21"/>
          <p:cNvGrpSpPr/>
          <p:nvPr/>
        </p:nvGrpSpPr>
        <p:grpSpPr>
          <a:xfrm>
            <a:off x="5523729" y="996732"/>
            <a:ext cx="515460" cy="515395"/>
            <a:chOff x="5166883" y="996732"/>
            <a:chExt cx="515460" cy="515395"/>
          </a:xfrm>
        </p:grpSpPr>
        <p:sp>
          <p:nvSpPr>
            <p:cNvPr id="444" name="Google Shape;444;p21"/>
            <p:cNvSpPr/>
            <p:nvPr/>
          </p:nvSpPr>
          <p:spPr>
            <a:xfrm>
              <a:off x="5166883" y="996732"/>
              <a:ext cx="515460" cy="515395"/>
            </a:xfrm>
            <a:prstGeom prst="roundRect">
              <a:avLst>
                <a:gd fmla="val 23586" name="adj"/>
              </a:avLst>
            </a:prstGeom>
            <a:solidFill>
              <a:srgbClr val="2121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45" name="Google Shape;445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5291263" y="1117786"/>
              <a:ext cx="266700" cy="266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46" name="BrandDeck Text 446"/>
          <p:cNvSpPr/>
          <p:nvPr/>
        </p:nvSpPr>
        <p:spPr>
          <a:xfrm>
            <a:off x="5383513" y="2710690"/>
            <a:ext cx="5917558" cy="1705685"/>
          </a:xfrm>
          <a:prstGeom prst="roundRect">
            <a:avLst>
              <a:gd fmla="val 9293" name="adj"/>
            </a:avLst>
          </a:prstGeom>
          <a:solidFill>
            <a:srgbClr val="151515"/>
          </a:solidFill>
          <a:ln>
            <a:noFill/>
          </a:ln>
        </p:spPr>
        <p:txBody>
          <a:bodyPr anchorCtr="0" anchor="t" bIns="0" lIns="108000" spcFirstLastPara="1" rIns="0" wrap="square" tIns="756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 b="0">
                <a:solidFill>
                  <a:srgbClr val="FFFFFF"/>
                </a:solidFill>
                <a:latin typeface="Play"/>
              </a:rPr>
              <a:t>Система автоматически формирует ссылку на документ-источник.</a:t>
            </a:r>
            <a:endParaRPr/>
          </a:p>
        </p:txBody>
      </p:sp>
      <p:grpSp>
        <p:nvGrpSpPr>
          <p:cNvPr id="447" name="Google Shape;447;p21"/>
          <p:cNvGrpSpPr/>
          <p:nvPr/>
        </p:nvGrpSpPr>
        <p:grpSpPr>
          <a:xfrm>
            <a:off x="5523729" y="2847303"/>
            <a:ext cx="515460" cy="515395"/>
            <a:chOff x="5166883" y="996732"/>
            <a:chExt cx="515460" cy="515395"/>
          </a:xfrm>
        </p:grpSpPr>
        <p:sp>
          <p:nvSpPr>
            <p:cNvPr id="448" name="Google Shape;448;p21"/>
            <p:cNvSpPr/>
            <p:nvPr/>
          </p:nvSpPr>
          <p:spPr>
            <a:xfrm>
              <a:off x="5166883" y="996732"/>
              <a:ext cx="515460" cy="515395"/>
            </a:xfrm>
            <a:prstGeom prst="roundRect">
              <a:avLst>
                <a:gd fmla="val 23586" name="adj"/>
              </a:avLst>
            </a:prstGeom>
            <a:solidFill>
              <a:srgbClr val="2121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49" name="Google Shape;449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5291263" y="1117786"/>
              <a:ext cx="266700" cy="266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50" name="BrandDeck Text 450"/>
          <p:cNvSpPr/>
          <p:nvPr/>
        </p:nvSpPr>
        <p:spPr>
          <a:xfrm>
            <a:off x="5383513" y="4561261"/>
            <a:ext cx="5917558" cy="1705685"/>
          </a:xfrm>
          <a:prstGeom prst="roundRect">
            <a:avLst>
              <a:gd fmla="val 9293" name="adj"/>
            </a:avLst>
          </a:prstGeom>
          <a:solidFill>
            <a:srgbClr val="151515"/>
          </a:solidFill>
          <a:ln>
            <a:noFill/>
          </a:ln>
        </p:spPr>
        <p:txBody>
          <a:bodyPr anchorCtr="0" anchor="t" bIns="0" lIns="108000" spcFirstLastPara="1" rIns="0" wrap="square" tIns="756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 b="0">
                <a:solidFill>
                  <a:srgbClr val="FFFFFF"/>
                </a:solidFill>
                <a:latin typeface="Play"/>
              </a:rPr>
              <a:t>Ответы генерируются на основе внутренних данных компании.</a:t>
            </a:r>
            <a:endParaRPr/>
          </a:p>
        </p:txBody>
      </p:sp>
      <p:grpSp>
        <p:nvGrpSpPr>
          <p:cNvPr id="451" name="Google Shape;451;p21"/>
          <p:cNvGrpSpPr/>
          <p:nvPr/>
        </p:nvGrpSpPr>
        <p:grpSpPr>
          <a:xfrm>
            <a:off x="5523729" y="4697874"/>
            <a:ext cx="515460" cy="515395"/>
            <a:chOff x="5166883" y="996732"/>
            <a:chExt cx="515460" cy="515395"/>
          </a:xfrm>
        </p:grpSpPr>
        <p:sp>
          <p:nvSpPr>
            <p:cNvPr id="452" name="Google Shape;452;p21"/>
            <p:cNvSpPr/>
            <p:nvPr/>
          </p:nvSpPr>
          <p:spPr>
            <a:xfrm>
              <a:off x="5166883" y="996732"/>
              <a:ext cx="515460" cy="515395"/>
            </a:xfrm>
            <a:prstGeom prst="roundRect">
              <a:avLst>
                <a:gd fmla="val 23586" name="adj"/>
              </a:avLst>
            </a:prstGeom>
            <a:solidFill>
              <a:srgbClr val="2121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53" name="Google Shape;453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5291263" y="1117786"/>
              <a:ext cx="266700" cy="2667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12" name="BrandDeck Text 812"/>
          <p:cNvSpPr txBox="1"/>
          <p:nvPr>
            <p:ph type="title"/>
          </p:nvPr>
        </p:nvSpPr>
        <p:spPr>
          <a:xfrm>
            <a:off x="429253" y="424691"/>
            <a:ext cx="2341359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1600"/>
              <a:t>Система работает внутри контура компании, не выводя документы наружу</a:t>
            </a:r>
            <a:endParaRPr/>
          </a:p>
        </p:txBody>
      </p:sp>
      <p:pic>
        <p:nvPicPr>
          <p:cNvPr id="835" name="BrandDeck Image" descr="внутренний контур серверная"/>
          <p:cNvPicPr>
            <a:picLocks noChangeAspect="1"/>
          </p:cNvPicPr>
          <p:nvPr/>
        </p:nvPicPr>
        <p:blipFill>
          <a:blip r:embed="rId4"/>
          <a:srcRect l="20599" r="20599"/>
          <a:stretch>
            <a:fillRect/>
          </a:stretch>
        </p:blipFill>
        <p:spPr>
          <a:xfrm>
            <a:off x="5362697" y="324571"/>
            <a:ext cx="6826255" cy="6533429"/>
          </a:xfrm>
          <a:prstGeom prst="rect">
            <a:avLst/>
          </a:prstGeom>
        </p:spPr>
      </p:pic>
      <p:sp>
        <p:nvSpPr>
          <p:cNvPr id="834" name="BrandDeck Body"/>
          <p:cNvSpPr txBox="1"/>
          <p:nvPr/>
        </p:nvSpPr>
        <p:spPr>
          <a:xfrm>
            <a:off x="1036774" y="1729423"/>
            <a:ext cx="4143042" cy="4717097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</a:pPr>
            <a:r>
              <a:rPr sz="1600">
                <a:solidFill>
                  <a:srgbClr val="FFFFFF"/>
                </a:solidFill>
                <a:latin typeface="Play"/>
              </a:rPr>
              <a:t>• Все данные обрабатываются внутри контура компании.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</a:pPr>
            <a:r>
              <a:rPr sz="1600">
                <a:solidFill>
                  <a:srgbClr val="FFFFFF"/>
                </a:solidFill>
                <a:latin typeface="Play"/>
              </a:rPr>
              <a:t>• Документы не покидают внутреннюю инфраструктуру.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</a:pPr>
            <a:r>
              <a:rPr sz="1600">
                <a:solidFill>
                  <a:srgbClr val="FFFFFF"/>
                </a:solidFill>
                <a:latin typeface="Play"/>
              </a:rPr>
              <a:t>• Обеспечивается полная локализация обработки запросов.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12" name="BrandDeck Text 812"/>
          <p:cNvSpPr txBox="1"/>
          <p:nvPr>
            <p:ph type="title"/>
          </p:nvPr>
        </p:nvSpPr>
        <p:spPr>
          <a:xfrm>
            <a:off x="429253" y="424691"/>
            <a:ext cx="2341359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195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1300"/>
              <a:t>При отсутствии подтвержденного ответа вопрос автоматически передается специалисту поддержки с контекстом</a:t>
            </a:r>
            <a:endParaRPr/>
          </a:p>
        </p:txBody>
      </p:sp>
      <p:pic>
        <p:nvPicPr>
          <p:cNvPr id="835" name="BrandDeck Image" descr="сотрудник специалист поддержки"/>
          <p:cNvPicPr>
            <a:picLocks noChangeAspect="1"/>
          </p:cNvPicPr>
          <p:nvPr/>
        </p:nvPicPr>
        <p:blipFill>
          <a:blip r:embed="rId4"/>
          <a:srcRect l="20599" r="20599"/>
          <a:stretch>
            <a:fillRect/>
          </a:stretch>
        </p:blipFill>
        <p:spPr>
          <a:xfrm>
            <a:off x="5362697" y="324571"/>
            <a:ext cx="6826255" cy="6533429"/>
          </a:xfrm>
          <a:prstGeom prst="rect">
            <a:avLst/>
          </a:prstGeom>
        </p:spPr>
      </p:pic>
      <p:sp>
        <p:nvSpPr>
          <p:cNvPr id="834" name="BrandDeck Body"/>
          <p:cNvSpPr txBox="1"/>
          <p:nvPr/>
        </p:nvSpPr>
        <p:spPr>
          <a:xfrm>
            <a:off x="1036774" y="1729423"/>
            <a:ext cx="4143042" cy="4717097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</a:pPr>
            <a:r>
              <a:rPr sz="1600">
                <a:solidFill>
                  <a:srgbClr val="FFFFFF"/>
                </a:solidFill>
                <a:latin typeface="Play"/>
              </a:rPr>
              <a:t>• При отсутствии ответа вопрос уходит специалисту с контекстом.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</a:pPr>
            <a:r>
              <a:rPr sz="1600">
                <a:solidFill>
                  <a:srgbClr val="FFFFFF"/>
                </a:solidFill>
                <a:latin typeface="Play"/>
              </a:rPr>
              <a:t>• Система не выводит документы наружу контура компании.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</a:pPr>
            <a:r>
              <a:rPr sz="1600">
                <a:solidFill>
                  <a:srgbClr val="FFFFFF"/>
                </a:solidFill>
                <a:latin typeface="Play"/>
              </a:rPr>
              <a:t>• ИИ-помощник даёт ссылку на документ-источник в ответе.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26" name="BrandDeck Text 726"/>
          <p:cNvSpPr txBox="1"/>
          <p:nvPr>
            <p:ph type="title"/>
          </p:nvPr>
        </p:nvSpPr>
        <p:spPr>
          <a:xfrm>
            <a:off x="429253" y="424691"/>
            <a:ext cx="11354760" cy="767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359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2400"/>
              <a:t>В пилот включены 2 подразделения, исключены остальные отделы</a:t>
            </a:r>
            <a:endParaRPr/>
          </a:p>
        </p:txBody>
      </p:sp>
      <p:pic>
        <p:nvPicPr>
          <p:cNvPr id="727" name="Google Shape;727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562756" y="27789"/>
            <a:ext cx="11737014" cy="70828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BrandDeck Diagram pyramid" descr="pyramid: Включено 2 подразделения, 150 сотрудников; Исключено Остальные отделы и внешние системы"/>
          <p:cNvGrpSpPr/>
          <p:nvPr/>
        </p:nvGrpSpPr>
        <p:grpSpPr>
          <a:xfrm>
            <a:off x="445911" y="2189269"/>
            <a:ext cx="7811120" cy="2871215"/>
            <a:chOff x="445911" y="2189269"/>
            <a:chExt cx="7811120" cy="2871215"/>
          </a:xfrm>
        </p:grpSpPr>
        <p:sp>
          <p:nvSpPr>
            <p:cNvPr id="736" name="BrandDeck Diagram Level 1"/>
            <p:cNvSpPr/>
            <p:nvPr/>
          </p:nvSpPr>
          <p:spPr>
            <a:xfrm>
              <a:off x="1306910" y="2189269"/>
              <a:ext cx="1689710" cy="1408176"/>
            </a:xfrm>
            <a:custGeom>
              <a:avLst/>
              <a:gdLst/>
              <a:ahLst/>
              <a:cxnLst/>
              <a:rect l="l" t="t" r="r" b="b"/>
              <a:pathLst>
                <a:path w="1848" h="1540" stroke="0">
                  <a:moveTo>
                    <a:pt x="899" y="0"/>
                  </a:moveTo>
                  <a:lnTo>
                    <a:pt x="949" y="0"/>
                  </a:lnTo>
                  <a:lnTo>
                    <a:pt x="1848" y="1540"/>
                  </a:lnTo>
                  <a:lnTo>
                    <a:pt x="0" y="1540"/>
                  </a:lnTo>
                  <a:close/>
                </a:path>
              </a:pathLst>
            </a:custGeom>
            <a:solidFill>
              <a:srgbClr val="006DEB"/>
            </a:solidFill>
            <a:ln w="0">
              <a:noFill/>
            </a:ln>
          </p:spPr>
          <p:txBody>
            <a:bodyPr rtlCol="0" anchor="b" wrap="square" lIns="18288" tIns="0" rIns="18288" bIns="7315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400" b="1">
                  <a:solidFill>
                    <a:srgbClr val="FFFFFF"/>
                  </a:solidFill>
                  <a:latin typeface="Play"/>
                </a:rPr>
                <a:t>01</a:t>
              </a:r>
            </a:p>
          </p:txBody>
        </p:sp>
        <p:sp>
          <p:nvSpPr>
            <p:cNvPr id="737" name="BrandDeck Diagram Text 1"/>
            <p:cNvSpPr txBox="1"/>
            <p:nvPr/>
          </p:nvSpPr>
          <p:spPr>
            <a:xfrm>
              <a:off x="4148084" y="2189269"/>
              <a:ext cx="4108947" cy="140817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600" b="1">
                  <a:solidFill>
                    <a:srgbClr val="FFFFFF"/>
                  </a:solidFill>
                  <a:latin typeface="Play"/>
                </a:rPr>
                <a:t>Включено</a:t>
              </a:r>
            </a:p>
            <a:p>
              <a:pPr algn="l">
                <a:lnSpc>
                  <a:spcPct val="110000"/>
                </a:lnSpc>
                <a:spcBef>
                  <a:spcPts val="400"/>
                </a:spcBef>
              </a:pPr>
              <a:r>
                <a:rPr sz="1600" b="0">
                  <a:solidFill>
                    <a:srgbClr val="FFFFFF"/>
                  </a:solidFill>
                  <a:latin typeface="Play"/>
                </a:rPr>
                <a:t>2 подразделения, 150 сотрудников</a:t>
              </a:r>
            </a:p>
          </p:txBody>
        </p:sp>
        <p:sp>
          <p:nvSpPr>
            <p:cNvPr id="738" name="BrandDeck Diagram Level 2"/>
            <p:cNvSpPr/>
            <p:nvPr/>
          </p:nvSpPr>
          <p:spPr>
            <a:xfrm>
              <a:off x="445911" y="3652309"/>
              <a:ext cx="3411708" cy="1408175"/>
            </a:xfrm>
            <a:custGeom>
              <a:avLst/>
              <a:gdLst/>
              <a:ahLst/>
              <a:cxnLst/>
              <a:rect l="l" t="t" r="r" b="b"/>
              <a:pathLst>
                <a:path w="3731" h="1540" stroke="0">
                  <a:moveTo>
                    <a:pt x="906" y="0"/>
                  </a:moveTo>
                  <a:lnTo>
                    <a:pt x="2825" y="0"/>
                  </a:lnTo>
                  <a:lnTo>
                    <a:pt x="3731" y="1540"/>
                  </a:lnTo>
                  <a:lnTo>
                    <a:pt x="0" y="1540"/>
                  </a:lnTo>
                  <a:close/>
                </a:path>
              </a:pathLst>
            </a:custGeom>
            <a:solidFill>
              <a:srgbClr val="003676"/>
            </a:solidFill>
            <a:ln w="0">
              <a:noFill/>
            </a:ln>
          </p:spPr>
          <p:txBody>
            <a:bodyPr rtlCol="0" anchor="ctr" wrap="square" lIns="18288" tIns="0" rIns="18288" bIns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400" b="1">
                  <a:solidFill>
                    <a:srgbClr val="FFFFFF"/>
                  </a:solidFill>
                  <a:latin typeface="Play"/>
                </a:rPr>
                <a:t>02</a:t>
              </a:r>
            </a:p>
          </p:txBody>
        </p:sp>
        <p:sp>
          <p:nvSpPr>
            <p:cNvPr id="739" name="BrandDeck Diagram Text 2"/>
            <p:cNvSpPr txBox="1"/>
            <p:nvPr/>
          </p:nvSpPr>
          <p:spPr>
            <a:xfrm>
              <a:off x="4148084" y="3652309"/>
              <a:ext cx="4108947" cy="14081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600" b="1">
                  <a:solidFill>
                    <a:srgbClr val="FFFFFF"/>
                  </a:solidFill>
                  <a:latin typeface="Play"/>
                </a:rPr>
                <a:t>Исключено</a:t>
              </a:r>
            </a:p>
            <a:p>
              <a:pPr algn="l">
                <a:lnSpc>
                  <a:spcPct val="110000"/>
                </a:lnSpc>
                <a:spcBef>
                  <a:spcPts val="400"/>
                </a:spcBef>
              </a:pPr>
              <a:r>
                <a:rPr sz="1600" b="0">
                  <a:solidFill>
                    <a:srgbClr val="FFFFFF"/>
                  </a:solidFill>
                  <a:latin typeface="Play"/>
                </a:rPr>
                <a:t>Остальные отделы и внешние системы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9" name="Google Shape;679;p31"/>
          <p:cNvSpPr/>
          <p:nvPr/>
        </p:nvSpPr>
        <p:spPr>
          <a:xfrm>
            <a:off x="0" y="4748271"/>
            <a:ext cx="12192000" cy="2109730"/>
          </a:xfrm>
          <a:prstGeom prst="rect">
            <a:avLst/>
          </a:prstGeom>
          <a:gradFill>
            <a:gsLst>
              <a:gs pos="0">
                <a:srgbClr val="0077FF">
                  <a:alpha val="61961"/>
                </a:srgbClr>
              </a:gs>
              <a:gs pos="99000">
                <a:srgbClr val="00AEE8"/>
              </a:gs>
              <a:gs pos="100000">
                <a:srgbClr val="00AEE8"/>
              </a:gs>
            </a:gsLst>
            <a:lin ang="14400000" scaled="0"/>
          </a:gradFill>
          <a:ln>
            <a:noFill/>
          </a:ln>
        </p:spPr>
        <p:txBody>
          <a:bodyPr anchorCtr="0" anchor="ctr" bIns="0" lIns="108000" spcFirstLastPara="1" rIns="91425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80" name="BrandDeck Text 680"/>
          <p:cNvSpPr txBox="1"/>
          <p:nvPr>
            <p:ph type="title"/>
          </p:nvPr>
        </p:nvSpPr>
        <p:spPr>
          <a:xfrm>
            <a:off x="427864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2000"/>
              <a:t>В пилот не входят изменения глобальных настроек портала или интеграция с внешними CRM</a:t>
            </a:r>
            <a:endParaRPr/>
          </a:p>
        </p:txBody>
      </p:sp>
      <p:grpSp>
        <p:nvGrpSpPr>
          <p:cNvPr id="2" name="BrandDeck Diagram pyramid" descr="pyramid: Входит в пилот Ответы по регламентам и ссылки на документы; Не входит в пилот Изменения глобальных настроек портала"/>
          <p:cNvGrpSpPr/>
          <p:nvPr/>
        </p:nvGrpSpPr>
        <p:grpSpPr>
          <a:xfrm>
            <a:off x="445009" y="2504180"/>
            <a:ext cx="11198315" cy="2871215"/>
            <a:chOff x="445009" y="2504180"/>
            <a:chExt cx="11198315" cy="2871215"/>
          </a:xfrm>
        </p:grpSpPr>
        <p:sp>
          <p:nvSpPr>
            <p:cNvPr id="686" name="BrandDeck Diagram Level 1"/>
            <p:cNvSpPr/>
            <p:nvPr/>
          </p:nvSpPr>
          <p:spPr>
            <a:xfrm>
              <a:off x="1359409" y="2504180"/>
              <a:ext cx="1794509" cy="1408176"/>
            </a:xfrm>
            <a:custGeom>
              <a:avLst/>
              <a:gdLst/>
              <a:ahLst/>
              <a:cxnLst/>
              <a:rect l="l" t="t" r="r" b="b"/>
              <a:pathLst>
                <a:path w="1962" h="1540" stroke="0">
                  <a:moveTo>
                    <a:pt x="956" y="0"/>
                  </a:moveTo>
                  <a:lnTo>
                    <a:pt x="1006" y="0"/>
                  </a:lnTo>
                  <a:lnTo>
                    <a:pt x="1962" y="1540"/>
                  </a:lnTo>
                  <a:lnTo>
                    <a:pt x="0" y="1540"/>
                  </a:lnTo>
                  <a:close/>
                </a:path>
              </a:pathLst>
            </a:custGeom>
            <a:solidFill>
              <a:srgbClr val="006DEB"/>
            </a:solidFill>
            <a:ln w="0">
              <a:noFill/>
            </a:ln>
          </p:spPr>
          <p:txBody>
            <a:bodyPr rtlCol="0" anchor="b" wrap="square" lIns="18288" tIns="0" rIns="18288" bIns="7315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400" b="1">
                  <a:solidFill>
                    <a:srgbClr val="FFFFFF"/>
                  </a:solidFill>
                  <a:latin typeface="Play"/>
                </a:rPr>
                <a:t>01</a:t>
              </a:r>
            </a:p>
          </p:txBody>
        </p:sp>
        <p:sp>
          <p:nvSpPr>
            <p:cNvPr id="687" name="BrandDeck Diagram Text 1"/>
            <p:cNvSpPr txBox="1"/>
            <p:nvPr/>
          </p:nvSpPr>
          <p:spPr>
            <a:xfrm>
              <a:off x="4359784" y="2504180"/>
              <a:ext cx="7283540" cy="140817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600" b="1">
                  <a:solidFill>
                    <a:srgbClr val="FFFFFF"/>
                  </a:solidFill>
                  <a:latin typeface="Play"/>
                </a:rPr>
                <a:t>Входит в пилот</a:t>
              </a:r>
            </a:p>
            <a:p>
              <a:pPr algn="l">
                <a:lnSpc>
                  <a:spcPct val="110000"/>
                </a:lnSpc>
                <a:spcBef>
                  <a:spcPts val="400"/>
                </a:spcBef>
              </a:pPr>
              <a:r>
                <a:rPr sz="1600" b="0">
                  <a:solidFill>
                    <a:srgbClr val="FFFFFF"/>
                  </a:solidFill>
                  <a:latin typeface="Play"/>
                </a:rPr>
                <a:t>Ответы по регламентам и ссылки на документы</a:t>
              </a:r>
            </a:p>
          </p:txBody>
        </p:sp>
        <p:sp>
          <p:nvSpPr>
            <p:cNvPr id="688" name="BrandDeck Diagram Level 2"/>
            <p:cNvSpPr/>
            <p:nvPr/>
          </p:nvSpPr>
          <p:spPr>
            <a:xfrm>
              <a:off x="445009" y="3967220"/>
              <a:ext cx="3623309" cy="1408175"/>
            </a:xfrm>
            <a:custGeom>
              <a:avLst/>
              <a:gdLst/>
              <a:ahLst/>
              <a:cxnLst/>
              <a:rect l="l" t="t" r="r" b="b"/>
              <a:pathLst>
                <a:path w="3962" h="1540" stroke="0">
                  <a:moveTo>
                    <a:pt x="962" y="0"/>
                  </a:moveTo>
                  <a:lnTo>
                    <a:pt x="3000" y="0"/>
                  </a:lnTo>
                  <a:lnTo>
                    <a:pt x="3962" y="1540"/>
                  </a:lnTo>
                  <a:lnTo>
                    <a:pt x="0" y="1540"/>
                  </a:lnTo>
                  <a:close/>
                </a:path>
              </a:pathLst>
            </a:custGeom>
            <a:solidFill>
              <a:srgbClr val="003676"/>
            </a:solidFill>
            <a:ln w="0">
              <a:noFill/>
            </a:ln>
          </p:spPr>
          <p:txBody>
            <a:bodyPr rtlCol="0" anchor="ctr" wrap="square" lIns="18288" tIns="0" rIns="18288" bIns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400" b="1">
                  <a:solidFill>
                    <a:srgbClr val="FFFFFF"/>
                  </a:solidFill>
                  <a:latin typeface="Play"/>
                </a:rPr>
                <a:t>02</a:t>
              </a:r>
            </a:p>
          </p:txBody>
        </p:sp>
        <p:sp>
          <p:nvSpPr>
            <p:cNvPr id="689" name="BrandDeck Diagram Text 2"/>
            <p:cNvSpPr txBox="1"/>
            <p:nvPr/>
          </p:nvSpPr>
          <p:spPr>
            <a:xfrm>
              <a:off x="4359784" y="3967220"/>
              <a:ext cx="7283540" cy="14081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600" b="1">
                  <a:solidFill>
                    <a:srgbClr val="FFFFFF"/>
                  </a:solidFill>
                  <a:latin typeface="Play"/>
                </a:rPr>
                <a:t>Не входит в пилот</a:t>
              </a:r>
            </a:p>
            <a:p>
              <a:pPr algn="l">
                <a:lnSpc>
                  <a:spcPct val="110000"/>
                </a:lnSpc>
                <a:spcBef>
                  <a:spcPts val="400"/>
                </a:spcBef>
              </a:pPr>
              <a:r>
                <a:rPr sz="1600" b="0">
                  <a:solidFill>
                    <a:srgbClr val="FFFFFF"/>
                  </a:solidFill>
                  <a:latin typeface="Play"/>
                </a:rPr>
                <a:t>Изменения глобальных настроек портала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86" name="BrandDeck Text 486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2000"/>
              <a:t>Успех измеряется сокращением времени поиска ответа и долей обращений, закрытых без участия специалиста</a:t>
            </a:r>
            <a:endParaRPr/>
          </a:p>
        </p:txBody>
      </p:sp>
      <p:graphicFrame>
        <p:nvGraphicFramePr>
          <p:cNvPr id="505" name="BrandDeck Table"/>
          <p:cNvGraphicFramePr>
            <a:graphicFrameLocks noGrp="1"/>
          </p:cNvGraphicFramePr>
          <p:nvPr/>
        </p:nvGraphicFramePr>
        <p:xfrm>
          <a:off x="437111" y="2883834"/>
          <a:ext cx="11303118" cy="28898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51559"/>
                <a:gridCol w="5651559"/>
              </a:tblGrid>
              <a:tr h="96326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Play"/>
                        </a:rPr>
                        <a:t>Метрика</a:t>
                      </a:r>
                    </a:p>
                  </a:txBody>
                  <a:tcPr marL="54864" marR="54864" anchor="ctr">
                    <a:solidFill>
                      <a:srgbClr val="006D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Play"/>
                        </a:rPr>
                        <a:t>Цель измерения</a:t>
                      </a:r>
                    </a:p>
                  </a:txBody>
                  <a:tcPr marL="54864" marR="54864" anchor="ctr">
                    <a:solidFill>
                      <a:srgbClr val="006DEB"/>
                    </a:solidFill>
                  </a:tcPr>
                </a:tc>
              </a:tr>
              <a:tr h="96326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Play"/>
                        </a:rPr>
                        <a:t>Время поиска ответа</a:t>
                      </a:r>
                    </a:p>
                  </a:txBody>
                  <a:tcPr marL="54864" marR="54864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Play"/>
                        </a:rPr>
                        <a:t>Сокращение текущего времени до 30 минут</a:t>
                      </a:r>
                    </a:p>
                  </a:txBody>
                  <a:tcPr marL="54864" marR="54864" anchor="ctr">
                    <a:solidFill>
                      <a:srgbClr val="1A1A1A"/>
                    </a:solidFill>
                  </a:tcPr>
                </a:tc>
              </a:tr>
              <a:tr h="96326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Play"/>
                        </a:rPr>
                        <a:t>Доля закрытых обращений</a:t>
                      </a:r>
                    </a:p>
                  </a:txBody>
                  <a:tcPr marL="54864" marR="54864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Play"/>
                        </a:rPr>
                        <a:t>Рост процента ответов без участия специалиста</a:t>
                      </a:r>
                    </a:p>
                  </a:txBody>
                  <a:tcPr marL="54864" marR="54864" anchor="ctr">
                    <a:solidFill>
                      <a:srgbClr val="1A1A1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9" name="Google Shape;679;p31"/>
          <p:cNvSpPr/>
          <p:nvPr/>
        </p:nvSpPr>
        <p:spPr>
          <a:xfrm>
            <a:off x="0" y="4748271"/>
            <a:ext cx="12192000" cy="2109730"/>
          </a:xfrm>
          <a:prstGeom prst="rect">
            <a:avLst/>
          </a:prstGeom>
          <a:gradFill>
            <a:gsLst>
              <a:gs pos="0">
                <a:srgbClr val="0077FF">
                  <a:alpha val="61961"/>
                </a:srgbClr>
              </a:gs>
              <a:gs pos="99000">
                <a:srgbClr val="00AEE8"/>
              </a:gs>
              <a:gs pos="100000">
                <a:srgbClr val="00AEE8"/>
              </a:gs>
            </a:gsLst>
            <a:lin ang="14400000" scaled="0"/>
          </a:gradFill>
          <a:ln>
            <a:noFill/>
          </a:ln>
        </p:spPr>
        <p:txBody>
          <a:bodyPr anchorCtr="0" anchor="ctr" bIns="0" lIns="108000" spcFirstLastPara="1" rIns="91425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80" name="BrandDeck Text 680"/>
          <p:cNvSpPr txBox="1"/>
          <p:nvPr>
            <p:ph type="title"/>
          </p:nvPr>
        </p:nvSpPr>
        <p:spPr>
          <a:xfrm>
            <a:off x="427864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48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3200"/>
              <a:t>Пилотный запуск запланирован на 6 недель с командой из 3 человек</a:t>
            </a:r>
            <a:endParaRPr/>
          </a:p>
        </p:txBody>
      </p:sp>
      <p:grpSp>
        <p:nvGrpSpPr>
          <p:cNvPr id="2" name="BrandDeck Diagram cycle" descr="cycle: Подготовка Настройка модели и данных; Запуск 6 недель с 150 сотрудниками; Анализ Измерение времени поиска и закрытия"/>
          <p:cNvGrpSpPr/>
          <p:nvPr/>
        </p:nvGrpSpPr>
        <p:grpSpPr>
          <a:xfrm>
            <a:off x="692536" y="1837067"/>
            <a:ext cx="10950787" cy="4380852"/>
            <a:chOff x="692536" y="1837067"/>
            <a:chExt cx="10950787" cy="4380852"/>
          </a:xfrm>
        </p:grpSpPr>
        <p:sp>
          <p:nvSpPr>
            <p:cNvPr id="686" name="BrandDeck Diagram Ring"/>
            <p:cNvSpPr/>
            <p:nvPr/>
          </p:nvSpPr>
          <p:spPr>
            <a:xfrm>
              <a:off x="757048" y="2166251"/>
              <a:ext cx="3951084" cy="3951084"/>
            </a:xfrm>
            <a:prstGeom prst="ellipse">
              <a:avLst/>
            </a:prstGeom>
            <a:noFill/>
            <a:ln w="28575">
              <a:solidFill>
                <a:srgbClr val="004D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7" name="BrandDeck Diagram Arrow 1"/>
            <p:cNvSpPr/>
            <p:nvPr/>
          </p:nvSpPr>
          <p:spPr>
            <a:xfrm rot="9000000">
              <a:off x="4342876" y="3053438"/>
              <a:ext cx="201168" cy="201168"/>
            </a:xfrm>
            <a:prstGeom prst="triangle">
              <a:avLst/>
            </a:prstGeom>
            <a:solidFill>
              <a:srgbClr val="004D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8" name="BrandDeck Diagram Arrow 2"/>
            <p:cNvSpPr/>
            <p:nvPr/>
          </p:nvSpPr>
          <p:spPr>
            <a:xfrm rot="16200000">
              <a:off x="2632006" y="6016751"/>
              <a:ext cx="201168" cy="201168"/>
            </a:xfrm>
            <a:prstGeom prst="triangle">
              <a:avLst/>
            </a:prstGeom>
            <a:solidFill>
              <a:srgbClr val="004D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9" name="BrandDeck Diagram Arrow 3"/>
            <p:cNvSpPr/>
            <p:nvPr/>
          </p:nvSpPr>
          <p:spPr>
            <a:xfrm rot="1800000">
              <a:off x="921136" y="3053438"/>
              <a:ext cx="201168" cy="201168"/>
            </a:xfrm>
            <a:prstGeom prst="triangle">
              <a:avLst/>
            </a:prstGeom>
            <a:solidFill>
              <a:srgbClr val="004D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0" name="BrandDeck Diagram Node 1 Badge"/>
            <p:cNvSpPr/>
            <p:nvPr/>
          </p:nvSpPr>
          <p:spPr>
            <a:xfrm>
              <a:off x="2403406" y="1837067"/>
              <a:ext cx="658368" cy="658368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600" b="1">
                  <a:solidFill>
                    <a:srgbClr val="FFFFFF"/>
                  </a:solidFill>
                  <a:latin typeface="Play"/>
                </a:rPr>
                <a:t>01</a:t>
              </a:r>
            </a:p>
          </p:txBody>
        </p:sp>
        <p:sp>
          <p:nvSpPr>
            <p:cNvPr id="691" name="BrandDeck Diagram Node 2 Badge"/>
            <p:cNvSpPr/>
            <p:nvPr/>
          </p:nvSpPr>
          <p:spPr>
            <a:xfrm>
              <a:off x="4114276" y="4800380"/>
              <a:ext cx="658368" cy="658368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600" b="1">
                  <a:solidFill>
                    <a:srgbClr val="FFFFFF"/>
                  </a:solidFill>
                  <a:latin typeface="Play"/>
                </a:rPr>
                <a:t>02</a:t>
              </a:r>
            </a:p>
          </p:txBody>
        </p:sp>
        <p:sp>
          <p:nvSpPr>
            <p:cNvPr id="692" name="BrandDeck Diagram Node 3 Badge"/>
            <p:cNvSpPr/>
            <p:nvPr/>
          </p:nvSpPr>
          <p:spPr>
            <a:xfrm>
              <a:off x="692536" y="4800380"/>
              <a:ext cx="658368" cy="658368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600" b="1">
                  <a:solidFill>
                    <a:srgbClr val="FFFFFF"/>
                  </a:solidFill>
                  <a:latin typeface="Play"/>
                </a:rPr>
                <a:t>03</a:t>
              </a:r>
            </a:p>
          </p:txBody>
        </p:sp>
        <p:sp>
          <p:nvSpPr>
            <p:cNvPr id="693" name="BrandDeck Diagram Legend 1 Badge"/>
            <p:cNvSpPr/>
            <p:nvPr/>
          </p:nvSpPr>
          <p:spPr>
            <a:xfrm>
              <a:off x="5357356" y="2751905"/>
              <a:ext cx="310896" cy="310896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200" b="1">
                  <a:solidFill>
                    <a:srgbClr val="FFFFFF"/>
                  </a:solidFill>
                  <a:latin typeface="Play"/>
                </a:rPr>
                <a:t>01</a:t>
              </a:r>
            </a:p>
          </p:txBody>
        </p:sp>
        <p:sp>
          <p:nvSpPr>
            <p:cNvPr id="694" name="BrandDeck Diagram Text 1"/>
            <p:cNvSpPr txBox="1"/>
            <p:nvPr/>
          </p:nvSpPr>
          <p:spPr>
            <a:xfrm>
              <a:off x="5814556" y="2308421"/>
              <a:ext cx="5828767" cy="1197864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400" b="1">
                  <a:solidFill>
                    <a:srgbClr val="FFFFFF"/>
                  </a:solidFill>
                  <a:latin typeface="Play"/>
                </a:rPr>
                <a:t>Подготовка</a:t>
              </a:r>
            </a:p>
            <a:p>
              <a:pPr algn="l">
                <a:lnSpc>
                  <a:spcPct val="110000"/>
                </a:lnSpc>
                <a:spcBef>
                  <a:spcPts val="350"/>
                </a:spcBef>
              </a:pPr>
              <a:r>
                <a:rPr sz="1400" b="0">
                  <a:solidFill>
                    <a:srgbClr val="FFFFFF"/>
                  </a:solidFill>
                  <a:latin typeface="Play"/>
                </a:rPr>
                <a:t>Настройка модели и данных</a:t>
              </a:r>
            </a:p>
          </p:txBody>
        </p:sp>
        <p:sp>
          <p:nvSpPr>
            <p:cNvPr id="695" name="BrandDeck Diagram Legend 2 Badge"/>
            <p:cNvSpPr/>
            <p:nvPr/>
          </p:nvSpPr>
          <p:spPr>
            <a:xfrm>
              <a:off x="5357356" y="3986345"/>
              <a:ext cx="310896" cy="310896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200" b="1">
                  <a:solidFill>
                    <a:srgbClr val="FFFFFF"/>
                  </a:solidFill>
                  <a:latin typeface="Play"/>
                </a:rPr>
                <a:t>02</a:t>
              </a:r>
            </a:p>
          </p:txBody>
        </p:sp>
        <p:sp>
          <p:nvSpPr>
            <p:cNvPr id="696" name="BrandDeck Diagram Text 2"/>
            <p:cNvSpPr txBox="1"/>
            <p:nvPr/>
          </p:nvSpPr>
          <p:spPr>
            <a:xfrm>
              <a:off x="5814556" y="3542861"/>
              <a:ext cx="5828767" cy="1197864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400" b="1">
                  <a:solidFill>
                    <a:srgbClr val="FFFFFF"/>
                  </a:solidFill>
                  <a:latin typeface="Play"/>
                </a:rPr>
                <a:t>Запуск</a:t>
              </a:r>
            </a:p>
            <a:p>
              <a:pPr algn="l">
                <a:lnSpc>
                  <a:spcPct val="110000"/>
                </a:lnSpc>
                <a:spcBef>
                  <a:spcPts val="350"/>
                </a:spcBef>
              </a:pPr>
              <a:r>
                <a:rPr sz="1400" b="0">
                  <a:solidFill>
                    <a:srgbClr val="FFFFFF"/>
                  </a:solidFill>
                  <a:latin typeface="Play"/>
                </a:rPr>
                <a:t>6 недель с 150 сотрудниками</a:t>
              </a:r>
            </a:p>
          </p:txBody>
        </p:sp>
        <p:sp>
          <p:nvSpPr>
            <p:cNvPr id="697" name="BrandDeck Diagram Legend 3 Badge"/>
            <p:cNvSpPr/>
            <p:nvPr/>
          </p:nvSpPr>
          <p:spPr>
            <a:xfrm>
              <a:off x="5357356" y="5220785"/>
              <a:ext cx="310896" cy="310896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200" b="1">
                  <a:solidFill>
                    <a:srgbClr val="FFFFFF"/>
                  </a:solidFill>
                  <a:latin typeface="Play"/>
                </a:rPr>
                <a:t>03</a:t>
              </a:r>
            </a:p>
          </p:txBody>
        </p:sp>
        <p:sp>
          <p:nvSpPr>
            <p:cNvPr id="698" name="BrandDeck Diagram Text 3"/>
            <p:cNvSpPr txBox="1"/>
            <p:nvPr/>
          </p:nvSpPr>
          <p:spPr>
            <a:xfrm>
              <a:off x="5814556" y="4777301"/>
              <a:ext cx="5828767" cy="1197864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400" b="1">
                  <a:solidFill>
                    <a:srgbClr val="FFFFFF"/>
                  </a:solidFill>
                  <a:latin typeface="Play"/>
                </a:rPr>
                <a:t>Анализ</a:t>
              </a:r>
            </a:p>
            <a:p>
              <a:pPr algn="l">
                <a:lnSpc>
                  <a:spcPct val="110000"/>
                </a:lnSpc>
                <a:spcBef>
                  <a:spcPts val="350"/>
                </a:spcBef>
              </a:pPr>
              <a:r>
                <a:rPr sz="1400" b="0">
                  <a:solidFill>
                    <a:srgbClr val="FFFFFF"/>
                  </a:solidFill>
                  <a:latin typeface="Play"/>
                </a:rPr>
                <a:t>Измерение времени поиска и закрытия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59" name="BrandDeck Text 459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2000"/>
              <a:t>Основной риск — низкое качество ответов, который минимизируется обучением модели на внутренних регламентах</a:t>
            </a:r>
            <a:endParaRPr/>
          </a:p>
        </p:txBody>
      </p:sp>
      <p:sp>
        <p:nvSpPr>
          <p:cNvPr id="460" name="BrandDeck Text 460"/>
          <p:cNvSpPr/>
          <p:nvPr/>
        </p:nvSpPr>
        <p:spPr>
          <a:xfrm>
            <a:off x="7729481" y="1666499"/>
            <a:ext cx="3420000" cy="3525002"/>
          </a:xfrm>
          <a:prstGeom prst="roundRect">
            <a:avLst>
              <a:gd fmla="val 4432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t" bIns="45700" lIns="108000" spcFirstLastPara="1" rIns="91425" wrap="square" tIns="108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2000" b="0">
                <a:solidFill>
                  <a:srgbClr val="FFFFFF"/>
                </a:solidFill>
                <a:latin typeface="Play"/>
              </a:rPr>
              <a:t>Цель: точные ответы со ссылкой на документ-источник.</a:t>
            </a:r>
            <a:endParaRPr/>
          </a:p>
        </p:txBody>
      </p:sp>
      <p:sp>
        <p:nvSpPr>
          <p:cNvPr id="461" name="BrandDeck Text 461"/>
          <p:cNvSpPr/>
          <p:nvPr/>
        </p:nvSpPr>
        <p:spPr>
          <a:xfrm>
            <a:off x="4056891" y="1666499"/>
            <a:ext cx="3420000" cy="3525002"/>
          </a:xfrm>
          <a:prstGeom prst="roundRect">
            <a:avLst>
              <a:gd fmla="val 4027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t" bIns="45700" lIns="108000" spcFirstLastPara="1" rIns="91425" wrap="square" tIns="108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2000">
                <a:solidFill>
                  <a:srgbClr val="FFFFFF"/>
                </a:solidFill>
                <a:latin typeface="Play"/>
              </a:rPr>
              <a:t>Минимизация: обучение модели на внутренних регламентах.</a:t>
            </a:r>
            <a:endParaRPr/>
          </a:p>
        </p:txBody>
      </p:sp>
      <p:sp>
        <p:nvSpPr>
          <p:cNvPr id="462" name="BrandDeck Text 462"/>
          <p:cNvSpPr/>
          <p:nvPr/>
        </p:nvSpPr>
        <p:spPr>
          <a:xfrm>
            <a:off x="415687" y="1666499"/>
            <a:ext cx="3420000" cy="3525002"/>
          </a:xfrm>
          <a:prstGeom prst="roundRect">
            <a:avLst>
              <a:gd fmla="val 4432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t" bIns="45700" lIns="108000" spcFirstLastPara="1" rIns="91425" wrap="square" tIns="108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2000">
                <a:solidFill>
                  <a:srgbClr val="FFFFFF"/>
                </a:solidFill>
                <a:latin typeface="Play"/>
              </a:rPr>
              <a:t>Риск: низкое качество ответов ИИ-помощника.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59" name="BrandDeck Text 459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42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2800"/>
              <a:t>Одобрить пилот и выделить команду из 3 человек для реализации</a:t>
            </a:r>
            <a:endParaRPr/>
          </a:p>
        </p:txBody>
      </p:sp>
      <p:sp>
        <p:nvSpPr>
          <p:cNvPr id="460" name="BrandDeck Text 460"/>
          <p:cNvSpPr/>
          <p:nvPr/>
        </p:nvSpPr>
        <p:spPr>
          <a:xfrm>
            <a:off x="7729481" y="1666499"/>
            <a:ext cx="3420000" cy="3525002"/>
          </a:xfrm>
          <a:prstGeom prst="roundRect">
            <a:avLst>
              <a:gd fmla="val 4432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t" bIns="45700" lIns="108000" spcFirstLastPara="1" rIns="91425" wrap="square" tIns="108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2000" b="0">
                <a:solidFill>
                  <a:srgbClr val="FFFFFF"/>
                </a:solidFill>
                <a:latin typeface="Play"/>
              </a:rPr>
              <a:t>Решение о запуске пилота и выделении команды</a:t>
            </a:r>
            <a:endParaRPr/>
          </a:p>
        </p:txBody>
      </p:sp>
      <p:sp>
        <p:nvSpPr>
          <p:cNvPr id="461" name="BrandDeck Text 461"/>
          <p:cNvSpPr/>
          <p:nvPr/>
        </p:nvSpPr>
        <p:spPr>
          <a:xfrm>
            <a:off x="4056891" y="1666499"/>
            <a:ext cx="3420000" cy="3525002"/>
          </a:xfrm>
          <a:prstGeom prst="roundRect">
            <a:avLst>
              <a:gd fmla="val 4027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t" bIns="45700" lIns="108000" spcFirstLastPara="1" rIns="91425" wrap="square" tIns="108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2000">
                <a:solidFill>
                  <a:srgbClr val="FFFFFF"/>
                </a:solidFill>
                <a:latin typeface="Play"/>
              </a:rPr>
              <a:t>Выделить команду из 3 человек для реализации проекта.</a:t>
            </a:r>
            <a:endParaRPr/>
          </a:p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2000">
                <a:solidFill>
                  <a:srgbClr val="FFFFFF"/>
                </a:solidFill>
                <a:latin typeface="Play"/>
              </a:rPr>
              <a:t>Измерить сокращение времени поиска и долю закрытых обращений.</a:t>
            </a:r>
          </a:p>
        </p:txBody>
      </p:sp>
      <p:sp>
        <p:nvSpPr>
          <p:cNvPr id="462" name="BrandDeck Text 462"/>
          <p:cNvSpPr/>
          <p:nvPr/>
        </p:nvSpPr>
        <p:spPr>
          <a:xfrm>
            <a:off x="415687" y="1666499"/>
            <a:ext cx="3420000" cy="3525002"/>
          </a:xfrm>
          <a:prstGeom prst="roundRect">
            <a:avLst>
              <a:gd fmla="val 4432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t" bIns="45700" lIns="108000" spcFirstLastPara="1" rIns="91425" wrap="square" tIns="108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2000">
                <a:solidFill>
                  <a:srgbClr val="FFFFFF"/>
                </a:solidFill>
                <a:latin typeface="Play"/>
              </a:rPr>
              <a:t>Одобрить запуск пилота в двух подразделениях на 6 недель.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Контентные">
  <a:themeElements>
    <a:clrScheme name="VK Tech 2024">
      <a:dk1>
        <a:srgbClr val="000000"/>
      </a:dk1>
      <a:lt1>
        <a:srgbClr val="FFFFFF"/>
      </a:lt1>
      <a:dk2>
        <a:srgbClr val="0077FF"/>
      </a:dk2>
      <a:lt2>
        <a:srgbClr val="FFFFFF"/>
      </a:lt2>
      <a:accent1>
        <a:srgbClr val="0077FF"/>
      </a:accent1>
      <a:accent2>
        <a:srgbClr val="00E9FF"/>
      </a:accent2>
      <a:accent3>
        <a:srgbClr val="AAFBFF"/>
      </a:accent3>
      <a:accent4>
        <a:srgbClr val="EDF3FC"/>
      </a:accent4>
      <a:accent5>
        <a:srgbClr val="7C8A9A"/>
      </a:accent5>
      <a:accent6>
        <a:srgbClr val="202020"/>
      </a:accent6>
      <a:hlink>
        <a:srgbClr val="0077FF"/>
      </a:hlink>
      <a:folHlink>
        <a:srgbClr val="00E9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ИИ-помощник во внутреннем портале</dc:title>
  <cp:lastModifiedBy/>
  <cp:revision>1</cp:revision>
  <dcterms:modified xsi:type="dcterms:W3CDTF">2026-09-26T07:56:28Z</dcterms:modified>
  <dc:subject>Template-adaptive presentation</dc:subject>
  <cp:keywords>BrandDeck, template-adaptive, presentation</cp:keywords>
  <dc:creator/>
  <dc:description/>
</cp:coreProperties>
</file>