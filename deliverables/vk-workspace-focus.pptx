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1.xml"/><Relationship Id="rId39" Type="http://schemas.openxmlformats.org/officeDocument/2006/relationships/slide" Target="slides/slide2.xml"/><Relationship Id="rId40" Type="http://schemas.openxmlformats.org/officeDocument/2006/relationships/slide" Target="slides/slide3.xml"/><Relationship Id="rId41" Type="http://schemas.openxmlformats.org/officeDocument/2006/relationships/slide" Target="slides/slide4.xml"/><Relationship Id="rId42" Type="http://schemas.openxmlformats.org/officeDocument/2006/relationships/slide" Target="slides/slide5.xml"/><Relationship Id="rId43" Type="http://schemas.openxmlformats.org/officeDocument/2006/relationships/slide" Target="slides/slide6.xml"/><Relationship Id="rId44" Type="http://schemas.openxmlformats.org/officeDocument/2006/relationships/slide" Target="slides/slide7.xml"/><Relationship Id="rId45" Type="http://schemas.openxmlformats.org/officeDocument/2006/relationships/slide" Target="slides/slide8.xml"/><Relationship Id="rId46" Type="http://schemas.openxmlformats.org/officeDocument/2006/relationships/slide" Target="slides/slide9.xml"/><Relationship Id="rId4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слайд открывает презентацию и обозначает проблему, с которой мы начинаем работу по внедрению ИИ-помощника.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Текущее время поиска инструкции составляет до 30 минут, что создает нагрузку на сотрудников.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Треть всех обращений в поддержку — это повторяющиеся вопросы, которые создают лишнюю нагрузку на специалистов.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Сценарий использования сфокусирован на поиске документации, где треть обращений — это повторяющиеся вопросы по регламентам.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Решение автоматически отвечает сотрудникам на вопросы по регламентам и сразу указывает на источник документа.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Модель функционирует внутри контура компании, при этом документы не покидают внутреннюю сеть. Если ИИ не может дать подтверждённый ответ, запрос передаётся специалисту поддержки с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запрос автоматически передаётся специалисту с полным контекстом диалога.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охватывает два подразделения с общим числом сотрудников 150 человек и длится шесть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Успех пилота оценивается по времени поиска ответа и доле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пилота просим одобрить проект и выделить команду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4" Type="http://schemas.openxmlformats.org/officeDocument/2006/relationships/slideLayout" Target="../slideLayouts/slideLayout3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0" r:id="rId4"/>
    <p:sldLayoutId id="2147483652" r:id="rId6"/>
    <p:sldLayoutId id="2147483653" r:id="rId7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3" Type="http://schemas.openxmlformats.org/officeDocument/2006/relationships/image" Target="../media/image17.png"/><Relationship Id="rId4" Type="http://schemas.openxmlformats.org/officeDocument/2006/relationships/image" Target="../media/image33.jpeg"/><Relationship Id="rId5" Type="http://schemas.openxmlformats.org/officeDocument/2006/relationships/notesSlide" Target="../notesSlides/notesSlide3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jpeg"/><Relationship Id="rId3" Type="http://schemas.openxmlformats.org/officeDocument/2006/relationships/notesSlide" Target="../notesSlides/notesSlide3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BrandDeck Text 381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4000"/>
              <a:t>Поиск инструкции занимает до 30 минут</a:t>
            </a:r>
            <a:endParaRPr sz="4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BrandDeck Text 68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3200"/>
              <a:t>Сотрудники тратят до 30 минут на поиск нужной инструкции</a:t>
            </a:r>
            <a:endParaRPr/>
          </a:p>
        </p:txBody>
      </p:sp>
      <p:sp>
        <p:nvSpPr>
          <p:cNvPr id="681" name="BrandDeck Text 681"/>
          <p:cNvSpPr/>
          <p:nvPr/>
        </p:nvSpPr>
        <p:spPr>
          <a:xfrm>
            <a:off x="427864" y="1837067"/>
            <a:ext cx="3636000" cy="2022006"/>
          </a:xfrm>
          <a:prstGeom prst="roundRect">
            <a:avLst>
              <a:gd fmla="val 632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Сотрудники тратят до 30 минут на поиск нужной инструкции.</a:t>
            </a:r>
            <a:endParaRPr/>
          </a:p>
        </p:txBody>
      </p:sp>
      <p:sp>
        <p:nvSpPr>
          <p:cNvPr id="682" name="BrandDeck Text 682"/>
          <p:cNvSpPr/>
          <p:nvPr/>
        </p:nvSpPr>
        <p:spPr>
          <a:xfrm>
            <a:off x="4217594" y="1837067"/>
            <a:ext cx="3636000" cy="2022006"/>
          </a:xfrm>
          <a:prstGeom prst="roundRect">
            <a:avLst>
              <a:gd fmla="val 687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Это время тратится сотрудниками на поиск информации.</a:t>
            </a:r>
            <a:endParaRPr/>
          </a:p>
        </p:txBody>
      </p:sp>
      <p:sp>
        <p:nvSpPr>
          <p:cNvPr id="683" name="BrandDeck Text 683"/>
          <p:cNvSpPr/>
          <p:nvPr/>
        </p:nvSpPr>
        <p:spPr>
          <a:xfrm>
            <a:off x="8007324" y="1837067"/>
            <a:ext cx="3636000" cy="2022006"/>
          </a:xfrm>
          <a:prstGeom prst="roundRect">
            <a:avLst>
              <a:gd fmla="val 578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Актуальность задачи обусловлена длительным поиском инструкций.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3200"/>
              <a:t>Треть обращений в поддержку — повторяющиеся вопросы</a:t>
            </a:r>
            <a:endParaRPr/>
          </a:p>
        </p:txBody>
      </p:sp>
      <p:grpSp>
        <p:nvGrpSpPr>
          <p:cNvPr id="2" name="BrandDeck Diagram icon_grid" descr="icon_grid: Доля Треть обращений — повторяющиеся вопросы; Причина Отсутствие быстрого доступа к инструкциям; Результат Лишняя работа специалистов поддержки"/>
          <p:cNvGrpSpPr/>
          <p:nvPr/>
        </p:nvGrpSpPr>
        <p:grpSpPr>
          <a:xfrm>
            <a:off x="415687" y="1666499"/>
            <a:ext cx="10733793" cy="3525001"/>
            <a:chOff x="415687" y="1666499"/>
            <a:chExt cx="10733793" cy="3525001"/>
          </a:xfrm>
        </p:grpSpPr>
        <p:sp>
          <p:nvSpPr>
            <p:cNvPr id="468" name="BrandDeck Diagram Card 1"/>
            <p:cNvSpPr/>
            <p:nvPr/>
          </p:nvSpPr>
          <p:spPr>
            <a:xfrm>
              <a:off x="415687" y="1666499"/>
              <a:ext cx="4508193" cy="3525001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BrandDeck Diagram Icon 1 Badge"/>
            <p:cNvSpPr/>
            <p:nvPr/>
          </p:nvSpPr>
          <p:spPr>
            <a:xfrm>
              <a:off x="635143" y="1885955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0" name="BrandDeck Icon headset"/>
            <p:cNvSpPr/>
            <p:nvPr/>
          </p:nvSpPr>
          <p:spPr>
            <a:xfrm>
              <a:off x="767913" y="2018725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1" name="BrandDeck Diagram Text 1"/>
            <p:cNvSpPr txBox="1"/>
            <p:nvPr/>
          </p:nvSpPr>
          <p:spPr>
            <a:xfrm>
              <a:off x="569306" y="2643078"/>
              <a:ext cx="4200955" cy="2438694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Доля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Треть обращений — повторяющиеся вопросы</a:t>
              </a:r>
            </a:p>
          </p:txBody>
        </p:sp>
        <p:sp>
          <p:nvSpPr>
            <p:cNvPr id="472" name="BrandDeck Diagram Card 2"/>
            <p:cNvSpPr/>
            <p:nvPr/>
          </p:nvSpPr>
          <p:spPr>
            <a:xfrm>
              <a:off x="5138556" y="1666499"/>
              <a:ext cx="6010924" cy="1655163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BrandDeck Diagram Icon 2 Badge"/>
            <p:cNvSpPr/>
            <p:nvPr/>
          </p:nvSpPr>
          <p:spPr>
            <a:xfrm>
              <a:off x="5358012" y="2262357"/>
              <a:ext cx="463445" cy="46344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BrandDeck Icon timer"/>
            <p:cNvSpPr/>
            <p:nvPr/>
          </p:nvSpPr>
          <p:spPr>
            <a:xfrm>
              <a:off x="5459970" y="2364315"/>
              <a:ext cx="259529" cy="259529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2000"/>
                  </a:moveTo>
                  <a:lnTo>
                    <a:pt x="14000" y="2000"/>
                  </a:lnTo>
                </a:path>
                <a:path w="24000" h="24000" fill="none">
                  <a:moveTo>
                    <a:pt x="12000" y="14000"/>
                  </a:moveTo>
                  <a:lnTo>
                    <a:pt x="15000" y="11000"/>
                  </a:lnTo>
                </a:path>
                <a:path w="24000" h="24000" fill="none">
                  <a:moveTo>
                    <a:pt x="20000" y="14000"/>
                  </a:moveTo>
                  <a:cubicBezTo>
                    <a:pt x="20000" y="18418"/>
                    <a:pt x="16418" y="22000"/>
                    <a:pt x="12000" y="22000"/>
                  </a:cubicBezTo>
                  <a:cubicBezTo>
                    <a:pt x="7582" y="22000"/>
                    <a:pt x="4000" y="18418"/>
                    <a:pt x="4000" y="14000"/>
                  </a:cubicBezTo>
                  <a:cubicBezTo>
                    <a:pt x="4000" y="9582"/>
                    <a:pt x="7582" y="6000"/>
                    <a:pt x="12000" y="6000"/>
                  </a:cubicBezTo>
                  <a:cubicBezTo>
                    <a:pt x="16418" y="6000"/>
                    <a:pt x="20000" y="9582"/>
                    <a:pt x="20000" y="14000"/>
                  </a:cubicBezTo>
                  <a:close/>
                </a:path>
              </a:pathLst>
            </a:custGeom>
            <a:noFill/>
            <a:ln w="21627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5" name="BrandDeck Diagram Text 2"/>
            <p:cNvSpPr txBox="1"/>
            <p:nvPr/>
          </p:nvSpPr>
          <p:spPr>
            <a:xfrm>
              <a:off x="5953131" y="1798172"/>
              <a:ext cx="4976893" cy="139181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Причина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Отсутствие быстрого доступа к инструкциям</a:t>
              </a:r>
            </a:p>
          </p:txBody>
        </p:sp>
        <p:sp>
          <p:nvSpPr>
            <p:cNvPr id="476" name="BrandDeck Diagram Card 3"/>
            <p:cNvSpPr/>
            <p:nvPr/>
          </p:nvSpPr>
          <p:spPr>
            <a:xfrm>
              <a:off x="5138556" y="3536337"/>
              <a:ext cx="6010924" cy="1655163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BrandDeck Diagram Icon 3 Badge"/>
            <p:cNvSpPr/>
            <p:nvPr/>
          </p:nvSpPr>
          <p:spPr>
            <a:xfrm>
              <a:off x="5358012" y="4132196"/>
              <a:ext cx="463445" cy="46344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BrandDeck Icon trophy"/>
            <p:cNvSpPr/>
            <p:nvPr/>
          </p:nvSpPr>
          <p:spPr>
            <a:xfrm>
              <a:off x="5459970" y="4234154"/>
              <a:ext cx="259529" cy="259529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9000"/>
                  </a:moveTo>
                  <a:lnTo>
                    <a:pt x="4500" y="9000"/>
                  </a:lnTo>
                  <a:cubicBezTo>
                    <a:pt x="3119" y="9000"/>
                    <a:pt x="2000" y="7881"/>
                    <a:pt x="2000" y="6500"/>
                  </a:cubicBezTo>
                  <a:cubicBezTo>
                    <a:pt x="2000" y="5119"/>
                    <a:pt x="3119" y="4000"/>
                    <a:pt x="4500" y="4000"/>
                  </a:cubicBezTo>
                  <a:lnTo>
                    <a:pt x="6000" y="4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19500" y="9000"/>
                  </a:lnTo>
                  <a:cubicBezTo>
                    <a:pt x="20881" y="9000"/>
                    <a:pt x="22000" y="7881"/>
                    <a:pt x="22000" y="6500"/>
                  </a:cubicBezTo>
                  <a:cubicBezTo>
                    <a:pt x="22000" y="5119"/>
                    <a:pt x="20881" y="4000"/>
                    <a:pt x="19500" y="4000"/>
                  </a:cubicBezTo>
                  <a:lnTo>
                    <a:pt x="18000" y="4000"/>
                  </a:lnTo>
                </a:path>
                <a:path w="24000" h="24000" fill="none">
                  <a:moveTo>
                    <a:pt x="4000" y="22000"/>
                  </a:moveTo>
                  <a:lnTo>
                    <a:pt x="20000" y="22000"/>
                  </a:lnTo>
                </a:path>
                <a:path w="24000" h="24000" fill="none">
                  <a:moveTo>
                    <a:pt x="10000" y="14660"/>
                  </a:moveTo>
                  <a:lnTo>
                    <a:pt x="10000" y="17000"/>
                  </a:lnTo>
                  <a:cubicBezTo>
                    <a:pt x="10000" y="17550"/>
                    <a:pt x="9530" y="17980"/>
                    <a:pt x="9030" y="18210"/>
                  </a:cubicBezTo>
                  <a:cubicBezTo>
                    <a:pt x="7850" y="18750"/>
                    <a:pt x="7000" y="20240"/>
                    <a:pt x="7000" y="22000"/>
                  </a:cubicBezTo>
                </a:path>
                <a:path w="24000" h="24000" fill="none">
                  <a:moveTo>
                    <a:pt x="14000" y="14660"/>
                  </a:moveTo>
                  <a:lnTo>
                    <a:pt x="14000" y="17000"/>
                  </a:lnTo>
                  <a:cubicBezTo>
                    <a:pt x="14000" y="17550"/>
                    <a:pt x="14470" y="17980"/>
                    <a:pt x="14970" y="18210"/>
                  </a:cubicBezTo>
                  <a:cubicBezTo>
                    <a:pt x="16150" y="18750"/>
                    <a:pt x="17000" y="20240"/>
                    <a:pt x="17000" y="22000"/>
                  </a:cubicBezTo>
                </a:path>
                <a:path w="24000" h="24000" fill="none">
                  <a:moveTo>
                    <a:pt x="18000" y="2000"/>
                  </a:moveTo>
                  <a:lnTo>
                    <a:pt x="6000" y="2000"/>
                  </a:lnTo>
                  <a:lnTo>
                    <a:pt x="6000" y="9000"/>
                  </a:lnTo>
                  <a:cubicBezTo>
                    <a:pt x="6000" y="12314"/>
                    <a:pt x="8686" y="15000"/>
                    <a:pt x="12000" y="15000"/>
                  </a:cubicBezTo>
                  <a:cubicBezTo>
                    <a:pt x="15314" y="15000"/>
                    <a:pt x="18000" y="12314"/>
                    <a:pt x="18000" y="9000"/>
                  </a:cubicBezTo>
                  <a:lnTo>
                    <a:pt x="18000" y="2000"/>
                  </a:lnTo>
                  <a:close/>
                </a:path>
              </a:pathLst>
            </a:custGeom>
            <a:noFill/>
            <a:ln w="21627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BrandDeck Diagram Text 3"/>
            <p:cNvSpPr txBox="1"/>
            <p:nvPr/>
          </p:nvSpPr>
          <p:spPr>
            <a:xfrm>
              <a:off x="5953131" y="3668011"/>
              <a:ext cx="4976893" cy="139181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Результат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Лишняя работа специалистов поддержки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BrandDeck Text 547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Вопросы касаются регламентов и инструкций</a:t>
            </a:r>
            <a:endParaRPr/>
          </a:p>
        </p:txBody>
      </p:sp>
      <p:sp>
        <p:nvSpPr>
          <p:cNvPr id="548" name="BrandDeck Text 548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Сотрудники ищут ответы в регламентах и инструкциях.</a:t>
            </a:r>
            <a:endParaRPr/>
          </a:p>
        </p:txBody>
      </p:sp>
      <p:grpSp>
        <p:nvGrpSpPr>
          <p:cNvPr id="549" name="Google Shape;549;p26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550" name="Google Shape;550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1" name="Google Shape;551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2" name="BrandDeck Text 552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Частые запросы требуют точных ссылок на документы.</a:t>
            </a:r>
            <a:endParaRPr/>
          </a:p>
        </p:txBody>
      </p:sp>
      <p:grpSp>
        <p:nvGrpSpPr>
          <p:cNvPr id="553" name="Google Shape;553;p26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554" name="Google Shape;554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5" name="Google Shape;555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6" name="BrandDeck Text 556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Повторяющиеся вопросы занимают время поддержки.</a:t>
            </a:r>
            <a:endParaRPr/>
          </a:p>
        </p:txBody>
      </p:sp>
      <p:grpSp>
        <p:nvGrpSpPr>
          <p:cNvPr id="557" name="Google Shape;557;p26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558" name="Google Shape;558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9" name="Google Shape;559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BrandDeck Text 44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ИИ-помощник отвечает на вопросы и даёт ссылку на документ-источник</a:t>
            </a:r>
            <a:endParaRPr/>
          </a:p>
        </p:txBody>
      </p:sp>
      <p:sp>
        <p:nvSpPr>
          <p:cNvPr id="442" name="BrandDeck Text 442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ИИ-помощник отвечает на вопросы по регламентам и инструкциям.</a:t>
            </a:r>
            <a:endParaRPr/>
          </a:p>
        </p:txBody>
      </p:sp>
      <p:grpSp>
        <p:nvGrpSpPr>
          <p:cNvPr id="443" name="Google Shape;443;p21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444" name="Google Shape;444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5" name="Google Shape;445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6" name="BrandDeck Text 446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Система автоматически предоставляет ссылку на документ-источник.</a:t>
            </a:r>
            <a:endParaRPr/>
          </a:p>
        </p:txBody>
      </p:sp>
      <p:grpSp>
        <p:nvGrpSpPr>
          <p:cNvPr id="447" name="Google Shape;447;p21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448" name="Google Shape;448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9" name="Google Shape;449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4" name="BrandDeck Text 404"/>
          <p:cNvSpPr txBox="1"/>
          <p:nvPr>
            <p:ph type="title"/>
          </p:nvPr>
        </p:nvSpPr>
        <p:spPr>
          <a:xfrm>
            <a:off x="429253" y="1460299"/>
            <a:ext cx="386516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Модель работает внутри контура компании, документы не уходят наружу</a:t>
            </a:r>
            <a:endParaRPr/>
          </a:p>
        </p:txBody>
      </p:sp>
      <p:sp>
        <p:nvSpPr>
          <p:cNvPr id="418" name="BrandDeck Body"/>
          <p:cNvSpPr txBox="1"/>
          <p:nvPr/>
        </p:nvSpPr>
        <p:spPr>
          <a:xfrm>
            <a:off x="5808913" y="1657446"/>
            <a:ext cx="2265869" cy="4624084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Модель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Документы не покидают внутреннюю сеть.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При отсутствии ответа вопрос уходит специалисту.</a:t>
            </a:r>
          </a:p>
        </p:txBody>
      </p:sp>
      <p:pic>
        <p:nvPicPr>
          <p:cNvPr id="419" name="BrandDeck Image" descr="внутренний контур серверная"/>
          <p:cNvPicPr>
            <a:picLocks noChangeAspect="1"/>
          </p:cNvPicPr>
          <p:nvPr/>
        </p:nvPicPr>
        <p:blipFill>
          <a:blip r:embed="rId4"/>
          <a:srcRect l="23238" r="41238"/>
          <a:stretch>
            <a:fillRect/>
          </a:stretch>
        </p:blipFill>
        <p:spPr>
          <a:xfrm>
            <a:off x="8330814" y="1657446"/>
            <a:ext cx="2918746" cy="46240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BrandDeck Text 48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Если подтверждённого ответа нет, вопрос уходит специалисту с контекстом</a:t>
            </a:r>
            <a:endParaRPr/>
          </a:p>
        </p:txBody>
      </p:sp>
      <p:sp>
        <p:nvSpPr>
          <p:cNvPr id="505" name="BrandDeck Body"/>
          <p:cNvSpPr txBox="1"/>
          <p:nvPr/>
        </p:nvSpPr>
        <p:spPr>
          <a:xfrm>
            <a:off x="437111" y="2883834"/>
            <a:ext cx="4845355" cy="2889807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E4E7EA"/>
                </a:solidFill>
                <a:latin typeface="Play"/>
              </a:rPr>
              <a:t>• Вопрос уходит специалисту поддержки вместе с контекстом.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E4E7EA"/>
                </a:solidFill>
                <a:latin typeface="Play"/>
              </a:rPr>
              <a:t>• Это происходит, если подтверждённого ответа нет в системе.</a:t>
            </a:r>
          </a:p>
        </p:txBody>
      </p:sp>
      <p:pic>
        <p:nvPicPr>
          <p:cNvPr id="506" name="BrandDeck Image" descr="сотрудник специалист поддержки"/>
          <p:cNvPicPr>
            <a:picLocks noChangeAspect="1"/>
          </p:cNvPicPr>
          <p:nvPr/>
        </p:nvPicPr>
        <p:blipFill>
          <a:blip r:embed="rId2"/>
          <a:srcRect t="6022" b="11183"/>
          <a:stretch>
            <a:fillRect/>
          </a:stretch>
        </p:blipFill>
        <p:spPr>
          <a:xfrm>
            <a:off x="5538498" y="2883834"/>
            <a:ext cx="6201730" cy="28898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2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800"/>
              <a:t>Пилот охватывает 2 подразделения и 150 сотрудников в течение 6 недель</a:t>
            </a:r>
            <a:endParaRPr/>
          </a:p>
        </p:txBody>
      </p:sp>
      <p:grpSp>
        <p:nvGrpSpPr>
          <p:cNvPr id="2" name="BrandDeck Diagram icon_grid" descr="icon_grid: Длительность 6 недель; Охват 2 подразделения; Команда 150 сотрудников"/>
          <p:cNvGrpSpPr/>
          <p:nvPr/>
        </p:nvGrpSpPr>
        <p:grpSpPr>
          <a:xfrm>
            <a:off x="415687" y="1666499"/>
            <a:ext cx="10733793" cy="3525001"/>
            <a:chOff x="415687" y="1666499"/>
            <a:chExt cx="10733793" cy="3525001"/>
          </a:xfrm>
        </p:grpSpPr>
        <p:sp>
          <p:nvSpPr>
            <p:cNvPr id="468" name="BrandDeck Diagram Card 1"/>
            <p:cNvSpPr/>
            <p:nvPr/>
          </p:nvSpPr>
          <p:spPr>
            <a:xfrm>
              <a:off x="415687" y="1666499"/>
              <a:ext cx="4508193" cy="3525001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BrandDeck Diagram Icon 1 Badge"/>
            <p:cNvSpPr/>
            <p:nvPr/>
          </p:nvSpPr>
          <p:spPr>
            <a:xfrm>
              <a:off x="635143" y="1885955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0" name="BrandDeck Icon hourglass"/>
            <p:cNvSpPr/>
            <p:nvPr/>
          </p:nvSpPr>
          <p:spPr>
            <a:xfrm>
              <a:off x="767913" y="2018725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5000" y="22000"/>
                  </a:moveTo>
                  <a:lnTo>
                    <a:pt x="19000" y="22000"/>
                  </a:lnTo>
                </a:path>
                <a:path w="24000" h="24000" fill="none">
                  <a:moveTo>
                    <a:pt x="5000" y="2000"/>
                  </a:moveTo>
                  <a:lnTo>
                    <a:pt x="19000" y="2000"/>
                  </a:lnTo>
                </a:path>
                <a:path w="24000" h="24000" fill="none">
                  <a:moveTo>
                    <a:pt x="17000" y="22000"/>
                  </a:moveTo>
                  <a:lnTo>
                    <a:pt x="17000" y="17828"/>
                  </a:lnTo>
                  <a:cubicBezTo>
                    <a:pt x="17000" y="17298"/>
                    <a:pt x="16789" y="16789"/>
                    <a:pt x="16414" y="16414"/>
                  </a:cubicBezTo>
                  <a:lnTo>
                    <a:pt x="12000" y="12000"/>
                  </a:lnTo>
                  <a:lnTo>
                    <a:pt x="7586" y="16414"/>
                  </a:lnTo>
                  <a:cubicBezTo>
                    <a:pt x="7211" y="16789"/>
                    <a:pt x="7000" y="17298"/>
                    <a:pt x="7000" y="17828"/>
                  </a:cubicBezTo>
                  <a:lnTo>
                    <a:pt x="7000" y="22000"/>
                  </a:lnTo>
                </a:path>
                <a:path w="24000" h="24000" fill="none">
                  <a:moveTo>
                    <a:pt x="7000" y="2000"/>
                  </a:moveTo>
                  <a:lnTo>
                    <a:pt x="7000" y="6172"/>
                  </a:lnTo>
                  <a:cubicBezTo>
                    <a:pt x="7000" y="6702"/>
                    <a:pt x="7211" y="7211"/>
                    <a:pt x="7586" y="7586"/>
                  </a:cubicBezTo>
                  <a:lnTo>
                    <a:pt x="12000" y="12000"/>
                  </a:lnTo>
                  <a:lnTo>
                    <a:pt x="16414" y="7586"/>
                  </a:lnTo>
                  <a:cubicBezTo>
                    <a:pt x="16789" y="7211"/>
                    <a:pt x="17000" y="6702"/>
                    <a:pt x="17000" y="6172"/>
                  </a:cubicBezTo>
                  <a:lnTo>
                    <a:pt x="17000" y="2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1" name="BrandDeck Diagram Text 1"/>
            <p:cNvSpPr txBox="1"/>
            <p:nvPr/>
          </p:nvSpPr>
          <p:spPr>
            <a:xfrm>
              <a:off x="569306" y="2643078"/>
              <a:ext cx="4200955" cy="2438694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Длительность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6 недель</a:t>
              </a:r>
            </a:p>
          </p:txBody>
        </p:sp>
        <p:sp>
          <p:nvSpPr>
            <p:cNvPr id="472" name="BrandDeck Diagram Card 2"/>
            <p:cNvSpPr/>
            <p:nvPr/>
          </p:nvSpPr>
          <p:spPr>
            <a:xfrm>
              <a:off x="5138556" y="1666499"/>
              <a:ext cx="6010924" cy="1655163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BrandDeck Diagram Icon 2 Badge"/>
            <p:cNvSpPr/>
            <p:nvPr/>
          </p:nvSpPr>
          <p:spPr>
            <a:xfrm>
              <a:off x="5358012" y="2262357"/>
              <a:ext cx="463445" cy="46344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BrandDeck Icon building-2"/>
            <p:cNvSpPr/>
            <p:nvPr/>
          </p:nvSpPr>
          <p:spPr>
            <a:xfrm>
              <a:off x="5459970" y="2364315"/>
              <a:ext cx="259529" cy="259529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22000"/>
                  </a:moveTo>
                  <a:lnTo>
                    <a:pt x="6000" y="4000"/>
                  </a:lnTo>
                  <a:cubicBezTo>
                    <a:pt x="6000" y="2895"/>
                    <a:pt x="6895" y="2000"/>
                    <a:pt x="8000" y="2000"/>
                  </a:cubicBezTo>
                  <a:lnTo>
                    <a:pt x="16000" y="2000"/>
                  </a:lnTo>
                  <a:cubicBezTo>
                    <a:pt x="17105" y="2000"/>
                    <a:pt x="18000" y="2895"/>
                    <a:pt x="18000" y="4000"/>
                  </a:cubicBezTo>
                  <a:lnTo>
                    <a:pt x="18000" y="22000"/>
                  </a:lnTo>
                  <a:close/>
                </a:path>
                <a:path w="24000" h="24000" fill="none">
                  <a:moveTo>
                    <a:pt x="6000" y="12000"/>
                  </a:moveTo>
                  <a:lnTo>
                    <a:pt x="4000" y="12000"/>
                  </a:lnTo>
                  <a:cubicBezTo>
                    <a:pt x="2895" y="12000"/>
                    <a:pt x="2000" y="12895"/>
                    <a:pt x="2000" y="14000"/>
                  </a:cubicBezTo>
                  <a:lnTo>
                    <a:pt x="2000" y="20000"/>
                  </a:lnTo>
                  <a:cubicBezTo>
                    <a:pt x="2000" y="21105"/>
                    <a:pt x="2895" y="22000"/>
                    <a:pt x="4000" y="22000"/>
                  </a:cubicBezTo>
                  <a:lnTo>
                    <a:pt x="6000" y="22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20000" y="9000"/>
                  </a:lnTo>
                  <a:cubicBezTo>
                    <a:pt x="21105" y="9000"/>
                    <a:pt x="22000" y="9895"/>
                    <a:pt x="22000" y="11000"/>
                  </a:cubicBezTo>
                  <a:lnTo>
                    <a:pt x="22000" y="20000"/>
                  </a:lnTo>
                  <a:cubicBezTo>
                    <a:pt x="22000" y="21105"/>
                    <a:pt x="21105" y="22000"/>
                    <a:pt x="20000" y="22000"/>
                  </a:cubicBezTo>
                  <a:lnTo>
                    <a:pt x="18000" y="22000"/>
                  </a:lnTo>
                </a:path>
                <a:path w="24000" h="24000" fill="none">
                  <a:moveTo>
                    <a:pt x="10000" y="6000"/>
                  </a:moveTo>
                  <a:lnTo>
                    <a:pt x="14000" y="6000"/>
                  </a:lnTo>
                </a:path>
                <a:path w="24000" h="24000" fill="none">
                  <a:moveTo>
                    <a:pt x="10000" y="10000"/>
                  </a:moveTo>
                  <a:lnTo>
                    <a:pt x="14000" y="10000"/>
                  </a:lnTo>
                </a:path>
                <a:path w="24000" h="24000" fill="none">
                  <a:moveTo>
                    <a:pt x="10000" y="14000"/>
                  </a:moveTo>
                  <a:lnTo>
                    <a:pt x="14000" y="14000"/>
                  </a:lnTo>
                </a:path>
                <a:path w="24000" h="24000" fill="none">
                  <a:moveTo>
                    <a:pt x="10000" y="18000"/>
                  </a:moveTo>
                  <a:lnTo>
                    <a:pt x="14000" y="18000"/>
                  </a:lnTo>
                </a:path>
              </a:pathLst>
            </a:custGeom>
            <a:noFill/>
            <a:ln w="21627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5" name="BrandDeck Diagram Text 2"/>
            <p:cNvSpPr txBox="1"/>
            <p:nvPr/>
          </p:nvSpPr>
          <p:spPr>
            <a:xfrm>
              <a:off x="5953131" y="1798172"/>
              <a:ext cx="4976893" cy="139181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Охват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2 подразделения</a:t>
              </a:r>
            </a:p>
          </p:txBody>
        </p:sp>
        <p:sp>
          <p:nvSpPr>
            <p:cNvPr id="476" name="BrandDeck Diagram Card 3"/>
            <p:cNvSpPr/>
            <p:nvPr/>
          </p:nvSpPr>
          <p:spPr>
            <a:xfrm>
              <a:off x="5138556" y="3536337"/>
              <a:ext cx="6010924" cy="1655163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BrandDeck Diagram Icon 3 Badge"/>
            <p:cNvSpPr/>
            <p:nvPr/>
          </p:nvSpPr>
          <p:spPr>
            <a:xfrm>
              <a:off x="5358012" y="4132196"/>
              <a:ext cx="463445" cy="46344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BrandDeck Icon users"/>
            <p:cNvSpPr/>
            <p:nvPr/>
          </p:nvSpPr>
          <p:spPr>
            <a:xfrm>
              <a:off x="5459970" y="4234154"/>
              <a:ext cx="259529" cy="259529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1627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BrandDeck Diagram Text 3"/>
            <p:cNvSpPr txBox="1"/>
            <p:nvPr/>
          </p:nvSpPr>
          <p:spPr>
            <a:xfrm>
              <a:off x="5953131" y="3668011"/>
              <a:ext cx="4976893" cy="139181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Команда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150 сотрудников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BrandDeck Text 48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Успех измеряется временем поиска ответа и долей обращений, закрытых без специалиста</a:t>
            </a:r>
            <a:endParaRPr/>
          </a:p>
        </p:txBody>
      </p:sp>
      <p:graphicFrame>
        <p:nvGraphicFramePr>
          <p:cNvPr id="505" name="BrandDeck Table"/>
          <p:cNvGraphicFramePr>
            <a:graphicFrameLocks noGrp="1"/>
          </p:cNvGraphicFramePr>
          <p:nvPr/>
        </p:nvGraphicFramePr>
        <p:xfrm>
          <a:off x="437111" y="2883834"/>
          <a:ext cx="11303118" cy="28898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1559"/>
                <a:gridCol w="5651559"/>
              </a:tblGrid>
              <a:tr h="96326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Метрика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Что измеряется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</a:tr>
              <a:tr h="9632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Время поиска ответа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Сколько времени сотрудник тратит на поиск инструкции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  <a:tr h="9632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Доля обращений без специалиста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Процент вопросов, закрытых ИИ-помощником самостоятельно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BrandDeck Text 547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Просим одобрить пилот и выделить команду из 3 человек</a:t>
            </a:r>
            <a:endParaRPr/>
          </a:p>
        </p:txBody>
      </p:sp>
      <p:sp>
        <p:nvSpPr>
          <p:cNvPr id="548" name="BrandDeck Text 548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Просим одобрить запуск пилота.</a:t>
            </a:r>
            <a:endParaRPr/>
          </a:p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Необходимо выделить команду из 3 человек.</a:t>
            </a:r>
          </a:p>
        </p:txBody>
      </p:sp>
      <p:grpSp>
        <p:nvGrpSpPr>
          <p:cNvPr id="549" name="Google Shape;549;p26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550" name="Google Shape;550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1" name="Google Shape;551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2" name="BrandDeck Text 552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Запрос на одобрение пилота и выделение команды</a:t>
            </a:r>
            <a:endParaRPr/>
          </a:p>
        </p:txBody>
      </p:sp>
      <p:grpSp>
        <p:nvGrpSpPr>
          <p:cNvPr id="553" name="Google Shape;553;p26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554" name="Google Shape;554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5" name="Google Shape;555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6" name="BrandDeck Text 556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Пилот охватит 2 подразделения и 150 сотрудников.</a:t>
            </a:r>
            <a:endParaRPr/>
          </a:p>
        </p:txBody>
      </p:sp>
      <p:grpSp>
        <p:nvGrpSpPr>
          <p:cNvPr id="557" name="Google Shape;557;p26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558" name="Google Shape;558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9" name="Google Shape;559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2026-09-28T16:00:24Z</dcterms:modified>
  <dc:subject>Template-adaptive presentation</dc:subject>
  <cp:keywords>BrandDeck, template-adaptive, presentation</cp:keywords>
  <dc:creator/>
  <dc:description/>
</cp:coreProperties>
</file>