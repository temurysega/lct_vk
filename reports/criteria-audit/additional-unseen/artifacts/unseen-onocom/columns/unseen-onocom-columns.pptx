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906000" cy="6858000" type="A4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784"/>
    <a:srgbClr val="969696"/>
    <a:srgbClr val="00A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2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B3044E05-6662-47F7-8DF1-EB32BAF9BD9E}" type="datetimeFigureOut">
              <a:rPr kumimoji="1" lang="ja-JP" altLang="en-US" smtClean="0"/>
              <a:t>2017/6/17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2A670ECB-F0D5-469C-8B55-34C7630267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432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CDFBD6AC-8C1E-43B9-A586-206802F2997A}" type="datetimeFigureOut">
              <a:rPr kumimoji="1" lang="ja-JP" altLang="en-US" smtClean="0"/>
              <a:t>2017/6/17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562" y="4783306"/>
            <a:ext cx="5444490" cy="391361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8BD44817-DE52-4C4E-9D0B-BFE2722569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3928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645" y="1122363"/>
            <a:ext cx="9452710" cy="2011606"/>
          </a:xfrm>
          <a:noFill/>
        </p:spPr>
        <p:txBody>
          <a:bodyPr anchor="ctr" anchorCtr="0"/>
          <a:lstStyle>
            <a:lvl1pPr algn="ctr">
              <a:defRPr sz="4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645" y="3250345"/>
            <a:ext cx="9452710" cy="469777"/>
          </a:xfrm>
        </p:spPr>
        <p:txBody>
          <a:bodyPr anchor="ctr" anchorCtr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 smtClean="0"/>
              <a:t>マスター サブタイトルの書式設定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0" hasCustomPrompt="1"/>
          </p:nvPr>
        </p:nvSpPr>
        <p:spPr>
          <a:xfrm>
            <a:off x="3312319" y="4947506"/>
            <a:ext cx="3281362" cy="858837"/>
          </a:xfrm>
        </p:spPr>
        <p:txBody>
          <a:bodyPr anchor="ctr"/>
          <a:lstStyle>
            <a:lvl1pPr marL="0" indent="0" algn="ctr">
              <a:buNone/>
              <a:defRPr b="0"/>
            </a:lvl1pPr>
          </a:lstStyle>
          <a:p>
            <a:r>
              <a:rPr kumimoji="1" lang="ja-JP" altLang="en-US" dirty="0" smtClean="0"/>
              <a:t>ここに会社ロゴを設定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0759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0"/>
            </a:lvl1pPr>
            <a:lvl2pPr marL="914400" indent="-457200">
              <a:buFont typeface="+mj-lt"/>
              <a:buAutoNum type="alphaLcPeriod"/>
              <a:defRPr sz="2000"/>
            </a:lvl2pPr>
            <a:lvl3pPr marL="1257300" indent="-342900">
              <a:buFont typeface="+mj-ea"/>
              <a:buAutoNum type="circleNumDbPlain"/>
              <a:defRPr sz="1800"/>
            </a:lvl3pPr>
            <a:lvl4pPr marL="1714500" indent="-342900">
              <a:buFont typeface="+mj-lt"/>
              <a:buAutoNum type="alphaUcParenR"/>
              <a:defRPr sz="1600"/>
            </a:lvl4pPr>
            <a:lvl5pPr marL="2171700" indent="-342900">
              <a:buFont typeface="+mj-lt"/>
              <a:buAutoNum type="romanLcPeriod"/>
              <a:defRPr sz="1600"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en-US" altLang="ja-JP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691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6" y="4589465"/>
            <a:ext cx="944239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26645" y="6257431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66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645" y="797169"/>
            <a:ext cx="4664443" cy="5251939"/>
          </a:xfrm>
        </p:spPr>
        <p:txBody>
          <a:bodyPr/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797169"/>
            <a:ext cx="4664442" cy="5251939"/>
          </a:xfrm>
        </p:spPr>
        <p:txBody>
          <a:bodyPr/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873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5" y="778487"/>
            <a:ext cx="4646386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645" y="1769088"/>
            <a:ext cx="4646386" cy="43581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78487"/>
            <a:ext cx="466444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69088"/>
            <a:ext cx="4664442" cy="43581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585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514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87427"/>
            <a:ext cx="3194943" cy="48815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368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87427"/>
            <a:ext cx="3194943" cy="48815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en-US" altLang="ja-JP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072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680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5" y="780605"/>
            <a:ext cx="9452710" cy="5318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644" y="6356352"/>
            <a:ext cx="6397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5137" y="6356352"/>
            <a:ext cx="29542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8E8EF-2153-40B7-A24C-1481AD95181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26645" y="622180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 userDrawn="1"/>
        </p:nvCxnSpPr>
        <p:spPr>
          <a:xfrm>
            <a:off x="226645" y="6257431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7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20000"/>
        </a:lnSpc>
        <a:spcBef>
          <a:spcPts val="1000"/>
        </a:spcBef>
        <a:buFont typeface="+mj-lt"/>
        <a:buAutoNum type="arabicPeriod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alphaLcPeriod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20000"/>
        </a:lnSpc>
        <a:spcBef>
          <a:spcPts val="500"/>
        </a:spcBef>
        <a:buFont typeface="+mj-ea"/>
        <a:buAutoNum type="circleNumDbPlain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alphaUcParenR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romanLcPeriod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ctrTitle"/>
          </p:nvPr>
        </p:nvSpPr>
        <p:spPr>
          <a:xfrm>
            <a:off x="226645" y="1122363"/>
            <a:ext cx="9452710" cy="2011606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Пилот ИИ-помощника по внутренним регламентам</a:t>
            </a:r>
            <a:endParaRPr kumimoji="1" lang="ja-JP" altLang="en-US"/>
          </a:p>
        </p:txBody>
      </p:sp>
      <p:sp>
        <p:nvSpPr>
          <p:cNvPr id="3" name="BrandDeck Text 3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7"/>
              </a:spcAft>
            </a:pPr>
            <a:endParaRPr kumimoji="1" lang="ja-JP" altLang="en-US"/>
          </a:p>
        </p:txBody>
      </p:sp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226645" y="823139"/>
            <a:ext cx="9452709" cy="5206468"/>
            <a:chOff x="226645" y="823139"/>
            <a:chExt cx="9452709" cy="520646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578871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5399753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578871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10243A"/>
                  </a:solidFill>
                  <a:latin typeface="游ゴシック"/>
                </a:rPr>
                <a:t>Треть обращений в поддержку —</a:t>
              </a:r>
              <a:r>
                <a:rPr sz="2000" b="0">
                  <a:solidFill>
                    <a:srgbClr val="10243A"/>
                  </a:solidFill>
                  <a:latin typeface="游ゴシック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5399753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044" r="21044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body" idx="2" sz="half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Передача вопроса вместе с контекстом избавляет сотрудника от повторного объяснения.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5"/>
              </a:spcAft>
            </a:pPr>
            <a:r>
              <a:rPr sz="1900"/>
              <a:t>Сотруднику нужен источник ответа, специалисту — контекст вопроса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226645" y="1058648"/>
            <a:ext cx="9452709" cy="4586708"/>
            <a:chOff x="226645" y="1058648"/>
            <a:chExt cx="9452709" cy="458670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578871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5399753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578871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5399753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682328" y="987427"/>
            <a:ext cx="8543924" cy="4881560"/>
            <a:chOff x="682328" y="987427"/>
            <a:chExt cx="8543924" cy="4881560"/>
          </a:xfrm>
        </p:grpSpPr>
        <p:sp>
          <p:nvSpPr>
            <p:cNvPr id="5" name="BrandDeck Diagram Card 1"/>
            <p:cNvSpPr/>
            <p:nvPr/>
          </p:nvSpPr>
          <p:spPr>
            <a:xfrm>
              <a:off x="682328" y="987427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Diagram Icon 1 Badge"/>
            <p:cNvSpPr/>
            <p:nvPr/>
          </p:nvSpPr>
          <p:spPr>
            <a:xfrm>
              <a:off x="901784" y="1206883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Icon users"/>
            <p:cNvSpPr/>
            <p:nvPr/>
          </p:nvSpPr>
          <p:spPr>
            <a:xfrm>
              <a:off x="1034554" y="133965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BrandDeck Diagram Text 1"/>
            <p:cNvSpPr txBox="1"/>
            <p:nvPr/>
          </p:nvSpPr>
          <p:spPr>
            <a:xfrm>
              <a:off x="835947" y="1964006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0">
                  <a:solidFill>
                    <a:srgbClr val="10243A"/>
                  </a:solidFill>
                  <a:latin typeface="游ゴシック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9" name="BrandDeck Diagram Card 2"/>
            <p:cNvSpPr/>
            <p:nvPr/>
          </p:nvSpPr>
          <p:spPr>
            <a:xfrm>
              <a:off x="5039729" y="987427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Diagram Icon 2 Badge"/>
            <p:cNvSpPr/>
            <p:nvPr/>
          </p:nvSpPr>
          <p:spPr>
            <a:xfrm>
              <a:off x="5259185" y="1206883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Icon life-buoy"/>
            <p:cNvSpPr/>
            <p:nvPr/>
          </p:nvSpPr>
          <p:spPr>
            <a:xfrm>
              <a:off x="5391956" y="133965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randDeck Diagram Text 2"/>
            <p:cNvSpPr txBox="1"/>
            <p:nvPr/>
          </p:nvSpPr>
          <p:spPr>
            <a:xfrm>
              <a:off x="5193348" y="1964006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0">
                  <a:solidFill>
                    <a:srgbClr val="10243A"/>
                  </a:solidFill>
                  <a:latin typeface="游ゴシック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3" name="BrandDeck Diagram Card 3"/>
            <p:cNvSpPr/>
            <p:nvPr/>
          </p:nvSpPr>
          <p:spPr>
            <a:xfrm>
              <a:off x="682328" y="3513646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Diagram Icon 3 Badge"/>
            <p:cNvSpPr/>
            <p:nvPr/>
          </p:nvSpPr>
          <p:spPr>
            <a:xfrm>
              <a:off x="901784" y="3733102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Icon circle-check"/>
            <p:cNvSpPr/>
            <p:nvPr/>
          </p:nvSpPr>
          <p:spPr>
            <a:xfrm>
              <a:off x="1034554" y="386587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randDeck Diagram Text 3"/>
            <p:cNvSpPr txBox="1"/>
            <p:nvPr/>
          </p:nvSpPr>
          <p:spPr>
            <a:xfrm>
              <a:off x="835947" y="4490225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0">
                  <a:solidFill>
                    <a:srgbClr val="10243A"/>
                  </a:solidFill>
                  <a:latin typeface="游ゴシック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7" name="BrandDeck Diagram Card 4"/>
            <p:cNvSpPr/>
            <p:nvPr/>
          </p:nvSpPr>
          <p:spPr>
            <a:xfrm>
              <a:off x="5039729" y="3513646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Diagram Icon 4 Badge"/>
            <p:cNvSpPr/>
            <p:nvPr/>
          </p:nvSpPr>
          <p:spPr>
            <a:xfrm>
              <a:off x="5259185" y="3733102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Icon user"/>
            <p:cNvSpPr/>
            <p:nvPr/>
          </p:nvSpPr>
          <p:spPr>
            <a:xfrm>
              <a:off x="5391956" y="386587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randDeck Diagram Text 4"/>
            <p:cNvSpPr txBox="1"/>
            <p:nvPr/>
          </p:nvSpPr>
          <p:spPr>
            <a:xfrm>
              <a:off x="5193348" y="4490225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0">
                  <a:solidFill>
                    <a:srgbClr val="10243A"/>
                  </a:solidFill>
                  <a:latin typeface="游ゴシック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32"/>
              </a:spcAft>
            </a:pPr>
            <a:r>
              <a:rPr sz="1550"/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226645" y="823139"/>
            <a:ext cx="9452709" cy="5206468"/>
            <a:chOff x="226645" y="823139"/>
            <a:chExt cx="9452709" cy="520646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578871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5399753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578871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5399753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Пилот охватит 150 сотрудников двух подразделений за 6 недель</a:t>
            </a:r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82328" y="987427"/>
            <a:ext cx="8543924" cy="4881560"/>
            <a:chOff x="682328" y="987427"/>
            <a:chExt cx="8543924" cy="4881560"/>
          </a:xfrm>
        </p:grpSpPr>
        <p:sp>
          <p:nvSpPr>
            <p:cNvPr id="5" name="BrandDeck Diagram Card 1"/>
            <p:cNvSpPr/>
            <p:nvPr/>
          </p:nvSpPr>
          <p:spPr>
            <a:xfrm>
              <a:off x="682328" y="987427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Diagram Icon 1 Badge"/>
            <p:cNvSpPr/>
            <p:nvPr/>
          </p:nvSpPr>
          <p:spPr>
            <a:xfrm>
              <a:off x="901784" y="1206883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Icon rocket"/>
            <p:cNvSpPr/>
            <p:nvPr/>
          </p:nvSpPr>
          <p:spPr>
            <a:xfrm>
              <a:off x="1034554" y="133965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BrandDeck Diagram Text 1"/>
            <p:cNvSpPr txBox="1"/>
            <p:nvPr/>
          </p:nvSpPr>
          <p:spPr>
            <a:xfrm>
              <a:off x="835947" y="1964006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0">
                  <a:solidFill>
                    <a:srgbClr val="10243A"/>
                  </a:solidFill>
                  <a:latin typeface="游ゴシック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9" name="BrandDeck Diagram Card 2"/>
            <p:cNvSpPr/>
            <p:nvPr/>
          </p:nvSpPr>
          <p:spPr>
            <a:xfrm>
              <a:off x="5039729" y="987427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Diagram Icon 2 Badge"/>
            <p:cNvSpPr/>
            <p:nvPr/>
          </p:nvSpPr>
          <p:spPr>
            <a:xfrm>
              <a:off x="5259185" y="1206883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Icon hourglass"/>
            <p:cNvSpPr/>
            <p:nvPr/>
          </p:nvSpPr>
          <p:spPr>
            <a:xfrm>
              <a:off x="5391956" y="133965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randDeck Diagram Text 2"/>
            <p:cNvSpPr txBox="1"/>
            <p:nvPr/>
          </p:nvSpPr>
          <p:spPr>
            <a:xfrm>
              <a:off x="5193348" y="1964006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1">
                  <a:solidFill>
                    <a:srgbClr val="10243A"/>
                  </a:solidFill>
                  <a:latin typeface="游ゴシック"/>
                </a:rPr>
                <a:t>Продолжительность пилота —</a:t>
              </a:r>
              <a:r>
                <a:rPr sz="1850" b="0">
                  <a:solidFill>
                    <a:srgbClr val="10243A"/>
                  </a:solidFill>
                  <a:latin typeface="游ゴシック"/>
                </a:rPr>
                <a:t> 6 недель.</a:t>
              </a:r>
            </a:p>
          </p:txBody>
        </p:sp>
        <p:sp>
          <p:nvSpPr>
            <p:cNvPr id="13" name="BrandDeck Diagram Card 3"/>
            <p:cNvSpPr/>
            <p:nvPr/>
          </p:nvSpPr>
          <p:spPr>
            <a:xfrm>
              <a:off x="682328" y="3513646"/>
              <a:ext cx="4186523" cy="2355341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Diagram Icon 3 Badge"/>
            <p:cNvSpPr/>
            <p:nvPr/>
          </p:nvSpPr>
          <p:spPr>
            <a:xfrm>
              <a:off x="901784" y="3733102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Icon user"/>
            <p:cNvSpPr/>
            <p:nvPr/>
          </p:nvSpPr>
          <p:spPr>
            <a:xfrm>
              <a:off x="1034554" y="386587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randDeck Diagram Text 3"/>
            <p:cNvSpPr txBox="1"/>
            <p:nvPr/>
          </p:nvSpPr>
          <p:spPr>
            <a:xfrm>
              <a:off x="835947" y="4490225"/>
              <a:ext cx="3879284" cy="1269034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50" b="0">
                  <a:solidFill>
                    <a:srgbClr val="10243A"/>
                  </a:solidFill>
                  <a:latin typeface="游ゴシック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5"/>
              </a:spcAft>
            </a:pPr>
            <a:r>
              <a:rPr sz="190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682328" y="1106377"/>
            <a:ext cx="8543924" cy="4568533"/>
            <a:chOff x="682328" y="1106377"/>
            <a:chExt cx="8543924" cy="4568533"/>
          </a:xfrm>
        </p:grpSpPr>
        <p:sp>
          <p:nvSpPr>
            <p:cNvPr id="5" name="BrandDeck Diagram Card 1"/>
            <p:cNvSpPr/>
            <p:nvPr/>
          </p:nvSpPr>
          <p:spPr>
            <a:xfrm>
              <a:off x="682328" y="1106377"/>
              <a:ext cx="4186523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Diagram Icon 1 Badge"/>
            <p:cNvSpPr/>
            <p:nvPr/>
          </p:nvSpPr>
          <p:spPr>
            <a:xfrm>
              <a:off x="901784" y="1325833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Icon users"/>
            <p:cNvSpPr/>
            <p:nvPr/>
          </p:nvSpPr>
          <p:spPr>
            <a:xfrm>
              <a:off x="1034554" y="145860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BrandDeck Diagram Text 1"/>
            <p:cNvSpPr txBox="1"/>
            <p:nvPr/>
          </p:nvSpPr>
          <p:spPr>
            <a:xfrm>
              <a:off x="835947" y="2082956"/>
              <a:ext cx="3879284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Команда измеряет время поиска ответа.</a:t>
              </a:r>
            </a:p>
          </p:txBody>
        </p:sp>
        <p:sp>
          <p:nvSpPr>
            <p:cNvPr id="9" name="BrandDeck Diagram Card 2"/>
            <p:cNvSpPr/>
            <p:nvPr/>
          </p:nvSpPr>
          <p:spPr>
            <a:xfrm>
              <a:off x="5039729" y="1106377"/>
              <a:ext cx="4186523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Diagram Icon 2 Badge"/>
            <p:cNvSpPr/>
            <p:nvPr/>
          </p:nvSpPr>
          <p:spPr>
            <a:xfrm>
              <a:off x="5259185" y="1325833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Icon chart-column"/>
            <p:cNvSpPr/>
            <p:nvPr/>
          </p:nvSpPr>
          <p:spPr>
            <a:xfrm>
              <a:off x="5391956" y="145860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randDeck Diagram Text 2"/>
            <p:cNvSpPr txBox="1"/>
            <p:nvPr/>
          </p:nvSpPr>
          <p:spPr>
            <a:xfrm>
              <a:off x="5193348" y="2082956"/>
              <a:ext cx="3879284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3" name="BrandDeck Diagram Card 3"/>
            <p:cNvSpPr/>
            <p:nvPr/>
          </p:nvSpPr>
          <p:spPr>
            <a:xfrm>
              <a:off x="682328" y="3476083"/>
              <a:ext cx="4186523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Diagram Icon 3 Badge"/>
            <p:cNvSpPr/>
            <p:nvPr/>
          </p:nvSpPr>
          <p:spPr>
            <a:xfrm>
              <a:off x="901784" y="3695539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Icon target"/>
            <p:cNvSpPr/>
            <p:nvPr/>
          </p:nvSpPr>
          <p:spPr>
            <a:xfrm>
              <a:off x="1034554" y="3828310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randDeck Diagram Text 3"/>
            <p:cNvSpPr txBox="1"/>
            <p:nvPr/>
          </p:nvSpPr>
          <p:spPr>
            <a:xfrm>
              <a:off x="835947" y="4452662"/>
              <a:ext cx="3879284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Целевые значения согласуются до запуска.</a:t>
              </a:r>
            </a:p>
          </p:txBody>
        </p:sp>
        <p:sp>
          <p:nvSpPr>
            <p:cNvPr id="17" name="BrandDeck Diagram Card 4"/>
            <p:cNvSpPr/>
            <p:nvPr/>
          </p:nvSpPr>
          <p:spPr>
            <a:xfrm>
              <a:off x="5039729" y="3476083"/>
              <a:ext cx="4186523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Diagram Icon 4 Badge"/>
            <p:cNvSpPr/>
            <p:nvPr/>
          </p:nvSpPr>
          <p:spPr>
            <a:xfrm>
              <a:off x="5259185" y="3695539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Icon trophy"/>
            <p:cNvSpPr/>
            <p:nvPr/>
          </p:nvSpPr>
          <p:spPr>
            <a:xfrm>
              <a:off x="5391956" y="3828310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randDeck Diagram Text 4"/>
            <p:cNvSpPr txBox="1"/>
            <p:nvPr/>
          </p:nvSpPr>
          <p:spPr>
            <a:xfrm>
              <a:off x="5193348" y="4452662"/>
              <a:ext cx="3879284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Команда из 3 человек подготовит и проверит пилот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Просим одобрить пилот и выделить команду из 3 человек.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Команда готовит инструкции, проверяет ответы и сопровождает запуск.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Дальнейшее использование решается после измерения результатов и обратной связи.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Спасибо</a:t>
            </a:r>
            <a:endParaRPr kumimoji="1" lang="ja-JP" altLang="en-US"/>
          </a:p>
        </p:txBody>
      </p:sp>
      <p:sp>
        <p:nvSpPr>
          <p:cNvPr id="3" name="BrandDeck Text 3"/>
          <p:cNvSpPr>
            <a:spLocks noGrp="1"/>
          </p:cNvSpPr>
          <p:nvPr>
            <p:ph idx="1"/>
          </p:nvPr>
        </p:nvSpPr>
        <p:spPr>
          <a:xfrm>
            <a:off x="226645" y="780605"/>
            <a:ext cx="9452710" cy="531840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Вопросы?</a:t>
            </a:r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wrap="square" anchor="t">
            <a:normAutofit/>
          </a:bodyPr>
          <a:lstStyle/>
          <a:p>
            <a:pPr/>
            <a:endParaRPr lang="en-US" altLang="ja-JP" dirty="0" smtClean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1069</TotalTime>
  <Words>9</Words>
  <PresentationFormat>A4 210 x 297 mm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2017-04-19T06:15:38Z</cp:lastPrinted>
  <dcterms:created xsi:type="dcterms:W3CDTF">2016-11-11T06:59:08Z</dcterms:created>
  <dcterms:modified xsi:type="dcterms:W3CDTF">2017-06-17T05:09:37Z</dcterms:modified>
  <dc:title>Пилот ИИ-помощника по внутренним регламентам</dc:title>
  <dc:subject>Template-adaptive presentation</dc:subject>
  <cp:keywords>BrandDeck, template-adaptive, presentation</cp:keywords>
  <dc:creator/>
  <cp:lastModifiedBy/>
  <dc:description/>
</cp:coreProperties>
</file>