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906000" cy="6858000" type="A4"/>
  <p:notesSz cx="6805613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3784"/>
    <a:srgbClr val="969696"/>
    <a:srgbClr val="00A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2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4940" y="0"/>
            <a:ext cx="2949099" cy="498693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B3044E05-6662-47F7-8DF1-EB32BAF9BD9E}" type="datetimeFigureOut">
              <a:rPr kumimoji="1" lang="ja-JP" altLang="en-US" smtClean="0"/>
              <a:t>2017/6/17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4940" y="9440647"/>
            <a:ext cx="2949099" cy="498692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2A670ECB-F0D5-469C-8B55-34C7630267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9432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8693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CDFBD6AC-8C1E-43B9-A586-206802F2997A}" type="datetimeFigureOut">
              <a:rPr kumimoji="1" lang="ja-JP" altLang="en-US" smtClean="0"/>
              <a:t>2017/6/17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34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562" y="4783306"/>
            <a:ext cx="5444490" cy="3913615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4940" y="9440647"/>
            <a:ext cx="2949099" cy="498692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8BD44817-DE52-4C4E-9D0B-BFE2722569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03928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645" y="1122363"/>
            <a:ext cx="9452710" cy="2011606"/>
          </a:xfrm>
          <a:noFill/>
        </p:spPr>
        <p:txBody>
          <a:bodyPr anchor="ctr" anchorCtr="0"/>
          <a:lstStyle>
            <a:lvl1pPr algn="ctr">
              <a:defRPr sz="4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645" y="3250345"/>
            <a:ext cx="9452710" cy="469777"/>
          </a:xfrm>
        </p:spPr>
        <p:txBody>
          <a:bodyPr anchor="ctr" anchorCtr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 smtClean="0"/>
              <a:t>マスター サブタイトルの書式設定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0" hasCustomPrompt="1"/>
          </p:nvPr>
        </p:nvSpPr>
        <p:spPr>
          <a:xfrm>
            <a:off x="3312319" y="4947506"/>
            <a:ext cx="3281362" cy="858837"/>
          </a:xfrm>
        </p:spPr>
        <p:txBody>
          <a:bodyPr anchor="ctr"/>
          <a:lstStyle>
            <a:lvl1pPr marL="0" indent="0" algn="ctr">
              <a:buNone/>
              <a:defRPr b="0"/>
            </a:lvl1pPr>
          </a:lstStyle>
          <a:p>
            <a:r>
              <a:rPr kumimoji="1" lang="ja-JP" altLang="en-US" dirty="0" smtClean="0"/>
              <a:t>ここに会社ロゴを設定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0759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0"/>
            </a:lvl1pPr>
            <a:lvl2pPr marL="914400" indent="-457200">
              <a:buFont typeface="+mj-lt"/>
              <a:buAutoNum type="alphaLcPeriod"/>
              <a:defRPr sz="2000"/>
            </a:lvl2pPr>
            <a:lvl3pPr marL="1257300" indent="-342900">
              <a:buFont typeface="+mj-ea"/>
              <a:buAutoNum type="circleNumDbPlain"/>
              <a:defRPr sz="1800"/>
            </a:lvl3pPr>
            <a:lvl4pPr marL="1714500" indent="-342900">
              <a:buFont typeface="+mj-lt"/>
              <a:buAutoNum type="alphaUcParenR"/>
              <a:defRPr sz="1600"/>
            </a:lvl4pPr>
            <a:lvl5pPr marL="2171700" indent="-342900">
              <a:buFont typeface="+mj-lt"/>
              <a:buAutoNum type="romanLcPeriod"/>
              <a:defRPr sz="1600"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en-US" altLang="ja-JP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86912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646" y="1709740"/>
            <a:ext cx="9442392" cy="2852737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646" y="4589465"/>
            <a:ext cx="944239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26645" y="6257431"/>
            <a:ext cx="9452711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8663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645" y="797169"/>
            <a:ext cx="4664443" cy="5251939"/>
          </a:xfrm>
        </p:spPr>
        <p:txBody>
          <a:bodyPr/>
          <a:lstStyle/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797169"/>
            <a:ext cx="4664442" cy="5251939"/>
          </a:xfrm>
        </p:spPr>
        <p:txBody>
          <a:bodyPr/>
          <a:lstStyle/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3873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645" y="778487"/>
            <a:ext cx="4646386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645" y="1769088"/>
            <a:ext cx="4646386" cy="435817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778487"/>
            <a:ext cx="466444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769088"/>
            <a:ext cx="4664442" cy="435817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05857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75143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87427"/>
            <a:ext cx="3194943" cy="488156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63682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dirty="0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87427"/>
            <a:ext cx="3194943" cy="488156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 smtClean="0"/>
              <a:t>マスター テキストの書式設定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en-US" altLang="ja-JP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5072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6804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645" y="780605"/>
            <a:ext cx="9452710" cy="5318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altLang="ja-JP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644" y="6356352"/>
            <a:ext cx="6397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00000"/>
              </a:lnSpc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5137" y="6356352"/>
            <a:ext cx="29542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00000"/>
              </a:lnSpc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8E8EF-2153-40B7-A24C-1481AD951813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226645" y="622180"/>
            <a:ext cx="9452711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 userDrawn="1"/>
        </p:nvCxnSpPr>
        <p:spPr>
          <a:xfrm>
            <a:off x="226645" y="6257431"/>
            <a:ext cx="9452711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76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20000"/>
        </a:lnSpc>
        <a:spcBef>
          <a:spcPts val="1000"/>
        </a:spcBef>
        <a:buFont typeface="+mj-lt"/>
        <a:buAutoNum type="arabicPeriod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120000"/>
        </a:lnSpc>
        <a:spcBef>
          <a:spcPts val="500"/>
        </a:spcBef>
        <a:buFont typeface="+mj-lt"/>
        <a:buAutoNum type="alphaLcPeriod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20000"/>
        </a:lnSpc>
        <a:spcBef>
          <a:spcPts val="500"/>
        </a:spcBef>
        <a:buFont typeface="+mj-ea"/>
        <a:buAutoNum type="circleNumDbPlain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indent="-342900" algn="l" defTabSz="914400" rtl="0" eaLnBrk="1" latinLnBrk="0" hangingPunct="1">
        <a:lnSpc>
          <a:spcPct val="120000"/>
        </a:lnSpc>
        <a:spcBef>
          <a:spcPts val="500"/>
        </a:spcBef>
        <a:buFont typeface="+mj-lt"/>
        <a:buAutoNum type="alphaUcParenR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71700" indent="-342900" algn="l" defTabSz="914400" rtl="0" eaLnBrk="1" latinLnBrk="0" hangingPunct="1">
        <a:lnSpc>
          <a:spcPct val="120000"/>
        </a:lnSpc>
        <a:spcBef>
          <a:spcPts val="500"/>
        </a:spcBef>
        <a:buFont typeface="+mj-lt"/>
        <a:buAutoNum type="romanLcPeriod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ctrTitle"/>
          </p:nvPr>
        </p:nvSpPr>
        <p:spPr>
          <a:xfrm>
            <a:off x="226645" y="1122363"/>
            <a:ext cx="9452710" cy="2011606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0"/>
              <a:t>Пилот ИИ-помощника по внутренним регламентам</a:t>
            </a:r>
            <a:endParaRPr kumimoji="1" lang="ja-JP" altLang="en-US"/>
          </a:p>
        </p:txBody>
      </p:sp>
      <p:sp>
        <p:nvSpPr>
          <p:cNvPr id="3" name="BrandDeck Text 3"/>
          <p:cNvSpPr>
            <a:spLocks noGrp="1"/>
          </p:cNvSpPr>
          <p:nvPr>
            <p:ph type="subTitle" idx="1"/>
          </p:nvPr>
        </p:nvSpPr>
        <p:spPr/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7"/>
              </a:spcAft>
            </a:pPr>
            <a:endParaRPr kumimoji="1" lang="ja-JP" altLang="en-US"/>
          </a:p>
        </p:txBody>
      </p:sp>
      <p:sp>
        <p:nvSpPr>
          <p:cNvPr id="4" name="図プレースホルダー 3"/>
          <p:cNvSpPr>
            <a:spLocks noGrp="1"/>
          </p:cNvSpPr>
          <p:nvPr>
            <p:ph type="pic" sz="quarter" idx="10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Поиск инструкции занимает до 30 минут, треть обращений повторяется</a:t>
            </a:r>
          </a:p>
        </p:txBody>
      </p:sp>
      <p:grpSp>
        <p:nvGrpSpPr>
          <p:cNvPr id="3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226645" y="823139"/>
            <a:ext cx="9452709" cy="5206468"/>
            <a:chOff x="226645" y="823139"/>
            <a:chExt cx="9452709" cy="5206468"/>
          </a:xfrm>
        </p:grpSpPr>
        <p:sp>
          <p:nvSpPr>
            <p:cNvPr id="4" name="BrandDeck Diagram Card 1"/>
            <p:cNvSpPr/>
            <p:nvPr/>
          </p:nvSpPr>
          <p:spPr>
            <a:xfrm>
              <a:off x="226645" y="823139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46100" y="104259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578871" y="117536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380264" y="1799718"/>
              <a:ext cx="4324589" cy="142240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5047527" y="823139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5266983" y="104259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5399753" y="117536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201146" y="1799718"/>
              <a:ext cx="4324589" cy="142240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226645" y="3520900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46100" y="3740356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headset"/>
            <p:cNvSpPr/>
            <p:nvPr/>
          </p:nvSpPr>
          <p:spPr>
            <a:xfrm>
              <a:off x="578871" y="387312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380264" y="4497479"/>
              <a:ext cx="4324589" cy="14223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1">
                  <a:solidFill>
                    <a:srgbClr val="10243A"/>
                  </a:solidFill>
                  <a:latin typeface="游ゴシック"/>
                </a:rPr>
                <a:t>Треть обращений в поддержку —</a:t>
              </a:r>
              <a:r>
                <a:rPr sz="2000" b="0">
                  <a:solidFill>
                    <a:srgbClr val="10243A"/>
                  </a:solidFill>
                  <a:latin typeface="游ゴシック"/>
                </a:rPr>
                <a:t> повторяющиеся вопросы.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5047527" y="3520900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5266983" y="3740356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5399753" y="387312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5201146" y="4497479"/>
              <a:ext cx="4324589" cy="14223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randDeck Image" descr="02 сотрудник специалист поддержки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1044" r="21044"/>
          <a:stretch>
            <a:fillRect/>
          </a:stretch>
        </p:blipFill>
        <p:spPr/>
      </p:pic>
      <p:sp>
        <p:nvSpPr>
          <p:cNvPr id="3" name="BrandDeck Text 3"/>
          <p:cNvSpPr>
            <a:spLocks noGrp="1"/>
          </p:cNvSpPr>
          <p:nvPr>
            <p:ph type="body" idx="2" sz="half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Сотруднику нужен понятный ответ со ссылкой на документ-источник.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Специалисту нужен контекст вопроса, если автоматического ответа недостаточно.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Передача вопроса вместе с контекстом избавляет сотрудника от повторного объяснения.</a:t>
            </a:r>
          </a:p>
        </p:txBody>
      </p:sp>
      <p:sp>
        <p:nvSpPr>
          <p:cNvPr id="4" name="BrandDeck Text 4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5"/>
              </a:spcAft>
            </a:pPr>
            <a:r>
              <a:rPr sz="1900"/>
              <a:t>Сотруднику нужен источник ответа, специалисту — контекст вопроса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ИИ-помощник отвечает по регламентам и передаёт сложные вопросы специалисту</a:t>
            </a:r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226645" y="1058648"/>
            <a:ext cx="9452709" cy="4586708"/>
            <a:chOff x="226645" y="1058648"/>
            <a:chExt cx="9452709" cy="4586708"/>
          </a:xfrm>
        </p:grpSpPr>
        <p:sp>
          <p:nvSpPr>
            <p:cNvPr id="4" name="BrandDeck Diagram Card 1"/>
            <p:cNvSpPr/>
            <p:nvPr/>
          </p:nvSpPr>
          <p:spPr>
            <a:xfrm>
              <a:off x="226645" y="1058648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46100" y="1278104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building"/>
            <p:cNvSpPr/>
            <p:nvPr/>
          </p:nvSpPr>
          <p:spPr>
            <a:xfrm>
              <a:off x="578871" y="1410874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380264" y="2035227"/>
              <a:ext cx="4324589" cy="111252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5047527" y="1058648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5266983" y="1278104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ircle-help"/>
            <p:cNvSpPr/>
            <p:nvPr/>
          </p:nvSpPr>
          <p:spPr>
            <a:xfrm>
              <a:off x="5399753" y="1410874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201146" y="2035227"/>
              <a:ext cx="4324589" cy="111252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226645" y="3446529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46100" y="366598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file-text"/>
            <p:cNvSpPr/>
            <p:nvPr/>
          </p:nvSpPr>
          <p:spPr>
            <a:xfrm>
              <a:off x="578871" y="379875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380264" y="4423108"/>
              <a:ext cx="4324589" cy="111251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5047527" y="3446529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5266983" y="366598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circle-check"/>
            <p:cNvSpPr/>
            <p:nvPr/>
          </p:nvSpPr>
          <p:spPr>
            <a:xfrm>
              <a:off x="5399753" y="379875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5201146" y="4423108"/>
              <a:ext cx="4324589" cy="111251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Вопрос проходит путь от портала до ответа со ссылкой или эскалации</a:t>
            </a:r>
          </a:p>
        </p:txBody>
      </p:sp>
      <p:sp>
        <p:nvSpPr>
          <p:cNvPr id="3" name="BrandDeck Text 3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Сотрудник задаёт вопрос во внутреннем портале.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Помощник ищет ответ в регламентах и показывает источник.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При отсутствии подтверждённого ответа вопрос передаётся специалисту.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Специалист получает контекст исходного обращения.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32"/>
              </a:spcAft>
            </a:pPr>
            <a:r>
              <a:rPr sz="1550"/>
              <a:t>Документы остаются внутри контура, неподтверждённый ответ проверяет специалист</a:t>
            </a:r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226645" y="823139"/>
            <a:ext cx="9452709" cy="5206468"/>
            <a:chOff x="226645" y="823139"/>
            <a:chExt cx="9452709" cy="5206468"/>
          </a:xfrm>
        </p:grpSpPr>
        <p:sp>
          <p:nvSpPr>
            <p:cNvPr id="4" name="BrandDeck Diagram Card 1"/>
            <p:cNvSpPr/>
            <p:nvPr/>
          </p:nvSpPr>
          <p:spPr>
            <a:xfrm>
              <a:off x="226645" y="823139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46100" y="104259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brain"/>
            <p:cNvSpPr/>
            <p:nvPr/>
          </p:nvSpPr>
          <p:spPr>
            <a:xfrm>
              <a:off x="578871" y="117536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380264" y="1799718"/>
              <a:ext cx="4324589" cy="142240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5047527" y="823139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5266983" y="104259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5399753" y="117536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201146" y="1799718"/>
              <a:ext cx="4324589" cy="142240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226645" y="3520900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46100" y="3740356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ircle-check"/>
            <p:cNvSpPr/>
            <p:nvPr/>
          </p:nvSpPr>
          <p:spPr>
            <a:xfrm>
              <a:off x="578871" y="387312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380264" y="4497479"/>
              <a:ext cx="4324589" cy="14223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5047527" y="3520900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5266983" y="3740356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5399753" y="387312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5201146" y="4497479"/>
              <a:ext cx="4324589" cy="14223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/>
              <a:t>Пилот охватит 150 сотрудников двух подразделений за 6 недель</a:t>
            </a:r>
          </a:p>
        </p:txBody>
      </p:sp>
      <p:grpSp>
        <p:nvGrpSpPr>
          <p:cNvPr id="3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226645" y="1058648"/>
            <a:ext cx="9452709" cy="4586708"/>
            <a:chOff x="226645" y="1058648"/>
            <a:chExt cx="9452709" cy="4586708"/>
          </a:xfrm>
        </p:grpSpPr>
        <p:sp>
          <p:nvSpPr>
            <p:cNvPr id="4" name="BrandDeck Diagram Card 1"/>
            <p:cNvSpPr/>
            <p:nvPr/>
          </p:nvSpPr>
          <p:spPr>
            <a:xfrm>
              <a:off x="226645" y="1058648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46100" y="1278104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578871" y="1410874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380264" y="2035227"/>
              <a:ext cx="4324589" cy="111252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5047527" y="1058648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5266983" y="1278104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hourglass"/>
            <p:cNvSpPr/>
            <p:nvPr/>
          </p:nvSpPr>
          <p:spPr>
            <a:xfrm>
              <a:off x="5399753" y="1410874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201146" y="2035227"/>
              <a:ext cx="4324589" cy="111252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1">
                  <a:solidFill>
                    <a:srgbClr val="10243A"/>
                  </a:solidFill>
                  <a:latin typeface="游ゴシック"/>
                </a:rPr>
                <a:t>Продолжительность пилота —</a:t>
              </a:r>
              <a:r>
                <a:rPr sz="2000" b="0">
                  <a:solidFill>
                    <a:srgbClr val="10243A"/>
                  </a:solidFill>
                  <a:latin typeface="游ゴシック"/>
                </a:rPr>
                <a:t> 6 недель.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226645" y="3446529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46100" y="366598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user"/>
            <p:cNvSpPr/>
            <p:nvPr/>
          </p:nvSpPr>
          <p:spPr>
            <a:xfrm>
              <a:off x="578871" y="379875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380264" y="4423108"/>
              <a:ext cx="4324589" cy="111251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226646" y="1709740"/>
            <a:ext cx="9442392" cy="285273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0"/>
              <a:t>Успех измерят временем поиска и долей обращений без специалиста</a:t>
            </a:r>
          </a:p>
        </p:txBody>
      </p:sp>
      <p:sp>
        <p:nvSpPr>
          <p:cNvPr id="3" name="BrandDeck Text 3"/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/>
              <a:t>Команда измеряет время поиска ответа.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/>
              <a:t>Также измеряется доля обращений, закрытых без специалиста.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/>
              <a:t>Целевые значения согласуются до запуска.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/>
              <a:t>Фактических результатов пилота пока нет.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body" idx="1" orient="vert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Просим одобрить пилот и выделить команду из 3 человек.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Команда готовит инструкции, проверяет ответы и сопровождает запуск.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Дальнейшее использование решается после измерения результатов и обратной связи.</a:t>
            </a:r>
          </a:p>
        </p:txBody>
      </p:sp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Команда из 3 человек подготовит и проверит пилот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Спасибо</a:t>
            </a:r>
            <a:endParaRPr kumimoji="1" lang="ja-JP" altLang="en-US"/>
          </a:p>
        </p:txBody>
      </p:sp>
      <p:sp>
        <p:nvSpPr>
          <p:cNvPr id="3" name="BrandDeck Text 3"/>
          <p:cNvSpPr>
            <a:spLocks noGrp="1"/>
          </p:cNvSpPr>
          <p:nvPr>
            <p:ph idx="1"/>
          </p:nvPr>
        </p:nvSpPr>
        <p:spPr>
          <a:xfrm>
            <a:off x="226645" y="780605"/>
            <a:ext cx="9452710" cy="531840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Вопросы?</a:t>
            </a:r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wrap="square" anchor="t">
            <a:normAutofit/>
          </a:bodyPr>
          <a:lstStyle/>
          <a:p>
            <a:pPr/>
            <a:endParaRPr lang="en-US" altLang="ja-JP" dirty="0" smtClean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>
            <a:normAutofit/>
          </a:bodyPr>
          <a:lstStyle/>
          <a:p>
            <a:pPr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游ゴシック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1069</TotalTime>
  <Words>9</Words>
  <PresentationFormat>A4 210 x 297 mm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ＭＳ Ｐゴシック</vt:lpstr>
      <vt:lpstr>游ゴシック</vt:lpstr>
      <vt:lpstr>Arial</vt:lpstr>
      <vt:lpstr>Calibri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Printed>2017-04-19T06:15:38Z</cp:lastPrinted>
  <dcterms:created xsi:type="dcterms:W3CDTF">2016-11-11T06:59:08Z</dcterms:created>
  <dcterms:modified xsi:type="dcterms:W3CDTF">2017-06-17T05:09:37Z</dcterms:modified>
  <dc:title>Пилот ИИ-помощника по внутренним регламентам</dc:title>
  <dc:subject>Template-adaptive presentation</dc:subject>
  <cp:keywords>BrandDeck, template-adaptive, presentation</cp:keywords>
  <dc:creator/>
  <cp:lastModifiedBy/>
  <dc:description/>
</cp:coreProperties>
</file>