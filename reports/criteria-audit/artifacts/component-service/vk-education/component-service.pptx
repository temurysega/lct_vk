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1.xml"/><Relationship Id="rId65" Type="http://schemas.openxmlformats.org/officeDocument/2006/relationships/slide" Target="slides/slide2.xml"/><Relationship Id="rId66" Type="http://schemas.openxmlformats.org/officeDocument/2006/relationships/slide" Target="slides/slide3.xml"/><Relationship Id="rId67" Type="http://schemas.openxmlformats.org/officeDocument/2006/relationships/slide" Target="slides/slide4.xml"/><Relationship Id="rId68" Type="http://schemas.openxmlformats.org/officeDocument/2006/relationships/slide" Target="slides/slide5.xml"/><Relationship Id="rId69" Type="http://schemas.openxmlformats.org/officeDocument/2006/relationships/slide" Target="slides/slide6.xml"/><Relationship Id="rId70" Type="http://schemas.openxmlformats.org/officeDocument/2006/relationships/slide" Target="slides/slide7.xml"/><Relationship Id="rId71" Type="http://schemas.openxmlformats.org/officeDocument/2006/relationships/slide" Target="slides/slide8.xml"/><Relationship Id="rId72" Type="http://schemas.openxmlformats.org/officeDocument/2006/relationships/slide" Target="slides/slide9.xml"/><Relationship Id="rId73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Сотрудники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Продажи</c:v>
                </c:pt>
                <c:pt idx="1">
                  <c:v>Поддержка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60.0</c:v>
                </c:pt>
                <c:pt idx="1">
                  <c:v>90.0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человек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Продажи</c:v>
                </c:pt>
                <c:pt idx="1">
                  <c:v>Поддержка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60.0</c:v>
                </c:pt>
                <c:pt idx="1">
                  <c:v>90.0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Relationship Id="rId3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237" name="BrandDeck Text 237"/>
          <p:cNvSpPr txBox="1"/>
          <p:nvPr>
            <p:ph type="title"/>
          </p:nvPr>
        </p:nvSpPr>
        <p:spPr>
          <a:xfrm>
            <a:off x="622261" y="2921912"/>
            <a:ext cx="527373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3600">
                <a:solidFill>
                  <a:srgbClr val="000000"/>
                </a:solidFill>
              </a:rPr>
              <a:t>Проверка нативных объектов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490" name="BrandDeck Text 490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>
                <a:solidFill>
                  <a:srgbClr val="000000"/>
                </a:solidFill>
              </a:rPr>
              <a:t>Два подразделения: 60 и 90 участников</a:t>
            </a:r>
            <a:endParaRPr/>
          </a:p>
        </p:txBody>
      </p:sp>
      <p:graphicFrame>
        <p:nvGraphicFramePr>
          <p:cNvPr id="500" name="Chart 499"/>
          <p:cNvGraphicFramePr>
            <a:graphicFrameLocks noGrp="1"/>
          </p:cNvGraphicFramePr>
          <p:nvPr/>
        </p:nvGraphicFramePr>
        <p:xfrm>
          <a:off x="3185403" y="1910398"/>
          <a:ext cx="2913644" cy="453612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04" name="BrandDeck Text 504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>
                <a:solidFill>
                  <a:srgbClr val="000000"/>
                </a:solidFill>
              </a:rPr>
              <a:t>Доля участников по подразделениям</a:t>
            </a:r>
            <a:endParaRPr/>
          </a:p>
        </p:txBody>
      </p:sp>
      <p:graphicFrame>
        <p:nvGraphicFramePr>
          <p:cNvPr id="516" name="Chart 515"/>
          <p:cNvGraphicFramePr>
            <a:graphicFrameLocks noGrp="1"/>
          </p:cNvGraphicFramePr>
          <p:nvPr/>
        </p:nvGraphicFramePr>
        <p:xfrm>
          <a:off x="3185403" y="1910398"/>
          <a:ext cx="2913644" cy="453612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BrandDeck Text 88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>
                <a:solidFill>
                  <a:srgbClr val="000000"/>
                </a:solidFill>
              </a:rPr>
              <a:t>Пилот рассчитан на шесть недель</a:t>
            </a:r>
            <a:endParaRPr/>
          </a:p>
        </p:txBody>
      </p:sp>
      <p:graphicFrame>
        <p:nvGraphicFramePr>
          <p:cNvPr id="888" name="BrandDeck Table"/>
          <p:cNvGraphicFramePr>
            <a:graphicFrameLocks noGrp="1"/>
          </p:cNvGraphicFramePr>
          <p:nvPr/>
        </p:nvGraphicFramePr>
        <p:xfrm>
          <a:off x="677863" y="1773238"/>
          <a:ext cx="4454525" cy="4427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841"/>
                <a:gridCol w="1484841"/>
                <a:gridCol w="1484843"/>
              </a:tblGrid>
              <a:tr h="11068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Этап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Недели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Ответственный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</a:tr>
              <a:tr h="11068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Подготовка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1–2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Аналитик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11068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Запуск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3–4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Инженер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11068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Оценка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5–6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Менеджер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490" name="BrandDeck Text 490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>
                <a:solidFill>
                  <a:srgbClr val="000000"/>
                </a:solidFill>
              </a:rPr>
              <a:t>Проверяем путь обращения</a:t>
            </a:r>
            <a:endParaRPr/>
          </a:p>
        </p:txBody>
      </p:sp>
      <p:grpSp>
        <p:nvGrpSpPr>
          <p:cNvPr id="2" name="BrandDeck Diagram process" descr="process: Задать вопрос; Найти регламент; Показать источник; Передать специалисту"/>
          <p:cNvGrpSpPr/>
          <p:nvPr/>
        </p:nvGrpSpPr>
        <p:grpSpPr>
          <a:xfrm>
            <a:off x="667512" y="1937830"/>
            <a:ext cx="5431535" cy="4481257"/>
            <a:chOff x="667512" y="1937830"/>
            <a:chExt cx="5431535" cy="4481257"/>
          </a:xfrm>
        </p:grpSpPr>
        <p:sp>
          <p:nvSpPr>
            <p:cNvPr id="500" name="BrandDeck Diagram Connector"/>
            <p:cNvSpPr/>
            <p:nvPr/>
          </p:nvSpPr>
          <p:spPr>
            <a:xfrm>
              <a:off x="907084" y="2477413"/>
              <a:ext cx="32918" cy="3402091"/>
            </a:xfrm>
            <a:prstGeom prst="rect">
              <a:avLst/>
            </a:prstGeom>
            <a:solidFill>
              <a:srgbClr val="59A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1" name="BrandDeck Diagram Step 1 Badge"/>
            <p:cNvSpPr/>
            <p:nvPr/>
          </p:nvSpPr>
          <p:spPr>
            <a:xfrm>
              <a:off x="667512" y="2221381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502" name="BrandDeck Diagram Detail Card 1"/>
            <p:cNvSpPr/>
            <p:nvPr/>
          </p:nvSpPr>
          <p:spPr>
            <a:xfrm>
              <a:off x="1289304" y="1937830"/>
              <a:ext cx="4809743" cy="1079166"/>
            </a:xfrm>
            <a:prstGeom prst="roundRect">
              <a:avLst>
                <a:gd name="adj" fmla="val 12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3" name="BrandDeck Diagram Text 1"/>
            <p:cNvSpPr txBox="1"/>
            <p:nvPr/>
          </p:nvSpPr>
          <p:spPr>
            <a:xfrm>
              <a:off x="1380744" y="1937830"/>
              <a:ext cx="4718303" cy="107916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Задать вопрос</a:t>
              </a:r>
            </a:p>
          </p:txBody>
        </p:sp>
        <p:sp>
          <p:nvSpPr>
            <p:cNvPr id="504" name="BrandDeck Diagram Step 2 Badge"/>
            <p:cNvSpPr/>
            <p:nvPr/>
          </p:nvSpPr>
          <p:spPr>
            <a:xfrm>
              <a:off x="667512" y="3355411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505" name="BrandDeck Diagram Detail Card 2"/>
            <p:cNvSpPr/>
            <p:nvPr/>
          </p:nvSpPr>
          <p:spPr>
            <a:xfrm>
              <a:off x="1289304" y="3071860"/>
              <a:ext cx="4809743" cy="1079166"/>
            </a:xfrm>
            <a:prstGeom prst="roundRect">
              <a:avLst>
                <a:gd name="adj" fmla="val 12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6" name="BrandDeck Diagram Text 2"/>
            <p:cNvSpPr txBox="1"/>
            <p:nvPr/>
          </p:nvSpPr>
          <p:spPr>
            <a:xfrm>
              <a:off x="1380744" y="3071860"/>
              <a:ext cx="4718303" cy="107916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Найти регламент</a:t>
              </a:r>
            </a:p>
          </p:txBody>
        </p:sp>
        <p:sp>
          <p:nvSpPr>
            <p:cNvPr id="507" name="BrandDeck Diagram Step 3 Badge"/>
            <p:cNvSpPr/>
            <p:nvPr/>
          </p:nvSpPr>
          <p:spPr>
            <a:xfrm>
              <a:off x="667512" y="4489442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508" name="BrandDeck Diagram Detail Card 3"/>
            <p:cNvSpPr/>
            <p:nvPr/>
          </p:nvSpPr>
          <p:spPr>
            <a:xfrm>
              <a:off x="1289304" y="4205891"/>
              <a:ext cx="4809743" cy="1079166"/>
            </a:xfrm>
            <a:prstGeom prst="roundRect">
              <a:avLst>
                <a:gd name="adj" fmla="val 12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BrandDeck Diagram Text 3"/>
            <p:cNvSpPr txBox="1"/>
            <p:nvPr/>
          </p:nvSpPr>
          <p:spPr>
            <a:xfrm>
              <a:off x="1380744" y="4205891"/>
              <a:ext cx="4718303" cy="107916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Показать источник</a:t>
              </a:r>
            </a:p>
          </p:txBody>
        </p:sp>
        <p:sp>
          <p:nvSpPr>
            <p:cNvPr id="510" name="BrandDeck Diagram Step 4 Badge"/>
            <p:cNvSpPr/>
            <p:nvPr/>
          </p:nvSpPr>
          <p:spPr>
            <a:xfrm>
              <a:off x="667512" y="5623472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04</a:t>
              </a:r>
            </a:p>
          </p:txBody>
        </p:sp>
        <p:sp>
          <p:nvSpPr>
            <p:cNvPr id="511" name="BrandDeck Diagram Detail Card 4"/>
            <p:cNvSpPr/>
            <p:nvPr/>
          </p:nvSpPr>
          <p:spPr>
            <a:xfrm>
              <a:off x="1289304" y="5339921"/>
              <a:ext cx="4809743" cy="1079166"/>
            </a:xfrm>
            <a:prstGeom prst="roundRect">
              <a:avLst>
                <a:gd name="adj" fmla="val 12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2" name="BrandDeck Diagram Text 4"/>
            <p:cNvSpPr txBox="1"/>
            <p:nvPr/>
          </p:nvSpPr>
          <p:spPr>
            <a:xfrm>
              <a:off x="1380744" y="5339921"/>
              <a:ext cx="4718303" cy="107916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Передать специалисту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490" name="BrandDeck Text 490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>
                <a:solidFill>
                  <a:srgbClr val="000000"/>
                </a:solidFill>
              </a:rPr>
              <a:t>Качество улучшаем после проверки</a:t>
            </a:r>
            <a:endParaRPr/>
          </a:p>
        </p:txBody>
      </p:sp>
      <p:grpSp>
        <p:nvGrpSpPr>
          <p:cNvPr id="2" name="BrandDeck Diagram cycle" descr="cycle: Собрать; Проверить; Запустить; Измерить"/>
          <p:cNvGrpSpPr/>
          <p:nvPr/>
        </p:nvGrpSpPr>
        <p:grpSpPr>
          <a:xfrm>
            <a:off x="667511" y="1928686"/>
            <a:ext cx="5431536" cy="4499545"/>
            <a:chOff x="667511" y="1928686"/>
            <a:chExt cx="5431536" cy="4499545"/>
          </a:xfrm>
        </p:grpSpPr>
        <p:sp>
          <p:nvSpPr>
            <p:cNvPr id="500" name="BrandDeck Diagram Ring"/>
            <p:cNvSpPr/>
            <p:nvPr/>
          </p:nvSpPr>
          <p:spPr>
            <a:xfrm>
              <a:off x="904870" y="3166563"/>
              <a:ext cx="2023790" cy="2023790"/>
            </a:xfrm>
            <a:prstGeom prst="ellipse">
              <a:avLst/>
            </a:prstGeom>
            <a:noFill/>
            <a:ln w="28575">
              <a:solidFill>
                <a:srgbClr val="59A7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1" name="BrandDeck Diagram Arrow 1"/>
            <p:cNvSpPr/>
            <p:nvPr/>
          </p:nvSpPr>
          <p:spPr>
            <a:xfrm rot="8100000">
              <a:off x="2546834" y="3377492"/>
              <a:ext cx="170897" cy="170897"/>
            </a:xfrm>
            <a:prstGeom prst="triangle">
              <a:avLst/>
            </a:prstGeom>
            <a:solidFill>
              <a:srgbClr val="59A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2" name="BrandDeck Diagram Arrow 2"/>
            <p:cNvSpPr/>
            <p:nvPr/>
          </p:nvSpPr>
          <p:spPr>
            <a:xfrm rot="13500000">
              <a:off x="2546834" y="4808528"/>
              <a:ext cx="170897" cy="170897"/>
            </a:xfrm>
            <a:prstGeom prst="triangle">
              <a:avLst/>
            </a:prstGeom>
            <a:solidFill>
              <a:srgbClr val="59A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3" name="BrandDeck Diagram Arrow 3"/>
            <p:cNvSpPr/>
            <p:nvPr/>
          </p:nvSpPr>
          <p:spPr>
            <a:xfrm rot="18900000">
              <a:off x="1115798" y="4808528"/>
              <a:ext cx="170897" cy="170897"/>
            </a:xfrm>
            <a:prstGeom prst="triangle">
              <a:avLst/>
            </a:prstGeom>
            <a:solidFill>
              <a:srgbClr val="59A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4" name="BrandDeck Diagram Arrow 4"/>
            <p:cNvSpPr/>
            <p:nvPr/>
          </p:nvSpPr>
          <p:spPr>
            <a:xfrm rot="2700000">
              <a:off x="1115798" y="3377492"/>
              <a:ext cx="170897" cy="170897"/>
            </a:xfrm>
            <a:prstGeom prst="triangle">
              <a:avLst/>
            </a:prstGeom>
            <a:solidFill>
              <a:srgbClr val="59A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5" name="BrandDeck Diagram Node 1 Badge"/>
            <p:cNvSpPr/>
            <p:nvPr/>
          </p:nvSpPr>
          <p:spPr>
            <a:xfrm>
              <a:off x="1679407" y="2929205"/>
              <a:ext cx="474716" cy="47471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506" name="BrandDeck Diagram Node 2 Badge"/>
            <p:cNvSpPr/>
            <p:nvPr/>
          </p:nvSpPr>
          <p:spPr>
            <a:xfrm>
              <a:off x="2691302" y="3941100"/>
              <a:ext cx="474716" cy="47471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507" name="BrandDeck Diagram Node 3 Badge"/>
            <p:cNvSpPr/>
            <p:nvPr/>
          </p:nvSpPr>
          <p:spPr>
            <a:xfrm>
              <a:off x="1679407" y="4952996"/>
              <a:ext cx="474716" cy="47471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508" name="BrandDeck Diagram Node 4 Badge"/>
            <p:cNvSpPr/>
            <p:nvPr/>
          </p:nvSpPr>
          <p:spPr>
            <a:xfrm>
              <a:off x="667511" y="3941100"/>
              <a:ext cx="474716" cy="47471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04</a:t>
              </a:r>
            </a:p>
          </p:txBody>
        </p:sp>
        <p:sp>
          <p:nvSpPr>
            <p:cNvPr id="509" name="BrandDeck Diagram Legend 1 Badge"/>
            <p:cNvSpPr/>
            <p:nvPr/>
          </p:nvSpPr>
          <p:spPr>
            <a:xfrm>
              <a:off x="3486058" y="2321965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510" name="BrandDeck Diagram Text 1"/>
            <p:cNvSpPr txBox="1"/>
            <p:nvPr/>
          </p:nvSpPr>
          <p:spPr>
            <a:xfrm>
              <a:off x="3943258" y="1928686"/>
              <a:ext cx="2155789" cy="1097454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0">
                  <a:solidFill>
                    <a:srgbClr val="000000"/>
                  </a:solidFill>
                  <a:latin typeface="Play"/>
                </a:rPr>
                <a:t>Собрать</a:t>
              </a:r>
            </a:p>
          </p:txBody>
        </p:sp>
        <p:sp>
          <p:nvSpPr>
            <p:cNvPr id="511" name="BrandDeck Diagram Legend 2 Badge"/>
            <p:cNvSpPr/>
            <p:nvPr/>
          </p:nvSpPr>
          <p:spPr>
            <a:xfrm>
              <a:off x="3486058" y="3455995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512" name="BrandDeck Diagram Text 2"/>
            <p:cNvSpPr txBox="1"/>
            <p:nvPr/>
          </p:nvSpPr>
          <p:spPr>
            <a:xfrm>
              <a:off x="3943258" y="3062716"/>
              <a:ext cx="2155789" cy="1097454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0">
                  <a:solidFill>
                    <a:srgbClr val="000000"/>
                  </a:solidFill>
                  <a:latin typeface="Play"/>
                </a:rPr>
                <a:t>Проверить</a:t>
              </a:r>
            </a:p>
          </p:txBody>
        </p:sp>
        <p:sp>
          <p:nvSpPr>
            <p:cNvPr id="513" name="BrandDeck Diagram Legend 3 Badge"/>
            <p:cNvSpPr/>
            <p:nvPr/>
          </p:nvSpPr>
          <p:spPr>
            <a:xfrm>
              <a:off x="3486058" y="4590026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514" name="BrandDeck Diagram Text 3"/>
            <p:cNvSpPr txBox="1"/>
            <p:nvPr/>
          </p:nvSpPr>
          <p:spPr>
            <a:xfrm>
              <a:off x="3943258" y="4196746"/>
              <a:ext cx="2155789" cy="1097454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0">
                  <a:solidFill>
                    <a:srgbClr val="000000"/>
                  </a:solidFill>
                  <a:latin typeface="Play"/>
                </a:rPr>
                <a:t>Запустить</a:t>
              </a:r>
            </a:p>
          </p:txBody>
        </p:sp>
        <p:sp>
          <p:nvSpPr>
            <p:cNvPr id="515" name="BrandDeck Diagram Legend 4 Badge"/>
            <p:cNvSpPr/>
            <p:nvPr/>
          </p:nvSpPr>
          <p:spPr>
            <a:xfrm>
              <a:off x="3486058" y="5724056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04</a:t>
              </a:r>
            </a:p>
          </p:txBody>
        </p:sp>
        <p:sp>
          <p:nvSpPr>
            <p:cNvPr id="516" name="BrandDeck Diagram Text 4"/>
            <p:cNvSpPr txBox="1"/>
            <p:nvPr/>
          </p:nvSpPr>
          <p:spPr>
            <a:xfrm>
              <a:off x="3943258" y="5330777"/>
              <a:ext cx="2155789" cy="1097454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0">
                  <a:solidFill>
                    <a:srgbClr val="000000"/>
                  </a:solidFill>
                  <a:latin typeface="Play"/>
                </a:rPr>
                <a:t>Измерить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490" name="BrandDeck Text 490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>
                <a:solidFill>
                  <a:srgbClr val="000000"/>
                </a:solidFill>
              </a:rPr>
              <a:t>У каждого участника есть роль</a:t>
            </a:r>
            <a:endParaRPr/>
          </a:p>
        </p:txBody>
      </p:sp>
      <p:grpSp>
        <p:nvGrpSpPr>
          <p:cNvPr id="2" name="BrandDeck Diagram hierarchy" descr="hierarchy: Аналитик Готовит материалы; Инженер Настраивает сервис; Менеджер Измеряет результаты"/>
          <p:cNvGrpSpPr/>
          <p:nvPr/>
        </p:nvGrpSpPr>
        <p:grpSpPr>
          <a:xfrm>
            <a:off x="667512" y="2672012"/>
            <a:ext cx="5431535" cy="2531872"/>
            <a:chOff x="667512" y="2672012"/>
            <a:chExt cx="5431535" cy="2531872"/>
          </a:xfrm>
        </p:grpSpPr>
        <p:sp>
          <p:nvSpPr>
            <p:cNvPr id="500" name="BrandDeck Diagram Root"/>
            <p:cNvSpPr/>
            <p:nvPr/>
          </p:nvSpPr>
          <p:spPr>
            <a:xfrm>
              <a:off x="2242657" y="2672012"/>
              <a:ext cx="2281245" cy="731520"/>
            </a:xfrm>
            <a:prstGeom prst="roundRect">
              <a:avLst>
                <a:gd name="adj" fmla="val 18000"/>
              </a:avLst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109728" tIns="36576" rIns="109728" bIns="36576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Команда пилота</a:t>
              </a:r>
            </a:p>
          </p:txBody>
        </p:sp>
        <p:cxnSp>
          <p:nvCxnSpPr>
            <p:cNvPr id="501" name="BrandDeck Diagram Link Root"/>
            <p:cNvCxnSpPr/>
            <p:nvPr/>
          </p:nvCxnSpPr>
          <p:spPr>
            <a:xfrm>
              <a:off x="3383279" y="3403532"/>
              <a:ext cx="0" cy="274320"/>
            </a:xfrm>
            <a:prstGeom prst="line">
              <a:avLst/>
            </a:prstGeom>
            <a:ln w="19050">
              <a:solidFill>
                <a:srgbClr val="59A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BrandDeck Diagram Link Bus"/>
            <p:cNvCxnSpPr/>
            <p:nvPr/>
          </p:nvCxnSpPr>
          <p:spPr>
            <a:xfrm>
              <a:off x="1536191" y="3677852"/>
              <a:ext cx="3694177" cy="0"/>
            </a:xfrm>
            <a:prstGeom prst="line">
              <a:avLst/>
            </a:prstGeom>
            <a:ln w="19050">
              <a:solidFill>
                <a:srgbClr val="59A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BrandDeck Diagram Link 1"/>
            <p:cNvCxnSpPr/>
            <p:nvPr/>
          </p:nvCxnSpPr>
          <p:spPr>
            <a:xfrm>
              <a:off x="1536191" y="3677852"/>
              <a:ext cx="0" cy="274320"/>
            </a:xfrm>
            <a:prstGeom prst="line">
              <a:avLst/>
            </a:prstGeom>
            <a:ln w="19050">
              <a:solidFill>
                <a:srgbClr val="59A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4" name="BrandDeck Diagram Card 1"/>
            <p:cNvSpPr/>
            <p:nvPr/>
          </p:nvSpPr>
          <p:spPr>
            <a:xfrm>
              <a:off x="667512" y="3952172"/>
              <a:ext cx="1737359" cy="1251712"/>
            </a:xfrm>
            <a:prstGeom prst="roundRect">
              <a:avLst>
                <a:gd name="adj" fmla="val 6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5" name="BrandDeck Diagram Marker 1"/>
            <p:cNvSpPr/>
            <p:nvPr/>
          </p:nvSpPr>
          <p:spPr>
            <a:xfrm>
              <a:off x="795528" y="4061900"/>
              <a:ext cx="521207" cy="45720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6" name="BrandDeck Diagram Text 1"/>
            <p:cNvSpPr txBox="1"/>
            <p:nvPr/>
          </p:nvSpPr>
          <p:spPr>
            <a:xfrm>
              <a:off x="758952" y="4189916"/>
              <a:ext cx="1554479" cy="922528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000000"/>
                  </a:solidFill>
                  <a:latin typeface="Play"/>
                </a:rPr>
                <a:t>Аналитик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Готовит материалы</a:t>
              </a:r>
            </a:p>
          </p:txBody>
        </p:sp>
        <p:cxnSp>
          <p:nvCxnSpPr>
            <p:cNvPr id="507" name="BrandDeck Diagram Link 2"/>
            <p:cNvCxnSpPr/>
            <p:nvPr/>
          </p:nvCxnSpPr>
          <p:spPr>
            <a:xfrm>
              <a:off x="3383279" y="3677852"/>
              <a:ext cx="0" cy="274320"/>
            </a:xfrm>
            <a:prstGeom prst="line">
              <a:avLst/>
            </a:prstGeom>
            <a:ln w="19050">
              <a:solidFill>
                <a:srgbClr val="59A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8" name="BrandDeck Diagram Card 2"/>
            <p:cNvSpPr/>
            <p:nvPr/>
          </p:nvSpPr>
          <p:spPr>
            <a:xfrm>
              <a:off x="2514599" y="3952172"/>
              <a:ext cx="1737359" cy="1251712"/>
            </a:xfrm>
            <a:prstGeom prst="roundRect">
              <a:avLst>
                <a:gd name="adj" fmla="val 6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BrandDeck Diagram Marker 2"/>
            <p:cNvSpPr/>
            <p:nvPr/>
          </p:nvSpPr>
          <p:spPr>
            <a:xfrm>
              <a:off x="2642615" y="4061900"/>
              <a:ext cx="521207" cy="45720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0" name="BrandDeck Diagram Text 2"/>
            <p:cNvSpPr txBox="1"/>
            <p:nvPr/>
          </p:nvSpPr>
          <p:spPr>
            <a:xfrm>
              <a:off x="2606039" y="4189916"/>
              <a:ext cx="1554479" cy="922528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000000"/>
                  </a:solidFill>
                  <a:latin typeface="Play"/>
                </a:rPr>
                <a:t>Инженер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Настраивает сервис</a:t>
              </a:r>
            </a:p>
          </p:txBody>
        </p:sp>
        <p:cxnSp>
          <p:nvCxnSpPr>
            <p:cNvPr id="511" name="BrandDeck Diagram Link 3"/>
            <p:cNvCxnSpPr/>
            <p:nvPr/>
          </p:nvCxnSpPr>
          <p:spPr>
            <a:xfrm>
              <a:off x="5230368" y="3677852"/>
              <a:ext cx="0" cy="274320"/>
            </a:xfrm>
            <a:prstGeom prst="line">
              <a:avLst/>
            </a:prstGeom>
            <a:ln w="19050">
              <a:solidFill>
                <a:srgbClr val="59A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2" name="BrandDeck Diagram Card 3"/>
            <p:cNvSpPr/>
            <p:nvPr/>
          </p:nvSpPr>
          <p:spPr>
            <a:xfrm>
              <a:off x="4361688" y="3952172"/>
              <a:ext cx="1737359" cy="1251712"/>
            </a:xfrm>
            <a:prstGeom prst="roundRect">
              <a:avLst>
                <a:gd name="adj" fmla="val 6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BrandDeck Diagram Marker 3"/>
            <p:cNvSpPr/>
            <p:nvPr/>
          </p:nvSpPr>
          <p:spPr>
            <a:xfrm>
              <a:off x="4489703" y="4061900"/>
              <a:ext cx="521207" cy="45720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BrandDeck Diagram Text 3"/>
            <p:cNvSpPr txBox="1"/>
            <p:nvPr/>
          </p:nvSpPr>
          <p:spPr>
            <a:xfrm>
              <a:off x="4453127" y="4189916"/>
              <a:ext cx="1554479" cy="922528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000000"/>
                  </a:solidFill>
                  <a:latin typeface="Play"/>
                </a:rPr>
                <a:t>Менеджер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Измеряет результаты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BrandDeck Text 88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>
                <a:solidFill>
                  <a:srgbClr val="000000"/>
                </a:solidFill>
              </a:rPr>
              <a:t>Измеряем три результата</a:t>
            </a:r>
            <a:endParaRPr/>
          </a:p>
        </p:txBody>
      </p:sp>
      <p:grpSp>
        <p:nvGrpSpPr>
          <p:cNvPr id="2" name="BrandDeck Diagram icon_grid" descr="icon_grid: Время поиска ответа; Доля обращений без специалиста; Оценка сотрудника"/>
          <p:cNvGrpSpPr/>
          <p:nvPr/>
        </p:nvGrpSpPr>
        <p:grpSpPr>
          <a:xfrm>
            <a:off x="677863" y="1773238"/>
            <a:ext cx="4454524" cy="4427536"/>
            <a:chOff x="677863" y="1773238"/>
            <a:chExt cx="4454524" cy="4427536"/>
          </a:xfrm>
        </p:grpSpPr>
        <p:sp>
          <p:nvSpPr>
            <p:cNvPr id="888" name="BrandDeck Diagram Card 1"/>
            <p:cNvSpPr/>
            <p:nvPr/>
          </p:nvSpPr>
          <p:spPr>
            <a:xfrm>
              <a:off x="677863" y="1773238"/>
              <a:ext cx="2172398" cy="2158904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9" name="BrandDeck Diagram Icon 1 Badge"/>
            <p:cNvSpPr/>
            <p:nvPr/>
          </p:nvSpPr>
          <p:spPr>
            <a:xfrm>
              <a:off x="829930" y="1925305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0" name="BrandDeck Icon clock"/>
            <p:cNvSpPr/>
            <p:nvPr/>
          </p:nvSpPr>
          <p:spPr>
            <a:xfrm>
              <a:off x="962701" y="205807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6000"/>
                  </a:moveTo>
                  <a:lnTo>
                    <a:pt x="12000" y="12000"/>
                  </a:lnTo>
                  <a:lnTo>
                    <a:pt x="16000" y="14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1" name="BrandDeck Diagram Text 1"/>
            <p:cNvSpPr txBox="1"/>
            <p:nvPr/>
          </p:nvSpPr>
          <p:spPr>
            <a:xfrm>
              <a:off x="784310" y="2635257"/>
              <a:ext cx="1959503" cy="1220851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Время поиска ответа</a:t>
              </a:r>
            </a:p>
          </p:txBody>
        </p:sp>
        <p:sp>
          <p:nvSpPr>
            <p:cNvPr id="892" name="BrandDeck Diagram Card 2"/>
            <p:cNvSpPr/>
            <p:nvPr/>
          </p:nvSpPr>
          <p:spPr>
            <a:xfrm>
              <a:off x="2959989" y="1773238"/>
              <a:ext cx="2172398" cy="2158904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3" name="BrandDeck Diagram Icon 2 Badge"/>
            <p:cNvSpPr/>
            <p:nvPr/>
          </p:nvSpPr>
          <p:spPr>
            <a:xfrm>
              <a:off x="3112057" y="1925305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4" name="BrandDeck Icon chart-pie"/>
            <p:cNvSpPr/>
            <p:nvPr/>
          </p:nvSpPr>
          <p:spPr>
            <a:xfrm>
              <a:off x="3244828" y="205807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12000"/>
                  </a:moveTo>
                  <a:cubicBezTo>
                    <a:pt x="21552" y="12000"/>
                    <a:pt x="22005" y="11551"/>
                    <a:pt x="21950" y="11002"/>
                  </a:cubicBezTo>
                  <a:cubicBezTo>
                    <a:pt x="21475" y="6269"/>
                    <a:pt x="17731" y="2525"/>
                    <a:pt x="12997" y="2051"/>
                  </a:cubicBezTo>
                  <a:cubicBezTo>
                    <a:pt x="12447" y="1996"/>
                    <a:pt x="11999" y="2449"/>
                    <a:pt x="11999" y="3001"/>
                  </a:cubicBezTo>
                  <a:lnTo>
                    <a:pt x="11999" y="11001"/>
                  </a:lnTo>
                  <a:cubicBezTo>
                    <a:pt x="11999" y="11553"/>
                    <a:pt x="12447" y="12001"/>
                    <a:pt x="12999" y="12001"/>
                  </a:cubicBezTo>
                  <a:close/>
                </a:path>
                <a:path w="24000" h="24000" fill="none">
                  <a:moveTo>
                    <a:pt x="21210" y="15890"/>
                  </a:moveTo>
                  <a:cubicBezTo>
                    <a:pt x="19460" y="20029"/>
                    <a:pt x="15164" y="22492"/>
                    <a:pt x="10708" y="21912"/>
                  </a:cubicBezTo>
                  <a:cubicBezTo>
                    <a:pt x="6252" y="21331"/>
                    <a:pt x="2730" y="17849"/>
                    <a:pt x="2099" y="13400"/>
                  </a:cubicBezTo>
                  <a:cubicBezTo>
                    <a:pt x="1467" y="8951"/>
                    <a:pt x="3881" y="4627"/>
                    <a:pt x="8000" y="283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5" name="BrandDeck Diagram Text 2"/>
            <p:cNvSpPr txBox="1"/>
            <p:nvPr/>
          </p:nvSpPr>
          <p:spPr>
            <a:xfrm>
              <a:off x="3066437" y="2635257"/>
              <a:ext cx="1959503" cy="1220851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Доля обращений без специалиста</a:t>
              </a:r>
            </a:p>
          </p:txBody>
        </p:sp>
        <p:sp>
          <p:nvSpPr>
            <p:cNvPr id="896" name="BrandDeck Diagram Card 3"/>
            <p:cNvSpPr/>
            <p:nvPr/>
          </p:nvSpPr>
          <p:spPr>
            <a:xfrm>
              <a:off x="677863" y="4041870"/>
              <a:ext cx="2172398" cy="2158904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7" name="BrandDeck Diagram Icon 3 Badge"/>
            <p:cNvSpPr/>
            <p:nvPr/>
          </p:nvSpPr>
          <p:spPr>
            <a:xfrm>
              <a:off x="829930" y="4193938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8" name="BrandDeck Icon star"/>
            <p:cNvSpPr/>
            <p:nvPr/>
          </p:nvSpPr>
          <p:spPr>
            <a:xfrm>
              <a:off x="962701" y="4326709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1525" y="2295"/>
                  </a:moveTo>
                  <a:cubicBezTo>
                    <a:pt x="11614" y="2114"/>
                    <a:pt x="11798" y="2000"/>
                    <a:pt x="12000" y="2000"/>
                  </a:cubicBezTo>
                  <a:cubicBezTo>
                    <a:pt x="12202" y="2000"/>
                    <a:pt x="12386" y="2114"/>
                    <a:pt x="12475" y="2295"/>
                  </a:cubicBezTo>
                  <a:lnTo>
                    <a:pt x="14785" y="6974"/>
                  </a:lnTo>
                  <a:cubicBezTo>
                    <a:pt x="15094" y="7599"/>
                    <a:pt x="15690" y="8033"/>
                    <a:pt x="16380" y="8134"/>
                  </a:cubicBezTo>
                  <a:lnTo>
                    <a:pt x="21546" y="8890"/>
                  </a:lnTo>
                  <a:cubicBezTo>
                    <a:pt x="21746" y="8919"/>
                    <a:pt x="21912" y="9059"/>
                    <a:pt x="21974" y="9251"/>
                  </a:cubicBezTo>
                  <a:cubicBezTo>
                    <a:pt x="22036" y="9442"/>
                    <a:pt x="21984" y="9653"/>
                    <a:pt x="21840" y="9794"/>
                  </a:cubicBezTo>
                  <a:lnTo>
                    <a:pt x="18104" y="13432"/>
                  </a:lnTo>
                  <a:cubicBezTo>
                    <a:pt x="17604" y="13919"/>
                    <a:pt x="17375" y="14622"/>
                    <a:pt x="17493" y="15310"/>
                  </a:cubicBezTo>
                  <a:lnTo>
                    <a:pt x="18375" y="20450"/>
                  </a:lnTo>
                  <a:cubicBezTo>
                    <a:pt x="18410" y="20650"/>
                    <a:pt x="18329" y="20852"/>
                    <a:pt x="18165" y="20971"/>
                  </a:cubicBezTo>
                  <a:cubicBezTo>
                    <a:pt x="18001" y="21090"/>
                    <a:pt x="17783" y="21105"/>
                    <a:pt x="17604" y="21010"/>
                  </a:cubicBezTo>
                  <a:lnTo>
                    <a:pt x="12986" y="18582"/>
                  </a:lnTo>
                  <a:cubicBezTo>
                    <a:pt x="12368" y="18258"/>
                    <a:pt x="11631" y="18258"/>
                    <a:pt x="11013" y="18582"/>
                  </a:cubicBezTo>
                  <a:lnTo>
                    <a:pt x="6396" y="21010"/>
                  </a:lnTo>
                  <a:cubicBezTo>
                    <a:pt x="6217" y="21105"/>
                    <a:pt x="6000" y="21089"/>
                    <a:pt x="5836" y="20970"/>
                  </a:cubicBezTo>
                  <a:cubicBezTo>
                    <a:pt x="5673" y="20851"/>
                    <a:pt x="5591" y="20649"/>
                    <a:pt x="5626" y="20450"/>
                  </a:cubicBezTo>
                  <a:lnTo>
                    <a:pt x="6507" y="15311"/>
                  </a:lnTo>
                  <a:cubicBezTo>
                    <a:pt x="6625" y="14622"/>
                    <a:pt x="6397" y="13920"/>
                    <a:pt x="5896" y="13432"/>
                  </a:cubicBezTo>
                  <a:lnTo>
                    <a:pt x="2160" y="9795"/>
                  </a:lnTo>
                  <a:cubicBezTo>
                    <a:pt x="2014" y="9654"/>
                    <a:pt x="1962" y="9443"/>
                    <a:pt x="2024" y="9250"/>
                  </a:cubicBezTo>
                  <a:cubicBezTo>
                    <a:pt x="2087" y="9058"/>
                    <a:pt x="2253" y="8917"/>
                    <a:pt x="2454" y="8889"/>
                  </a:cubicBezTo>
                  <a:lnTo>
                    <a:pt x="7619" y="8134"/>
                  </a:lnTo>
                  <a:cubicBezTo>
                    <a:pt x="8310" y="8034"/>
                    <a:pt x="8907" y="7600"/>
                    <a:pt x="9216" y="6974"/>
                  </a:cubicBez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9" name="BrandDeck Diagram Text 3"/>
            <p:cNvSpPr txBox="1"/>
            <p:nvPr/>
          </p:nvSpPr>
          <p:spPr>
            <a:xfrm>
              <a:off x="784310" y="4903889"/>
              <a:ext cx="1959503" cy="1220851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Оценка сотрудника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BrandDeck Text 88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>
                <a:solidFill>
                  <a:srgbClr val="000000"/>
                </a:solidFill>
              </a:rPr>
              <a:t>Решение принимаем по итогам пилота</a:t>
            </a:r>
            <a:endParaRPr/>
          </a:p>
        </p:txBody>
      </p:sp>
      <p:graphicFrame>
        <p:nvGraphicFramePr>
          <p:cNvPr id="888" name="BrandDeck Table"/>
          <p:cNvGraphicFramePr>
            <a:graphicFrameLocks noGrp="1"/>
          </p:cNvGraphicFramePr>
          <p:nvPr/>
        </p:nvGraphicFramePr>
        <p:xfrm>
          <a:off x="677863" y="1773238"/>
          <a:ext cx="4454525" cy="4427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262"/>
                <a:gridCol w="2227263"/>
              </a:tblGrid>
              <a:tr h="147584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Метрика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Статус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</a:tr>
              <a:tr h="147584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Время поиска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Будет измерено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147584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Качество ответа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Будет проверено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5" name="BrandDeck Text 1075"/>
          <p:cNvSpPr txBox="1"/>
          <p:nvPr>
            <p:ph type="title"/>
          </p:nvPr>
        </p:nvSpPr>
        <p:spPr>
          <a:xfrm>
            <a:off x="620713" y="2483712"/>
            <a:ext cx="526537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3600">
                <a:solidFill>
                  <a:srgbClr val="000000"/>
                </a:solidFill>
              </a:rPr>
              <a:t>Объекты доступны для редактирования</a:t>
            </a:r>
            <a:endParaRPr/>
          </a:p>
        </p:txBody>
      </p:sp>
      <p:sp>
        <p:nvSpPr>
          <p:cNvPr id="1077" name="Google Shape;1077;p84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Контроль компонентов</dc:title>
  <cp:lastModifiedBy/>
  <cp:revision>1</cp:revision>
  <dcterms:modified xsi:type="dcterms:W3CDTF">2026-09-27T17:15:26Z</dcterms:modified>
  <dc:subject>Template-adaptive presentation</dc:subject>
  <cp:keywords>BrandDeck, template-adaptive, presentation</cp:keywords>
  <dc:creator/>
  <dc:description/>
</cp:coreProperties>
</file>