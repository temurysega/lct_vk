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Сотрудники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Sheet1!$A$2:$A$3</c:f>
              <c:strCache>
                <c:ptCount val="2"/>
                <c:pt idx="0">
                  <c:v>Продажи</c:v>
                </c:pt>
                <c:pt idx="1">
                  <c:v>Поддержка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60.0</c:v>
                </c:pt>
                <c:pt idx="1">
                  <c:v>90.0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человек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Продажи</c:v>
                </c:pt>
                <c:pt idx="1">
                  <c:v>Поддержка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60.0</c:v>
                </c:pt>
                <c:pt idx="1">
                  <c:v>90.0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Synthetic controlled component fixture; no model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Synthetic controlled component fixture; no model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Synthetic controlled component fixture; no model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Synthetic controlled component fixture; no model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Synthetic controlled component fixture; no model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Synthetic controlled component fixture; no model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Synthetic controlled component fixture; no model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Synthetic controlled component fixture; no model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Synthetic controlled component fixture; no model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Synthetic controlled component fixture; no model called.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57.png"/><Relationship Id="rId3" Type="http://schemas.openxmlformats.org/officeDocument/2006/relationships/notesSlide" Target="../notesSlides/notesSlide65.xml"/></Relationships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33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endParaRPr/>
          </a:p>
        </p:txBody>
      </p:sp>
      <p:sp>
        <p:nvSpPr>
          <p:cNvPr id="237" name="BrandDeck Text 237"/>
          <p:cNvSpPr txBox="1"/>
          <p:nvPr>
            <p:ph type="title"/>
          </p:nvPr>
        </p:nvSpPr>
        <p:spPr>
          <a:xfrm>
            <a:off x="622261" y="2921912"/>
            <a:ext cx="5273736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3600"/>
              <a:t>Проверка нативных объектов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7" name="BrandDeck Text 88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/>
              <a:t>Два подразделения: 60 и 90 участников</a:t>
            </a:r>
            <a:endParaRPr/>
          </a:p>
        </p:txBody>
      </p:sp>
      <p:sp>
        <p:nvSpPr>
          <p:cNvPr id="888" name="Google Shape;888;p70"/>
          <p:cNvSpPr txBox="1"/>
          <p:nvPr>
            <p:ph idx="4294967295" type="body"/>
          </p:nvPr>
        </p:nvSpPr>
        <p:spPr>
          <a:xfrm>
            <a:off x="677863" y="1773238"/>
            <a:ext cx="183197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55588" lvl="1" marL="255588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endParaRPr/>
          </a:p>
        </p:txBody>
      </p:sp>
      <p:graphicFrame>
        <p:nvGraphicFramePr>
          <p:cNvPr id="889" name="Chart 888"/>
          <p:cNvGraphicFramePr>
            <a:graphicFrameLocks noGrp="1"/>
          </p:cNvGraphicFramePr>
          <p:nvPr/>
        </p:nvGraphicFramePr>
        <p:xfrm>
          <a:off x="2765869" y="1773238"/>
          <a:ext cx="2366518" cy="442753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7" name="BrandDeck Text 88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/>
              <a:t>Доля участников по подразделениям</a:t>
            </a:r>
            <a:endParaRPr/>
          </a:p>
        </p:txBody>
      </p:sp>
      <p:sp>
        <p:nvSpPr>
          <p:cNvPr id="888" name="Google Shape;888;p70"/>
          <p:cNvSpPr txBox="1"/>
          <p:nvPr>
            <p:ph idx="4294967295" type="body"/>
          </p:nvPr>
        </p:nvSpPr>
        <p:spPr>
          <a:xfrm>
            <a:off x="677863" y="1773238"/>
            <a:ext cx="183197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55588" lvl="1" marL="255588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endParaRPr/>
          </a:p>
        </p:txBody>
      </p:sp>
      <p:graphicFrame>
        <p:nvGraphicFramePr>
          <p:cNvPr id="889" name="Chart 888"/>
          <p:cNvGraphicFramePr>
            <a:graphicFrameLocks noGrp="1"/>
          </p:cNvGraphicFramePr>
          <p:nvPr/>
        </p:nvGraphicFramePr>
        <p:xfrm>
          <a:off x="2765869" y="1773238"/>
          <a:ext cx="2366518" cy="442753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7" name="BrandDeck Text 88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/>
              <a:t>Пилот рассчитан на шесть недель</a:t>
            </a:r>
            <a:endParaRPr/>
          </a:p>
        </p:txBody>
      </p:sp>
      <p:graphicFrame>
        <p:nvGraphicFramePr>
          <p:cNvPr id="888" name="BrandDeck Table"/>
          <p:cNvGraphicFramePr>
            <a:graphicFrameLocks noGrp="1"/>
          </p:cNvGraphicFramePr>
          <p:nvPr/>
        </p:nvGraphicFramePr>
        <p:xfrm>
          <a:off x="677863" y="1773238"/>
          <a:ext cx="4454525" cy="4427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841"/>
                <a:gridCol w="1484841"/>
                <a:gridCol w="1484843"/>
              </a:tblGrid>
              <a:tr h="11068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lay"/>
                        </a:rPr>
                        <a:t>Этап</a:t>
                      </a:r>
                    </a:p>
                  </a:txBody>
                  <a:tcPr marL="54864" marR="54864" anchor="ctr">
                    <a:solidFill>
                      <a:srgbClr val="006D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lay"/>
                        </a:rPr>
                        <a:t>Недели</a:t>
                      </a:r>
                    </a:p>
                  </a:txBody>
                  <a:tcPr marL="54864" marR="54864" anchor="ctr">
                    <a:solidFill>
                      <a:srgbClr val="006D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lay"/>
                        </a:rPr>
                        <a:t>Ответственный</a:t>
                      </a:r>
                    </a:p>
                  </a:txBody>
                  <a:tcPr marL="54864" marR="54864" anchor="ctr">
                    <a:solidFill>
                      <a:srgbClr val="006DEB"/>
                    </a:solidFill>
                  </a:tcPr>
                </a:tc>
              </a:tr>
              <a:tr h="11068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Подготовка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1–2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Аналитик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11068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Запуск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3–4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Инженер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11068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Оценка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5–6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Менеджер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490" name="BrandDeck Text 490"/>
          <p:cNvSpPr txBox="1"/>
          <p:nvPr>
            <p:ph type="title"/>
          </p:nvPr>
        </p:nvSpPr>
        <p:spPr>
          <a:xfrm>
            <a:off x="677863" y="692150"/>
            <a:ext cx="10874375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/>
              <a:t>Проверяем путь обращения</a:t>
            </a:r>
            <a:endParaRPr/>
          </a:p>
        </p:txBody>
      </p:sp>
      <p:grpSp>
        <p:nvGrpSpPr>
          <p:cNvPr id="2" name="BrandDeck Diagram process" descr="process: Задать вопрос; Найти регламент; Показать источник; Передать специалисту"/>
          <p:cNvGrpSpPr/>
          <p:nvPr/>
        </p:nvGrpSpPr>
        <p:grpSpPr>
          <a:xfrm>
            <a:off x="667512" y="1937830"/>
            <a:ext cx="5431535" cy="4481257"/>
            <a:chOff x="667512" y="1937830"/>
            <a:chExt cx="5431535" cy="4481257"/>
          </a:xfrm>
        </p:grpSpPr>
        <p:sp>
          <p:nvSpPr>
            <p:cNvPr id="500" name="BrandDeck Diagram Connector"/>
            <p:cNvSpPr/>
            <p:nvPr/>
          </p:nvSpPr>
          <p:spPr>
            <a:xfrm>
              <a:off x="907084" y="2477413"/>
              <a:ext cx="32918" cy="3402091"/>
            </a:xfrm>
            <a:prstGeom prst="rect">
              <a:avLst/>
            </a:prstGeom>
            <a:solidFill>
              <a:srgbClr val="59A7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1" name="BrandDeck Diagram Step 1 Badge"/>
            <p:cNvSpPr/>
            <p:nvPr/>
          </p:nvSpPr>
          <p:spPr>
            <a:xfrm>
              <a:off x="667512" y="2221381"/>
              <a:ext cx="512064" cy="5120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01</a:t>
              </a:r>
            </a:p>
          </p:txBody>
        </p:sp>
        <p:sp>
          <p:nvSpPr>
            <p:cNvPr id="502" name="BrandDeck Diagram Detail Card 1"/>
            <p:cNvSpPr/>
            <p:nvPr/>
          </p:nvSpPr>
          <p:spPr>
            <a:xfrm>
              <a:off x="1289304" y="1937830"/>
              <a:ext cx="4809743" cy="1079166"/>
            </a:xfrm>
            <a:prstGeom prst="roundRect">
              <a:avLst>
                <a:gd name="adj" fmla="val 12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3" name="BrandDeck Diagram Text 1"/>
            <p:cNvSpPr txBox="1"/>
            <p:nvPr/>
          </p:nvSpPr>
          <p:spPr>
            <a:xfrm>
              <a:off x="1380744" y="1937830"/>
              <a:ext cx="4718303" cy="107916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0">
                  <a:solidFill>
                    <a:srgbClr val="000000"/>
                  </a:solidFill>
                  <a:latin typeface="Play"/>
                </a:rPr>
                <a:t>Задать вопрос</a:t>
              </a:r>
            </a:p>
          </p:txBody>
        </p:sp>
        <p:sp>
          <p:nvSpPr>
            <p:cNvPr id="504" name="BrandDeck Diagram Step 2 Badge"/>
            <p:cNvSpPr/>
            <p:nvPr/>
          </p:nvSpPr>
          <p:spPr>
            <a:xfrm>
              <a:off x="667512" y="3355411"/>
              <a:ext cx="512064" cy="5120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02</a:t>
              </a:r>
            </a:p>
          </p:txBody>
        </p:sp>
        <p:sp>
          <p:nvSpPr>
            <p:cNvPr id="505" name="BrandDeck Diagram Detail Card 2"/>
            <p:cNvSpPr/>
            <p:nvPr/>
          </p:nvSpPr>
          <p:spPr>
            <a:xfrm>
              <a:off x="1289304" y="3071860"/>
              <a:ext cx="4809743" cy="1079166"/>
            </a:xfrm>
            <a:prstGeom prst="roundRect">
              <a:avLst>
                <a:gd name="adj" fmla="val 12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6" name="BrandDeck Diagram Text 2"/>
            <p:cNvSpPr txBox="1"/>
            <p:nvPr/>
          </p:nvSpPr>
          <p:spPr>
            <a:xfrm>
              <a:off x="1380744" y="3071860"/>
              <a:ext cx="4718303" cy="107916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0">
                  <a:solidFill>
                    <a:srgbClr val="000000"/>
                  </a:solidFill>
                  <a:latin typeface="Play"/>
                </a:rPr>
                <a:t>Найти регламент</a:t>
              </a:r>
            </a:p>
          </p:txBody>
        </p:sp>
        <p:sp>
          <p:nvSpPr>
            <p:cNvPr id="507" name="BrandDeck Diagram Step 3 Badge"/>
            <p:cNvSpPr/>
            <p:nvPr/>
          </p:nvSpPr>
          <p:spPr>
            <a:xfrm>
              <a:off x="667512" y="4489442"/>
              <a:ext cx="512064" cy="5120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03</a:t>
              </a:r>
            </a:p>
          </p:txBody>
        </p:sp>
        <p:sp>
          <p:nvSpPr>
            <p:cNvPr id="508" name="BrandDeck Diagram Detail Card 3"/>
            <p:cNvSpPr/>
            <p:nvPr/>
          </p:nvSpPr>
          <p:spPr>
            <a:xfrm>
              <a:off x="1289304" y="4205891"/>
              <a:ext cx="4809743" cy="1079166"/>
            </a:xfrm>
            <a:prstGeom prst="roundRect">
              <a:avLst>
                <a:gd name="adj" fmla="val 12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9" name="BrandDeck Diagram Text 3"/>
            <p:cNvSpPr txBox="1"/>
            <p:nvPr/>
          </p:nvSpPr>
          <p:spPr>
            <a:xfrm>
              <a:off x="1380744" y="4205891"/>
              <a:ext cx="4718303" cy="107916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0">
                  <a:solidFill>
                    <a:srgbClr val="000000"/>
                  </a:solidFill>
                  <a:latin typeface="Play"/>
                </a:rPr>
                <a:t>Показать источник</a:t>
              </a:r>
            </a:p>
          </p:txBody>
        </p:sp>
        <p:sp>
          <p:nvSpPr>
            <p:cNvPr id="510" name="BrandDeck Diagram Step 4 Badge"/>
            <p:cNvSpPr/>
            <p:nvPr/>
          </p:nvSpPr>
          <p:spPr>
            <a:xfrm>
              <a:off x="667512" y="5623472"/>
              <a:ext cx="512064" cy="5120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00" b="1">
                  <a:solidFill>
                    <a:srgbClr val="FFFFFF"/>
                  </a:solidFill>
                  <a:latin typeface="Play"/>
                </a:rPr>
                <a:t>04</a:t>
              </a:r>
            </a:p>
          </p:txBody>
        </p:sp>
        <p:sp>
          <p:nvSpPr>
            <p:cNvPr id="511" name="BrandDeck Diagram Detail Card 4"/>
            <p:cNvSpPr/>
            <p:nvPr/>
          </p:nvSpPr>
          <p:spPr>
            <a:xfrm>
              <a:off x="1289304" y="5339921"/>
              <a:ext cx="4809743" cy="1079166"/>
            </a:xfrm>
            <a:prstGeom prst="roundRect">
              <a:avLst>
                <a:gd name="adj" fmla="val 12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2" name="BrandDeck Diagram Text 4"/>
            <p:cNvSpPr txBox="1"/>
            <p:nvPr/>
          </p:nvSpPr>
          <p:spPr>
            <a:xfrm>
              <a:off x="1380744" y="5339921"/>
              <a:ext cx="4718303" cy="107916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0">
                  <a:solidFill>
                    <a:srgbClr val="000000"/>
                  </a:solidFill>
                  <a:latin typeface="Play"/>
                </a:rPr>
                <a:t>Передать специалисту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490" name="BrandDeck Text 490"/>
          <p:cNvSpPr txBox="1"/>
          <p:nvPr>
            <p:ph type="title"/>
          </p:nvPr>
        </p:nvSpPr>
        <p:spPr>
          <a:xfrm>
            <a:off x="677863" y="692150"/>
            <a:ext cx="10874375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/>
              <a:t>Качество улучшаем после проверки</a:t>
            </a:r>
            <a:endParaRPr/>
          </a:p>
        </p:txBody>
      </p:sp>
      <p:grpSp>
        <p:nvGrpSpPr>
          <p:cNvPr id="2" name="BrandDeck Diagram cycle" descr="cycle: Собрать; Проверить; Запустить; Измерить"/>
          <p:cNvGrpSpPr/>
          <p:nvPr/>
        </p:nvGrpSpPr>
        <p:grpSpPr>
          <a:xfrm>
            <a:off x="667511" y="1928686"/>
            <a:ext cx="5431536" cy="4499545"/>
            <a:chOff x="667511" y="1928686"/>
            <a:chExt cx="5431536" cy="4499545"/>
          </a:xfrm>
        </p:grpSpPr>
        <p:sp>
          <p:nvSpPr>
            <p:cNvPr id="500" name="BrandDeck Diagram Ring"/>
            <p:cNvSpPr/>
            <p:nvPr/>
          </p:nvSpPr>
          <p:spPr>
            <a:xfrm>
              <a:off x="904870" y="3166563"/>
              <a:ext cx="2023790" cy="2023790"/>
            </a:xfrm>
            <a:prstGeom prst="ellipse">
              <a:avLst/>
            </a:prstGeom>
            <a:noFill/>
            <a:ln w="28575">
              <a:solidFill>
                <a:srgbClr val="59A7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1" name="BrandDeck Diagram Arrow 1"/>
            <p:cNvSpPr/>
            <p:nvPr/>
          </p:nvSpPr>
          <p:spPr>
            <a:xfrm rot="8100000">
              <a:off x="2546834" y="3377492"/>
              <a:ext cx="170897" cy="170897"/>
            </a:xfrm>
            <a:prstGeom prst="triangle">
              <a:avLst/>
            </a:prstGeom>
            <a:solidFill>
              <a:srgbClr val="59A7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2" name="BrandDeck Diagram Arrow 2"/>
            <p:cNvSpPr/>
            <p:nvPr/>
          </p:nvSpPr>
          <p:spPr>
            <a:xfrm rot="13500000">
              <a:off x="2546834" y="4808528"/>
              <a:ext cx="170897" cy="170897"/>
            </a:xfrm>
            <a:prstGeom prst="triangle">
              <a:avLst/>
            </a:prstGeom>
            <a:solidFill>
              <a:srgbClr val="59A7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3" name="BrandDeck Diagram Arrow 3"/>
            <p:cNvSpPr/>
            <p:nvPr/>
          </p:nvSpPr>
          <p:spPr>
            <a:xfrm rot="18900000">
              <a:off x="1115798" y="4808528"/>
              <a:ext cx="170897" cy="170897"/>
            </a:xfrm>
            <a:prstGeom prst="triangle">
              <a:avLst/>
            </a:prstGeom>
            <a:solidFill>
              <a:srgbClr val="59A7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4" name="BrandDeck Diagram Arrow 4"/>
            <p:cNvSpPr/>
            <p:nvPr/>
          </p:nvSpPr>
          <p:spPr>
            <a:xfrm rot="2700000">
              <a:off x="1115798" y="3377492"/>
              <a:ext cx="170897" cy="170897"/>
            </a:xfrm>
            <a:prstGeom prst="triangle">
              <a:avLst/>
            </a:prstGeom>
            <a:solidFill>
              <a:srgbClr val="59A7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5" name="BrandDeck Diagram Node 1 Badge"/>
            <p:cNvSpPr/>
            <p:nvPr/>
          </p:nvSpPr>
          <p:spPr>
            <a:xfrm>
              <a:off x="1679407" y="2929205"/>
              <a:ext cx="474716" cy="47471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Play"/>
                </a:rPr>
                <a:t>01</a:t>
              </a:r>
            </a:p>
          </p:txBody>
        </p:sp>
        <p:sp>
          <p:nvSpPr>
            <p:cNvPr id="506" name="BrandDeck Diagram Node 2 Badge"/>
            <p:cNvSpPr/>
            <p:nvPr/>
          </p:nvSpPr>
          <p:spPr>
            <a:xfrm>
              <a:off x="2691302" y="3941100"/>
              <a:ext cx="474716" cy="47471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Play"/>
                </a:rPr>
                <a:t>02</a:t>
              </a:r>
            </a:p>
          </p:txBody>
        </p:sp>
        <p:sp>
          <p:nvSpPr>
            <p:cNvPr id="507" name="BrandDeck Diagram Node 3 Badge"/>
            <p:cNvSpPr/>
            <p:nvPr/>
          </p:nvSpPr>
          <p:spPr>
            <a:xfrm>
              <a:off x="1679407" y="4952996"/>
              <a:ext cx="474716" cy="47471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Play"/>
                </a:rPr>
                <a:t>03</a:t>
              </a:r>
            </a:p>
          </p:txBody>
        </p:sp>
        <p:sp>
          <p:nvSpPr>
            <p:cNvPr id="508" name="BrandDeck Diagram Node 4 Badge"/>
            <p:cNvSpPr/>
            <p:nvPr/>
          </p:nvSpPr>
          <p:spPr>
            <a:xfrm>
              <a:off x="667511" y="3941100"/>
              <a:ext cx="474716" cy="47471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Play"/>
                </a:rPr>
                <a:t>04</a:t>
              </a:r>
            </a:p>
          </p:txBody>
        </p:sp>
        <p:sp>
          <p:nvSpPr>
            <p:cNvPr id="509" name="BrandDeck Diagram Legend 1 Badge"/>
            <p:cNvSpPr/>
            <p:nvPr/>
          </p:nvSpPr>
          <p:spPr>
            <a:xfrm>
              <a:off x="3486058" y="2321965"/>
              <a:ext cx="310896" cy="31089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Play"/>
                </a:rPr>
                <a:t>01</a:t>
              </a:r>
            </a:p>
          </p:txBody>
        </p:sp>
        <p:sp>
          <p:nvSpPr>
            <p:cNvPr id="510" name="BrandDeck Diagram Text 1"/>
            <p:cNvSpPr txBox="1"/>
            <p:nvPr/>
          </p:nvSpPr>
          <p:spPr>
            <a:xfrm>
              <a:off x="3943258" y="1928686"/>
              <a:ext cx="2155789" cy="1097454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00" b="0">
                  <a:solidFill>
                    <a:srgbClr val="000000"/>
                  </a:solidFill>
                  <a:latin typeface="Play"/>
                </a:rPr>
                <a:t>Собрать</a:t>
              </a:r>
            </a:p>
          </p:txBody>
        </p:sp>
        <p:sp>
          <p:nvSpPr>
            <p:cNvPr id="511" name="BrandDeck Diagram Legend 2 Badge"/>
            <p:cNvSpPr/>
            <p:nvPr/>
          </p:nvSpPr>
          <p:spPr>
            <a:xfrm>
              <a:off x="3486058" y="3455995"/>
              <a:ext cx="310896" cy="31089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Play"/>
                </a:rPr>
                <a:t>02</a:t>
              </a:r>
            </a:p>
          </p:txBody>
        </p:sp>
        <p:sp>
          <p:nvSpPr>
            <p:cNvPr id="512" name="BrandDeck Diagram Text 2"/>
            <p:cNvSpPr txBox="1"/>
            <p:nvPr/>
          </p:nvSpPr>
          <p:spPr>
            <a:xfrm>
              <a:off x="3943258" y="3062716"/>
              <a:ext cx="2155789" cy="1097454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00" b="0">
                  <a:solidFill>
                    <a:srgbClr val="000000"/>
                  </a:solidFill>
                  <a:latin typeface="Play"/>
                </a:rPr>
                <a:t>Проверить</a:t>
              </a:r>
            </a:p>
          </p:txBody>
        </p:sp>
        <p:sp>
          <p:nvSpPr>
            <p:cNvPr id="513" name="BrandDeck Diagram Legend 3 Badge"/>
            <p:cNvSpPr/>
            <p:nvPr/>
          </p:nvSpPr>
          <p:spPr>
            <a:xfrm>
              <a:off x="3486058" y="4590026"/>
              <a:ext cx="310896" cy="31089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Play"/>
                </a:rPr>
                <a:t>03</a:t>
              </a:r>
            </a:p>
          </p:txBody>
        </p:sp>
        <p:sp>
          <p:nvSpPr>
            <p:cNvPr id="514" name="BrandDeck Diagram Text 3"/>
            <p:cNvSpPr txBox="1"/>
            <p:nvPr/>
          </p:nvSpPr>
          <p:spPr>
            <a:xfrm>
              <a:off x="3943258" y="4196746"/>
              <a:ext cx="2155789" cy="1097454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00" b="0">
                  <a:solidFill>
                    <a:srgbClr val="000000"/>
                  </a:solidFill>
                  <a:latin typeface="Play"/>
                </a:rPr>
                <a:t>Запустить</a:t>
              </a:r>
            </a:p>
          </p:txBody>
        </p:sp>
        <p:sp>
          <p:nvSpPr>
            <p:cNvPr id="515" name="BrandDeck Diagram Legend 4 Badge"/>
            <p:cNvSpPr/>
            <p:nvPr/>
          </p:nvSpPr>
          <p:spPr>
            <a:xfrm>
              <a:off x="3486058" y="5724056"/>
              <a:ext cx="310896" cy="31089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200" b="1">
                  <a:solidFill>
                    <a:srgbClr val="FFFFFF"/>
                  </a:solidFill>
                  <a:latin typeface="Play"/>
                </a:rPr>
                <a:t>04</a:t>
              </a:r>
            </a:p>
          </p:txBody>
        </p:sp>
        <p:sp>
          <p:nvSpPr>
            <p:cNvPr id="516" name="BrandDeck Diagram Text 4"/>
            <p:cNvSpPr txBox="1"/>
            <p:nvPr/>
          </p:nvSpPr>
          <p:spPr>
            <a:xfrm>
              <a:off x="3943258" y="5330777"/>
              <a:ext cx="2155789" cy="1097454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00" b="0">
                  <a:solidFill>
                    <a:srgbClr val="000000"/>
                  </a:solidFill>
                  <a:latin typeface="Play"/>
                </a:rPr>
                <a:t>Измерить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7" name="BrandDeck Text 88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/>
              <a:t>У каждого участника есть роль</a:t>
            </a:r>
            <a:endParaRPr/>
          </a:p>
        </p:txBody>
      </p:sp>
      <p:grpSp>
        <p:nvGrpSpPr>
          <p:cNvPr id="2" name="BrandDeck Diagram hierarchy" descr="hierarchy: Аналитик Готовит материалы; Инженер Настраивает сервис; Менеджер Измеряет результаты"/>
          <p:cNvGrpSpPr/>
          <p:nvPr/>
        </p:nvGrpSpPr>
        <p:grpSpPr>
          <a:xfrm>
            <a:off x="677863" y="2399387"/>
            <a:ext cx="4454524" cy="2779776"/>
            <a:chOff x="677863" y="2399387"/>
            <a:chExt cx="4454524" cy="2779776"/>
          </a:xfrm>
        </p:grpSpPr>
        <p:sp>
          <p:nvSpPr>
            <p:cNvPr id="888" name="BrandDeck Diagram Root"/>
            <p:cNvSpPr/>
            <p:nvPr/>
          </p:nvSpPr>
          <p:spPr>
            <a:xfrm>
              <a:off x="1969675" y="2399387"/>
              <a:ext cx="1870900" cy="731520"/>
            </a:xfrm>
            <a:prstGeom prst="roundRect">
              <a:avLst>
                <a:gd name="adj" fmla="val 18000"/>
              </a:avLst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109728" tIns="36576" rIns="109728" bIns="36576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Команда пилота</a:t>
              </a:r>
            </a:p>
          </p:txBody>
        </p:sp>
        <p:cxnSp>
          <p:nvCxnSpPr>
            <p:cNvPr id="889" name="BrandDeck Diagram Link Root"/>
            <p:cNvCxnSpPr/>
            <p:nvPr/>
          </p:nvCxnSpPr>
          <p:spPr>
            <a:xfrm>
              <a:off x="2905125" y="3130907"/>
              <a:ext cx="0" cy="274320"/>
            </a:xfrm>
            <a:prstGeom prst="line">
              <a:avLst/>
            </a:prstGeom>
            <a:ln w="19050">
              <a:solidFill>
                <a:srgbClr val="59A7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0" name="BrandDeck Diagram Link Bus"/>
            <p:cNvCxnSpPr/>
            <p:nvPr/>
          </p:nvCxnSpPr>
          <p:spPr>
            <a:xfrm>
              <a:off x="1383707" y="3405227"/>
              <a:ext cx="3042836" cy="0"/>
            </a:xfrm>
            <a:prstGeom prst="line">
              <a:avLst/>
            </a:prstGeom>
            <a:ln w="19050">
              <a:solidFill>
                <a:srgbClr val="59A7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1" name="BrandDeck Diagram Link 1"/>
            <p:cNvCxnSpPr/>
            <p:nvPr/>
          </p:nvCxnSpPr>
          <p:spPr>
            <a:xfrm>
              <a:off x="1383707" y="3405227"/>
              <a:ext cx="0" cy="274320"/>
            </a:xfrm>
            <a:prstGeom prst="line">
              <a:avLst/>
            </a:prstGeom>
            <a:ln w="19050">
              <a:solidFill>
                <a:srgbClr val="59A7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2" name="BrandDeck Diagram Card 1"/>
            <p:cNvSpPr/>
            <p:nvPr/>
          </p:nvSpPr>
          <p:spPr>
            <a:xfrm>
              <a:off x="677863" y="3679547"/>
              <a:ext cx="1411689" cy="1499616"/>
            </a:xfrm>
            <a:prstGeom prst="roundRect">
              <a:avLst>
                <a:gd name="adj" fmla="val 6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3" name="BrandDeck Diagram Marker 1"/>
            <p:cNvSpPr/>
            <p:nvPr/>
          </p:nvSpPr>
          <p:spPr>
            <a:xfrm>
              <a:off x="805879" y="3789275"/>
              <a:ext cx="423506" cy="45720"/>
            </a:xfrm>
            <a:prstGeom prst="rect">
              <a:avLst/>
            </a:prstGeom>
            <a:solidFill>
              <a:srgbClr val="0077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4" name="BrandDeck Diagram Text 1"/>
            <p:cNvSpPr txBox="1"/>
            <p:nvPr/>
          </p:nvSpPr>
          <p:spPr>
            <a:xfrm>
              <a:off x="769303" y="3917291"/>
              <a:ext cx="1228809" cy="1170431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000000"/>
                  </a:solidFill>
                  <a:latin typeface="Play"/>
                </a:rPr>
                <a:t>Аналитик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000000"/>
                  </a:solidFill>
                  <a:latin typeface="Play"/>
                </a:rPr>
                <a:t>Готовит материалы</a:t>
              </a:r>
            </a:p>
          </p:txBody>
        </p:sp>
        <p:cxnSp>
          <p:nvCxnSpPr>
            <p:cNvPr id="895" name="BrandDeck Diagram Link 2"/>
            <p:cNvCxnSpPr/>
            <p:nvPr/>
          </p:nvCxnSpPr>
          <p:spPr>
            <a:xfrm>
              <a:off x="2905125" y="3405227"/>
              <a:ext cx="0" cy="274320"/>
            </a:xfrm>
            <a:prstGeom prst="line">
              <a:avLst/>
            </a:prstGeom>
            <a:ln w="19050">
              <a:solidFill>
                <a:srgbClr val="59A7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6" name="BrandDeck Diagram Card 2"/>
            <p:cNvSpPr/>
            <p:nvPr/>
          </p:nvSpPr>
          <p:spPr>
            <a:xfrm>
              <a:off x="2199280" y="3679547"/>
              <a:ext cx="1411689" cy="1499616"/>
            </a:xfrm>
            <a:prstGeom prst="roundRect">
              <a:avLst>
                <a:gd name="adj" fmla="val 6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7" name="BrandDeck Diagram Marker 2"/>
            <p:cNvSpPr/>
            <p:nvPr/>
          </p:nvSpPr>
          <p:spPr>
            <a:xfrm>
              <a:off x="2327296" y="3789275"/>
              <a:ext cx="423506" cy="45720"/>
            </a:xfrm>
            <a:prstGeom prst="rect">
              <a:avLst/>
            </a:prstGeom>
            <a:solidFill>
              <a:srgbClr val="0077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8" name="BrandDeck Diagram Text 2"/>
            <p:cNvSpPr txBox="1"/>
            <p:nvPr/>
          </p:nvSpPr>
          <p:spPr>
            <a:xfrm>
              <a:off x="2290720" y="3917291"/>
              <a:ext cx="1228809" cy="1170431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1">
                  <a:solidFill>
                    <a:srgbClr val="000000"/>
                  </a:solidFill>
                  <a:latin typeface="Play"/>
                </a:rPr>
                <a:t>Инженер</a:t>
              </a:r>
            </a:p>
            <a:p>
              <a:pPr algn="l">
                <a:lnSpc>
                  <a:spcPct val="110000"/>
                </a:lnSpc>
                <a:spcBef>
                  <a:spcPts val="300"/>
                </a:spcBef>
              </a:pPr>
              <a:r>
                <a:rPr sz="1200" b="0">
                  <a:solidFill>
                    <a:srgbClr val="000000"/>
                  </a:solidFill>
                  <a:latin typeface="Play"/>
                </a:rPr>
                <a:t>Настраивает сервис</a:t>
              </a:r>
            </a:p>
          </p:txBody>
        </p:sp>
        <p:cxnSp>
          <p:nvCxnSpPr>
            <p:cNvPr id="899" name="BrandDeck Diagram Link 3"/>
            <p:cNvCxnSpPr/>
            <p:nvPr/>
          </p:nvCxnSpPr>
          <p:spPr>
            <a:xfrm>
              <a:off x="4426543" y="3405227"/>
              <a:ext cx="0" cy="274320"/>
            </a:xfrm>
            <a:prstGeom prst="line">
              <a:avLst/>
            </a:prstGeom>
            <a:ln w="19050">
              <a:solidFill>
                <a:srgbClr val="59A7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0" name="BrandDeck Diagram Card 3"/>
            <p:cNvSpPr/>
            <p:nvPr/>
          </p:nvSpPr>
          <p:spPr>
            <a:xfrm>
              <a:off x="3720698" y="3679547"/>
              <a:ext cx="1411689" cy="1499616"/>
            </a:xfrm>
            <a:prstGeom prst="roundRect">
              <a:avLst>
                <a:gd name="adj" fmla="val 6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1" name="BrandDeck Diagram Marker 3"/>
            <p:cNvSpPr/>
            <p:nvPr/>
          </p:nvSpPr>
          <p:spPr>
            <a:xfrm>
              <a:off x="3848714" y="3789275"/>
              <a:ext cx="423506" cy="45720"/>
            </a:xfrm>
            <a:prstGeom prst="rect">
              <a:avLst/>
            </a:prstGeom>
            <a:solidFill>
              <a:srgbClr val="0077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2" name="BrandDeck Diagram Text 3"/>
            <p:cNvSpPr txBox="1"/>
            <p:nvPr/>
          </p:nvSpPr>
          <p:spPr>
            <a:xfrm>
              <a:off x="3812138" y="3917291"/>
              <a:ext cx="1228809" cy="1170431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400" b="1">
                  <a:solidFill>
                    <a:srgbClr val="000000"/>
                  </a:solidFill>
                  <a:latin typeface="Play"/>
                </a:rPr>
                <a:t>Менеджер</a:t>
              </a:r>
            </a:p>
            <a:p>
              <a:pPr algn="l">
                <a:lnSpc>
                  <a:spcPct val="110000"/>
                </a:lnSpc>
                <a:spcBef>
                  <a:spcPts val="350"/>
                </a:spcBef>
              </a:pPr>
              <a:r>
                <a:rPr sz="1400" b="0">
                  <a:solidFill>
                    <a:srgbClr val="000000"/>
                  </a:solidFill>
                  <a:latin typeface="Play"/>
                </a:rPr>
                <a:t>Измеряет результаты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7" name="BrandDeck Text 88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/>
              <a:t>Измеряем три результата</a:t>
            </a:r>
            <a:endParaRPr/>
          </a:p>
        </p:txBody>
      </p:sp>
      <p:grpSp>
        <p:nvGrpSpPr>
          <p:cNvPr id="2" name="BrandDeck Diagram icon_grid" descr="icon_grid: Время поиска ответа; Доля обращений без специалиста; Оценка сотрудника"/>
          <p:cNvGrpSpPr/>
          <p:nvPr/>
        </p:nvGrpSpPr>
        <p:grpSpPr>
          <a:xfrm>
            <a:off x="677863" y="1773238"/>
            <a:ext cx="4454524" cy="4427536"/>
            <a:chOff x="677863" y="1773238"/>
            <a:chExt cx="4454524" cy="4427536"/>
          </a:xfrm>
        </p:grpSpPr>
        <p:sp>
          <p:nvSpPr>
            <p:cNvPr id="888" name="BrandDeck Diagram Card 1"/>
            <p:cNvSpPr/>
            <p:nvPr/>
          </p:nvSpPr>
          <p:spPr>
            <a:xfrm>
              <a:off x="677863" y="1773238"/>
              <a:ext cx="2172398" cy="2158904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9" name="BrandDeck Diagram Icon 1 Badge"/>
            <p:cNvSpPr/>
            <p:nvPr/>
          </p:nvSpPr>
          <p:spPr>
            <a:xfrm>
              <a:off x="829930" y="1925305"/>
              <a:ext cx="603504" cy="60350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0" name="BrandDeck Icon clock"/>
            <p:cNvSpPr/>
            <p:nvPr/>
          </p:nvSpPr>
          <p:spPr>
            <a:xfrm>
              <a:off x="962701" y="2058076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2000" y="6000"/>
                  </a:moveTo>
                  <a:lnTo>
                    <a:pt x="12000" y="12000"/>
                  </a:lnTo>
                  <a:lnTo>
                    <a:pt x="16000" y="14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1" name="BrandDeck Diagram Text 1"/>
            <p:cNvSpPr txBox="1"/>
            <p:nvPr/>
          </p:nvSpPr>
          <p:spPr>
            <a:xfrm>
              <a:off x="784310" y="2635257"/>
              <a:ext cx="1959503" cy="1220851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Время поиска ответа</a:t>
              </a:r>
            </a:p>
          </p:txBody>
        </p:sp>
        <p:sp>
          <p:nvSpPr>
            <p:cNvPr id="892" name="BrandDeck Diagram Card 2"/>
            <p:cNvSpPr/>
            <p:nvPr/>
          </p:nvSpPr>
          <p:spPr>
            <a:xfrm>
              <a:off x="2959989" y="1773238"/>
              <a:ext cx="2172398" cy="2158904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3" name="BrandDeck Diagram Icon 2 Badge"/>
            <p:cNvSpPr/>
            <p:nvPr/>
          </p:nvSpPr>
          <p:spPr>
            <a:xfrm>
              <a:off x="3112057" y="1925305"/>
              <a:ext cx="603504" cy="60350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4" name="BrandDeck Icon chart-pie"/>
            <p:cNvSpPr/>
            <p:nvPr/>
          </p:nvSpPr>
          <p:spPr>
            <a:xfrm>
              <a:off x="3244828" y="2058076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1000" y="12000"/>
                  </a:moveTo>
                  <a:cubicBezTo>
                    <a:pt x="21552" y="12000"/>
                    <a:pt x="22005" y="11551"/>
                    <a:pt x="21950" y="11002"/>
                  </a:cubicBezTo>
                  <a:cubicBezTo>
                    <a:pt x="21475" y="6269"/>
                    <a:pt x="17731" y="2525"/>
                    <a:pt x="12997" y="2051"/>
                  </a:cubicBezTo>
                  <a:cubicBezTo>
                    <a:pt x="12447" y="1996"/>
                    <a:pt x="11999" y="2449"/>
                    <a:pt x="11999" y="3001"/>
                  </a:cubicBezTo>
                  <a:lnTo>
                    <a:pt x="11999" y="11001"/>
                  </a:lnTo>
                  <a:cubicBezTo>
                    <a:pt x="11999" y="11553"/>
                    <a:pt x="12447" y="12001"/>
                    <a:pt x="12999" y="12001"/>
                  </a:cubicBezTo>
                  <a:close/>
                </a:path>
                <a:path w="24000" h="24000" fill="none">
                  <a:moveTo>
                    <a:pt x="21210" y="15890"/>
                  </a:moveTo>
                  <a:cubicBezTo>
                    <a:pt x="19460" y="20029"/>
                    <a:pt x="15164" y="22492"/>
                    <a:pt x="10708" y="21912"/>
                  </a:cubicBezTo>
                  <a:cubicBezTo>
                    <a:pt x="6252" y="21331"/>
                    <a:pt x="2730" y="17849"/>
                    <a:pt x="2099" y="13400"/>
                  </a:cubicBezTo>
                  <a:cubicBezTo>
                    <a:pt x="1467" y="8951"/>
                    <a:pt x="3881" y="4627"/>
                    <a:pt x="8000" y="2830"/>
                  </a:cubicBez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5" name="BrandDeck Diagram Text 2"/>
            <p:cNvSpPr txBox="1"/>
            <p:nvPr/>
          </p:nvSpPr>
          <p:spPr>
            <a:xfrm>
              <a:off x="3066437" y="2635257"/>
              <a:ext cx="1959503" cy="1220851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Доля обращений без специалиста</a:t>
              </a:r>
            </a:p>
          </p:txBody>
        </p:sp>
        <p:sp>
          <p:nvSpPr>
            <p:cNvPr id="896" name="BrandDeck Diagram Card 3"/>
            <p:cNvSpPr/>
            <p:nvPr/>
          </p:nvSpPr>
          <p:spPr>
            <a:xfrm>
              <a:off x="677863" y="4041870"/>
              <a:ext cx="2172398" cy="2158904"/>
            </a:xfrm>
            <a:prstGeom prst="roundRect">
              <a:avLst>
                <a:gd name="adj" fmla="val 8000"/>
              </a:avLst>
            </a:prstGeom>
            <a:solidFill>
              <a:srgbClr val="EDF5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7" name="BrandDeck Diagram Icon 3 Badge"/>
            <p:cNvSpPr/>
            <p:nvPr/>
          </p:nvSpPr>
          <p:spPr>
            <a:xfrm>
              <a:off x="829930" y="4193938"/>
              <a:ext cx="603504" cy="60350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8" name="BrandDeck Icon star"/>
            <p:cNvSpPr/>
            <p:nvPr/>
          </p:nvSpPr>
          <p:spPr>
            <a:xfrm>
              <a:off x="962701" y="4326709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1525" y="2295"/>
                  </a:moveTo>
                  <a:cubicBezTo>
                    <a:pt x="11614" y="2114"/>
                    <a:pt x="11798" y="2000"/>
                    <a:pt x="12000" y="2000"/>
                  </a:cubicBezTo>
                  <a:cubicBezTo>
                    <a:pt x="12202" y="2000"/>
                    <a:pt x="12386" y="2114"/>
                    <a:pt x="12475" y="2295"/>
                  </a:cubicBezTo>
                  <a:lnTo>
                    <a:pt x="14785" y="6974"/>
                  </a:lnTo>
                  <a:cubicBezTo>
                    <a:pt x="15094" y="7599"/>
                    <a:pt x="15690" y="8033"/>
                    <a:pt x="16380" y="8134"/>
                  </a:cubicBezTo>
                  <a:lnTo>
                    <a:pt x="21546" y="8890"/>
                  </a:lnTo>
                  <a:cubicBezTo>
                    <a:pt x="21746" y="8919"/>
                    <a:pt x="21912" y="9059"/>
                    <a:pt x="21974" y="9251"/>
                  </a:cubicBezTo>
                  <a:cubicBezTo>
                    <a:pt x="22036" y="9442"/>
                    <a:pt x="21984" y="9653"/>
                    <a:pt x="21840" y="9794"/>
                  </a:cubicBezTo>
                  <a:lnTo>
                    <a:pt x="18104" y="13432"/>
                  </a:lnTo>
                  <a:cubicBezTo>
                    <a:pt x="17604" y="13919"/>
                    <a:pt x="17375" y="14622"/>
                    <a:pt x="17493" y="15310"/>
                  </a:cubicBezTo>
                  <a:lnTo>
                    <a:pt x="18375" y="20450"/>
                  </a:lnTo>
                  <a:cubicBezTo>
                    <a:pt x="18410" y="20650"/>
                    <a:pt x="18329" y="20852"/>
                    <a:pt x="18165" y="20971"/>
                  </a:cubicBezTo>
                  <a:cubicBezTo>
                    <a:pt x="18001" y="21090"/>
                    <a:pt x="17783" y="21105"/>
                    <a:pt x="17604" y="21010"/>
                  </a:cubicBezTo>
                  <a:lnTo>
                    <a:pt x="12986" y="18582"/>
                  </a:lnTo>
                  <a:cubicBezTo>
                    <a:pt x="12368" y="18258"/>
                    <a:pt x="11631" y="18258"/>
                    <a:pt x="11013" y="18582"/>
                  </a:cubicBezTo>
                  <a:lnTo>
                    <a:pt x="6396" y="21010"/>
                  </a:lnTo>
                  <a:cubicBezTo>
                    <a:pt x="6217" y="21105"/>
                    <a:pt x="6000" y="21089"/>
                    <a:pt x="5836" y="20970"/>
                  </a:cubicBezTo>
                  <a:cubicBezTo>
                    <a:pt x="5673" y="20851"/>
                    <a:pt x="5591" y="20649"/>
                    <a:pt x="5626" y="20450"/>
                  </a:cubicBezTo>
                  <a:lnTo>
                    <a:pt x="6507" y="15311"/>
                  </a:lnTo>
                  <a:cubicBezTo>
                    <a:pt x="6625" y="14622"/>
                    <a:pt x="6397" y="13920"/>
                    <a:pt x="5896" y="13432"/>
                  </a:cubicBezTo>
                  <a:lnTo>
                    <a:pt x="2160" y="9795"/>
                  </a:lnTo>
                  <a:cubicBezTo>
                    <a:pt x="2014" y="9654"/>
                    <a:pt x="1962" y="9443"/>
                    <a:pt x="2024" y="9250"/>
                  </a:cubicBezTo>
                  <a:cubicBezTo>
                    <a:pt x="2087" y="9058"/>
                    <a:pt x="2253" y="8917"/>
                    <a:pt x="2454" y="8889"/>
                  </a:cubicBezTo>
                  <a:lnTo>
                    <a:pt x="7619" y="8134"/>
                  </a:lnTo>
                  <a:cubicBezTo>
                    <a:pt x="8310" y="8034"/>
                    <a:pt x="8907" y="7600"/>
                    <a:pt x="9216" y="6974"/>
                  </a:cubicBezTo>
                  <a:close/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9" name="BrandDeck Diagram Text 3"/>
            <p:cNvSpPr txBox="1"/>
            <p:nvPr/>
          </p:nvSpPr>
          <p:spPr>
            <a:xfrm>
              <a:off x="784310" y="4903889"/>
              <a:ext cx="1959503" cy="1220851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Оценка сотрудника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7" name="BrandDeck Text 88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/>
              <a:t>Решение принимаем по итогам пилота</a:t>
            </a:r>
            <a:endParaRPr/>
          </a:p>
        </p:txBody>
      </p:sp>
      <p:graphicFrame>
        <p:nvGraphicFramePr>
          <p:cNvPr id="888" name="BrandDeck Table"/>
          <p:cNvGraphicFramePr>
            <a:graphicFrameLocks noGrp="1"/>
          </p:cNvGraphicFramePr>
          <p:nvPr/>
        </p:nvGraphicFramePr>
        <p:xfrm>
          <a:off x="677863" y="1773238"/>
          <a:ext cx="4454525" cy="4427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7262"/>
                <a:gridCol w="2227263"/>
              </a:tblGrid>
              <a:tr h="147584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lay"/>
                        </a:rPr>
                        <a:t>Метрика</a:t>
                      </a:r>
                    </a:p>
                  </a:txBody>
                  <a:tcPr marL="54864" marR="54864" anchor="ctr">
                    <a:solidFill>
                      <a:srgbClr val="006D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lay"/>
                        </a:rPr>
                        <a:t>Статус</a:t>
                      </a:r>
                    </a:p>
                  </a:txBody>
                  <a:tcPr marL="54864" marR="54864" anchor="ctr">
                    <a:solidFill>
                      <a:srgbClr val="006DEB"/>
                    </a:solidFill>
                  </a:tcPr>
                </a:tc>
              </a:tr>
              <a:tr h="147584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Время поиска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Будет измерено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1475845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Качество ответа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11111"/>
                          </a:solidFill>
                          <a:latin typeface="Play"/>
                        </a:rPr>
                        <a:t>Будет проверено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5" name="BrandDeck Text 1075"/>
          <p:cNvSpPr txBox="1"/>
          <p:nvPr>
            <p:ph type="title"/>
          </p:nvPr>
        </p:nvSpPr>
        <p:spPr>
          <a:xfrm>
            <a:off x="620713" y="2483712"/>
            <a:ext cx="526537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54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3600"/>
              <a:t>Объекты доступны для редактирования</a:t>
            </a:r>
            <a:endParaRPr/>
          </a:p>
        </p:txBody>
      </p:sp>
      <p:sp>
        <p:nvSpPr>
          <p:cNvPr id="1077" name="Google Shape;1077;p84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Контроль компонентов</dc:title>
  <cp:lastModifiedBy/>
  <cp:revision>1</cp:revision>
  <dcterms:modified xsi:type="dcterms:W3CDTF">2026-09-27T17:02:46Z</dcterms:modified>
  <dc:subject>Template-adaptive presentation</dc:subject>
  <cp:keywords>BrandDeck, template-adaptive, presentation</cp:keywords>
  <dc:creator/>
  <dc:description/>
</cp:coreProperties>
</file>