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3"/>
  </p:notesMasterIdLst>
  <p:sldIdLst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"/>
    </a:lvl1pPr>
  </p:notesStyle>
</p:notesMaster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brutalism_field_guid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brutalism_field_guid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235dcbdb808d7aae.png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04c2bf7f81f67f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a9f44d8a2f47927e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Line 5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5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Пилот ИИ-помощника по внутренним регламентам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6" name="Line 6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8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Поиск инструкции занимает до 30 минут, треть обращений повторяется</a:t>
            </a:r>
          </a:p>
        </p:txBody>
      </p:sp>
      <p:grpSp>
        <p:nvGrpSpPr>
          <p:cNvPr id="39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40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Icon users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44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Icon file-text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48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Icon headset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1">
                  <a:solidFill>
                    <a:srgbClr val="1C1A17"/>
                  </a:solidFill>
                  <a:latin typeface="Consolas"/>
                </a:rPr>
                <a:t>Треть обращений в поддержку —</a:t>
              </a:r>
              <a:r>
                <a:rPr sz="1200" b="0">
                  <a:solidFill>
                    <a:srgbClr val="1C1A17"/>
                  </a:solidFill>
                  <a:latin typeface="Consolas"/>
                </a:rPr>
                <a:t> повторяющиеся вопросы.</a:t>
              </a:r>
            </a:p>
          </p:txBody>
        </p:sp>
        <p:sp>
          <p:nvSpPr>
            <p:cNvPr id="52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BrandDeck Icon user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6" name="Line 6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46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Сотруднику нужен источник ответа, специалисту — контекст вопроса</a:t>
            </a:r>
          </a:p>
        </p:txBody>
      </p:sp>
      <p:sp>
        <p:nvSpPr>
          <p:cNvPr id="47" name="BrandDeck Body"/>
          <p:cNvSpPr txBox="1"/>
          <p:nvPr/>
        </p:nvSpPr>
        <p:spPr>
          <a:xfrm>
            <a:off x="3127248" y="1280160"/>
            <a:ext cx="1143365" cy="5166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1C1A17"/>
                </a:solidFill>
                <a:latin typeface="Consolas"/>
              </a:rPr>
              <a:t>• Сотруднику нужен понятный ответ со ссылкой на документ-источник.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1C1A17"/>
                </a:solidFill>
                <a:latin typeface="Consolas"/>
              </a:rPr>
              <a:t>• Специалисту нужен контекст вопроса, если автоматического ответа недостаточно.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1C1A17"/>
                </a:solidFill>
                <a:latin typeface="Consolas"/>
              </a:rPr>
              <a:t>• Передача вопроса вместе с контекстом избавляет сотрудника от повторного объяснения.</a:t>
            </a:r>
          </a:p>
        </p:txBody>
      </p:sp>
      <p:pic>
        <p:nvPicPr>
          <p:cNvPr id="48" name="BrandDeck Image" descr="02 сотрудник специалист поддержки"/>
          <p:cNvPicPr>
            <a:picLocks noChangeAspect="1"/>
          </p:cNvPicPr>
          <p:nvPr/>
        </p:nvPicPr>
        <p:blipFill>
          <a:blip r:embed="rId3"/>
          <a:srcRect l="41884" r="41884"/>
          <a:stretch>
            <a:fillRect/>
          </a:stretch>
        </p:blipFill>
        <p:spPr>
          <a:xfrm>
            <a:off x="4526645" y="1280160"/>
            <a:ext cx="1490106" cy="516635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6" name="Line 6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8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ИИ-помощник отвечает по регламентам и передаёт сложные вопросы специалисту</a:t>
            </a:r>
          </a:p>
        </p:txBody>
      </p:sp>
      <p:grpSp>
        <p:nvGrpSpPr>
          <p:cNvPr id="39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40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Icon building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44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Icon circle-help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48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Icon file-text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52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BrandDeck Icon circle-check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Line 5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5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Вопрос проходит путь от портала до ответа со ссылкой или эскалации</a:t>
            </a:r>
          </a:p>
        </p:txBody>
      </p:sp>
      <p:grpSp>
        <p:nvGrpSpPr>
          <p:cNvPr id="36" name="BrandDeck Diagram icon_grid" descr="icon_grid: Сотрудник задаёт вопрос во внутреннем портале.; Помощник ищет ответ в регламентах и показывает источник.; При отсутствии подтверждённого ответа вопрос передаётся специалисту.; Специалист получает контекст исходного обращения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7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BrandDeck Icon users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Сотрудник задаёт вопрос во внутреннем портале.</a:t>
              </a:r>
            </a:p>
          </p:txBody>
        </p:sp>
        <p:sp>
          <p:nvSpPr>
            <p:cNvPr id="41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BrandDeck Icon life-buoy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4930" y="4930"/>
                  </a:moveTo>
                  <a:lnTo>
                    <a:pt x="9170" y="9170"/>
                  </a:lnTo>
                </a:path>
                <a:path w="24000" h="24000" fill="none">
                  <a:moveTo>
                    <a:pt x="14830" y="9170"/>
                  </a:moveTo>
                  <a:lnTo>
                    <a:pt x="19070" y="4930"/>
                  </a:lnTo>
                </a:path>
                <a:path w="24000" h="24000" fill="none">
                  <a:moveTo>
                    <a:pt x="14830" y="14830"/>
                  </a:moveTo>
                  <a:lnTo>
                    <a:pt x="19070" y="19070"/>
                  </a:lnTo>
                </a:path>
                <a:path w="24000" h="24000" fill="none">
                  <a:moveTo>
                    <a:pt x="9170" y="14830"/>
                  </a:moveTo>
                  <a:lnTo>
                    <a:pt x="4930" y="19070"/>
                  </a:lnTo>
                </a:path>
                <a:path w="24000" h="24000" fill="none">
                  <a:moveTo>
                    <a:pt x="16000" y="12000"/>
                  </a:moveTo>
                  <a:cubicBezTo>
                    <a:pt x="16000" y="14209"/>
                    <a:pt x="14209" y="16000"/>
                    <a:pt x="12000" y="16000"/>
                  </a:cubicBezTo>
                  <a:cubicBezTo>
                    <a:pt x="9791" y="16000"/>
                    <a:pt x="8000" y="14209"/>
                    <a:pt x="8000" y="12000"/>
                  </a:cubicBezTo>
                  <a:cubicBezTo>
                    <a:pt x="8000" y="9791"/>
                    <a:pt x="9791" y="8000"/>
                    <a:pt x="12000" y="8000"/>
                  </a:cubicBezTo>
                  <a:cubicBezTo>
                    <a:pt x="14209" y="8000"/>
                    <a:pt x="16000" y="9791"/>
                    <a:pt x="16000" y="12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Помощник ищет ответ в регламентах и показывает источник.</a:t>
              </a:r>
            </a:p>
          </p:txBody>
        </p:sp>
        <p:sp>
          <p:nvSpPr>
            <p:cNvPr id="45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BrandDeck Icon circle-check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При отсутствии подтверждённого ответа вопрос передаётся специалисту.</a:t>
              </a:r>
            </a:p>
          </p:txBody>
        </p:sp>
        <p:sp>
          <p:nvSpPr>
            <p:cNvPr id="49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BrandDeck Icon user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Специалист получает контекст исходного обращения.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Line 5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46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7"/>
              </a:spcAft>
            </a:pPr>
            <a:r>
              <a:rPr sz="1650" b="1">
                <a:solidFill>
                  <a:srgbClr val="1C1A17"/>
                </a:solidFill>
                <a:latin typeface="Consolas"/>
              </a:rPr>
              <a:t>Документы остаются внутри контура, неподтверждённый ответ проверяет специалист</a:t>
            </a:r>
          </a:p>
        </p:txBody>
      </p:sp>
      <p:grpSp>
        <p:nvGrpSpPr>
          <p:cNvPr id="47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48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Icon brain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52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BrandDeck Icon file-text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56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BrandDeck Icon circle-check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60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BrandDeck Icon user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Line 5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29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Пилот охватит 150 сотрудников двух подразделений за 6 недель</a:t>
            </a:r>
          </a:p>
        </p:txBody>
      </p:sp>
      <p:grpSp>
        <p:nvGrpSpPr>
          <p:cNvPr id="30" name="BrandDeck Diagram icon_grid" descr="icon_grid: Пилот охватывает 2 подразделения и 150 сотрудников.; Продолжительность пилота — 6 недель.; В пилоте проверяются ответы по регламентам и передача вопросов специалисту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1" name="BrandDeck Diagram Card 1"/>
            <p:cNvSpPr/>
            <p:nvPr/>
          </p:nvSpPr>
          <p:spPr>
            <a:xfrm>
              <a:off x="3127248" y="1280160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BrandDeck Diagram Icon 1 Badge"/>
            <p:cNvSpPr/>
            <p:nvPr/>
          </p:nvSpPr>
          <p:spPr>
            <a:xfrm>
              <a:off x="3329513" y="1482425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BrandDeck Icon rocket"/>
            <p:cNvSpPr/>
            <p:nvPr/>
          </p:nvSpPr>
          <p:spPr>
            <a:xfrm>
              <a:off x="3431089" y="1584001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BrandDeck Diagram Text 1"/>
            <p:cNvSpPr txBox="1"/>
            <p:nvPr/>
          </p:nvSpPr>
          <p:spPr>
            <a:xfrm>
              <a:off x="3268833" y="2085722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Пилот охватывает 2 подразделения и 150 сотрудников.</a:t>
              </a:r>
            </a:p>
          </p:txBody>
        </p:sp>
        <p:sp>
          <p:nvSpPr>
            <p:cNvPr id="35" name="BrandDeck Diagram Card 2"/>
            <p:cNvSpPr/>
            <p:nvPr/>
          </p:nvSpPr>
          <p:spPr>
            <a:xfrm>
              <a:off x="3127248" y="3038855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BrandDeck Diagram Icon 2 Badge"/>
            <p:cNvSpPr/>
            <p:nvPr/>
          </p:nvSpPr>
          <p:spPr>
            <a:xfrm>
              <a:off x="3329513" y="3241121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BrandDeck Icon hourglass"/>
            <p:cNvSpPr/>
            <p:nvPr/>
          </p:nvSpPr>
          <p:spPr>
            <a:xfrm>
              <a:off x="3431089" y="3342697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22000"/>
                  </a:moveTo>
                  <a:lnTo>
                    <a:pt x="19000" y="22000"/>
                  </a:lnTo>
                </a:path>
                <a:path w="24000" h="24000" fill="none">
                  <a:moveTo>
                    <a:pt x="5000" y="2000"/>
                  </a:moveTo>
                  <a:lnTo>
                    <a:pt x="19000" y="2000"/>
                  </a:lnTo>
                </a:path>
                <a:path w="24000" h="24000" fill="none">
                  <a:moveTo>
                    <a:pt x="17000" y="22000"/>
                  </a:moveTo>
                  <a:lnTo>
                    <a:pt x="17000" y="17828"/>
                  </a:lnTo>
                  <a:cubicBezTo>
                    <a:pt x="17000" y="17298"/>
                    <a:pt x="16789" y="16789"/>
                    <a:pt x="16414" y="16414"/>
                  </a:cubicBezTo>
                  <a:lnTo>
                    <a:pt x="12000" y="12000"/>
                  </a:lnTo>
                  <a:lnTo>
                    <a:pt x="7586" y="16414"/>
                  </a:lnTo>
                  <a:cubicBezTo>
                    <a:pt x="7211" y="16789"/>
                    <a:pt x="7000" y="17298"/>
                    <a:pt x="7000" y="17828"/>
                  </a:cubicBez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6172"/>
                  </a:lnTo>
                  <a:cubicBezTo>
                    <a:pt x="7000" y="6702"/>
                    <a:pt x="7211" y="7211"/>
                    <a:pt x="7586" y="7586"/>
                  </a:cubicBezTo>
                  <a:lnTo>
                    <a:pt x="12000" y="12000"/>
                  </a:lnTo>
                  <a:lnTo>
                    <a:pt x="16414" y="7586"/>
                  </a:lnTo>
                  <a:cubicBezTo>
                    <a:pt x="16789" y="7211"/>
                    <a:pt x="17000" y="6702"/>
                    <a:pt x="17000" y="6172"/>
                  </a:cubicBezTo>
                  <a:lnTo>
                    <a:pt x="17000" y="2000"/>
                  </a:ln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BrandDeck Diagram Text 2"/>
            <p:cNvSpPr txBox="1"/>
            <p:nvPr/>
          </p:nvSpPr>
          <p:spPr>
            <a:xfrm>
              <a:off x="3268833" y="3844418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1">
                  <a:solidFill>
                    <a:srgbClr val="1C1A17"/>
                  </a:solidFill>
                  <a:latin typeface="Consolas"/>
                </a:rPr>
                <a:t>Продолжительность пилота —</a:t>
              </a:r>
              <a:r>
                <a:rPr sz="1200" b="0">
                  <a:solidFill>
                    <a:srgbClr val="1C1A17"/>
                  </a:solidFill>
                  <a:latin typeface="Consolas"/>
                </a:rPr>
                <a:t> 6 недель.</a:t>
              </a:r>
            </a:p>
          </p:txBody>
        </p:sp>
        <p:sp>
          <p:nvSpPr>
            <p:cNvPr id="39" name="BrandDeck Diagram Card 3"/>
            <p:cNvSpPr/>
            <p:nvPr/>
          </p:nvSpPr>
          <p:spPr>
            <a:xfrm>
              <a:off x="3127248" y="4797551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Icon 3 Badge"/>
            <p:cNvSpPr/>
            <p:nvPr/>
          </p:nvSpPr>
          <p:spPr>
            <a:xfrm>
              <a:off x="3329513" y="4999817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Icon user"/>
            <p:cNvSpPr/>
            <p:nvPr/>
          </p:nvSpPr>
          <p:spPr>
            <a:xfrm>
              <a:off x="3431089" y="5101393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Text 3"/>
            <p:cNvSpPr txBox="1"/>
            <p:nvPr/>
          </p:nvSpPr>
          <p:spPr>
            <a:xfrm>
              <a:off x="3268833" y="5603114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В пилоте проверяются ответы по регламентам и передача вопросов специалисту.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6" name="Line 6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7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Успех измерят временем поиска и долей обращений без специалиста</a:t>
            </a:r>
          </a:p>
        </p:txBody>
      </p:sp>
      <p:grpSp>
        <p:nvGrpSpPr>
          <p:cNvPr id="38" name="BrandDeck Diagram icon_grid" descr="icon_grid: Команда измеряет время поиска ответа.; Также измеряется доля обращений, закрытых без специалиста.; Целевые значения согласуются до запуска.; Фактических результатов пилота пока нет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9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Icon users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Команда измеряет время поиска ответа.</a:t>
              </a:r>
            </a:p>
          </p:txBody>
        </p:sp>
        <p:sp>
          <p:nvSpPr>
            <p:cNvPr id="43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randDeck Icon chart-column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Также измеряется доля обращений, закрытых без специалиста.</a:t>
              </a:r>
            </a:p>
          </p:txBody>
        </p:sp>
        <p:sp>
          <p:nvSpPr>
            <p:cNvPr id="47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randDeck Icon target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8000" y="12000"/>
                  </a:moveTo>
                  <a:cubicBezTo>
                    <a:pt x="18000" y="15314"/>
                    <a:pt x="15314" y="18000"/>
                    <a:pt x="12000" y="18000"/>
                  </a:cubicBezTo>
                  <a:cubicBezTo>
                    <a:pt x="8686" y="18000"/>
                    <a:pt x="6000" y="15314"/>
                    <a:pt x="6000" y="12000"/>
                  </a:cubicBezTo>
                  <a:cubicBezTo>
                    <a:pt x="6000" y="8686"/>
                    <a:pt x="8686" y="6000"/>
                    <a:pt x="12000" y="6000"/>
                  </a:cubicBezTo>
                  <a:cubicBezTo>
                    <a:pt x="15314" y="6000"/>
                    <a:pt x="18000" y="8686"/>
                    <a:pt x="18000" y="12000"/>
                  </a:cubicBezTo>
                  <a:close/>
                </a:path>
                <a:path w="24000" h="24000" fill="none">
                  <a:moveTo>
                    <a:pt x="14000" y="12000"/>
                  </a:moveTo>
                  <a:cubicBezTo>
                    <a:pt x="14000" y="13105"/>
                    <a:pt x="13105" y="14000"/>
                    <a:pt x="12000" y="14000"/>
                  </a:cubicBezTo>
                  <a:cubicBezTo>
                    <a:pt x="10895" y="14000"/>
                    <a:pt x="10000" y="13105"/>
                    <a:pt x="10000" y="12000"/>
                  </a:cubicBezTo>
                  <a:cubicBezTo>
                    <a:pt x="10000" y="10895"/>
                    <a:pt x="10895" y="10000"/>
                    <a:pt x="12000" y="10000"/>
                  </a:cubicBezTo>
                  <a:cubicBezTo>
                    <a:pt x="13105" y="10000"/>
                    <a:pt x="14000" y="10895"/>
                    <a:pt x="14000" y="12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Целевые значения согласуются до запуска.</a:t>
              </a:r>
            </a:p>
          </p:txBody>
        </p:sp>
        <p:sp>
          <p:nvSpPr>
            <p:cNvPr id="51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BrandDeck Icon trophy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9000"/>
                  </a:moveTo>
                  <a:lnTo>
                    <a:pt x="4500" y="9000"/>
                  </a:lnTo>
                  <a:cubicBezTo>
                    <a:pt x="3119" y="9000"/>
                    <a:pt x="2000" y="7881"/>
                    <a:pt x="2000" y="6500"/>
                  </a:cubicBezTo>
                  <a:cubicBezTo>
                    <a:pt x="2000" y="5119"/>
                    <a:pt x="3119" y="4000"/>
                    <a:pt x="4500" y="4000"/>
                  </a:cubicBezTo>
                  <a:lnTo>
                    <a:pt x="6000" y="4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19500" y="9000"/>
                  </a:lnTo>
                  <a:cubicBezTo>
                    <a:pt x="20881" y="9000"/>
                    <a:pt x="22000" y="7881"/>
                    <a:pt x="22000" y="6500"/>
                  </a:cubicBezTo>
                  <a:cubicBezTo>
                    <a:pt x="22000" y="5119"/>
                    <a:pt x="20881" y="4000"/>
                    <a:pt x="19500" y="4000"/>
                  </a:cubicBezTo>
                  <a:lnTo>
                    <a:pt x="18000" y="4000"/>
                  </a:lnTo>
                </a:path>
                <a:path w="24000" h="24000" fill="none">
                  <a:moveTo>
                    <a:pt x="4000" y="22000"/>
                  </a:moveTo>
                  <a:lnTo>
                    <a:pt x="20000" y="22000"/>
                  </a:lnTo>
                </a:path>
                <a:path w="24000" h="24000" fill="none">
                  <a:moveTo>
                    <a:pt x="10000" y="14660"/>
                  </a:moveTo>
                  <a:lnTo>
                    <a:pt x="10000" y="17000"/>
                  </a:lnTo>
                  <a:cubicBezTo>
                    <a:pt x="10000" y="17550"/>
                    <a:pt x="9530" y="17980"/>
                    <a:pt x="9030" y="18210"/>
                  </a:cubicBezTo>
                  <a:cubicBezTo>
                    <a:pt x="7850" y="18750"/>
                    <a:pt x="7000" y="20240"/>
                    <a:pt x="7000" y="22000"/>
                  </a:cubicBezTo>
                </a:path>
                <a:path w="24000" h="24000" fill="none">
                  <a:moveTo>
                    <a:pt x="14000" y="14660"/>
                  </a:moveTo>
                  <a:lnTo>
                    <a:pt x="14000" y="17000"/>
                  </a:lnTo>
                  <a:cubicBezTo>
                    <a:pt x="14000" y="17550"/>
                    <a:pt x="14470" y="17980"/>
                    <a:pt x="14970" y="18210"/>
                  </a:cubicBezTo>
                  <a:cubicBezTo>
                    <a:pt x="16150" y="18750"/>
                    <a:pt x="17000" y="20240"/>
                    <a:pt x="17000" y="22000"/>
                  </a:cubicBezTo>
                </a:path>
                <a:path w="24000" h="24000" fill="none">
                  <a:moveTo>
                    <a:pt x="18000" y="2000"/>
                  </a:moveTo>
                  <a:lnTo>
                    <a:pt x="6000" y="2000"/>
                  </a:lnTo>
                  <a:lnTo>
                    <a:pt x="6000" y="9000"/>
                  </a:lnTo>
                  <a:cubicBezTo>
                    <a:pt x="6000" y="12314"/>
                    <a:pt x="8686" y="15000"/>
                    <a:pt x="12000" y="15000"/>
                  </a:cubicBezTo>
                  <a:cubicBezTo>
                    <a:pt x="15314" y="15000"/>
                    <a:pt x="18000" y="12314"/>
                    <a:pt x="18000" y="9000"/>
                  </a:cubicBezTo>
                  <a:lnTo>
                    <a:pt x="18000" y="2000"/>
                  </a:ln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Фактических результатов пилота пока нет.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Rectangle 5"/>
          <p:cNvSpPr/>
          <p:nvPr/>
        </p:nvSpPr>
        <p:spPr>
          <a:xfrm>
            <a:off x="0" y="251460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6" name="Line 6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29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Команда из 3 человек подготовит и проверит пилот</a:t>
            </a:r>
          </a:p>
        </p:txBody>
      </p:sp>
      <p:grpSp>
        <p:nvGrpSpPr>
          <p:cNvPr id="30" name="BrandDeck Diagram icon_grid" descr="icon_grid: Просим одобрить пилот и выделить команду из 3 человек.; Команда готовит инструкции, проверяет ответы и сопровождает запуск.; Дальнейшее использование решается после измерения результатов и обратной связи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1" name="BrandDeck Diagram Card 1"/>
            <p:cNvSpPr/>
            <p:nvPr/>
          </p:nvSpPr>
          <p:spPr>
            <a:xfrm>
              <a:off x="3127248" y="1280160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BrandDeck Diagram Icon 1 Badge"/>
            <p:cNvSpPr/>
            <p:nvPr/>
          </p:nvSpPr>
          <p:spPr>
            <a:xfrm>
              <a:off x="3329513" y="1482425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BrandDeck Icon rocket"/>
            <p:cNvSpPr/>
            <p:nvPr/>
          </p:nvSpPr>
          <p:spPr>
            <a:xfrm>
              <a:off x="3431089" y="1584001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BrandDeck Diagram Text 1"/>
            <p:cNvSpPr txBox="1"/>
            <p:nvPr/>
          </p:nvSpPr>
          <p:spPr>
            <a:xfrm>
              <a:off x="3268833" y="2085722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Просим одобрить пилот и выделить команду из 3 человек.</a:t>
              </a:r>
            </a:p>
          </p:txBody>
        </p:sp>
        <p:sp>
          <p:nvSpPr>
            <p:cNvPr id="35" name="BrandDeck Diagram Card 2"/>
            <p:cNvSpPr/>
            <p:nvPr/>
          </p:nvSpPr>
          <p:spPr>
            <a:xfrm>
              <a:off x="3127248" y="3038855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BrandDeck Diagram Icon 2 Badge"/>
            <p:cNvSpPr/>
            <p:nvPr/>
          </p:nvSpPr>
          <p:spPr>
            <a:xfrm>
              <a:off x="3329513" y="3241121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BrandDeck Icon users"/>
            <p:cNvSpPr/>
            <p:nvPr/>
          </p:nvSpPr>
          <p:spPr>
            <a:xfrm>
              <a:off x="3431089" y="3342697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BrandDeck Diagram Text 2"/>
            <p:cNvSpPr txBox="1"/>
            <p:nvPr/>
          </p:nvSpPr>
          <p:spPr>
            <a:xfrm>
              <a:off x="3268833" y="3844418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Команда готовит инструкции, проверяет ответы и сопровождает запуск.</a:t>
              </a:r>
            </a:p>
          </p:txBody>
        </p:sp>
        <p:sp>
          <p:nvSpPr>
            <p:cNvPr id="39" name="BrandDeck Diagram Card 3"/>
            <p:cNvSpPr/>
            <p:nvPr/>
          </p:nvSpPr>
          <p:spPr>
            <a:xfrm>
              <a:off x="3127248" y="4797551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Icon 3 Badge"/>
            <p:cNvSpPr/>
            <p:nvPr/>
          </p:nvSpPr>
          <p:spPr>
            <a:xfrm>
              <a:off x="3329513" y="4999817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Icon chart-column"/>
            <p:cNvSpPr/>
            <p:nvPr/>
          </p:nvSpPr>
          <p:spPr>
            <a:xfrm>
              <a:off x="3431089" y="5101393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Text 3"/>
            <p:cNvSpPr txBox="1"/>
            <p:nvPr/>
          </p:nvSpPr>
          <p:spPr>
            <a:xfrm>
              <a:off x="3268833" y="5603114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Дальнейшее использование решается после измерения результатов и обратной связи.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7" name="Line 7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9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5"/>
              </a:spcAft>
            </a:pPr>
            <a:r>
              <a:rPr sz="2700" b="1">
                <a:solidFill>
                  <a:srgbClr val="1C1A17"/>
                </a:solidFill>
                <a:latin typeface="Consolas"/>
              </a:rPr>
              <a:t>Спасибо</a:t>
            </a:r>
          </a:p>
        </p:txBody>
      </p:sp>
      <p:sp>
        <p:nvSpPr>
          <p:cNvPr id="40" name="BrandDeck Subtitle"/>
          <p:cNvSpPr txBox="1"/>
          <p:nvPr/>
        </p:nvSpPr>
        <p:spPr>
          <a:xfrm>
            <a:off x="731520" y="4389120"/>
            <a:ext cx="1072591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5"/>
              </a:spcAft>
            </a:pPr>
            <a:r>
              <a:rPr sz="1500">
                <a:solidFill>
                  <a:srgbClr val="1C1A17"/>
                </a:solidFill>
                <a:latin typeface="Consolas"/>
              </a:rP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169_brutalism_field_guide">
  <a:themeElements>
    <a:clrScheme name="ppt169_brutalism_field_guide">
      <a:dk1>
        <a:srgbClr val="1C1A17"/>
      </a:dk1>
      <a:lt1>
        <a:srgbClr val="F2F0EA"/>
      </a:lt1>
      <a:dk2>
        <a:srgbClr val="1F497D"/>
      </a:dk2>
      <a:lt2>
        <a:srgbClr val="E2DFD5"/>
      </a:lt2>
      <a:accent1>
        <a:srgbClr val="14110F"/>
      </a:accent1>
      <a:accent2>
        <a:srgbClr val="C8331E"/>
      </a:accent2>
      <a:accent3>
        <a:srgbClr val="6E6A62"/>
      </a:accent3>
      <a:accent4>
        <a:srgbClr val="14110F"/>
      </a:accent4>
      <a:accent5>
        <a:srgbClr val="55514A"/>
      </a:accent5>
      <a:accent6>
        <a:srgbClr val="9A958B"/>
      </a:accent6>
      <a:hlink>
        <a:srgbClr val="C8331E"/>
      </a:hlink>
      <a:folHlink>
        <a:srgbClr val="6E6A62"/>
      </a:folHlink>
    </a:clrScheme>
    <a:fontScheme name="ppt169_brutalism_field_guide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brutalism_field_guid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169_brutalism_field_guide">
  <a:themeElements>
    <a:clrScheme name="ppt169_brutalism_field_guide">
      <a:dk1>
        <a:srgbClr val="1C1A17"/>
      </a:dk1>
      <a:lt1>
        <a:srgbClr val="F2F0EA"/>
      </a:lt1>
      <a:dk2>
        <a:srgbClr val="1F497D"/>
      </a:dk2>
      <a:lt2>
        <a:srgbClr val="E2DFD5"/>
      </a:lt2>
      <a:accent1>
        <a:srgbClr val="14110F"/>
      </a:accent1>
      <a:accent2>
        <a:srgbClr val="C8331E"/>
      </a:accent2>
      <a:accent3>
        <a:srgbClr val="6E6A62"/>
      </a:accent3>
      <a:accent4>
        <a:srgbClr val="14110F"/>
      </a:accent4>
      <a:accent5>
        <a:srgbClr val="55514A"/>
      </a:accent5>
      <a:accent6>
        <a:srgbClr val="9A958B"/>
      </a:accent6>
      <a:hlink>
        <a:srgbClr val="C8331E"/>
      </a:hlink>
      <a:folHlink>
        <a:srgbClr val="6E6A62"/>
      </a:folHlink>
    </a:clrScheme>
    <a:fontScheme name="ppt169_brutalism_field_guide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brutalism_field_guid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Пилот ИИ-помощника по внутренним регламентам</dc:title>
  <dc:subject>Template-adaptive presentation</dc:subject>
  <dc:creator/>
  <cp:keywords>BrandDeck, template-adaptive, presentation</cp:keywords>
  <dc:description/>
  <dc:language>en</dc:language>
  <cp:lastModifiedBy/>
  <cp:revision>1</cp:revision>
  <dcterms:created xsi:type="dcterms:W3CDTF">2026-09-04T11:42:18Z</dcterms:created>
  <dcterms:modified xsi:type="dcterms:W3CDTF">2026-09-04T11:42:18Z</dcterms:modified>
  <cp:category/>
  <cp:contentStatus/>
</cp:coreProperties>
</file>