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57.png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endParaRPr/>
          </a:p>
        </p:txBody>
      </p:sp>
      <p:sp>
        <p:nvSpPr>
          <p:cNvPr id="237" name="BrandDeck Text 237"/>
          <p:cNvSpPr txBox="1"/>
          <p:nvPr>
            <p:ph type="title"/>
          </p:nvPr>
        </p:nvSpPr>
        <p:spPr>
          <a:xfrm>
            <a:off x="622261" y="2921912"/>
            <a:ext cx="527373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3200"/>
              <a:t>Пилот ИИ-помощника по внутренним регламентам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2000"/>
              <a:t>Поиск инструкции занимает до 30 минут, треть обращений повторяется</a:t>
            </a:r>
            <a:endParaRPr/>
          </a:p>
        </p:txBody>
      </p:sp>
      <p:grpSp>
        <p:nvGrpSpPr>
          <p:cNvPr id="2" name="BrandDeck Diagram icon_grid" descr="icon_grid: Сотрудник тратит до 30 минут на поиск нужной инструкции.; Регламенты находятся в нескольких источниках, и поиск отвлекает от основной работы.; Треть обращений в поддержку — повторяющиеся вопросы.; Специалисты снова тратят время на поиск одного и того же ответа."/>
          <p:cNvGrpSpPr/>
          <p:nvPr/>
        </p:nvGrpSpPr>
        <p:grpSpPr>
          <a:xfrm>
            <a:off x="677334" y="2912953"/>
            <a:ext cx="10855853" cy="2782924"/>
            <a:chOff x="677334" y="2912953"/>
            <a:chExt cx="10855853" cy="2782924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90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users"/>
            <p:cNvSpPr/>
            <p:nvPr/>
          </p:nvSpPr>
          <p:spPr>
            <a:xfrm>
              <a:off x="1000898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1501685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6213819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6433275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file-text"/>
            <p:cNvSpPr/>
            <p:nvPr/>
          </p:nvSpPr>
          <p:spPr>
            <a:xfrm>
              <a:off x="6537384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7038171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Регламенты находятся в нескольких источниках, и поиск отвлекает от основной работы.</a:t>
              </a:r>
            </a:p>
          </p:txBody>
        </p:sp>
        <p:sp>
          <p:nvSpPr>
            <p:cNvPr id="552" name="BrandDeck Diagram Card 3"/>
            <p:cNvSpPr/>
            <p:nvPr/>
          </p:nvSpPr>
          <p:spPr>
            <a:xfrm>
              <a:off x="677334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BrandDeck Diagram Icon 3 Badge"/>
            <p:cNvSpPr/>
            <p:nvPr/>
          </p:nvSpPr>
          <p:spPr>
            <a:xfrm>
              <a:off x="896790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BrandDeck Icon headset"/>
            <p:cNvSpPr/>
            <p:nvPr/>
          </p:nvSpPr>
          <p:spPr>
            <a:xfrm>
              <a:off x="1000898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BrandDeck Diagram Text 3"/>
            <p:cNvSpPr txBox="1"/>
            <p:nvPr/>
          </p:nvSpPr>
          <p:spPr>
            <a:xfrm>
              <a:off x="1501685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000000"/>
                  </a:solidFill>
                  <a:latin typeface="Play"/>
                </a:rPr>
                <a:t>Треть обращений в поддержку —</a:t>
              </a:r>
              <a:r>
                <a:rPr sz="1800" b="0">
                  <a:solidFill>
                    <a:srgbClr val="000000"/>
                  </a:solidFill>
                  <a:latin typeface="Play"/>
                </a:rPr>
                <a:t> повторяющиеся вопросы.</a:t>
              </a:r>
            </a:p>
          </p:txBody>
        </p:sp>
        <p:sp>
          <p:nvSpPr>
            <p:cNvPr id="556" name="BrandDeck Diagram Card 4"/>
            <p:cNvSpPr/>
            <p:nvPr/>
          </p:nvSpPr>
          <p:spPr>
            <a:xfrm>
              <a:off x="6213819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7" name="BrandDeck Diagram Icon 4 Badge"/>
            <p:cNvSpPr/>
            <p:nvPr/>
          </p:nvSpPr>
          <p:spPr>
            <a:xfrm>
              <a:off x="6433275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8" name="BrandDeck Icon user"/>
            <p:cNvSpPr/>
            <p:nvPr/>
          </p:nvSpPr>
          <p:spPr>
            <a:xfrm>
              <a:off x="6537384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9" name="BrandDeck Diagram Text 4"/>
            <p:cNvSpPr txBox="1"/>
            <p:nvPr/>
          </p:nvSpPr>
          <p:spPr>
            <a:xfrm>
              <a:off x="7038171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Специалисты снова тратят время на поиск одного и того же ответа.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658813" y="692150"/>
            <a:ext cx="5254307" cy="1380285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/>
              <a:t>Сотруднику нужен источник ответа, специалисту — контекст вопроса</a:t>
            </a:r>
          </a:p>
        </p:txBody>
      </p:sp>
      <p:sp>
        <p:nvSpPr>
          <p:cNvPr id="3" name="BrandDeck Text 3"/>
          <p:cNvSpPr>
            <a:spLocks noGrp="1"/>
          </p:cNvSpPr>
          <p:nvPr>
            <p:ph type="body" idx="1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Сотруднику нужен понятный ответ со ссылкой на документ-источник.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Специалисту нужен контекст вопроса, если автоматического ответа недостаточно.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Передача вопроса вместе с контекстом избавляет сотрудника от повторного объяснения.</a:t>
            </a:r>
          </a:p>
        </p:txBody>
      </p:sp>
      <p:pic>
        <p:nvPicPr>
          <p:cNvPr id="4" name="BrandDeck Image" descr="02 сотрудник специалист поддержки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24987" r="24987"/>
          <a:stretch>
            <a:fillRect/>
          </a:stretch>
        </p:blipFill>
        <p:spPr/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76" name="BrandDeck Text 27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1800">
                <a:solidFill>
                  <a:schemeClr val="dk2"/>
                </a:solidFill>
              </a:rPr>
              <a:t>ИИ-помощник отвечает по регламентам и передаёт сложные вопросы специалисту</a:t>
            </a:r>
            <a:endParaRPr/>
          </a:p>
        </p:txBody>
      </p:sp>
      <p:grpSp>
        <p:nvGrpSpPr>
          <p:cNvPr id="2" name="BrandDeck Diagram icon_grid" descr="icon_grid: ИИ-помощник работает во внутреннем портале компании.; Он принимает вопрос сотрудника и ищет подходящий регламент.; Ответ сопровождается ссылкой на документ-источник.; Если подтверждённого ответа нет, вопрос принимает специалист поддержки."/>
          <p:cNvGrpSpPr/>
          <p:nvPr/>
        </p:nvGrpSpPr>
        <p:grpSpPr>
          <a:xfrm>
            <a:off x="671512" y="2398050"/>
            <a:ext cx="10874374" cy="2783294"/>
            <a:chOff x="671512" y="2398050"/>
            <a:chExt cx="10874374" cy="2783294"/>
          </a:xfrm>
        </p:grpSpPr>
        <p:sp>
          <p:nvSpPr>
            <p:cNvPr id="279" name="BrandDeck Diagram Card 1"/>
            <p:cNvSpPr/>
            <p:nvPr/>
          </p:nvSpPr>
          <p:spPr>
            <a:xfrm>
              <a:off x="671512" y="2398050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0" name="BrandDeck Diagram Icon 1 Badge"/>
            <p:cNvSpPr/>
            <p:nvPr/>
          </p:nvSpPr>
          <p:spPr>
            <a:xfrm>
              <a:off x="890967" y="2744798"/>
              <a:ext cx="589406" cy="5894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1" name="BrandDeck Icon building"/>
            <p:cNvSpPr/>
            <p:nvPr/>
          </p:nvSpPr>
          <p:spPr>
            <a:xfrm>
              <a:off x="1020637" y="2874468"/>
              <a:ext cx="330067" cy="33006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9000" y="22000"/>
                  </a:moveTo>
                  <a:lnTo>
                    <a:pt x="9000" y="18000"/>
                  </a:lnTo>
                  <a:lnTo>
                    <a:pt x="15000" y="18000"/>
                  </a:lnTo>
                  <a:lnTo>
                    <a:pt x="15000" y="22000"/>
                  </a:lnTo>
                </a:path>
                <a:path w="24000" h="24000" fill="none">
                  <a:moveTo>
                    <a:pt x="8000" y="6000"/>
                  </a:moveTo>
                  <a:lnTo>
                    <a:pt x="8010" y="6000"/>
                  </a:lnTo>
                </a:path>
                <a:path w="24000" h="24000" fill="none">
                  <a:moveTo>
                    <a:pt x="16000" y="6000"/>
                  </a:moveTo>
                  <a:lnTo>
                    <a:pt x="16010" y="6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10" y="6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10" y="14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</a:pathLst>
            </a:custGeom>
            <a:noFill/>
            <a:ln w="2750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2" name="BrandDeck Diagram Text 1"/>
            <p:cNvSpPr txBox="1"/>
            <p:nvPr/>
          </p:nvSpPr>
          <p:spPr>
            <a:xfrm>
              <a:off x="1612048" y="2529723"/>
              <a:ext cx="4168451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ИИ-помощник работает во внутреннем портале компании.</a:t>
              </a:r>
            </a:p>
          </p:txBody>
        </p:sp>
        <p:sp>
          <p:nvSpPr>
            <p:cNvPr id="283" name="BrandDeck Diagram Card 2"/>
            <p:cNvSpPr/>
            <p:nvPr/>
          </p:nvSpPr>
          <p:spPr>
            <a:xfrm>
              <a:off x="6217443" y="2398050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4" name="BrandDeck Diagram Icon 2 Badge"/>
            <p:cNvSpPr/>
            <p:nvPr/>
          </p:nvSpPr>
          <p:spPr>
            <a:xfrm>
              <a:off x="6436899" y="2744798"/>
              <a:ext cx="589406" cy="5894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5" name="BrandDeck Icon circle-help"/>
            <p:cNvSpPr/>
            <p:nvPr/>
          </p:nvSpPr>
          <p:spPr>
            <a:xfrm>
              <a:off x="6566568" y="2874468"/>
              <a:ext cx="330067" cy="33006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2750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6" name="BrandDeck Diagram Text 2"/>
            <p:cNvSpPr txBox="1"/>
            <p:nvPr/>
          </p:nvSpPr>
          <p:spPr>
            <a:xfrm>
              <a:off x="7157979" y="2529723"/>
              <a:ext cx="4168451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Он принимает вопрос сотрудника и ищет подходящий регламент.</a:t>
              </a:r>
            </a:p>
          </p:txBody>
        </p:sp>
        <p:sp>
          <p:nvSpPr>
            <p:cNvPr id="287" name="BrandDeck Diagram Card 3"/>
            <p:cNvSpPr/>
            <p:nvPr/>
          </p:nvSpPr>
          <p:spPr>
            <a:xfrm>
              <a:off x="671512" y="3898441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8" name="BrandDeck Diagram Icon 3 Badge"/>
            <p:cNvSpPr/>
            <p:nvPr/>
          </p:nvSpPr>
          <p:spPr>
            <a:xfrm>
              <a:off x="890967" y="4245189"/>
              <a:ext cx="589406" cy="5894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9" name="BrandDeck Icon file-text"/>
            <p:cNvSpPr/>
            <p:nvPr/>
          </p:nvSpPr>
          <p:spPr>
            <a:xfrm>
              <a:off x="1020637" y="4374858"/>
              <a:ext cx="330067" cy="33006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750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0" name="BrandDeck Diagram Text 3"/>
            <p:cNvSpPr txBox="1"/>
            <p:nvPr/>
          </p:nvSpPr>
          <p:spPr>
            <a:xfrm>
              <a:off x="1612048" y="4030114"/>
              <a:ext cx="4168451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Ответ сопровождается ссылкой на документ-источник.</a:t>
              </a:r>
            </a:p>
          </p:txBody>
        </p:sp>
        <p:sp>
          <p:nvSpPr>
            <p:cNvPr id="291" name="BrandDeck Diagram Card 4"/>
            <p:cNvSpPr/>
            <p:nvPr/>
          </p:nvSpPr>
          <p:spPr>
            <a:xfrm>
              <a:off x="6217443" y="3898441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2" name="BrandDeck Diagram Icon 4 Badge"/>
            <p:cNvSpPr/>
            <p:nvPr/>
          </p:nvSpPr>
          <p:spPr>
            <a:xfrm>
              <a:off x="6436899" y="4245189"/>
              <a:ext cx="589406" cy="5894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3" name="BrandDeck Icon circle-check"/>
            <p:cNvSpPr/>
            <p:nvPr/>
          </p:nvSpPr>
          <p:spPr>
            <a:xfrm>
              <a:off x="6566568" y="4374858"/>
              <a:ext cx="330067" cy="33006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750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4" name="BrandDeck Diagram Text 4"/>
            <p:cNvSpPr txBox="1"/>
            <p:nvPr/>
          </p:nvSpPr>
          <p:spPr>
            <a:xfrm>
              <a:off x="7157979" y="4030114"/>
              <a:ext cx="4168451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Если подтверждённого ответа нет, вопрос принимает специалист поддержки.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2000"/>
              <a:t>Вопрос проходит путь от портала до ответа со ссылкой или эскалации</a:t>
            </a:r>
            <a:endParaRPr/>
          </a:p>
        </p:txBody>
      </p:sp>
      <p:grpSp>
        <p:nvGrpSpPr>
          <p:cNvPr id="2" name="BrandDeck Diagram icon_grid" descr="icon_grid: Сотрудник задаёт вопрос во внутреннем портале.; Помощник ищет ответ в регламентах и показывает источник.; При отсутствии подтверждённого ответа вопрос передаётся специалисту.; Специалист получает контекст исходного обращения."/>
          <p:cNvGrpSpPr/>
          <p:nvPr/>
        </p:nvGrpSpPr>
        <p:grpSpPr>
          <a:xfrm>
            <a:off x="677334" y="2912953"/>
            <a:ext cx="10855853" cy="2782924"/>
            <a:chOff x="677334" y="2912953"/>
            <a:chExt cx="10855853" cy="2782924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90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users"/>
            <p:cNvSpPr/>
            <p:nvPr/>
          </p:nvSpPr>
          <p:spPr>
            <a:xfrm>
              <a:off x="1000898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1501685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Сотрудник задаёт вопрос во внутреннем портале.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6213819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6433275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life-buoy"/>
            <p:cNvSpPr/>
            <p:nvPr/>
          </p:nvSpPr>
          <p:spPr>
            <a:xfrm>
              <a:off x="6537384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4930" y="4930"/>
                  </a:moveTo>
                  <a:lnTo>
                    <a:pt x="9170" y="9170"/>
                  </a:lnTo>
                </a:path>
                <a:path w="24000" h="24000" fill="none">
                  <a:moveTo>
                    <a:pt x="14830" y="9170"/>
                  </a:moveTo>
                  <a:lnTo>
                    <a:pt x="19070" y="4930"/>
                  </a:lnTo>
                </a:path>
                <a:path w="24000" h="24000" fill="none">
                  <a:moveTo>
                    <a:pt x="14830" y="14830"/>
                  </a:moveTo>
                  <a:lnTo>
                    <a:pt x="19070" y="19070"/>
                  </a:lnTo>
                </a:path>
                <a:path w="24000" h="24000" fill="none">
                  <a:moveTo>
                    <a:pt x="9170" y="14830"/>
                  </a:moveTo>
                  <a:lnTo>
                    <a:pt x="4930" y="19070"/>
                  </a:lnTo>
                </a:path>
                <a:path w="24000" h="24000" fill="none">
                  <a:moveTo>
                    <a:pt x="16000" y="12000"/>
                  </a:moveTo>
                  <a:cubicBezTo>
                    <a:pt x="16000" y="14209"/>
                    <a:pt x="14209" y="16000"/>
                    <a:pt x="12000" y="16000"/>
                  </a:cubicBezTo>
                  <a:cubicBezTo>
                    <a:pt x="9791" y="16000"/>
                    <a:pt x="8000" y="14209"/>
                    <a:pt x="8000" y="12000"/>
                  </a:cubicBezTo>
                  <a:cubicBezTo>
                    <a:pt x="8000" y="9791"/>
                    <a:pt x="9791" y="8000"/>
                    <a:pt x="12000" y="8000"/>
                  </a:cubicBezTo>
                  <a:cubicBezTo>
                    <a:pt x="14209" y="8000"/>
                    <a:pt x="16000" y="9791"/>
                    <a:pt x="16000" y="12000"/>
                  </a:cubicBezTo>
                  <a:close/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7038171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Помощник ищет ответ в регламентах и показывает источник.</a:t>
              </a:r>
            </a:p>
          </p:txBody>
        </p:sp>
        <p:sp>
          <p:nvSpPr>
            <p:cNvPr id="552" name="BrandDeck Diagram Card 3"/>
            <p:cNvSpPr/>
            <p:nvPr/>
          </p:nvSpPr>
          <p:spPr>
            <a:xfrm>
              <a:off x="677334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BrandDeck Diagram Icon 3 Badge"/>
            <p:cNvSpPr/>
            <p:nvPr/>
          </p:nvSpPr>
          <p:spPr>
            <a:xfrm>
              <a:off x="896790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BrandDeck Icon circle-check"/>
            <p:cNvSpPr/>
            <p:nvPr/>
          </p:nvSpPr>
          <p:spPr>
            <a:xfrm>
              <a:off x="1000898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BrandDeck Diagram Text 3"/>
            <p:cNvSpPr txBox="1"/>
            <p:nvPr/>
          </p:nvSpPr>
          <p:spPr>
            <a:xfrm>
              <a:off x="1501685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При отсутствии подтверждённого ответа вопрос передаётся специалисту.</a:t>
              </a:r>
            </a:p>
          </p:txBody>
        </p:sp>
        <p:sp>
          <p:nvSpPr>
            <p:cNvPr id="556" name="BrandDeck Diagram Card 4"/>
            <p:cNvSpPr/>
            <p:nvPr/>
          </p:nvSpPr>
          <p:spPr>
            <a:xfrm>
              <a:off x="6213819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7" name="BrandDeck Diagram Icon 4 Badge"/>
            <p:cNvSpPr/>
            <p:nvPr/>
          </p:nvSpPr>
          <p:spPr>
            <a:xfrm>
              <a:off x="6433275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8" name="BrandDeck Icon user"/>
            <p:cNvSpPr/>
            <p:nvPr/>
          </p:nvSpPr>
          <p:spPr>
            <a:xfrm>
              <a:off x="6537384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9" name="BrandDeck Diagram Text 4"/>
            <p:cNvSpPr txBox="1"/>
            <p:nvPr/>
          </p:nvSpPr>
          <p:spPr>
            <a:xfrm>
              <a:off x="7038171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Специалист получает контекст исходного обращения.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76" name="BrandDeck Text 27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1800">
                <a:solidFill>
                  <a:schemeClr val="dk2"/>
                </a:solidFill>
              </a:rPr>
              <a:t>Документы остаются внутри контура, неподтверждённый ответ проверяет специалист</a:t>
            </a:r>
            <a:endParaRPr/>
          </a:p>
        </p:txBody>
      </p:sp>
      <p:grpSp>
        <p:nvGrpSpPr>
          <p:cNvPr id="2" name="BrandDeck Diagram icon_grid" descr="icon_grid: Модель с открытыми весами работает внутри контура компании.; Документы не уходят наружу при обработке запроса.; Инструкция может устареть или не дать подтверждённого ответа.; В таком случае вопрос передаётся специалисту; ссылку на источник можно проверить."/>
          <p:cNvGrpSpPr/>
          <p:nvPr/>
        </p:nvGrpSpPr>
        <p:grpSpPr>
          <a:xfrm>
            <a:off x="671512" y="2186092"/>
            <a:ext cx="10874374" cy="3341078"/>
            <a:chOff x="671512" y="2186092"/>
            <a:chExt cx="10874374" cy="3341078"/>
          </a:xfrm>
        </p:grpSpPr>
        <p:sp>
          <p:nvSpPr>
            <p:cNvPr id="279" name="BrandDeck Diagram Card 1"/>
            <p:cNvSpPr/>
            <p:nvPr/>
          </p:nvSpPr>
          <p:spPr>
            <a:xfrm>
              <a:off x="671512" y="2186092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0" name="BrandDeck Diagram Icon 1 Badge"/>
            <p:cNvSpPr/>
            <p:nvPr/>
          </p:nvSpPr>
          <p:spPr>
            <a:xfrm>
              <a:off x="890967" y="2672286"/>
              <a:ext cx="589406" cy="5894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1" name="BrandDeck Icon brain"/>
            <p:cNvSpPr/>
            <p:nvPr/>
          </p:nvSpPr>
          <p:spPr>
            <a:xfrm>
              <a:off x="1020637" y="2801956"/>
              <a:ext cx="330067" cy="33006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cubicBezTo>
                    <a:pt x="12003" y="3911"/>
                    <a:pt x="11416" y="2906"/>
                    <a:pt x="10466" y="2374"/>
                  </a:cubicBezTo>
                  <a:cubicBezTo>
                    <a:pt x="9516" y="1842"/>
                    <a:pt x="8353" y="1866"/>
                    <a:pt x="7426" y="2437"/>
                  </a:cubicBezTo>
                  <a:cubicBezTo>
                    <a:pt x="6499" y="3009"/>
                    <a:pt x="5954" y="4037"/>
                    <a:pt x="6003" y="5125"/>
                  </a:cubicBezTo>
                  <a:cubicBezTo>
                    <a:pt x="4812" y="5431"/>
                    <a:pt x="3828" y="6268"/>
                    <a:pt x="3335" y="7395"/>
                  </a:cubicBezTo>
                  <a:cubicBezTo>
                    <a:pt x="2842" y="8521"/>
                    <a:pt x="2894" y="9812"/>
                    <a:pt x="3477" y="10895"/>
                  </a:cubicBezTo>
                  <a:cubicBezTo>
                    <a:pt x="2450" y="11729"/>
                    <a:pt x="1902" y="13018"/>
                    <a:pt x="2013" y="14336"/>
                  </a:cubicBezTo>
                  <a:cubicBezTo>
                    <a:pt x="2125" y="15654"/>
                    <a:pt x="2881" y="16833"/>
                    <a:pt x="4033" y="17483"/>
                  </a:cubicBezTo>
                  <a:cubicBezTo>
                    <a:pt x="3842" y="18961"/>
                    <a:pt x="4488" y="20422"/>
                    <a:pt x="5710" y="21275"/>
                  </a:cubicBezTo>
                  <a:cubicBezTo>
                    <a:pt x="6931" y="22128"/>
                    <a:pt x="8526" y="22232"/>
                    <a:pt x="9847" y="21544"/>
                  </a:cubicBezTo>
                  <a:cubicBezTo>
                    <a:pt x="11169" y="20856"/>
                    <a:pt x="11998" y="19490"/>
                    <a:pt x="12000" y="18000"/>
                  </a:cubicBezTo>
                  <a:close/>
                </a:path>
                <a:path w="24000" h="24000" fill="none">
                  <a:moveTo>
                    <a:pt x="12000" y="5000"/>
                  </a:moveTo>
                  <a:cubicBezTo>
                    <a:pt x="11997" y="3911"/>
                    <a:pt x="12584" y="2906"/>
                    <a:pt x="13534" y="2374"/>
                  </a:cubicBezTo>
                  <a:cubicBezTo>
                    <a:pt x="14484" y="1842"/>
                    <a:pt x="15647" y="1866"/>
                    <a:pt x="16574" y="2437"/>
                  </a:cubicBezTo>
                  <a:cubicBezTo>
                    <a:pt x="17501" y="3009"/>
                    <a:pt x="18046" y="4037"/>
                    <a:pt x="17997" y="5125"/>
                  </a:cubicBezTo>
                  <a:cubicBezTo>
                    <a:pt x="19188" y="5431"/>
                    <a:pt x="20172" y="6268"/>
                    <a:pt x="20665" y="7395"/>
                  </a:cubicBezTo>
                  <a:cubicBezTo>
                    <a:pt x="21158" y="8521"/>
                    <a:pt x="21106" y="9812"/>
                    <a:pt x="20523" y="10895"/>
                  </a:cubicBezTo>
                  <a:cubicBezTo>
                    <a:pt x="21550" y="11729"/>
                    <a:pt x="22098" y="13018"/>
                    <a:pt x="21987" y="14336"/>
                  </a:cubicBezTo>
                  <a:cubicBezTo>
                    <a:pt x="21875" y="15654"/>
                    <a:pt x="21119" y="16833"/>
                    <a:pt x="19967" y="17483"/>
                  </a:cubicBezTo>
                  <a:cubicBezTo>
                    <a:pt x="20158" y="18961"/>
                    <a:pt x="19512" y="20422"/>
                    <a:pt x="18290" y="21275"/>
                  </a:cubicBezTo>
                  <a:cubicBezTo>
                    <a:pt x="17069" y="22128"/>
                    <a:pt x="15474" y="22232"/>
                    <a:pt x="14153" y="21544"/>
                  </a:cubicBezTo>
                  <a:cubicBezTo>
                    <a:pt x="12831" y="20856"/>
                    <a:pt x="12002" y="19490"/>
                    <a:pt x="12000" y="18000"/>
                  </a:cubicBezTo>
                  <a:close/>
                </a:path>
                <a:path w="24000" h="24000" fill="none">
                  <a:moveTo>
                    <a:pt x="15000" y="13000"/>
                  </a:moveTo>
                  <a:cubicBezTo>
                    <a:pt x="13283" y="12396"/>
                    <a:pt x="12099" y="10817"/>
                    <a:pt x="12000" y="9000"/>
                  </a:cubicBezTo>
                  <a:cubicBezTo>
                    <a:pt x="11901" y="10817"/>
                    <a:pt x="10717" y="12396"/>
                    <a:pt x="9000" y="13000"/>
                  </a:cubicBezTo>
                </a:path>
                <a:path w="24000" h="24000" fill="none">
                  <a:moveTo>
                    <a:pt x="17599" y="6500"/>
                  </a:moveTo>
                  <a:cubicBezTo>
                    <a:pt x="17841" y="6081"/>
                    <a:pt x="17978" y="5609"/>
                    <a:pt x="17998" y="5125"/>
                  </a:cubicBezTo>
                </a:path>
                <a:path w="24000" h="24000" fill="none">
                  <a:moveTo>
                    <a:pt x="6003" y="5125"/>
                  </a:moveTo>
                  <a:cubicBezTo>
                    <a:pt x="6023" y="5609"/>
                    <a:pt x="6159" y="6080"/>
                    <a:pt x="6401" y="6500"/>
                  </a:cubicBezTo>
                </a:path>
                <a:path w="24000" h="24000" fill="none">
                  <a:moveTo>
                    <a:pt x="3477" y="10896"/>
                  </a:moveTo>
                  <a:cubicBezTo>
                    <a:pt x="3660" y="10747"/>
                    <a:pt x="3856" y="10614"/>
                    <a:pt x="4062" y="10500"/>
                  </a:cubicBezTo>
                </a:path>
                <a:path w="24000" h="24000" fill="none">
                  <a:moveTo>
                    <a:pt x="19938" y="10500"/>
                  </a:moveTo>
                  <a:cubicBezTo>
                    <a:pt x="20144" y="10614"/>
                    <a:pt x="20340" y="10747"/>
                    <a:pt x="20523" y="10896"/>
                  </a:cubicBezTo>
                </a:path>
                <a:path w="24000" h="24000" fill="none">
                  <a:moveTo>
                    <a:pt x="6000" y="18000"/>
                  </a:moveTo>
                  <a:cubicBezTo>
                    <a:pt x="5311" y="18000"/>
                    <a:pt x="4633" y="17823"/>
                    <a:pt x="4033" y="17484"/>
                  </a:cubicBezTo>
                </a:path>
                <a:path w="24000" h="24000" fill="none">
                  <a:moveTo>
                    <a:pt x="19967" y="17484"/>
                  </a:moveTo>
                  <a:cubicBezTo>
                    <a:pt x="19367" y="17823"/>
                    <a:pt x="18689" y="18000"/>
                    <a:pt x="18000" y="18000"/>
                  </a:cubicBezTo>
                </a:path>
              </a:pathLst>
            </a:custGeom>
            <a:noFill/>
            <a:ln w="2750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2" name="BrandDeck Diagram Text 1"/>
            <p:cNvSpPr txBox="1"/>
            <p:nvPr/>
          </p:nvSpPr>
          <p:spPr>
            <a:xfrm>
              <a:off x="1612048" y="2317766"/>
              <a:ext cx="4168451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Модель с открытыми весами работает внутри контура компании.</a:t>
              </a:r>
            </a:p>
          </p:txBody>
        </p:sp>
        <p:sp>
          <p:nvSpPr>
            <p:cNvPr id="283" name="BrandDeck Diagram Card 2"/>
            <p:cNvSpPr/>
            <p:nvPr/>
          </p:nvSpPr>
          <p:spPr>
            <a:xfrm>
              <a:off x="6217443" y="2186092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4" name="BrandDeck Diagram Icon 2 Badge"/>
            <p:cNvSpPr/>
            <p:nvPr/>
          </p:nvSpPr>
          <p:spPr>
            <a:xfrm>
              <a:off x="6436899" y="2672286"/>
              <a:ext cx="589406" cy="5894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5" name="BrandDeck Icon file-text"/>
            <p:cNvSpPr/>
            <p:nvPr/>
          </p:nvSpPr>
          <p:spPr>
            <a:xfrm>
              <a:off x="6566568" y="2801956"/>
              <a:ext cx="330067" cy="33006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750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6" name="BrandDeck Diagram Text 2"/>
            <p:cNvSpPr txBox="1"/>
            <p:nvPr/>
          </p:nvSpPr>
          <p:spPr>
            <a:xfrm>
              <a:off x="7157979" y="2317766"/>
              <a:ext cx="4168451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Документы не уходят наружу при обработке запроса.</a:t>
              </a:r>
            </a:p>
          </p:txBody>
        </p:sp>
        <p:sp>
          <p:nvSpPr>
            <p:cNvPr id="287" name="BrandDeck Diagram Card 3"/>
            <p:cNvSpPr/>
            <p:nvPr/>
          </p:nvSpPr>
          <p:spPr>
            <a:xfrm>
              <a:off x="671512" y="3965375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8" name="BrandDeck Diagram Icon 3 Badge"/>
            <p:cNvSpPr/>
            <p:nvPr/>
          </p:nvSpPr>
          <p:spPr>
            <a:xfrm>
              <a:off x="890967" y="4451569"/>
              <a:ext cx="589406" cy="5894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9" name="BrandDeck Icon circle-check"/>
            <p:cNvSpPr/>
            <p:nvPr/>
          </p:nvSpPr>
          <p:spPr>
            <a:xfrm>
              <a:off x="1020637" y="4581238"/>
              <a:ext cx="330067" cy="33006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750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0" name="BrandDeck Diagram Text 3"/>
            <p:cNvSpPr txBox="1"/>
            <p:nvPr/>
          </p:nvSpPr>
          <p:spPr>
            <a:xfrm>
              <a:off x="1612048" y="4097048"/>
              <a:ext cx="4168451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Инструкция может устареть или не дать подтверждённого ответа.</a:t>
              </a:r>
            </a:p>
          </p:txBody>
        </p:sp>
        <p:sp>
          <p:nvSpPr>
            <p:cNvPr id="291" name="BrandDeck Diagram Card 4"/>
            <p:cNvSpPr/>
            <p:nvPr/>
          </p:nvSpPr>
          <p:spPr>
            <a:xfrm>
              <a:off x="6217443" y="3965375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2" name="BrandDeck Diagram Icon 4 Badge"/>
            <p:cNvSpPr/>
            <p:nvPr/>
          </p:nvSpPr>
          <p:spPr>
            <a:xfrm>
              <a:off x="6436899" y="4451569"/>
              <a:ext cx="589406" cy="5894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3" name="BrandDeck Icon user"/>
            <p:cNvSpPr/>
            <p:nvPr/>
          </p:nvSpPr>
          <p:spPr>
            <a:xfrm>
              <a:off x="6566568" y="4581238"/>
              <a:ext cx="330067" cy="33006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750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4" name="BrandDeck Diagram Text 4"/>
            <p:cNvSpPr txBox="1"/>
            <p:nvPr/>
          </p:nvSpPr>
          <p:spPr>
            <a:xfrm>
              <a:off x="7157979" y="4097048"/>
              <a:ext cx="4168451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В таком случае вопрос передаётся специалисту; ссылку на источник можно проверить.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2000"/>
              <a:t>Пилот охватит 150 сотрудников двух подразделений за 6 недель</a:t>
            </a:r>
            <a:endParaRPr/>
          </a:p>
        </p:txBody>
      </p:sp>
      <p:grpSp>
        <p:nvGrpSpPr>
          <p:cNvPr id="2" name="BrandDeck Diagram icon_grid" descr="icon_grid: Пилот охватывает 2 подразделения и 150 сотрудников.; Продолжительность пилота — 6 недель.; В пилоте проверяются ответы по регламентам и передача вопросов специалисту."/>
          <p:cNvGrpSpPr/>
          <p:nvPr/>
        </p:nvGrpSpPr>
        <p:grpSpPr>
          <a:xfrm>
            <a:off x="677334" y="2912953"/>
            <a:ext cx="10855853" cy="2782924"/>
            <a:chOff x="677334" y="2912953"/>
            <a:chExt cx="10855853" cy="2782924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90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rocket"/>
            <p:cNvSpPr/>
            <p:nvPr/>
          </p:nvSpPr>
          <p:spPr>
            <a:xfrm>
              <a:off x="1000898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1501685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Пилот охватывает 2 подразделения и 150 сотрудников.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6213819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6433275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hourglass"/>
            <p:cNvSpPr/>
            <p:nvPr/>
          </p:nvSpPr>
          <p:spPr>
            <a:xfrm>
              <a:off x="6537384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5000" y="22000"/>
                  </a:moveTo>
                  <a:lnTo>
                    <a:pt x="19000" y="22000"/>
                  </a:lnTo>
                </a:path>
                <a:path w="24000" h="24000" fill="none">
                  <a:moveTo>
                    <a:pt x="5000" y="2000"/>
                  </a:moveTo>
                  <a:lnTo>
                    <a:pt x="19000" y="2000"/>
                  </a:lnTo>
                </a:path>
                <a:path w="24000" h="24000" fill="none">
                  <a:moveTo>
                    <a:pt x="17000" y="22000"/>
                  </a:moveTo>
                  <a:lnTo>
                    <a:pt x="17000" y="17828"/>
                  </a:lnTo>
                  <a:cubicBezTo>
                    <a:pt x="17000" y="17298"/>
                    <a:pt x="16789" y="16789"/>
                    <a:pt x="16414" y="16414"/>
                  </a:cubicBezTo>
                  <a:lnTo>
                    <a:pt x="12000" y="12000"/>
                  </a:lnTo>
                  <a:lnTo>
                    <a:pt x="7586" y="16414"/>
                  </a:lnTo>
                  <a:cubicBezTo>
                    <a:pt x="7211" y="16789"/>
                    <a:pt x="7000" y="17298"/>
                    <a:pt x="7000" y="17828"/>
                  </a:cubicBezTo>
                  <a:lnTo>
                    <a:pt x="7000" y="22000"/>
                  </a:lnTo>
                </a:path>
                <a:path w="24000" h="24000" fill="none">
                  <a:moveTo>
                    <a:pt x="7000" y="2000"/>
                  </a:moveTo>
                  <a:lnTo>
                    <a:pt x="7000" y="6172"/>
                  </a:lnTo>
                  <a:cubicBezTo>
                    <a:pt x="7000" y="6702"/>
                    <a:pt x="7211" y="7211"/>
                    <a:pt x="7586" y="7586"/>
                  </a:cubicBezTo>
                  <a:lnTo>
                    <a:pt x="12000" y="12000"/>
                  </a:lnTo>
                  <a:lnTo>
                    <a:pt x="16414" y="7586"/>
                  </a:lnTo>
                  <a:cubicBezTo>
                    <a:pt x="16789" y="7211"/>
                    <a:pt x="17000" y="6702"/>
                    <a:pt x="17000" y="6172"/>
                  </a:cubicBezTo>
                  <a:lnTo>
                    <a:pt x="17000" y="2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7038171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000000"/>
                  </a:solidFill>
                  <a:latin typeface="Play"/>
                </a:rPr>
                <a:t>Продолжительность пилота —</a:t>
              </a:r>
              <a:r>
                <a:rPr sz="1800" b="0">
                  <a:solidFill>
                    <a:srgbClr val="000000"/>
                  </a:solidFill>
                  <a:latin typeface="Play"/>
                </a:rPr>
                <a:t> 6 недель.</a:t>
              </a:r>
            </a:p>
          </p:txBody>
        </p:sp>
        <p:sp>
          <p:nvSpPr>
            <p:cNvPr id="552" name="BrandDeck Diagram Card 3"/>
            <p:cNvSpPr/>
            <p:nvPr/>
          </p:nvSpPr>
          <p:spPr>
            <a:xfrm>
              <a:off x="677334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BrandDeck Diagram Icon 3 Badge"/>
            <p:cNvSpPr/>
            <p:nvPr/>
          </p:nvSpPr>
          <p:spPr>
            <a:xfrm>
              <a:off x="896790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BrandDeck Icon user"/>
            <p:cNvSpPr/>
            <p:nvPr/>
          </p:nvSpPr>
          <p:spPr>
            <a:xfrm>
              <a:off x="1000898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BrandDeck Diagram Text 3"/>
            <p:cNvSpPr txBox="1"/>
            <p:nvPr/>
          </p:nvSpPr>
          <p:spPr>
            <a:xfrm>
              <a:off x="1501685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В пилоте проверяются ответы по регламентам и передача вопросов специалисту.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74" name="BrandDeck Text 274"/>
          <p:cNvSpPr/>
          <p:nvPr/>
        </p:nvSpPr>
        <p:spPr>
          <a:xfrm>
            <a:off x="671512" y="1773238"/>
            <a:ext cx="5365752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179388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latin typeface="Play"/>
                <a:solidFill>
                  <a:schemeClr val="dk1"/>
                </a:solidFill>
              </a:rPr>
              <a:t>Команда измеряет время поиска ответа.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5" name="BrandDeck Text 275"/>
          <p:cNvSpPr/>
          <p:nvPr/>
        </p:nvSpPr>
        <p:spPr>
          <a:xfrm>
            <a:off x="6154737" y="1775553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179388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latin typeface="Play"/>
                <a:solidFill>
                  <a:schemeClr val="dk1"/>
                </a:solidFill>
              </a:rPr>
              <a:t>Также измеряется доля обращений, закрытых без специалиста.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6" name="BrandDeck Text 27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2000">
                <a:solidFill>
                  <a:schemeClr val="dk2"/>
                </a:solidFill>
              </a:rPr>
              <a:t>Успех измерят временем поиска и долей обращений без специалиста</a:t>
            </a:r>
            <a:endParaRPr/>
          </a:p>
        </p:txBody>
      </p:sp>
      <p:sp>
        <p:nvSpPr>
          <p:cNvPr id="277" name="BrandDeck Text 277"/>
          <p:cNvSpPr/>
          <p:nvPr/>
        </p:nvSpPr>
        <p:spPr>
          <a:xfrm>
            <a:off x="671512" y="4044294"/>
            <a:ext cx="5365752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179388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latin typeface="Play"/>
                <a:solidFill>
                  <a:schemeClr val="dk1"/>
                </a:solidFill>
              </a:rPr>
              <a:t>Целевые значения согласуются до запуска.</a:t>
            </a:r>
            <a:endParaRPr/>
          </a:p>
        </p:txBody>
      </p:sp>
      <p:sp>
        <p:nvSpPr>
          <p:cNvPr id="278" name="BrandDeck Text 278"/>
          <p:cNvSpPr/>
          <p:nvPr/>
        </p:nvSpPr>
        <p:spPr>
          <a:xfrm>
            <a:off x="6154737" y="4044294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179388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latin typeface="Play"/>
                <a:solidFill>
                  <a:schemeClr val="dk1"/>
                </a:solidFill>
              </a:rPr>
              <a:t>Фактических результатов пилота пока нет.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2400"/>
              <a:t>Команда из 3 человек подготовит и проверит пилот</a:t>
            </a:r>
            <a:endParaRPr/>
          </a:p>
        </p:txBody>
      </p:sp>
      <p:grpSp>
        <p:nvGrpSpPr>
          <p:cNvPr id="2" name="BrandDeck Diagram icon_grid" descr="icon_grid: Просим одобрить пилот и выделить команду из 3 человек.; Команда готовит инструкции, проверяет ответы и сопровождает запуск.; Дальнейшее использование решается после измерения результатов и обратной связи."/>
          <p:cNvGrpSpPr/>
          <p:nvPr/>
        </p:nvGrpSpPr>
        <p:grpSpPr>
          <a:xfrm>
            <a:off x="677334" y="2912953"/>
            <a:ext cx="10855853" cy="2782924"/>
            <a:chOff x="677334" y="2912953"/>
            <a:chExt cx="10855853" cy="2782924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90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rocket"/>
            <p:cNvSpPr/>
            <p:nvPr/>
          </p:nvSpPr>
          <p:spPr>
            <a:xfrm>
              <a:off x="1000898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1501685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Просим одобрить пилот и выделить команду из 3 человек.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6213819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6433275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users"/>
            <p:cNvSpPr/>
            <p:nvPr/>
          </p:nvSpPr>
          <p:spPr>
            <a:xfrm>
              <a:off x="6537384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7038171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Команда готовит инструкции, проверяет ответы и сопровождает запуск.</a:t>
              </a:r>
            </a:p>
          </p:txBody>
        </p:sp>
        <p:sp>
          <p:nvSpPr>
            <p:cNvPr id="552" name="BrandDeck Diagram Card 3"/>
            <p:cNvSpPr/>
            <p:nvPr/>
          </p:nvSpPr>
          <p:spPr>
            <a:xfrm>
              <a:off x="677334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BrandDeck Diagram Icon 3 Badge"/>
            <p:cNvSpPr/>
            <p:nvPr/>
          </p:nvSpPr>
          <p:spPr>
            <a:xfrm>
              <a:off x="896790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BrandDeck Icon chart-column"/>
            <p:cNvSpPr/>
            <p:nvPr/>
          </p:nvSpPr>
          <p:spPr>
            <a:xfrm>
              <a:off x="1000898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BrandDeck Diagram Text 3"/>
            <p:cNvSpPr txBox="1"/>
            <p:nvPr/>
          </p:nvSpPr>
          <p:spPr>
            <a:xfrm>
              <a:off x="1501685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Дальнейшее использование решается после измерения результатов и обратной связи.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5" name="BrandDeck Text 1075"/>
          <p:cNvSpPr txBox="1"/>
          <p:nvPr>
            <p:ph type="title"/>
          </p:nvPr>
        </p:nvSpPr>
        <p:spPr>
          <a:xfrm>
            <a:off x="620713" y="2483712"/>
            <a:ext cx="526537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719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4800"/>
              <a:t>Спасибо</a:t>
            </a:r>
            <a:endParaRPr/>
          </a:p>
        </p:txBody>
      </p:sp>
      <p:sp>
        <p:nvSpPr>
          <p:cNvPr id="1077" name="BrandDeck Text 1077"/>
          <p:cNvSpPr txBox="1"/>
          <p:nvPr>
            <p:ph idx="1" type="body"/>
          </p:nvPr>
        </p:nvSpPr>
        <p:spPr>
          <a:xfrm>
            <a:off x="658813" y="4161565"/>
            <a:ext cx="5437187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chemeClr val="lt2"/>
              </a:buClr>
              <a:buSzPts val="1600"/>
              <a:buNone/>
            </a:pPr>
            <a:r>
              <a:rPr sz="1600"/>
              <a:t>Вопросы?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Пилот ИИ-помощника по внутренним регламентам</dc:title>
  <cp:lastModifiedBy/>
  <cp:revision>1</cp:revision>
  <dcterms:modified xsi:type="dcterms:W3CDTF">2026-09-27T16:58:35Z</dcterms:modified>
  <dc:subject>Template-adaptive presentation</dc:subject>
  <cp:keywords>BrandDeck, template-adaptive, presentation</cp:keywords>
  <dc:creator/>
  <dc:description/>
</cp:coreProperties>
</file>