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65.png"/><Relationship Id="rId6" Type="http://schemas.openxmlformats.org/officeDocument/2006/relationships/image" Target="../media/image71.png"/><Relationship Id="rId7" Type="http://schemas.openxmlformats.org/officeDocument/2006/relationships/image" Target="../media/image2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1800"/>
              <a:t>Пилот ИИ-помощника по внутренним регламентам</a:t>
            </a:r>
            <a:endParaRPr/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BrandDeck Text 68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38148" y="1819373"/>
            <a:ext cx="8305756" cy="2290463"/>
            <a:chOff x="438148" y="1819373"/>
            <a:chExt cx="8305756" cy="2290463"/>
          </a:xfrm>
        </p:grpSpPr>
        <p:sp>
          <p:nvSpPr>
            <p:cNvPr id="686" name="BrandDeck Diagram Card 1"/>
            <p:cNvSpPr/>
            <p:nvPr/>
          </p:nvSpPr>
          <p:spPr>
            <a:xfrm>
              <a:off x="438148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BrandDeck Diagram Icon 1 Badge"/>
            <p:cNvSpPr/>
            <p:nvPr/>
          </p:nvSpPr>
          <p:spPr>
            <a:xfrm>
              <a:off x="657604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BrandDeck Icon users"/>
            <p:cNvSpPr/>
            <p:nvPr/>
          </p:nvSpPr>
          <p:spPr>
            <a:xfrm>
              <a:off x="738071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BrandDeck Diagram Text 1"/>
            <p:cNvSpPr txBox="1"/>
            <p:nvPr/>
          </p:nvSpPr>
          <p:spPr>
            <a:xfrm>
              <a:off x="1155037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690" name="BrandDeck Diagram Card 2"/>
            <p:cNvSpPr/>
            <p:nvPr/>
          </p:nvSpPr>
          <p:spPr>
            <a:xfrm>
              <a:off x="4674084" y="1819373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1" name="BrandDeck Diagram Icon 2 Badge"/>
            <p:cNvSpPr/>
            <p:nvPr/>
          </p:nvSpPr>
          <p:spPr>
            <a:xfrm>
              <a:off x="4893540" y="2167580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BrandDeck Icon file-text"/>
            <p:cNvSpPr/>
            <p:nvPr/>
          </p:nvSpPr>
          <p:spPr>
            <a:xfrm>
              <a:off x="4974007" y="2248047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BrandDeck Diagram Text 2"/>
            <p:cNvSpPr txBox="1"/>
            <p:nvPr/>
          </p:nvSpPr>
          <p:spPr>
            <a:xfrm>
              <a:off x="5390973" y="195104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694" name="BrandDeck Diagram Card 3"/>
            <p:cNvSpPr/>
            <p:nvPr/>
          </p:nvSpPr>
          <p:spPr>
            <a:xfrm>
              <a:off x="438148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5" name="BrandDeck Diagram Icon 3 Badge"/>
            <p:cNvSpPr/>
            <p:nvPr/>
          </p:nvSpPr>
          <p:spPr>
            <a:xfrm>
              <a:off x="657604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6" name="BrandDeck Icon headset"/>
            <p:cNvSpPr/>
            <p:nvPr/>
          </p:nvSpPr>
          <p:spPr>
            <a:xfrm>
              <a:off x="738071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BrandDeck Diagram Text 3"/>
            <p:cNvSpPr txBox="1"/>
            <p:nvPr/>
          </p:nvSpPr>
          <p:spPr>
            <a:xfrm>
              <a:off x="1155037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1">
                  <a:solidFill>
                    <a:srgbClr val="000000"/>
                  </a:solidFill>
                  <a:latin typeface="Play"/>
                </a:rPr>
                <a:t>Треть обращений в поддержку —</a:t>
              </a:r>
              <a:r>
                <a:rPr sz="1320" b="0">
                  <a:solidFill>
                    <a:srgbClr val="000000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698" name="BrandDeck Diagram Card 4"/>
            <p:cNvSpPr/>
            <p:nvPr/>
          </p:nvSpPr>
          <p:spPr>
            <a:xfrm>
              <a:off x="4674084" y="3047662"/>
              <a:ext cx="4069820" cy="106217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BrandDeck Diagram Icon 4 Badge"/>
            <p:cNvSpPr/>
            <p:nvPr/>
          </p:nvSpPr>
          <p:spPr>
            <a:xfrm>
              <a:off x="4893540" y="339586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0" name="BrandDeck Icon user"/>
            <p:cNvSpPr/>
            <p:nvPr/>
          </p:nvSpPr>
          <p:spPr>
            <a:xfrm>
              <a:off x="4974007" y="347633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1" name="BrandDeck Diagram Text 4"/>
            <p:cNvSpPr txBox="1"/>
            <p:nvPr/>
          </p:nvSpPr>
          <p:spPr>
            <a:xfrm>
              <a:off x="5390973" y="3179336"/>
              <a:ext cx="3133475" cy="798827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000000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9" name="Google Shape;1119;p69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0" name="Google Shape;1120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69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69"/>
          <p:cNvSpPr/>
          <p:nvPr/>
        </p:nvSpPr>
        <p:spPr>
          <a:xfrm>
            <a:off x="500061" y="1424137"/>
            <a:ext cx="2919397" cy="28952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9988"/>
              </a:lnSpc>
              <a:spcBef>
                <a:spcPts val="0"/>
              </a:spcBef>
              <a:spcAft>
                <a:spcPts val="0"/>
              </a:spcAft>
              <a:buNone/>
            </a:pPr>
            <a:endParaRPr b="0" i="0" sz="168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69"/>
          <p:cNvSpPr/>
          <p:nvPr/>
        </p:nvSpPr>
        <p:spPr>
          <a:xfrm>
            <a:off x="3657581" y="1209852"/>
            <a:ext cx="5200623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BrandDeck Text 1132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Сотруднику нужен источник ответа, специалисту — контекст вопроса</a:t>
            </a:r>
            <a:endParaRPr/>
          </a:p>
        </p:txBody>
      </p:sp>
      <p:sp>
        <p:nvSpPr>
          <p:cNvPr id="1133" name="BrandDeck Body"/>
          <p:cNvSpPr txBox="1"/>
          <p:nvPr/>
        </p:nvSpPr>
        <p:spPr>
          <a:xfrm>
            <a:off x="500060" y="1424137"/>
            <a:ext cx="2558400" cy="2895223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97"/>
              </a:spcAft>
            </a:pPr>
            <a:r>
              <a:rPr sz="1320">
                <a:solidFill>
                  <a:srgbClr val="000000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  <p:pic>
        <p:nvPicPr>
          <p:cNvPr id="1134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7"/>
          <a:srcRect l="18013" r="18013"/>
          <a:stretch>
            <a:fillRect/>
          </a:stretch>
        </p:blipFill>
        <p:spPr>
          <a:xfrm>
            <a:off x="3314493" y="1424137"/>
            <a:ext cx="3291060" cy="2895223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ИИ-помощник отвечает по регламентам и передаёт сложные вопросы специалисту</a:t>
            </a:r>
          </a:p>
        </p:txBody>
      </p:sp>
      <p:grpSp>
        <p:nvGrpSpPr>
          <p:cNvPr id="3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ircle-help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file-tex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circle-check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000000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Вопрос проходит путь от портала до ответа со ссылкой или эскалации</a:t>
            </a:r>
          </a:p>
        </p:txBody>
      </p:sp>
      <p:grpSp>
        <p:nvGrpSpPr>
          <p:cNvPr id="3" name="BrandDeck Diagram icon_grid" descr="icon_grid: Сотрудник задаёт вопрос во внутреннем портале.; Помощник ищет ответ в регламентах и показывает источник.; При отсутствии подтверждённого ответа вопрос передаётся специалисту.; Специалист получает контекст исходного обращения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Сотрудник задаёт вопрос во внутреннем портале.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life-buoy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4930" y="4930"/>
                  </a:moveTo>
                  <a:lnTo>
                    <a:pt x="9170" y="9170"/>
                  </a:lnTo>
                </a:path>
                <a:path w="24000" h="24000" fill="none">
                  <a:moveTo>
                    <a:pt x="14830" y="9170"/>
                  </a:moveTo>
                  <a:lnTo>
                    <a:pt x="19070" y="4930"/>
                  </a:lnTo>
                </a:path>
                <a:path w="24000" h="24000" fill="none">
                  <a:moveTo>
                    <a:pt x="14830" y="14830"/>
                  </a:moveTo>
                  <a:lnTo>
                    <a:pt x="19070" y="19070"/>
                  </a:lnTo>
                </a:path>
                <a:path w="24000" h="24000" fill="none">
                  <a:moveTo>
                    <a:pt x="9170" y="14830"/>
                  </a:moveTo>
                  <a:lnTo>
                    <a:pt x="4930" y="19070"/>
                  </a:lnTo>
                </a:path>
                <a:path w="24000" h="24000" fill="none">
                  <a:moveTo>
                    <a:pt x="16000" y="12000"/>
                  </a:moveTo>
                  <a:cubicBezTo>
                    <a:pt x="16000" y="14209"/>
                    <a:pt x="14209" y="16000"/>
                    <a:pt x="12000" y="16000"/>
                  </a:cubicBezTo>
                  <a:cubicBezTo>
                    <a:pt x="9791" y="16000"/>
                    <a:pt x="8000" y="14209"/>
                    <a:pt x="8000" y="12000"/>
                  </a:cubicBezTo>
                  <a:cubicBezTo>
                    <a:pt x="8000" y="9791"/>
                    <a:pt x="9791" y="8000"/>
                    <a:pt x="12000" y="8000"/>
                  </a:cubicBezTo>
                  <a:cubicBezTo>
                    <a:pt x="14209" y="8000"/>
                    <a:pt x="16000" y="9791"/>
                    <a:pt x="16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Помощник ищет ответ в регламентах и показывает источник.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При отсутствии подтверждённого ответа вопрос передаётся специалисту.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Специалист получает контекст исходного обращения.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brain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file-text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circle-check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520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1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BrandDeck Icon user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000000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Пилот охватит 150 сотрудников двух подразделений за 6 недель</a:t>
            </a:r>
          </a:p>
        </p:txBody>
      </p:sp>
      <p:grpSp>
        <p:nvGrpSpPr>
          <p:cNvPr id="3" name="BrandDeck Diagram icon_grid" descr="icon_grid: Пилот охватывает 2 подразделения и 150 сотрудников.; Продолжительность пилота — 6 недель.; В пилоте проверяются ответы по регламентам и передача вопросов специалисту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Пилот охватывает 2 подразделения и 150 сотрудников.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hourglas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5000" y="22000"/>
                  </a:moveTo>
                  <a:lnTo>
                    <a:pt x="19000" y="22000"/>
                  </a:lnTo>
                </a:path>
                <a:path w="24000" h="24000" fill="none">
                  <a:moveTo>
                    <a:pt x="5000" y="2000"/>
                  </a:moveTo>
                  <a:lnTo>
                    <a:pt x="19000" y="2000"/>
                  </a:lnTo>
                </a:path>
                <a:path w="24000" h="24000" fill="none">
                  <a:moveTo>
                    <a:pt x="17000" y="22000"/>
                  </a:moveTo>
                  <a:lnTo>
                    <a:pt x="17000" y="17828"/>
                  </a:lnTo>
                  <a:cubicBezTo>
                    <a:pt x="17000" y="17298"/>
                    <a:pt x="16789" y="16789"/>
                    <a:pt x="16414" y="16414"/>
                  </a:cubicBezTo>
                  <a:lnTo>
                    <a:pt x="12000" y="12000"/>
                  </a:lnTo>
                  <a:lnTo>
                    <a:pt x="7586" y="16414"/>
                  </a:lnTo>
                  <a:cubicBezTo>
                    <a:pt x="7211" y="16789"/>
                    <a:pt x="7000" y="17298"/>
                    <a:pt x="7000" y="17828"/>
                  </a:cubicBezTo>
                  <a:lnTo>
                    <a:pt x="7000" y="22000"/>
                  </a:lnTo>
                </a:path>
                <a:path w="24000" h="24000" fill="none">
                  <a:moveTo>
                    <a:pt x="7000" y="2000"/>
                  </a:moveTo>
                  <a:lnTo>
                    <a:pt x="7000" y="6172"/>
                  </a:lnTo>
                  <a:cubicBezTo>
                    <a:pt x="7000" y="6702"/>
                    <a:pt x="7211" y="7211"/>
                    <a:pt x="7586" y="7586"/>
                  </a:cubicBezTo>
                  <a:lnTo>
                    <a:pt x="12000" y="12000"/>
                  </a:lnTo>
                  <a:lnTo>
                    <a:pt x="16414" y="7586"/>
                  </a:lnTo>
                  <a:cubicBezTo>
                    <a:pt x="16789" y="7211"/>
                    <a:pt x="17000" y="6702"/>
                    <a:pt x="17000" y="6172"/>
                  </a:cubicBezTo>
                  <a:lnTo>
                    <a:pt x="17000" y="2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1">
                  <a:solidFill>
                    <a:srgbClr val="FFFFFF"/>
                  </a:solidFill>
                  <a:latin typeface="Play"/>
                </a:rPr>
                <a:t>Продолжительность пилота —</a:t>
              </a:r>
              <a:r>
                <a:rPr sz="1170" b="0">
                  <a:solidFill>
                    <a:srgbClr val="FFFFFF"/>
                  </a:solidFill>
                  <a:latin typeface="Play"/>
                </a:rPr>
                <a:t> 6 недель.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user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70" b="0">
                  <a:solidFill>
                    <a:srgbClr val="FFFFFF"/>
                  </a:solidFill>
                  <a:latin typeface="Play"/>
                </a:rPr>
                <a:t>В пилоте проверяются ответы по регламентам и передача вопросов специалисту.</a:t>
              </a: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Успех измерят временем поиска и долей обращений без специалиста</a:t>
            </a:r>
          </a:p>
        </p:txBody>
      </p:sp>
      <p:grpSp>
        <p:nvGrpSpPr>
          <p:cNvPr id="3" name="BrandDeck Diagram icon_grid" descr="icon_grid: Команда измеряет время поиска ответа.; Также измеряется доля обращений, закрытых без специалиста.; Целевые значения согласуются до запуска.; Фактических результатов пилота пока нет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Команда измеряет время поиска ответа.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chart-column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Также измеряется доля обращений, закрытых без специалиста.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target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8000" y="12000"/>
                  </a:moveTo>
                  <a:cubicBezTo>
                    <a:pt x="18000" y="15314"/>
                    <a:pt x="15314" y="18000"/>
                    <a:pt x="12000" y="18000"/>
                  </a:cubicBezTo>
                  <a:cubicBezTo>
                    <a:pt x="8686" y="18000"/>
                    <a:pt x="6000" y="15314"/>
                    <a:pt x="6000" y="12000"/>
                  </a:cubicBezTo>
                  <a:cubicBezTo>
                    <a:pt x="6000" y="8686"/>
                    <a:pt x="8686" y="6000"/>
                    <a:pt x="12000" y="6000"/>
                  </a:cubicBezTo>
                  <a:cubicBezTo>
                    <a:pt x="15314" y="6000"/>
                    <a:pt x="18000" y="8686"/>
                    <a:pt x="18000" y="12000"/>
                  </a:cubicBezTo>
                  <a:close/>
                </a:path>
                <a:path w="24000" h="24000" fill="none">
                  <a:moveTo>
                    <a:pt x="14000" y="12000"/>
                  </a:moveTo>
                  <a:cubicBezTo>
                    <a:pt x="14000" y="13105"/>
                    <a:pt x="13105" y="14000"/>
                    <a:pt x="12000" y="14000"/>
                  </a:cubicBezTo>
                  <a:cubicBezTo>
                    <a:pt x="10895" y="14000"/>
                    <a:pt x="10000" y="13105"/>
                    <a:pt x="10000" y="12000"/>
                  </a:cubicBezTo>
                  <a:cubicBezTo>
                    <a:pt x="10000" y="10895"/>
                    <a:pt x="10895" y="10000"/>
                    <a:pt x="12000" y="10000"/>
                  </a:cubicBezTo>
                  <a:cubicBezTo>
                    <a:pt x="13105" y="10000"/>
                    <a:pt x="14000" y="10895"/>
                    <a:pt x="14000" y="12000"/>
                  </a:cubicBez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Целевые значения согласуются до запуска.</a:t>
              </a:r>
            </a:p>
          </p:txBody>
        </p:sp>
        <p:sp>
          <p:nvSpPr>
            <p:cNvPr id="16" name="BrandDeck Diagram Card 4"/>
            <p:cNvSpPr/>
            <p:nvPr/>
          </p:nvSpPr>
          <p:spPr>
            <a:xfrm>
              <a:off x="6623145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BrandDeck Diagram Icon 4 Badge"/>
            <p:cNvSpPr/>
            <p:nvPr/>
          </p:nvSpPr>
          <p:spPr>
            <a:xfrm>
              <a:off x="6754488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BrandDeck Icon trophy"/>
            <p:cNvSpPr/>
            <p:nvPr/>
          </p:nvSpPr>
          <p:spPr>
            <a:xfrm>
              <a:off x="6866211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9000"/>
                  </a:moveTo>
                  <a:lnTo>
                    <a:pt x="4500" y="9000"/>
                  </a:lnTo>
                  <a:cubicBezTo>
                    <a:pt x="3119" y="9000"/>
                    <a:pt x="2000" y="7881"/>
                    <a:pt x="2000" y="6500"/>
                  </a:cubicBezTo>
                  <a:cubicBezTo>
                    <a:pt x="2000" y="5119"/>
                    <a:pt x="3119" y="4000"/>
                    <a:pt x="4500" y="4000"/>
                  </a:cubicBezTo>
                  <a:lnTo>
                    <a:pt x="6000" y="4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19500" y="9000"/>
                  </a:lnTo>
                  <a:cubicBezTo>
                    <a:pt x="20881" y="9000"/>
                    <a:pt x="22000" y="7881"/>
                    <a:pt x="22000" y="6500"/>
                  </a:cubicBezTo>
                  <a:cubicBezTo>
                    <a:pt x="22000" y="5119"/>
                    <a:pt x="20881" y="4000"/>
                    <a:pt x="19500" y="4000"/>
                  </a:cubicBezTo>
                  <a:lnTo>
                    <a:pt x="18000" y="4000"/>
                  </a:lnTo>
                </a:path>
                <a:path w="24000" h="24000" fill="none">
                  <a:moveTo>
                    <a:pt x="4000" y="22000"/>
                  </a:moveTo>
                  <a:lnTo>
                    <a:pt x="20000" y="22000"/>
                  </a:lnTo>
                </a:path>
                <a:path w="24000" h="24000" fill="none">
                  <a:moveTo>
                    <a:pt x="10000" y="14660"/>
                  </a:moveTo>
                  <a:lnTo>
                    <a:pt x="10000" y="17000"/>
                  </a:lnTo>
                  <a:cubicBezTo>
                    <a:pt x="10000" y="17550"/>
                    <a:pt x="9530" y="17980"/>
                    <a:pt x="9030" y="18210"/>
                  </a:cubicBezTo>
                  <a:cubicBezTo>
                    <a:pt x="7850" y="18750"/>
                    <a:pt x="7000" y="20240"/>
                    <a:pt x="7000" y="22000"/>
                  </a:cubicBezTo>
                </a:path>
                <a:path w="24000" h="24000" fill="none">
                  <a:moveTo>
                    <a:pt x="14000" y="14660"/>
                  </a:moveTo>
                  <a:lnTo>
                    <a:pt x="14000" y="17000"/>
                  </a:lnTo>
                  <a:cubicBezTo>
                    <a:pt x="14000" y="17550"/>
                    <a:pt x="14470" y="17980"/>
                    <a:pt x="14970" y="18210"/>
                  </a:cubicBezTo>
                  <a:cubicBezTo>
                    <a:pt x="16150" y="18750"/>
                    <a:pt x="17000" y="20240"/>
                    <a:pt x="17000" y="22000"/>
                  </a:cubicBezTo>
                </a:path>
                <a:path w="24000" h="24000" fill="none">
                  <a:moveTo>
                    <a:pt x="18000" y="2000"/>
                  </a:moveTo>
                  <a:lnTo>
                    <a:pt x="6000" y="2000"/>
                  </a:lnTo>
                  <a:lnTo>
                    <a:pt x="6000" y="9000"/>
                  </a:lnTo>
                  <a:cubicBezTo>
                    <a:pt x="6000" y="12314"/>
                    <a:pt x="8686" y="15000"/>
                    <a:pt x="12000" y="15000"/>
                  </a:cubicBezTo>
                  <a:cubicBezTo>
                    <a:pt x="15314" y="15000"/>
                    <a:pt x="18000" y="12314"/>
                    <a:pt x="18000" y="9000"/>
                  </a:cubicBezTo>
                  <a:lnTo>
                    <a:pt x="18000" y="2000"/>
                  </a:lnTo>
                  <a:close/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BrandDeck Diagram Text 4"/>
            <p:cNvSpPr txBox="1"/>
            <p:nvPr/>
          </p:nvSpPr>
          <p:spPr>
            <a:xfrm>
              <a:off x="6715085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320" b="0">
                  <a:solidFill>
                    <a:srgbClr val="FFFFFF"/>
                  </a:solidFill>
                  <a:latin typeface="Play"/>
                </a:rPr>
                <a:t>Фактических результатов пилота пока нет.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</a:pPr>
            <a:r>
              <a:rPr sz="1800"/>
              <a:t>Команда из 3 человек подготовит и проверит пилот</a:t>
            </a:r>
          </a:p>
        </p:txBody>
      </p:sp>
      <p:grpSp>
        <p:nvGrpSpPr>
          <p:cNvPr id="3" name="BrandDeck Diagram icon_grid" descr="icon_grid: Просим одобрить пилот и выделить команду из 3 человек.; Команда готовит инструкции, проверяет ответы и сопровождает запуск.; Дальнейшее использование решается после измерения результатов и обратной связи."/>
          <p:cNvGrpSpPr/>
          <p:nvPr/>
        </p:nvGrpSpPr>
        <p:grpSpPr>
          <a:xfrm>
            <a:off x="4637088" y="676278"/>
            <a:ext cx="3862386" cy="3737102"/>
            <a:chOff x="4637088" y="676278"/>
            <a:chExt cx="3862386" cy="3737102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768431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880154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29028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Просим одобрить пилот и выделить команду из 3 человек.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6623145" y="676278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6754488" y="807621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6866211" y="919344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6715085" y="1407393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Команда готовит инструкции, проверяет ответы и сопровождает запуск.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2599693"/>
              <a:ext cx="1876329" cy="1813687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768431" y="2731036"/>
              <a:ext cx="507832" cy="507832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880154" y="2842759"/>
              <a:ext cx="284386" cy="284386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2369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4729028" y="3330808"/>
              <a:ext cx="1692449" cy="1016899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100" b="0">
                  <a:solidFill>
                    <a:srgbClr val="FFFFFF"/>
                  </a:solidFill>
                  <a:latin typeface="Play"/>
                </a:rPr>
                <a:t>Дальнейшее использование решается после измерения результатов и обратной связи.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9" name="BrandDeck Text 429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4700"/>
              <a:buFont typeface="Play"/>
              <a:buNone/>
            </a:pPr>
            <a:r>
              <a:rPr sz="3200"/>
              <a:t>Спасибо</a:t>
            </a:r>
            <a:endParaRPr/>
          </a:p>
        </p:txBody>
      </p:sp>
      <p:sp>
        <p:nvSpPr>
          <p:cNvPr id="430" name="BrandDeck Text 430"/>
          <p:cNvSpPr txBox="1"/>
          <p:nvPr>
            <p:ph idx="1" type="body"/>
          </p:nvPr>
        </p:nvSpPr>
        <p:spPr>
          <a:xfrm>
            <a:off x="1430535" y="3842780"/>
            <a:ext cx="428827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marL="17145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1600"/>
              <a:buNone/>
            </a:pPr>
            <a:r>
              <a:rPr sz="1600"/>
              <a:t>Вопросы?</a:t>
            </a:r>
            <a:endParaRPr/>
          </a:p>
        </p:txBody>
      </p:sp>
      <p:sp>
        <p:nvSpPr>
          <p:cNvPr id="431" name="Google Shape;431;p4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2026-09-27T16:58:19Z</dcterms:modified>
  <dc:subject>Template-adaptive presentation</dc:subject>
  <cp:keywords>BrandDeck, template-adaptive, presentation</cp:keywords>
  <dc:creator/>
  <dc:description/>
</cp:coreProperties>
</file>