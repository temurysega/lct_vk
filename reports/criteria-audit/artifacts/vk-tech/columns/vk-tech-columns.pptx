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65.png"/><Relationship Id="rId6" Type="http://schemas.openxmlformats.org/officeDocument/2006/relationships/image" Target="../media/image71.png"/><Relationship Id="rId7" Type="http://schemas.openxmlformats.org/officeDocument/2006/relationships/image" Target="../media/image22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BrandDeck Text 401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ctr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1800"/>
              <a:t>Пилот ИИ-помощника по внутренним регламентам</a:t>
            </a:r>
            <a:endParaRPr/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BrandDeck Text 68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Поиск инструкции занимает до 30 минут, треть обращений повторяется</a:t>
            </a:r>
            <a:endParaRPr/>
          </a:p>
        </p:txBody>
      </p:sp>
      <p:grpSp>
        <p:nvGrpSpPr>
          <p:cNvPr id="2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438148" y="1819373"/>
            <a:ext cx="8305756" cy="2290463"/>
            <a:chOff x="438148" y="1819373"/>
            <a:chExt cx="8305756" cy="2290463"/>
          </a:xfrm>
        </p:grpSpPr>
        <p:sp>
          <p:nvSpPr>
            <p:cNvPr id="686" name="BrandDeck Diagram Card 1"/>
            <p:cNvSpPr/>
            <p:nvPr/>
          </p:nvSpPr>
          <p:spPr>
            <a:xfrm>
              <a:off x="438148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BrandDeck Diagram Icon 1 Badge"/>
            <p:cNvSpPr/>
            <p:nvPr/>
          </p:nvSpPr>
          <p:spPr>
            <a:xfrm>
              <a:off x="657604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BrandDeck Icon users"/>
            <p:cNvSpPr/>
            <p:nvPr/>
          </p:nvSpPr>
          <p:spPr>
            <a:xfrm>
              <a:off x="738071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BrandDeck Diagram Text 1"/>
            <p:cNvSpPr txBox="1"/>
            <p:nvPr/>
          </p:nvSpPr>
          <p:spPr>
            <a:xfrm>
              <a:off x="1155037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690" name="BrandDeck Diagram Card 2"/>
            <p:cNvSpPr/>
            <p:nvPr/>
          </p:nvSpPr>
          <p:spPr>
            <a:xfrm>
              <a:off x="4674084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BrandDeck Diagram Icon 2 Badge"/>
            <p:cNvSpPr/>
            <p:nvPr/>
          </p:nvSpPr>
          <p:spPr>
            <a:xfrm>
              <a:off x="4893540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BrandDeck Icon file-text"/>
            <p:cNvSpPr/>
            <p:nvPr/>
          </p:nvSpPr>
          <p:spPr>
            <a:xfrm>
              <a:off x="4974007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BrandDeck Diagram Text 2"/>
            <p:cNvSpPr txBox="1"/>
            <p:nvPr/>
          </p:nvSpPr>
          <p:spPr>
            <a:xfrm>
              <a:off x="5390973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694" name="BrandDeck Diagram Card 3"/>
            <p:cNvSpPr/>
            <p:nvPr/>
          </p:nvSpPr>
          <p:spPr>
            <a:xfrm>
              <a:off x="438148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5" name="BrandDeck Diagram Icon 3 Badge"/>
            <p:cNvSpPr/>
            <p:nvPr/>
          </p:nvSpPr>
          <p:spPr>
            <a:xfrm>
              <a:off x="657604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6" name="BrandDeck Icon headset"/>
            <p:cNvSpPr/>
            <p:nvPr/>
          </p:nvSpPr>
          <p:spPr>
            <a:xfrm>
              <a:off x="738071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BrandDeck Diagram Text 3"/>
            <p:cNvSpPr txBox="1"/>
            <p:nvPr/>
          </p:nvSpPr>
          <p:spPr>
            <a:xfrm>
              <a:off x="1155037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1">
                  <a:solidFill>
                    <a:srgbClr val="000000"/>
                  </a:solidFill>
                  <a:latin typeface="Play"/>
                </a:rPr>
                <a:t>Треть обращений в поддержку —</a:t>
              </a:r>
              <a:r>
                <a:rPr sz="1320" b="0">
                  <a:solidFill>
                    <a:srgbClr val="000000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698" name="BrandDeck Diagram Card 4"/>
            <p:cNvSpPr/>
            <p:nvPr/>
          </p:nvSpPr>
          <p:spPr>
            <a:xfrm>
              <a:off x="4674084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BrandDeck Diagram Icon 4 Badge"/>
            <p:cNvSpPr/>
            <p:nvPr/>
          </p:nvSpPr>
          <p:spPr>
            <a:xfrm>
              <a:off x="4893540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0" name="BrandDeck Icon user"/>
            <p:cNvSpPr/>
            <p:nvPr/>
          </p:nvSpPr>
          <p:spPr>
            <a:xfrm>
              <a:off x="4974007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1" name="BrandDeck Diagram Text 4"/>
            <p:cNvSpPr txBox="1"/>
            <p:nvPr/>
          </p:nvSpPr>
          <p:spPr>
            <a:xfrm>
              <a:off x="5390973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9" name="Google Shape;1119;p69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6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6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69"/>
          <p:cNvSpPr/>
          <p:nvPr/>
        </p:nvSpPr>
        <p:spPr>
          <a:xfrm>
            <a:off x="500061" y="1424137"/>
            <a:ext cx="2919397" cy="2895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69"/>
          <p:cNvSpPr/>
          <p:nvPr/>
        </p:nvSpPr>
        <p:spPr>
          <a:xfrm>
            <a:off x="3657581" y="1209852"/>
            <a:ext cx="5200623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BrandDeck Text 1132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Сотруднику нужен источник ответа, специалисту — контекст вопроса</a:t>
            </a:r>
            <a:endParaRPr/>
          </a:p>
        </p:txBody>
      </p:sp>
      <p:sp>
        <p:nvSpPr>
          <p:cNvPr id="1133" name="BrandDeck Body"/>
          <p:cNvSpPr txBox="1"/>
          <p:nvPr/>
        </p:nvSpPr>
        <p:spPr>
          <a:xfrm>
            <a:off x="500060" y="1424137"/>
            <a:ext cx="2558400" cy="2895223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97"/>
              </a:spcAft>
            </a:pPr>
            <a:r>
              <a:rPr sz="1320">
                <a:solidFill>
                  <a:srgbClr val="000000"/>
                </a:solidFill>
                <a:latin typeface="Play"/>
              </a:rPr>
              <a:t>• Сотруднику нужен понятный ответ со ссылкой на документ-источник.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97"/>
              </a:spcAft>
            </a:pPr>
            <a:r>
              <a:rPr sz="1320">
                <a:solidFill>
                  <a:srgbClr val="000000"/>
                </a:solidFill>
                <a:latin typeface="Play"/>
              </a:rPr>
              <a:t>• Специалисту нужен контекст вопроса, если автоматического ответа недостаточно.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97"/>
              </a:spcAft>
            </a:pPr>
            <a:r>
              <a:rPr sz="1320">
                <a:solidFill>
                  <a:srgbClr val="000000"/>
                </a:solidFill>
                <a:latin typeface="Play"/>
              </a:rPr>
              <a:t>• Передача вопроса вместе с контекстом избавляет сотрудника от повторного объяснения.</a:t>
            </a:r>
          </a:p>
        </p:txBody>
      </p:sp>
      <p:pic>
        <p:nvPicPr>
          <p:cNvPr id="1134" name="BrandDeck Image" descr="02 сотрудник специалист поддержки"/>
          <p:cNvPicPr>
            <a:picLocks noChangeAspect="1"/>
          </p:cNvPicPr>
          <p:nvPr/>
        </p:nvPicPr>
        <p:blipFill>
          <a:blip r:embed="rId7"/>
          <a:srcRect l="18013" r="18013"/>
          <a:stretch>
            <a:fillRect/>
          </a:stretch>
        </p:blipFill>
        <p:spPr>
          <a:xfrm>
            <a:off x="3314493" y="1424137"/>
            <a:ext cx="3291060" cy="2895223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BrandDeck Text 68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ИИ-помощник отвечает по регламентам и передаёт сложные вопросы специалисту</a:t>
            </a:r>
            <a:endParaRPr/>
          </a:p>
        </p:txBody>
      </p:sp>
      <p:grpSp>
        <p:nvGrpSpPr>
          <p:cNvPr id="2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438148" y="1819373"/>
            <a:ext cx="8305756" cy="2290463"/>
            <a:chOff x="438148" y="1819373"/>
            <a:chExt cx="8305756" cy="2290463"/>
          </a:xfrm>
        </p:grpSpPr>
        <p:sp>
          <p:nvSpPr>
            <p:cNvPr id="686" name="BrandDeck Diagram Card 1"/>
            <p:cNvSpPr/>
            <p:nvPr/>
          </p:nvSpPr>
          <p:spPr>
            <a:xfrm>
              <a:off x="438148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BrandDeck Diagram Icon 1 Badge"/>
            <p:cNvSpPr/>
            <p:nvPr/>
          </p:nvSpPr>
          <p:spPr>
            <a:xfrm>
              <a:off x="657604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BrandDeck Icon building"/>
            <p:cNvSpPr/>
            <p:nvPr/>
          </p:nvSpPr>
          <p:spPr>
            <a:xfrm>
              <a:off x="738071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BrandDeck Diagram Text 1"/>
            <p:cNvSpPr txBox="1"/>
            <p:nvPr/>
          </p:nvSpPr>
          <p:spPr>
            <a:xfrm>
              <a:off x="1155037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690" name="BrandDeck Diagram Card 2"/>
            <p:cNvSpPr/>
            <p:nvPr/>
          </p:nvSpPr>
          <p:spPr>
            <a:xfrm>
              <a:off x="4674084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BrandDeck Diagram Icon 2 Badge"/>
            <p:cNvSpPr/>
            <p:nvPr/>
          </p:nvSpPr>
          <p:spPr>
            <a:xfrm>
              <a:off x="4893540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BrandDeck Icon circle-help"/>
            <p:cNvSpPr/>
            <p:nvPr/>
          </p:nvSpPr>
          <p:spPr>
            <a:xfrm>
              <a:off x="4974007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BrandDeck Diagram Text 2"/>
            <p:cNvSpPr txBox="1"/>
            <p:nvPr/>
          </p:nvSpPr>
          <p:spPr>
            <a:xfrm>
              <a:off x="5390973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694" name="BrandDeck Diagram Card 3"/>
            <p:cNvSpPr/>
            <p:nvPr/>
          </p:nvSpPr>
          <p:spPr>
            <a:xfrm>
              <a:off x="438148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5" name="BrandDeck Diagram Icon 3 Badge"/>
            <p:cNvSpPr/>
            <p:nvPr/>
          </p:nvSpPr>
          <p:spPr>
            <a:xfrm>
              <a:off x="657604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6" name="BrandDeck Icon file-text"/>
            <p:cNvSpPr/>
            <p:nvPr/>
          </p:nvSpPr>
          <p:spPr>
            <a:xfrm>
              <a:off x="738071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BrandDeck Diagram Text 3"/>
            <p:cNvSpPr txBox="1"/>
            <p:nvPr/>
          </p:nvSpPr>
          <p:spPr>
            <a:xfrm>
              <a:off x="1155037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698" name="BrandDeck Diagram Card 4"/>
            <p:cNvSpPr/>
            <p:nvPr/>
          </p:nvSpPr>
          <p:spPr>
            <a:xfrm>
              <a:off x="4674084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BrandDeck Diagram Icon 4 Badge"/>
            <p:cNvSpPr/>
            <p:nvPr/>
          </p:nvSpPr>
          <p:spPr>
            <a:xfrm>
              <a:off x="4893540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0" name="BrandDeck Icon circle-check"/>
            <p:cNvSpPr/>
            <p:nvPr/>
          </p:nvSpPr>
          <p:spPr>
            <a:xfrm>
              <a:off x="4974007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1" name="BrandDeck Diagram Text 4"/>
            <p:cNvSpPr txBox="1"/>
            <p:nvPr/>
          </p:nvSpPr>
          <p:spPr>
            <a:xfrm>
              <a:off x="5390973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BrandDeck Text 68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Вопрос проходит путь от портала до ответа со ссылкой или эскалации</a:t>
            </a:r>
            <a:endParaRPr/>
          </a:p>
        </p:txBody>
      </p:sp>
      <p:grpSp>
        <p:nvGrpSpPr>
          <p:cNvPr id="2" name="BrandDeck Diagram icon_grid" descr="icon_grid: Сотрудник задаёт вопрос во внутреннем портале.; Помощник ищет ответ в регламентах и показывает источник.; При отсутствии подтверждённого ответа вопрос передаётся специалисту.; Специалист получает контекст исходного обращения."/>
          <p:cNvGrpSpPr/>
          <p:nvPr/>
        </p:nvGrpSpPr>
        <p:grpSpPr>
          <a:xfrm>
            <a:off x="438148" y="1819373"/>
            <a:ext cx="8305756" cy="2290463"/>
            <a:chOff x="438148" y="1819373"/>
            <a:chExt cx="8305756" cy="2290463"/>
          </a:xfrm>
        </p:grpSpPr>
        <p:sp>
          <p:nvSpPr>
            <p:cNvPr id="686" name="BrandDeck Diagram Card 1"/>
            <p:cNvSpPr/>
            <p:nvPr/>
          </p:nvSpPr>
          <p:spPr>
            <a:xfrm>
              <a:off x="438148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BrandDeck Diagram Icon 1 Badge"/>
            <p:cNvSpPr/>
            <p:nvPr/>
          </p:nvSpPr>
          <p:spPr>
            <a:xfrm>
              <a:off x="657604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BrandDeck Icon users"/>
            <p:cNvSpPr/>
            <p:nvPr/>
          </p:nvSpPr>
          <p:spPr>
            <a:xfrm>
              <a:off x="738071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BrandDeck Diagram Text 1"/>
            <p:cNvSpPr txBox="1"/>
            <p:nvPr/>
          </p:nvSpPr>
          <p:spPr>
            <a:xfrm>
              <a:off x="1155037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Сотрудник задаёт вопрос во внутреннем портале.</a:t>
              </a:r>
            </a:p>
          </p:txBody>
        </p:sp>
        <p:sp>
          <p:nvSpPr>
            <p:cNvPr id="690" name="BrandDeck Diagram Card 2"/>
            <p:cNvSpPr/>
            <p:nvPr/>
          </p:nvSpPr>
          <p:spPr>
            <a:xfrm>
              <a:off x="4674084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BrandDeck Diagram Icon 2 Badge"/>
            <p:cNvSpPr/>
            <p:nvPr/>
          </p:nvSpPr>
          <p:spPr>
            <a:xfrm>
              <a:off x="4893540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BrandDeck Icon life-buoy"/>
            <p:cNvSpPr/>
            <p:nvPr/>
          </p:nvSpPr>
          <p:spPr>
            <a:xfrm>
              <a:off x="4974007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4209"/>
                    <a:pt x="14209" y="16000"/>
                    <a:pt x="12000" y="16000"/>
                  </a:cubicBezTo>
                  <a:cubicBezTo>
                    <a:pt x="9791" y="16000"/>
                    <a:pt x="8000" y="14209"/>
                    <a:pt x="8000" y="12000"/>
                  </a:cubicBezTo>
                  <a:cubicBezTo>
                    <a:pt x="8000" y="9791"/>
                    <a:pt x="9791" y="8000"/>
                    <a:pt x="12000" y="8000"/>
                  </a:cubicBezTo>
                  <a:cubicBezTo>
                    <a:pt x="14209" y="8000"/>
                    <a:pt x="16000" y="9791"/>
                    <a:pt x="16000" y="12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BrandDeck Diagram Text 2"/>
            <p:cNvSpPr txBox="1"/>
            <p:nvPr/>
          </p:nvSpPr>
          <p:spPr>
            <a:xfrm>
              <a:off x="5390973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Помощник ищет ответ в регламентах и показывает источник.</a:t>
              </a:r>
            </a:p>
          </p:txBody>
        </p:sp>
        <p:sp>
          <p:nvSpPr>
            <p:cNvPr id="694" name="BrandDeck Diagram Card 3"/>
            <p:cNvSpPr/>
            <p:nvPr/>
          </p:nvSpPr>
          <p:spPr>
            <a:xfrm>
              <a:off x="438148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5" name="BrandDeck Diagram Icon 3 Badge"/>
            <p:cNvSpPr/>
            <p:nvPr/>
          </p:nvSpPr>
          <p:spPr>
            <a:xfrm>
              <a:off x="657604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6" name="BrandDeck Icon circle-check"/>
            <p:cNvSpPr/>
            <p:nvPr/>
          </p:nvSpPr>
          <p:spPr>
            <a:xfrm>
              <a:off x="738071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BrandDeck Diagram Text 3"/>
            <p:cNvSpPr txBox="1"/>
            <p:nvPr/>
          </p:nvSpPr>
          <p:spPr>
            <a:xfrm>
              <a:off x="1155037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При отсутствии подтверждённого ответа вопрос передаётся специалисту.</a:t>
              </a:r>
            </a:p>
          </p:txBody>
        </p:sp>
        <p:sp>
          <p:nvSpPr>
            <p:cNvPr id="698" name="BrandDeck Diagram Card 4"/>
            <p:cNvSpPr/>
            <p:nvPr/>
          </p:nvSpPr>
          <p:spPr>
            <a:xfrm>
              <a:off x="4674084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BrandDeck Diagram Icon 4 Badge"/>
            <p:cNvSpPr/>
            <p:nvPr/>
          </p:nvSpPr>
          <p:spPr>
            <a:xfrm>
              <a:off x="4893540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0" name="BrandDeck Icon user"/>
            <p:cNvSpPr/>
            <p:nvPr/>
          </p:nvSpPr>
          <p:spPr>
            <a:xfrm>
              <a:off x="4974007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1" name="BrandDeck Diagram Text 4"/>
            <p:cNvSpPr txBox="1"/>
            <p:nvPr/>
          </p:nvSpPr>
          <p:spPr>
            <a:xfrm>
              <a:off x="5390973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Специалист получает контекст исходного обращения.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BrandDeck Text 68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Документы остаются внутри контура, неподтверждённый ответ проверяет специалист</a:t>
            </a:r>
            <a:endParaRPr/>
          </a:p>
        </p:txBody>
      </p:sp>
      <p:grpSp>
        <p:nvGrpSpPr>
          <p:cNvPr id="2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438148" y="1819373"/>
            <a:ext cx="8305756" cy="2290463"/>
            <a:chOff x="438148" y="1819373"/>
            <a:chExt cx="8305756" cy="2290463"/>
          </a:xfrm>
        </p:grpSpPr>
        <p:sp>
          <p:nvSpPr>
            <p:cNvPr id="686" name="BrandDeck Diagram Card 1"/>
            <p:cNvSpPr/>
            <p:nvPr/>
          </p:nvSpPr>
          <p:spPr>
            <a:xfrm>
              <a:off x="438148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BrandDeck Diagram Icon 1 Badge"/>
            <p:cNvSpPr/>
            <p:nvPr/>
          </p:nvSpPr>
          <p:spPr>
            <a:xfrm>
              <a:off x="657604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BrandDeck Icon brain"/>
            <p:cNvSpPr/>
            <p:nvPr/>
          </p:nvSpPr>
          <p:spPr>
            <a:xfrm>
              <a:off x="738071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BrandDeck Diagram Text 1"/>
            <p:cNvSpPr txBox="1"/>
            <p:nvPr/>
          </p:nvSpPr>
          <p:spPr>
            <a:xfrm>
              <a:off x="1155037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690" name="BrandDeck Diagram Card 2"/>
            <p:cNvSpPr/>
            <p:nvPr/>
          </p:nvSpPr>
          <p:spPr>
            <a:xfrm>
              <a:off x="4674084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BrandDeck Diagram Icon 2 Badge"/>
            <p:cNvSpPr/>
            <p:nvPr/>
          </p:nvSpPr>
          <p:spPr>
            <a:xfrm>
              <a:off x="4893540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BrandDeck Icon file-text"/>
            <p:cNvSpPr/>
            <p:nvPr/>
          </p:nvSpPr>
          <p:spPr>
            <a:xfrm>
              <a:off x="4974007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BrandDeck Diagram Text 2"/>
            <p:cNvSpPr txBox="1"/>
            <p:nvPr/>
          </p:nvSpPr>
          <p:spPr>
            <a:xfrm>
              <a:off x="5390973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694" name="BrandDeck Diagram Card 3"/>
            <p:cNvSpPr/>
            <p:nvPr/>
          </p:nvSpPr>
          <p:spPr>
            <a:xfrm>
              <a:off x="438148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5" name="BrandDeck Diagram Icon 3 Badge"/>
            <p:cNvSpPr/>
            <p:nvPr/>
          </p:nvSpPr>
          <p:spPr>
            <a:xfrm>
              <a:off x="657604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6" name="BrandDeck Icon circle-check"/>
            <p:cNvSpPr/>
            <p:nvPr/>
          </p:nvSpPr>
          <p:spPr>
            <a:xfrm>
              <a:off x="738071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BrandDeck Diagram Text 3"/>
            <p:cNvSpPr txBox="1"/>
            <p:nvPr/>
          </p:nvSpPr>
          <p:spPr>
            <a:xfrm>
              <a:off x="1155037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698" name="BrandDeck Diagram Card 4"/>
            <p:cNvSpPr/>
            <p:nvPr/>
          </p:nvSpPr>
          <p:spPr>
            <a:xfrm>
              <a:off x="4674084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BrandDeck Diagram Icon 4 Badge"/>
            <p:cNvSpPr/>
            <p:nvPr/>
          </p:nvSpPr>
          <p:spPr>
            <a:xfrm>
              <a:off x="4893540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0" name="BrandDeck Icon user"/>
            <p:cNvSpPr/>
            <p:nvPr/>
          </p:nvSpPr>
          <p:spPr>
            <a:xfrm>
              <a:off x="4974007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1" name="BrandDeck Diagram Text 4"/>
            <p:cNvSpPr txBox="1"/>
            <p:nvPr/>
          </p:nvSpPr>
          <p:spPr>
            <a:xfrm>
              <a:off x="5390973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BrandDeck Text 1050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Пилот охватит 150 сотрудников двух подразделений за 6 недель</a:t>
            </a:r>
            <a:endParaRPr/>
          </a:p>
        </p:txBody>
      </p:sp>
      <p:grpSp>
        <p:nvGrpSpPr>
          <p:cNvPr id="2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585216" y="1144312"/>
            <a:ext cx="5129783" cy="3583136"/>
            <a:chOff x="585216" y="1144312"/>
            <a:chExt cx="5129783" cy="3583136"/>
          </a:xfrm>
        </p:grpSpPr>
        <p:sp>
          <p:nvSpPr>
            <p:cNvPr id="1051" name="BrandDeck Diagram Card 1"/>
            <p:cNvSpPr/>
            <p:nvPr/>
          </p:nvSpPr>
          <p:spPr>
            <a:xfrm>
              <a:off x="585216" y="1144312"/>
              <a:ext cx="2510027" cy="173670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2" name="BrandDeck Diagram Icon 1 Badge"/>
            <p:cNvSpPr/>
            <p:nvPr/>
          </p:nvSpPr>
          <p:spPr>
            <a:xfrm>
              <a:off x="760917" y="1320013"/>
              <a:ext cx="486277" cy="486277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3" name="BrandDeck Icon rocket"/>
            <p:cNvSpPr/>
            <p:nvPr/>
          </p:nvSpPr>
          <p:spPr>
            <a:xfrm>
              <a:off x="867898" y="1426994"/>
              <a:ext cx="272315" cy="27231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2692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4" name="BrandDeck Diagram Text 1"/>
            <p:cNvSpPr txBox="1"/>
            <p:nvPr/>
          </p:nvSpPr>
          <p:spPr>
            <a:xfrm>
              <a:off x="708207" y="1929282"/>
              <a:ext cx="2264045" cy="863882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000000"/>
                  </a:solidFill>
                  <a:latin typeface="Play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1055" name="BrandDeck Diagram Card 2"/>
            <p:cNvSpPr/>
            <p:nvPr/>
          </p:nvSpPr>
          <p:spPr>
            <a:xfrm>
              <a:off x="3204972" y="1144312"/>
              <a:ext cx="2510027" cy="173670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6" name="BrandDeck Diagram Icon 2 Badge"/>
            <p:cNvSpPr/>
            <p:nvPr/>
          </p:nvSpPr>
          <p:spPr>
            <a:xfrm>
              <a:off x="3380673" y="1320013"/>
              <a:ext cx="486277" cy="486277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7" name="BrandDeck Icon hourglass"/>
            <p:cNvSpPr/>
            <p:nvPr/>
          </p:nvSpPr>
          <p:spPr>
            <a:xfrm>
              <a:off x="3487654" y="1426994"/>
              <a:ext cx="272315" cy="27231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2692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8" name="BrandDeck Diagram Text 2"/>
            <p:cNvSpPr txBox="1"/>
            <p:nvPr/>
          </p:nvSpPr>
          <p:spPr>
            <a:xfrm>
              <a:off x="3327963" y="1929282"/>
              <a:ext cx="2264045" cy="863882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1">
                  <a:solidFill>
                    <a:srgbClr val="000000"/>
                  </a:solidFill>
                  <a:latin typeface="Play"/>
                </a:rPr>
                <a:t>Продолжительность пилота —</a:t>
              </a:r>
              <a:r>
                <a:rPr sz="1200" b="0">
                  <a:solidFill>
                    <a:srgbClr val="000000"/>
                  </a:solidFill>
                  <a:latin typeface="Play"/>
                </a:rPr>
                <a:t> 6 недель.</a:t>
              </a:r>
            </a:p>
          </p:txBody>
        </p:sp>
        <p:sp>
          <p:nvSpPr>
            <p:cNvPr id="1059" name="BrandDeck Diagram Card 3"/>
            <p:cNvSpPr/>
            <p:nvPr/>
          </p:nvSpPr>
          <p:spPr>
            <a:xfrm>
              <a:off x="585216" y="2990744"/>
              <a:ext cx="2510027" cy="173670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0" name="BrandDeck Diagram Icon 3 Badge"/>
            <p:cNvSpPr/>
            <p:nvPr/>
          </p:nvSpPr>
          <p:spPr>
            <a:xfrm>
              <a:off x="760917" y="3166445"/>
              <a:ext cx="486277" cy="486277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1" name="BrandDeck Icon user"/>
            <p:cNvSpPr/>
            <p:nvPr/>
          </p:nvSpPr>
          <p:spPr>
            <a:xfrm>
              <a:off x="867898" y="3273426"/>
              <a:ext cx="272315" cy="27231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2692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2" name="BrandDeck Diagram Text 3"/>
            <p:cNvSpPr txBox="1"/>
            <p:nvPr/>
          </p:nvSpPr>
          <p:spPr>
            <a:xfrm>
              <a:off x="708207" y="3775714"/>
              <a:ext cx="2264045" cy="863882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000000"/>
                  </a:solidFill>
                  <a:latin typeface="Play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BrandDeck Text 68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Успех измерят временем поиска и долей обращений без специалиста</a:t>
            </a:r>
            <a:endParaRPr/>
          </a:p>
        </p:txBody>
      </p:sp>
      <p:grpSp>
        <p:nvGrpSpPr>
          <p:cNvPr id="2" name="BrandDeck Diagram icon_grid" descr="icon_grid: Команда измеряет время поиска ответа.; Также измеряется доля обращений, закрытых без специалиста.; Целевые значения согласуются до запуска.; Фактических результатов пилота пока нет."/>
          <p:cNvGrpSpPr/>
          <p:nvPr/>
        </p:nvGrpSpPr>
        <p:grpSpPr>
          <a:xfrm>
            <a:off x="438148" y="1819373"/>
            <a:ext cx="8305756" cy="2290463"/>
            <a:chOff x="438148" y="1819373"/>
            <a:chExt cx="8305756" cy="2290463"/>
          </a:xfrm>
        </p:grpSpPr>
        <p:sp>
          <p:nvSpPr>
            <p:cNvPr id="686" name="BrandDeck Diagram Card 1"/>
            <p:cNvSpPr/>
            <p:nvPr/>
          </p:nvSpPr>
          <p:spPr>
            <a:xfrm>
              <a:off x="438148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BrandDeck Diagram Icon 1 Badge"/>
            <p:cNvSpPr/>
            <p:nvPr/>
          </p:nvSpPr>
          <p:spPr>
            <a:xfrm>
              <a:off x="657604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BrandDeck Icon users"/>
            <p:cNvSpPr/>
            <p:nvPr/>
          </p:nvSpPr>
          <p:spPr>
            <a:xfrm>
              <a:off x="738071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BrandDeck Diagram Text 1"/>
            <p:cNvSpPr txBox="1"/>
            <p:nvPr/>
          </p:nvSpPr>
          <p:spPr>
            <a:xfrm>
              <a:off x="1155037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Команда измеряет время поиска ответа.</a:t>
              </a:r>
            </a:p>
          </p:txBody>
        </p:sp>
        <p:sp>
          <p:nvSpPr>
            <p:cNvPr id="690" name="BrandDeck Diagram Card 2"/>
            <p:cNvSpPr/>
            <p:nvPr/>
          </p:nvSpPr>
          <p:spPr>
            <a:xfrm>
              <a:off x="4674084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BrandDeck Diagram Icon 2 Badge"/>
            <p:cNvSpPr/>
            <p:nvPr/>
          </p:nvSpPr>
          <p:spPr>
            <a:xfrm>
              <a:off x="4893540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BrandDeck Icon chart-column"/>
            <p:cNvSpPr/>
            <p:nvPr/>
          </p:nvSpPr>
          <p:spPr>
            <a:xfrm>
              <a:off x="4974007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BrandDeck Diagram Text 2"/>
            <p:cNvSpPr txBox="1"/>
            <p:nvPr/>
          </p:nvSpPr>
          <p:spPr>
            <a:xfrm>
              <a:off x="5390973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Также измеряется доля обращений, закрытых без специалиста.</a:t>
              </a:r>
            </a:p>
          </p:txBody>
        </p:sp>
        <p:sp>
          <p:nvSpPr>
            <p:cNvPr id="694" name="BrandDeck Diagram Card 3"/>
            <p:cNvSpPr/>
            <p:nvPr/>
          </p:nvSpPr>
          <p:spPr>
            <a:xfrm>
              <a:off x="438148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5" name="BrandDeck Diagram Icon 3 Badge"/>
            <p:cNvSpPr/>
            <p:nvPr/>
          </p:nvSpPr>
          <p:spPr>
            <a:xfrm>
              <a:off x="657604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6" name="BrandDeck Icon target"/>
            <p:cNvSpPr/>
            <p:nvPr/>
          </p:nvSpPr>
          <p:spPr>
            <a:xfrm>
              <a:off x="738071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8000" y="12000"/>
                  </a:moveTo>
                  <a:cubicBezTo>
                    <a:pt x="18000" y="15314"/>
                    <a:pt x="15314" y="18000"/>
                    <a:pt x="12000" y="18000"/>
                  </a:cubicBezTo>
                  <a:cubicBezTo>
                    <a:pt x="8686" y="18000"/>
                    <a:pt x="6000" y="15314"/>
                    <a:pt x="6000" y="12000"/>
                  </a:cubicBezTo>
                  <a:cubicBezTo>
                    <a:pt x="6000" y="8686"/>
                    <a:pt x="8686" y="6000"/>
                    <a:pt x="12000" y="6000"/>
                  </a:cubicBezTo>
                  <a:cubicBezTo>
                    <a:pt x="15314" y="6000"/>
                    <a:pt x="18000" y="8686"/>
                    <a:pt x="18000" y="12000"/>
                  </a:cubicBezTo>
                  <a:close/>
                </a:path>
                <a:path w="24000" h="24000" fill="none">
                  <a:moveTo>
                    <a:pt x="14000" y="12000"/>
                  </a:moveTo>
                  <a:cubicBezTo>
                    <a:pt x="14000" y="13105"/>
                    <a:pt x="13105" y="14000"/>
                    <a:pt x="12000" y="14000"/>
                  </a:cubicBezTo>
                  <a:cubicBezTo>
                    <a:pt x="10895" y="14000"/>
                    <a:pt x="10000" y="13105"/>
                    <a:pt x="10000" y="12000"/>
                  </a:cubicBezTo>
                  <a:cubicBezTo>
                    <a:pt x="10000" y="10895"/>
                    <a:pt x="10895" y="10000"/>
                    <a:pt x="12000" y="10000"/>
                  </a:cubicBezTo>
                  <a:cubicBezTo>
                    <a:pt x="13105" y="10000"/>
                    <a:pt x="14000" y="10895"/>
                    <a:pt x="14000" y="12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BrandDeck Diagram Text 3"/>
            <p:cNvSpPr txBox="1"/>
            <p:nvPr/>
          </p:nvSpPr>
          <p:spPr>
            <a:xfrm>
              <a:off x="1155037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Целевые значения согласуются до запуска.</a:t>
              </a:r>
            </a:p>
          </p:txBody>
        </p:sp>
        <p:sp>
          <p:nvSpPr>
            <p:cNvPr id="698" name="BrandDeck Diagram Card 4"/>
            <p:cNvSpPr/>
            <p:nvPr/>
          </p:nvSpPr>
          <p:spPr>
            <a:xfrm>
              <a:off x="4674084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BrandDeck Diagram Icon 4 Badge"/>
            <p:cNvSpPr/>
            <p:nvPr/>
          </p:nvSpPr>
          <p:spPr>
            <a:xfrm>
              <a:off x="4893540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0" name="BrandDeck Icon trophy"/>
            <p:cNvSpPr/>
            <p:nvPr/>
          </p:nvSpPr>
          <p:spPr>
            <a:xfrm>
              <a:off x="4974007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1" name="BrandDeck Diagram Text 4"/>
            <p:cNvSpPr txBox="1"/>
            <p:nvPr/>
          </p:nvSpPr>
          <p:spPr>
            <a:xfrm>
              <a:off x="5390973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Фактических результатов пилота пока нет.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BrandDeck Text 1050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Команда из 3 человек подготовит и проверит пилот</a:t>
            </a:r>
            <a:endParaRPr/>
          </a:p>
        </p:txBody>
      </p:sp>
      <p:grpSp>
        <p:nvGrpSpPr>
          <p:cNvPr id="2" name="BrandDeck Diagram icon_grid" descr="icon_grid: Просим одобрить пилот и выделить команду из 3 человек.; Команда готовит инструкции, проверяет ответы и сопровождает запуск.; Дальнейшее использование решается после измерения результатов и обратной связи."/>
          <p:cNvGrpSpPr/>
          <p:nvPr/>
        </p:nvGrpSpPr>
        <p:grpSpPr>
          <a:xfrm>
            <a:off x="585216" y="1144312"/>
            <a:ext cx="5129783" cy="3583136"/>
            <a:chOff x="585216" y="1144312"/>
            <a:chExt cx="5129783" cy="3583136"/>
          </a:xfrm>
        </p:grpSpPr>
        <p:sp>
          <p:nvSpPr>
            <p:cNvPr id="1051" name="BrandDeck Diagram Card 1"/>
            <p:cNvSpPr/>
            <p:nvPr/>
          </p:nvSpPr>
          <p:spPr>
            <a:xfrm>
              <a:off x="585216" y="1144312"/>
              <a:ext cx="2510027" cy="173670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2" name="BrandDeck Diagram Icon 1 Badge"/>
            <p:cNvSpPr/>
            <p:nvPr/>
          </p:nvSpPr>
          <p:spPr>
            <a:xfrm>
              <a:off x="760917" y="1320013"/>
              <a:ext cx="486277" cy="486277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3" name="BrandDeck Icon rocket"/>
            <p:cNvSpPr/>
            <p:nvPr/>
          </p:nvSpPr>
          <p:spPr>
            <a:xfrm>
              <a:off x="867898" y="1426994"/>
              <a:ext cx="272315" cy="27231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2692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4" name="BrandDeck Diagram Text 1"/>
            <p:cNvSpPr txBox="1"/>
            <p:nvPr/>
          </p:nvSpPr>
          <p:spPr>
            <a:xfrm>
              <a:off x="708207" y="1929282"/>
              <a:ext cx="2264045" cy="863882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Просим одобрить пилот и выделить команду из 3 человек.</a:t>
              </a:r>
            </a:p>
          </p:txBody>
        </p:sp>
        <p:sp>
          <p:nvSpPr>
            <p:cNvPr id="1055" name="BrandDeck Diagram Card 2"/>
            <p:cNvSpPr/>
            <p:nvPr/>
          </p:nvSpPr>
          <p:spPr>
            <a:xfrm>
              <a:off x="3204972" y="1144312"/>
              <a:ext cx="2510027" cy="173670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6" name="BrandDeck Diagram Icon 2 Badge"/>
            <p:cNvSpPr/>
            <p:nvPr/>
          </p:nvSpPr>
          <p:spPr>
            <a:xfrm>
              <a:off x="3380673" y="1320013"/>
              <a:ext cx="486277" cy="486277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7" name="BrandDeck Icon users"/>
            <p:cNvSpPr/>
            <p:nvPr/>
          </p:nvSpPr>
          <p:spPr>
            <a:xfrm>
              <a:off x="3487654" y="1426994"/>
              <a:ext cx="272315" cy="27231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2692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8" name="BrandDeck Diagram Text 2"/>
            <p:cNvSpPr txBox="1"/>
            <p:nvPr/>
          </p:nvSpPr>
          <p:spPr>
            <a:xfrm>
              <a:off x="3327963" y="1929282"/>
              <a:ext cx="2264045" cy="863882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Команда готовит инструкции, проверяет ответы и сопровождает запуск.</a:t>
              </a:r>
            </a:p>
          </p:txBody>
        </p:sp>
        <p:sp>
          <p:nvSpPr>
            <p:cNvPr id="1059" name="BrandDeck Diagram Card 3"/>
            <p:cNvSpPr/>
            <p:nvPr/>
          </p:nvSpPr>
          <p:spPr>
            <a:xfrm>
              <a:off x="585216" y="2990744"/>
              <a:ext cx="2510027" cy="173670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0" name="BrandDeck Diagram Icon 3 Badge"/>
            <p:cNvSpPr/>
            <p:nvPr/>
          </p:nvSpPr>
          <p:spPr>
            <a:xfrm>
              <a:off x="760917" y="3166445"/>
              <a:ext cx="486277" cy="486277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1" name="BrandDeck Icon chart-column"/>
            <p:cNvSpPr/>
            <p:nvPr/>
          </p:nvSpPr>
          <p:spPr>
            <a:xfrm>
              <a:off x="867898" y="3273426"/>
              <a:ext cx="272315" cy="27231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2692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2" name="BrandDeck Diagram Text 3"/>
            <p:cNvSpPr txBox="1"/>
            <p:nvPr/>
          </p:nvSpPr>
          <p:spPr>
            <a:xfrm>
              <a:off x="708207" y="3775714"/>
              <a:ext cx="2264045" cy="863882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Дальнейшее использование решается после измерения результатов и обратной связи.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9" name="BrandDeck Text 429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sz="3200"/>
              <a:t>Спасибо</a:t>
            </a:r>
            <a:endParaRPr/>
          </a:p>
        </p:txBody>
      </p:sp>
      <p:sp>
        <p:nvSpPr>
          <p:cNvPr id="430" name="BrandDeck Text 430"/>
          <p:cNvSpPr txBox="1"/>
          <p:nvPr>
            <p:ph idx="1" type="body"/>
          </p:nvPr>
        </p:nvSpPr>
        <p:spPr>
          <a:xfrm>
            <a:off x="1430535" y="3842780"/>
            <a:ext cx="42882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marL="17145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1"/>
              </a:buClr>
              <a:buSzPts val="1600"/>
              <a:buNone/>
            </a:pPr>
            <a:r>
              <a:rPr sz="1600"/>
              <a:t>Вопросы?</a:t>
            </a:r>
            <a:endParaRPr/>
          </a:p>
        </p:txBody>
      </p:sp>
      <p:sp>
        <p:nvSpPr>
          <p:cNvPr id="431" name="Google Shape;431;p4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Пилот ИИ-помощника по внутренним регламентам</dc:title>
  <cp:lastModifiedBy/>
  <cp:revision>1</cp:revision>
  <dcterms:modified xsi:type="dcterms:W3CDTF">2026-09-27T16:58:20Z</dcterms:modified>
  <dc:subject>Template-adaptive presentation</dc:subject>
  <cp:keywords>BrandDeck, template-adaptive, presentation</cp:keywords>
  <dc:creator/>
  <dc:description/>
</cp:coreProperties>
</file>