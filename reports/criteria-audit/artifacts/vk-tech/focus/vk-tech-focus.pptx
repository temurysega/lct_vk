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3.png"/><Relationship Id="rId3" Type="http://schemas.openxmlformats.org/officeDocument/2006/relationships/image" Target="../media/image49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Relationship Id="rId6" Type="http://schemas.openxmlformats.org/officeDocument/2006/relationships/image" Target="../media/image47.png"/><Relationship Id="rId7" Type="http://schemas.openxmlformats.org/officeDocument/2006/relationships/image" Target="../media/image53.png"/><Relationship Id="rId8" Type="http://schemas.openxmlformats.org/officeDocument/2006/relationships/image" Target="../media/image72.png"/><Relationship Id="rId9" Type="http://schemas.openxmlformats.org/officeDocument/2006/relationships/image" Target="../media/image22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BrandDeck Text 401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ctr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1800"/>
              <a:t>Пилот ИИ-помощника по внутренним регламентам</a:t>
            </a:r>
            <a:endParaRPr/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/>
              <a:t>Поиск инструкции занимает до 30 минут, треть обращений повторяется</a:t>
            </a:r>
          </a:p>
        </p:txBody>
      </p:sp>
      <p:grpSp>
        <p:nvGrpSpPr>
          <p:cNvPr id="3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file-text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headset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1">
                  <a:solidFill>
                    <a:srgbClr val="000000"/>
                  </a:solidFill>
                  <a:latin typeface="Play"/>
                </a:rPr>
                <a:t>Треть обращений в поддержку —</a:t>
              </a:r>
              <a:r>
                <a:rPr sz="1100" b="0">
                  <a:solidFill>
                    <a:srgbClr val="000000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87" name="Google Shape;987;p64"/>
          <p:cNvSpPr/>
          <p:nvPr/>
        </p:nvSpPr>
        <p:spPr>
          <a:xfrm>
            <a:off x="285748" y="286048"/>
            <a:ext cx="8572456" cy="4152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64"/>
          <p:cNvSpPr/>
          <p:nvPr/>
        </p:nvSpPr>
        <p:spPr>
          <a:xfrm>
            <a:off x="285748" y="1209852"/>
            <a:ext cx="8572456" cy="3228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64"/>
          <p:cNvSpPr/>
          <p:nvPr/>
        </p:nvSpPr>
        <p:spPr>
          <a:xfrm>
            <a:off x="285748" y="1209852"/>
            <a:ext cx="8572456" cy="1795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4"/>
          <p:cNvSpPr/>
          <p:nvPr/>
        </p:nvSpPr>
        <p:spPr>
          <a:xfrm>
            <a:off x="285748" y="3176509"/>
            <a:ext cx="8572456" cy="1261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BrandDeck Text 101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Сотруднику нужен источник ответа, специалисту — контекст вопроса</a:t>
            </a:r>
            <a:endParaRPr/>
          </a:p>
        </p:txBody>
      </p:sp>
      <p:sp>
        <p:nvSpPr>
          <p:cNvPr id="1022" name="BrandDeck Body"/>
          <p:cNvSpPr txBox="1"/>
          <p:nvPr/>
        </p:nvSpPr>
        <p:spPr>
          <a:xfrm>
            <a:off x="585216" y="1144312"/>
            <a:ext cx="2129088" cy="3583136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0187F6"/>
                </a:solidFill>
                <a:latin typeface="Play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0187F6"/>
                </a:solidFill>
                <a:latin typeface="Play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0187F6"/>
                </a:solidFill>
                <a:latin typeface="Play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  <p:pic>
        <p:nvPicPr>
          <p:cNvPr id="1023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9"/>
          <a:srcRect l="28445" r="28445"/>
          <a:stretch>
            <a:fillRect/>
          </a:stretch>
        </p:blipFill>
        <p:spPr>
          <a:xfrm>
            <a:off x="2970336" y="1144312"/>
            <a:ext cx="2744663" cy="358313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3" name="BrandDeck Text 503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82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220"/>
              <a:t>ИИ-помощник отвечает по регламентам и передаёт сложные вопросы специалисту</a:t>
            </a:r>
            <a:endParaRPr/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508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BrandDeck Icon building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1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512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BrandDeck Icon circle-help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5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516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BrandDeck Icon file-text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520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1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BrandDeck Icon circle-check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/>
              <a:t>Вопрос проходит путь от портала до ответа со ссылкой или эскалации</a:t>
            </a:r>
          </a:p>
        </p:txBody>
      </p:sp>
      <p:grpSp>
        <p:nvGrpSpPr>
          <p:cNvPr id="3" name="BrandDeck Diagram icon_grid" descr="icon_grid: Сотрудник задаёт вопрос во внутреннем портале.; Помощник ищет ответ в регламентах и показывает источник.; При отсутствии подтверждённого ответа вопрос передаётся специалисту.; Специалист получает контекст исходного обращения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Сотрудник задаёт вопрос во внутреннем портале.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life-buoy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4209"/>
                    <a:pt x="14209" y="16000"/>
                    <a:pt x="12000" y="16000"/>
                  </a:cubicBezTo>
                  <a:cubicBezTo>
                    <a:pt x="9791" y="16000"/>
                    <a:pt x="8000" y="14209"/>
                    <a:pt x="8000" y="12000"/>
                  </a:cubicBezTo>
                  <a:cubicBezTo>
                    <a:pt x="8000" y="9791"/>
                    <a:pt x="9791" y="8000"/>
                    <a:pt x="12000" y="8000"/>
                  </a:cubicBezTo>
                  <a:cubicBezTo>
                    <a:pt x="14209" y="8000"/>
                    <a:pt x="16000" y="9791"/>
                    <a:pt x="16000" y="12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Помощник ищет ответ в регламентах и показывает источник.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ircle-check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При отсутствии подтверждённого ответа вопрос передаётся специалисту.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Специалист получает контекст исходного обращения.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2"/>
              </a:spcAft>
            </a:pPr>
            <a:r>
              <a:rPr sz="1220"/>
              <a:t>Документы остаются внутри контура, неподтверждённый ответ проверяет специалист</a:t>
            </a:r>
          </a:p>
        </p:txBody>
      </p:sp>
      <p:grpSp>
        <p:nvGrpSpPr>
          <p:cNvPr id="3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brain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file-text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ircle-check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3" name="BrandDeck Text 503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600"/>
              <a:t>Пилот охватит 150 сотрудников двух подразделений за 6 недель</a:t>
            </a:r>
            <a:endParaRPr/>
          </a:p>
        </p:txBody>
      </p:sp>
      <p:grpSp>
        <p:nvGrpSpPr>
          <p:cNvPr id="2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508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BrandDeck Icon rocket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1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512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BrandDeck Icon hourglass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5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1">
                  <a:solidFill>
                    <a:srgbClr val="000000"/>
                  </a:solidFill>
                  <a:latin typeface="Play"/>
                </a:rPr>
                <a:t>Продолжительность пилота —</a:t>
              </a:r>
              <a:r>
                <a:rPr sz="1170" b="0">
                  <a:solidFill>
                    <a:srgbClr val="000000"/>
                  </a:solidFill>
                  <a:latin typeface="Play"/>
                </a:rPr>
                <a:t> 6 недель.</a:t>
              </a:r>
            </a:p>
          </p:txBody>
        </p:sp>
        <p:sp>
          <p:nvSpPr>
            <p:cNvPr id="516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BrandDeck Icon user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/>
              <a:t>Успех измерят временем поиска и долей обращений без специалиста</a:t>
            </a:r>
          </a:p>
        </p:txBody>
      </p:sp>
      <p:grpSp>
        <p:nvGrpSpPr>
          <p:cNvPr id="3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FFFFFF"/>
                  </a:solidFill>
                  <a:latin typeface="Play"/>
                </a:rPr>
                <a:t>Команда измеряет время поиска ответа.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hart-column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FFFFFF"/>
                  </a:solidFill>
                  <a:latin typeface="Play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target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FFFFFF"/>
                  </a:solidFill>
                  <a:latin typeface="Play"/>
                </a:rPr>
                <a:t>Целевые значения согласуются до запуска.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trophy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FFFFFF"/>
                  </a:solidFill>
                  <a:latin typeface="Play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Команда из 3 человек подготовит и проверит пилот</a:t>
            </a:r>
          </a:p>
        </p:txBody>
      </p:sp>
      <p:grpSp>
        <p:nvGrpSpPr>
          <p:cNvPr id="3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rocket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users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hart-column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9" name="BrandDeck Text 429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sz="3200"/>
              <a:t>Спасибо</a:t>
            </a:r>
            <a:endParaRPr/>
          </a:p>
        </p:txBody>
      </p:sp>
      <p:sp>
        <p:nvSpPr>
          <p:cNvPr id="430" name="BrandDeck Text 430"/>
          <p:cNvSpPr txBox="1"/>
          <p:nvPr>
            <p:ph idx="1" type="body"/>
          </p:nvPr>
        </p:nvSpPr>
        <p:spPr>
          <a:xfrm>
            <a:off x="1430535" y="3842780"/>
            <a:ext cx="42882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marL="17145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1"/>
              </a:buClr>
              <a:buSzPts val="1600"/>
              <a:buNone/>
            </a:pPr>
            <a:r>
              <a:rPr sz="1600"/>
              <a:t>Вопросы?</a:t>
            </a:r>
            <a:endParaRPr/>
          </a:p>
        </p:txBody>
      </p:sp>
      <p:sp>
        <p:nvSpPr>
          <p:cNvPr id="431" name="Google Shape;431;p4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2026-09-27T16:58:22Z</dcterms:modified>
  <dc:subject>Template-adaptive presentation</dc:subject>
  <cp:keywords>BrandDeck, template-adaptive, presentation</cp:keywords>
  <dc:creator/>
  <dc:description/>
</cp:coreProperties>
</file>