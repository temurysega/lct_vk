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3" r:id="rId5"/>
  </p:sldMasterIdLst>
  <p:notesMasterIdLst>
    <p:notesMasterId r:id="rId6"/>
  </p:notesMasterIdLst>
  <p:sldIdLst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</p:sldIdLst>
  <p:sldSz cy="6858000" cx="12192000"/>
  <p:notesSz cx="6858000" cy="9144000"/>
  <p:embeddedFontLst>
    <p:embeddedFont>
      <p:font typeface="Play"/>
      <p:regular r:id="rId36"/>
      <p:bold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547">
          <p15:clr>
            <a:srgbClr val="A4A3A4"/>
          </p15:clr>
        </p15:guide>
        <p15:guide id="4" orient="horz" pos="77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AC9AF0A-6FEA-4B71-B213-FBF42B605303}">
  <a:tblStyle styleId="{5AC9AF0A-6FEA-4B71-B213-FBF42B605303}" styleName="Table_0">
    <a:wholeTbl>
      <a:tcTxStyle b="off" i="off">
        <a:font>
          <a:latin typeface="SF Pro Text Light"/>
          <a:ea typeface="SF Pro Text Light"/>
          <a:cs typeface="SF Pro Text Light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BFF"/>
          </a:solidFill>
        </a:fill>
      </a:tcStyle>
    </a:wholeTbl>
    <a:band1H>
      <a:tcTxStyle/>
      <a:tcStyle>
        <a:fill>
          <a:solidFill>
            <a:srgbClr val="CAD5FF"/>
          </a:solidFill>
        </a:fill>
      </a:tcStyle>
    </a:band1H>
    <a:band2H>
      <a:tcTxStyle/>
    </a:band2H>
    <a:band1V>
      <a:tcTxStyle/>
      <a:tcStyle>
        <a:fill>
          <a:solidFill>
            <a:srgbClr val="CAD5FF"/>
          </a:solidFill>
        </a:fill>
      </a:tcStyle>
    </a:band1V>
    <a:band2V>
      <a:tcTxStyle/>
    </a:band2V>
    <a:la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  <p:guide pos="2547"/>
        <p:guide pos="777" orient="horz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36" Type="http://schemas.openxmlformats.org/officeDocument/2006/relationships/font" Target="fonts/Play-regular.fntdata"/><Relationship Id="rId37" Type="http://schemas.openxmlformats.org/officeDocument/2006/relationships/font" Target="fonts/Play-bold.fntdata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slide" Target="slides/slide35.xml"/><Relationship Id="rId44" Type="http://schemas.openxmlformats.org/officeDocument/2006/relationships/slide" Target="slides/slide36.xml"/><Relationship Id="rId45" Type="http://schemas.openxmlformats.org/officeDocument/2006/relationships/slide" Target="slides/slide37.xml"/><Relationship Id="rId46" Type="http://schemas.openxmlformats.org/officeDocument/2006/relationships/slide" Target="slides/slide38.xml"/><Relationship Id="rId47" Type="http://schemas.openxmlformats.org/officeDocument/2006/relationships/slide" Target="slides/slide3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4.png"/><Relationship Id="rId5" Type="http://schemas.openxmlformats.org/officeDocument/2006/relationships/image" Target="../media/image8.png"/><Relationship Id="rId6" Type="http://schemas.openxmlformats.org/officeDocument/2006/relationships/image" Target="../media/image7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7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1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4.png"/><Relationship Id="rId4" Type="http://schemas.openxmlformats.org/officeDocument/2006/relationships/image" Target="../media/image12.png"/><Relationship Id="rId5" Type="http://schemas.openxmlformats.org/officeDocument/2006/relationships/image" Target="../media/image7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3.png"/><Relationship Id="rId4" Type="http://schemas.openxmlformats.org/officeDocument/2006/relationships/image" Target="../media/image7.png"/><Relationship Id="rId5" Type="http://schemas.openxmlformats.org/officeDocument/2006/relationships/image" Target="../media/image4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Титульный слайд">
  <p:cSld name="7_Титульный слайд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2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56" name="Google Shape;56;p2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7" name="Google Shape;57;p2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8" name="Google Shape;58;p2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9" name="Google Shape;59;p2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0" name="Google Shape;60;p2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1" name="Google Shape;61;p2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2" name="Google Shape;62;p2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3" name="Google Shape;63;p2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4" name="Google Shape;64;p2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5" name="Google Shape;65;p2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6" name="Google Shape;66;p2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7" name="Google Shape;67;p2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8" name="Google Shape;68;p2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9" name="Google Shape;69;p2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0" name="Google Shape;70;p2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1" name="Google Shape;71;p2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2" name="Google Shape;72;p2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3" name="Google Shape;73;p2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4" name="Google Shape;74;p2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75" name="Google Shape;75;p2"/>
          <p:cNvSpPr txBox="1"/>
          <p:nvPr>
            <p:ph type="title"/>
          </p:nvPr>
        </p:nvSpPr>
        <p:spPr>
          <a:xfrm>
            <a:off x="429253" y="2546255"/>
            <a:ext cx="7827335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76" name="Google Shape;76;p2"/>
          <p:cNvGrpSpPr/>
          <p:nvPr/>
        </p:nvGrpSpPr>
        <p:grpSpPr>
          <a:xfrm>
            <a:off x="1" y="6350"/>
            <a:ext cx="12192792" cy="6851649"/>
            <a:chOff x="0" y="6350"/>
            <a:chExt cx="24396891" cy="13709651"/>
          </a:xfrm>
        </p:grpSpPr>
        <p:pic>
          <p:nvPicPr>
            <p:cNvPr id="77" name="Google Shape;77;p2"/>
            <p:cNvPicPr preferRelativeResize="0"/>
            <p:nvPr/>
          </p:nvPicPr>
          <p:blipFill rotWithShape="1">
            <a:blip r:embed="rId2">
              <a:alphaModFix/>
            </a:blip>
            <a:srcRect b="0" l="0" r="50023" t="80662"/>
            <a:stretch/>
          </p:blipFill>
          <p:spPr>
            <a:xfrm>
              <a:off x="1587" y="11064874"/>
              <a:ext cx="12192000" cy="26511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" name="Google Shape;78;p2"/>
            <p:cNvSpPr/>
            <p:nvPr/>
          </p:nvSpPr>
          <p:spPr>
            <a:xfrm>
              <a:off x="0" y="10657492"/>
              <a:ext cx="8335061" cy="305850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79" name="Google Shape;79;p2"/>
            <p:cNvPicPr preferRelativeResize="0"/>
            <p:nvPr/>
          </p:nvPicPr>
          <p:blipFill rotWithShape="1">
            <a:blip r:embed="rId2">
              <a:alphaModFix/>
            </a:blip>
            <a:srcRect b="0" l="52729" r="0" t="82751"/>
            <a:stretch/>
          </p:blipFill>
          <p:spPr>
            <a:xfrm>
              <a:off x="12853797" y="11351172"/>
              <a:ext cx="11531791" cy="236482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0" name="Google Shape;80;p2"/>
            <p:cNvPicPr preferRelativeResize="0"/>
            <p:nvPr/>
          </p:nvPicPr>
          <p:blipFill rotWithShape="1">
            <a:blip r:embed="rId2">
              <a:alphaModFix/>
            </a:blip>
            <a:srcRect b="76357" l="52729" r="0" t="0"/>
            <a:stretch/>
          </p:blipFill>
          <p:spPr>
            <a:xfrm>
              <a:off x="12865099" y="6350"/>
              <a:ext cx="11531792" cy="324134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1" name="Google Shape;81;p2"/>
            <p:cNvPicPr preferRelativeResize="0"/>
            <p:nvPr/>
          </p:nvPicPr>
          <p:blipFill rotWithShape="1">
            <a:blip r:embed="rId2">
              <a:alphaModFix/>
            </a:blip>
            <a:srcRect b="69917" l="0" r="47271" t="0"/>
            <a:stretch/>
          </p:blipFill>
          <p:spPr>
            <a:xfrm>
              <a:off x="1587" y="6350"/>
              <a:ext cx="12863512" cy="412421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82" name="Google Shape;8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035040"/>
            <a:ext cx="2653844" cy="4181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83" name="Google Shape;83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58522" y="6160788"/>
            <a:ext cx="934755" cy="29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Титульный слайд">
  <p:cSld name="9_Титульный слайд">
    <p:bg>
      <p:bgPr>
        <a:solidFill>
          <a:schemeClr val="dk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3"/>
          <p:cNvPicPr preferRelativeResize="0"/>
          <p:nvPr/>
        </p:nvPicPr>
        <p:blipFill rotWithShape="1">
          <a:blip r:embed="rId2">
            <a:alphaModFix/>
          </a:blip>
          <a:srcRect b="-1" l="0" r="50023" t="66636"/>
          <a:stretch/>
        </p:blipFill>
        <p:spPr>
          <a:xfrm>
            <a:off x="794" y="4572000"/>
            <a:ext cx="6093175" cy="228599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3"/>
          <p:cNvSpPr/>
          <p:nvPr/>
        </p:nvSpPr>
        <p:spPr>
          <a:xfrm>
            <a:off x="1" y="5747081"/>
            <a:ext cx="4487332" cy="111091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745067" y="6160788"/>
            <a:ext cx="4487332" cy="69721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8" name="Google Shape;88;p3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89" name="Google Shape;89;p3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0" name="Google Shape;90;p3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1" name="Google Shape;91;p3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2" name="Google Shape;92;p3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3" name="Google Shape;93;p3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4" name="Google Shape;94;p3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5" name="Google Shape;95;p3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6" name="Google Shape;96;p3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7" name="Google Shape;97;p3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8" name="Google Shape;98;p3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9" name="Google Shape;99;p3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0" name="Google Shape;100;p3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1" name="Google Shape;101;p3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2" name="Google Shape;102;p3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3" name="Google Shape;103;p3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4" name="Google Shape;104;p3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5" name="Google Shape;105;p3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6" name="Google Shape;106;p3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7" name="Google Shape;107;p3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108" name="Google Shape;108;p3"/>
          <p:cNvSpPr txBox="1"/>
          <p:nvPr>
            <p:ph type="title"/>
          </p:nvPr>
        </p:nvSpPr>
        <p:spPr>
          <a:xfrm>
            <a:off x="429254" y="1609196"/>
            <a:ext cx="4803146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09" name="Google Shape;109;p3"/>
          <p:cNvPicPr preferRelativeResize="0"/>
          <p:nvPr/>
        </p:nvPicPr>
        <p:blipFill rotWithShape="1">
          <a:blip r:embed="rId2">
            <a:alphaModFix/>
          </a:blip>
          <a:srcRect b="77450" l="52729" r="0" t="17827"/>
          <a:stretch/>
        </p:blipFill>
        <p:spPr>
          <a:xfrm flipH="1">
            <a:off x="0" y="0"/>
            <a:ext cx="5763224" cy="3235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3"/>
          <p:cNvSpPr/>
          <p:nvPr/>
        </p:nvSpPr>
        <p:spPr>
          <a:xfrm>
            <a:off x="4487333" y="4377664"/>
            <a:ext cx="1608667" cy="248033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12" name="Google Shape;112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9_Заголовок">
  <p:cSld name="19_Заголовок">
    <p:bg>
      <p:bgPr>
        <a:solidFill>
          <a:schemeClr val="dk1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14" name="Google Shape;114;p4"/>
          <p:cNvPicPr preferRelativeResize="0"/>
          <p:nvPr/>
        </p:nvPicPr>
        <p:blipFill rotWithShape="1">
          <a:blip r:embed="rId2">
            <a:alphaModFix/>
          </a:blip>
          <a:srcRect b="0" l="0" r="61122" t="0"/>
          <a:stretch/>
        </p:blipFill>
        <p:spPr>
          <a:xfrm>
            <a:off x="0" y="0"/>
            <a:ext cx="4739951" cy="6857143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4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16" name="Google Shape;11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8_Титульный слайд">
  <p:cSld name="18_Титульный слайд">
    <p:bg>
      <p:bgPr>
        <a:solidFill>
          <a:schemeClr val="dk1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5"/>
          <p:cNvPicPr preferRelativeResize="0"/>
          <p:nvPr/>
        </p:nvPicPr>
        <p:blipFill rotWithShape="1">
          <a:blip r:embed="rId2">
            <a:alphaModFix/>
          </a:blip>
          <a:srcRect b="2847" l="52053" r="0" t="90954"/>
          <a:stretch/>
        </p:blipFill>
        <p:spPr>
          <a:xfrm flipH="1">
            <a:off x="-2" y="6433309"/>
            <a:ext cx="5845629" cy="4246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5"/>
          <p:cNvPicPr preferRelativeResize="0"/>
          <p:nvPr/>
        </p:nvPicPr>
        <p:blipFill rotWithShape="1">
          <a:blip r:embed="rId3">
            <a:alphaModFix/>
          </a:blip>
          <a:srcRect b="0" l="0" r="26515" t="13089"/>
          <a:stretch/>
        </p:blipFill>
        <p:spPr>
          <a:xfrm rot="10800000">
            <a:off x="-1" y="1831974"/>
            <a:ext cx="4249647" cy="50260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0" name="Google Shape;120;p5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121" name="Google Shape;121;p5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2" name="Google Shape;122;p5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3" name="Google Shape;123;p5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4" name="Google Shape;124;p5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5" name="Google Shape;125;p5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6" name="Google Shape;126;p5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7" name="Google Shape;127;p5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8" name="Google Shape;128;p5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9" name="Google Shape;129;p5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0" name="Google Shape;130;p5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1" name="Google Shape;131;p5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2" name="Google Shape;132;p5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3" name="Google Shape;133;p5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4" name="Google Shape;134;p5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5" name="Google Shape;135;p5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6" name="Google Shape;136;p5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7" name="Google Shape;137;p5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8" name="Google Shape;138;p5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9" name="Google Shape;139;p5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140" name="Google Shape;140;p5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41" name="Google Shape;141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42" name="Google Shape;142;p5"/>
          <p:cNvPicPr preferRelativeResize="0"/>
          <p:nvPr/>
        </p:nvPicPr>
        <p:blipFill rotWithShape="1">
          <a:blip r:embed="rId5">
            <a:alphaModFix/>
          </a:blip>
          <a:srcRect b="86725" l="0" r="72339" t="0"/>
          <a:stretch/>
        </p:blipFill>
        <p:spPr>
          <a:xfrm flipH="1">
            <a:off x="8819540" y="0"/>
            <a:ext cx="3372437" cy="910269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5"/>
          <p:cNvSpPr/>
          <p:nvPr/>
        </p:nvSpPr>
        <p:spPr>
          <a:xfrm>
            <a:off x="8613058" y="322621"/>
            <a:ext cx="1407652" cy="5876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10858521" y="0"/>
            <a:ext cx="1049981" cy="2613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10760947" y="616445"/>
            <a:ext cx="582556" cy="3386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46" name="Google Shape;146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_Титульный слайд">
  <p:cSld name="15_Титульный слайд">
    <p:bg>
      <p:bgPr>
        <a:solidFill>
          <a:schemeClr val="dk1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48" name="Google Shape;148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393786"/>
            <a:ext cx="4655279" cy="4642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49" name="Google Shape;1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31600" y="0"/>
            <a:ext cx="1760400" cy="24312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50" name="Google Shape;15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31498" y="6290333"/>
            <a:ext cx="2860502" cy="56766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1" name="Google Shape;151;p6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152" name="Google Shape;152;p6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3" name="Google Shape;153;p6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4" name="Google Shape;154;p6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5" name="Google Shape;155;p6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6" name="Google Shape;156;p6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7" name="Google Shape;157;p6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8" name="Google Shape;158;p6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9" name="Google Shape;159;p6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0" name="Google Shape;160;p6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1" name="Google Shape;161;p6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2" name="Google Shape;162;p6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3" name="Google Shape;163;p6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4" name="Google Shape;164;p6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5" name="Google Shape;165;p6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6" name="Google Shape;166;p6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7" name="Google Shape;167;p6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8" name="Google Shape;168;p6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9" name="Google Shape;169;p6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0" name="Google Shape;170;p6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171" name="Google Shape;171;p6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72" name="Google Shape;172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73" name="Google Shape;173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Титульный слайд">
  <p:cSld name="13_Титульный слайд">
    <p:bg>
      <p:bgPr>
        <a:solidFill>
          <a:schemeClr val="dk1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5" name="Google Shape;175;p7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176" name="Google Shape;176;p7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7" name="Google Shape;177;p7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8" name="Google Shape;178;p7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9" name="Google Shape;179;p7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0" name="Google Shape;180;p7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1" name="Google Shape;181;p7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2" name="Google Shape;182;p7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3" name="Google Shape;183;p7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4" name="Google Shape;184;p7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5" name="Google Shape;185;p7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6" name="Google Shape;186;p7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7" name="Google Shape;187;p7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8" name="Google Shape;188;p7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9" name="Google Shape;189;p7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0" name="Google Shape;190;p7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1" name="Google Shape;191;p7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2" name="Google Shape;192;p7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3" name="Google Shape;193;p7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4" name="Google Shape;194;p7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195" name="Google Shape;195;p7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96" name="Google Shape;19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97" name="Google Shape;197;p7"/>
          <p:cNvPicPr preferRelativeResize="0"/>
          <p:nvPr/>
        </p:nvPicPr>
        <p:blipFill rotWithShape="1">
          <a:blip r:embed="rId3">
            <a:alphaModFix/>
          </a:blip>
          <a:srcRect b="86725" l="0" r="72339" t="0"/>
          <a:stretch/>
        </p:blipFill>
        <p:spPr>
          <a:xfrm flipH="1">
            <a:off x="8819540" y="0"/>
            <a:ext cx="3372437" cy="910269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7"/>
          <p:cNvSpPr/>
          <p:nvPr/>
        </p:nvSpPr>
        <p:spPr>
          <a:xfrm>
            <a:off x="8613058" y="322621"/>
            <a:ext cx="1407652" cy="5876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10858521" y="0"/>
            <a:ext cx="1049981" cy="2613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10760947" y="616445"/>
            <a:ext cx="582556" cy="3386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201" name="Google Shape;20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Заголовок">
  <p:cSld name="8_Заголовок">
    <p:bg>
      <p:bgPr>
        <a:solidFill>
          <a:schemeClr val="dk1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8"/>
          <p:cNvPicPr preferRelativeResize="0"/>
          <p:nvPr/>
        </p:nvPicPr>
        <p:blipFill rotWithShape="1">
          <a:blip r:embed="rId2">
            <a:alphaModFix/>
          </a:blip>
          <a:srcRect b="25668" l="13456" r="0" t="10446"/>
          <a:stretch/>
        </p:blipFill>
        <p:spPr>
          <a:xfrm flipH="1">
            <a:off x="2907772" y="-1"/>
            <a:ext cx="928422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8"/>
          <p:cNvPicPr preferRelativeResize="0"/>
          <p:nvPr/>
        </p:nvPicPr>
        <p:blipFill rotWithShape="1">
          <a:blip r:embed="rId3">
            <a:alphaModFix/>
          </a:blip>
          <a:srcRect b="8691" l="36156" r="0" t="22176"/>
          <a:stretch/>
        </p:blipFill>
        <p:spPr>
          <a:xfrm flipH="1">
            <a:off x="5862319" y="-2"/>
            <a:ext cx="6329681" cy="6863317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8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06" name="Google Shape;206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07" name="Google Shape;207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_Титульный слайд">
  <p:cSld name="17_Титульный слайд">
    <p:bg>
      <p:bgPr>
        <a:solidFill>
          <a:schemeClr val="dk1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9" name="Google Shape;209;p9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210" name="Google Shape;210;p9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1" name="Google Shape;211;p9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2" name="Google Shape;212;p9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3" name="Google Shape;213;p9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4" name="Google Shape;214;p9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5" name="Google Shape;215;p9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6" name="Google Shape;216;p9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7" name="Google Shape;217;p9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8" name="Google Shape;218;p9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9" name="Google Shape;219;p9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0" name="Google Shape;220;p9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1" name="Google Shape;221;p9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2" name="Google Shape;222;p9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3" name="Google Shape;223;p9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4" name="Google Shape;224;p9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5" name="Google Shape;225;p9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6" name="Google Shape;226;p9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7" name="Google Shape;227;p9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8" name="Google Shape;228;p9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229" name="Google Shape;229;p9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 " id="230" name="Google Shape;230;p9"/>
          <p:cNvPicPr preferRelativeResize="0"/>
          <p:nvPr/>
        </p:nvPicPr>
        <p:blipFill rotWithShape="1">
          <a:blip r:embed="rId2">
            <a:alphaModFix/>
          </a:blip>
          <a:srcRect b="86725" l="0" r="72339" t="0"/>
          <a:stretch/>
        </p:blipFill>
        <p:spPr>
          <a:xfrm flipH="1">
            <a:off x="8819540" y="0"/>
            <a:ext cx="3372437" cy="91026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9"/>
          <p:cNvSpPr/>
          <p:nvPr/>
        </p:nvSpPr>
        <p:spPr>
          <a:xfrm>
            <a:off x="8613058" y="322621"/>
            <a:ext cx="1407652" cy="5876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9"/>
          <p:cNvSpPr/>
          <p:nvPr/>
        </p:nvSpPr>
        <p:spPr>
          <a:xfrm>
            <a:off x="10858521" y="0"/>
            <a:ext cx="1049981" cy="2613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10760947" y="616445"/>
            <a:ext cx="582556" cy="3386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Титульный слайд">
  <p:cSld name="14_Титульный слайд">
    <p:bg>
      <p:bgPr>
        <a:solidFill>
          <a:schemeClr val="dk1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35" name="Google Shape;235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96000" y="5844358"/>
            <a:ext cx="6096000" cy="101364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6" name="Google Shape;236;p10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237" name="Google Shape;237;p10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8" name="Google Shape;238;p10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9" name="Google Shape;239;p10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0" name="Google Shape;240;p10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1" name="Google Shape;241;p10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2" name="Google Shape;242;p10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3" name="Google Shape;243;p10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4" name="Google Shape;244;p10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5" name="Google Shape;245;p10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6" name="Google Shape;246;p10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7" name="Google Shape;247;p10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8" name="Google Shape;248;p10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9" name="Google Shape;249;p10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0" name="Google Shape;250;p10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1" name="Google Shape;251;p10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2" name="Google Shape;252;p10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3" name="Google Shape;253;p10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4" name="Google Shape;254;p10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5" name="Google Shape;255;p10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256" name="Google Shape;256;p10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7" name="Google Shape;25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8" name="Google Shape;25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66292" y="0"/>
            <a:ext cx="1325708" cy="37239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9" name="Google Shape;259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Заголовок">
  <p:cSld name="11_Заголовок">
    <p:bg>
      <p:bgPr>
        <a:solidFill>
          <a:schemeClr val="dk1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Google Shape;261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11"/>
          <p:cNvSpPr txBox="1"/>
          <p:nvPr>
            <p:ph type="title"/>
          </p:nvPr>
        </p:nvSpPr>
        <p:spPr>
          <a:xfrm>
            <a:off x="429253" y="424691"/>
            <a:ext cx="11354760" cy="7672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63" name="Google Shape;26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4" name="Google Shape;264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_Заголовок">
  <p:cSld name="17_Заголовок">
    <p:bg>
      <p:bgPr>
        <a:solidFill>
          <a:schemeClr val="dk1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p12"/>
          <p:cNvPicPr preferRelativeResize="0"/>
          <p:nvPr/>
        </p:nvPicPr>
        <p:blipFill rotWithShape="1">
          <a:blip r:embed="rId2">
            <a:alphaModFix/>
          </a:blip>
          <a:srcRect b="25668" l="13456" r="0" t="10446"/>
          <a:stretch/>
        </p:blipFill>
        <p:spPr>
          <a:xfrm>
            <a:off x="-1" y="-1"/>
            <a:ext cx="928422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12"/>
          <p:cNvPicPr preferRelativeResize="0"/>
          <p:nvPr/>
        </p:nvPicPr>
        <p:blipFill rotWithShape="1">
          <a:blip r:embed="rId3">
            <a:alphaModFix/>
          </a:blip>
          <a:srcRect b="8691" l="36156" r="0" t="22176"/>
          <a:stretch/>
        </p:blipFill>
        <p:spPr>
          <a:xfrm>
            <a:off x="-1" y="-2"/>
            <a:ext cx="6329681" cy="6863317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12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 " id="269" name="Google Shape;269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58522" y="6160788"/>
            <a:ext cx="934755" cy="29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Титульный слайд">
  <p:cSld name="11_Титульный слайд">
    <p:bg>
      <p:bgPr>
        <a:solidFill>
          <a:schemeClr val="dk1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2" name="Google Shape;272;p13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273" name="Google Shape;273;p13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4" name="Google Shape;274;p13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5" name="Google Shape;275;p13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6" name="Google Shape;276;p13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7" name="Google Shape;277;p13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8" name="Google Shape;278;p13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9" name="Google Shape;279;p13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0" name="Google Shape;280;p13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1" name="Google Shape;281;p13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2" name="Google Shape;282;p13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3" name="Google Shape;283;p13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4" name="Google Shape;284;p13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5" name="Google Shape;285;p13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6" name="Google Shape;286;p13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7" name="Google Shape;287;p13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8" name="Google Shape;288;p13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9" name="Google Shape;289;p13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0" name="Google Shape;290;p13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1" name="Google Shape;291;p13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292" name="Google Shape;292;p13"/>
          <p:cNvSpPr txBox="1"/>
          <p:nvPr>
            <p:ph type="title"/>
          </p:nvPr>
        </p:nvSpPr>
        <p:spPr>
          <a:xfrm>
            <a:off x="429254" y="1609196"/>
            <a:ext cx="4803146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93" name="Google Shape;293;p13"/>
          <p:cNvPicPr preferRelativeResize="0"/>
          <p:nvPr/>
        </p:nvPicPr>
        <p:blipFill rotWithShape="1">
          <a:blip r:embed="rId2">
            <a:alphaModFix/>
          </a:blip>
          <a:srcRect b="77450" l="52729" r="0" t="17827"/>
          <a:stretch/>
        </p:blipFill>
        <p:spPr>
          <a:xfrm flipH="1">
            <a:off x="0" y="0"/>
            <a:ext cx="5763224" cy="3235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95" name="Google Shape;29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6_Титульный слайд">
  <p:cSld name="16_Титульный слайд">
    <p:bg>
      <p:bgPr>
        <a:solidFill>
          <a:schemeClr val="dk1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97" name="Google Shape;297;p14"/>
          <p:cNvPicPr preferRelativeResize="0"/>
          <p:nvPr/>
        </p:nvPicPr>
        <p:blipFill rotWithShape="1">
          <a:blip r:embed="rId2">
            <a:alphaModFix/>
          </a:blip>
          <a:srcRect b="0" l="20444" r="24824" t="0"/>
          <a:stretch/>
        </p:blipFill>
        <p:spPr>
          <a:xfrm>
            <a:off x="5519099" y="0"/>
            <a:ext cx="6672901" cy="685713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8" name="Google Shape;298;p14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299" name="Google Shape;299;p14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0" name="Google Shape;300;p14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1" name="Google Shape;301;p14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2" name="Google Shape;302;p14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3" name="Google Shape;303;p14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4" name="Google Shape;304;p14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5" name="Google Shape;305;p14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6" name="Google Shape;306;p14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7" name="Google Shape;307;p14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8" name="Google Shape;308;p14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9" name="Google Shape;309;p14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0" name="Google Shape;310;p14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1" name="Google Shape;311;p14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2" name="Google Shape;312;p14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3" name="Google Shape;313;p14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4" name="Google Shape;314;p14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5" name="Google Shape;315;p14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6" name="Google Shape;316;p14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7" name="Google Shape;317;p14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318" name="Google Shape;318;p14"/>
          <p:cNvSpPr txBox="1"/>
          <p:nvPr>
            <p:ph type="title"/>
          </p:nvPr>
        </p:nvSpPr>
        <p:spPr>
          <a:xfrm>
            <a:off x="429253" y="2291422"/>
            <a:ext cx="7827335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b="0" i="0" sz="5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 " id="319" name="Google Shape;31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58522" y="6160788"/>
            <a:ext cx="934755" cy="29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14"/>
          <p:cNvSpPr/>
          <p:nvPr/>
        </p:nvSpPr>
        <p:spPr>
          <a:xfrm>
            <a:off x="5404757" y="4555671"/>
            <a:ext cx="1926772" cy="58782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14"/>
          <p:cNvSpPr/>
          <p:nvPr/>
        </p:nvSpPr>
        <p:spPr>
          <a:xfrm>
            <a:off x="8490856" y="5372100"/>
            <a:ext cx="767443" cy="58782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14"/>
          <p:cNvSpPr/>
          <p:nvPr/>
        </p:nvSpPr>
        <p:spPr>
          <a:xfrm>
            <a:off x="6498771" y="342900"/>
            <a:ext cx="767443" cy="58782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14"/>
          <p:cNvSpPr/>
          <p:nvPr/>
        </p:nvSpPr>
        <p:spPr>
          <a:xfrm>
            <a:off x="7903028" y="32658"/>
            <a:ext cx="767443" cy="58782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14"/>
          <p:cNvSpPr/>
          <p:nvPr/>
        </p:nvSpPr>
        <p:spPr>
          <a:xfrm>
            <a:off x="5323114" y="930729"/>
            <a:ext cx="1175657" cy="97333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5" name="Google Shape;32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8723" y="6035040"/>
            <a:ext cx="2653844" cy="4181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Титульный слайд">
  <p:cSld name="12_Титульный слайд">
    <p:bg>
      <p:bgPr>
        <a:solidFill>
          <a:schemeClr val="dk1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327" name="Google Shape;327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1979" cy="6857131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15"/>
          <p:cNvSpPr/>
          <p:nvPr/>
        </p:nvSpPr>
        <p:spPr>
          <a:xfrm>
            <a:off x="0" y="4499104"/>
            <a:ext cx="6792686" cy="166168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5"/>
          <p:cNvSpPr/>
          <p:nvPr/>
        </p:nvSpPr>
        <p:spPr>
          <a:xfrm>
            <a:off x="1" y="5501389"/>
            <a:ext cx="4811842" cy="135660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0" name="Google Shape;330;p15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331" name="Google Shape;331;p15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2" name="Google Shape;332;p15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3" name="Google Shape;333;p15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4" name="Google Shape;334;p15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5" name="Google Shape;335;p15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6" name="Google Shape;336;p15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7" name="Google Shape;337;p15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8" name="Google Shape;338;p15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9" name="Google Shape;339;p15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0" name="Google Shape;340;p15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1" name="Google Shape;341;p15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2" name="Google Shape;342;p15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3" name="Google Shape;343;p15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4" name="Google Shape;344;p15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5" name="Google Shape;345;p15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6" name="Google Shape;346;p15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7" name="Google Shape;347;p15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8" name="Google Shape;348;p15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9" name="Google Shape;349;p15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350" name="Google Shape;350;p15"/>
          <p:cNvSpPr txBox="1"/>
          <p:nvPr>
            <p:ph type="title"/>
          </p:nvPr>
        </p:nvSpPr>
        <p:spPr>
          <a:xfrm>
            <a:off x="429253" y="2291422"/>
            <a:ext cx="7827335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b="0" i="0" sz="5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51" name="Google Shape;35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5895936"/>
            <a:ext cx="3536690" cy="5572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52" name="Google Shape;35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58522" y="6160788"/>
            <a:ext cx="934755" cy="29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Титульный слайд">
  <p:cSld name="10_Титульный слайд">
    <p:bg>
      <p:bgPr>
        <a:solidFill>
          <a:schemeClr val="dk1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4" name="Google Shape;354;p16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355" name="Google Shape;355;p16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6" name="Google Shape;356;p16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7" name="Google Shape;357;p16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8" name="Google Shape;358;p16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9" name="Google Shape;359;p16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0" name="Google Shape;360;p16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1" name="Google Shape;361;p16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2" name="Google Shape;362;p16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3" name="Google Shape;363;p16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4" name="Google Shape;364;p16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5" name="Google Shape;365;p16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6" name="Google Shape;366;p16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7" name="Google Shape;367;p16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8" name="Google Shape;368;p16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9" name="Google Shape;369;p16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0" name="Google Shape;370;p16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1" name="Google Shape;371;p16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2" name="Google Shape;372;p16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3" name="Google Shape;373;p16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374" name="Google Shape;374;p16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5" name="Google Shape;375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76" name="Google Shape;37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27866" y="662333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b="0" i="0" sz="3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58813" y="1773239"/>
            <a:ext cx="10855852" cy="4392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295275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•"/>
              <a:defRPr b="0" i="0" sz="105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A6A6A6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3" name="Google Shape;13;p1"/>
          <p:cNvGrpSpPr/>
          <p:nvPr/>
        </p:nvGrpSpPr>
        <p:grpSpPr>
          <a:xfrm>
            <a:off x="0" y="-114752"/>
            <a:ext cx="12188148" cy="64309"/>
            <a:chOff x="0" y="1773238"/>
            <a:chExt cx="12188148" cy="735184"/>
          </a:xfrm>
        </p:grpSpPr>
        <p:cxnSp>
          <p:nvCxnSpPr>
            <p:cNvPr id="14" name="Google Shape;14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" name="Google Shape;15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" name="Google Shape;16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" name="Google Shape;17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" name="Google Shape;18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" name="Google Shape;19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" name="Google Shape;20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" name="Google Shape;21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" name="Google Shape;22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" name="Google Shape;23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" name="Google Shape;24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" name="Google Shape;25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6" name="Google Shape;26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" name="Google Shape;27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" name="Google Shape;28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" name="Google Shape;29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" name="Google Shape;30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" name="Google Shape;31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2" name="Google Shape;32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grpSp>
        <p:nvGrpSpPr>
          <p:cNvPr id="33" name="Google Shape;33;p1"/>
          <p:cNvGrpSpPr/>
          <p:nvPr/>
        </p:nvGrpSpPr>
        <p:grpSpPr>
          <a:xfrm>
            <a:off x="-3" y="6987088"/>
            <a:ext cx="12188148" cy="64309"/>
            <a:chOff x="0" y="1773238"/>
            <a:chExt cx="12188148" cy="735184"/>
          </a:xfrm>
        </p:grpSpPr>
        <p:cxnSp>
          <p:nvCxnSpPr>
            <p:cNvPr id="34" name="Google Shape;34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" name="Google Shape;35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" name="Google Shape;36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" name="Google Shape;37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8" name="Google Shape;38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9" name="Google Shape;39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0" name="Google Shape;40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1" name="Google Shape;41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2" name="Google Shape;42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3" name="Google Shape;43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4" name="Google Shape;44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5" name="Google Shape;45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6" name="Google Shape;46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7" name="Google Shape;47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8" name="Google Shape;48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9" name="Google Shape;49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0" name="Google Shape;50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1" name="Google Shape;51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2" name="Google Shape;52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pic>
        <p:nvPicPr>
          <p:cNvPr id="53" name="Google Shape;53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419564" y="6161239"/>
            <a:ext cx="932071" cy="2880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57">
          <p15:clr>
            <a:srgbClr val="FDE53C"/>
          </p15:clr>
        </p15:guide>
        <p15:guide id="2" pos="7423">
          <p15:clr>
            <a:srgbClr val="FDE53C"/>
          </p15:clr>
        </p15:guide>
        <p15:guide id="3" orient="horz" pos="4065">
          <p15:clr>
            <a:srgbClr val="FDE53C"/>
          </p15:clr>
        </p15:guide>
        <p15:guide id="4" pos="5201">
          <p15:clr>
            <a:srgbClr val="FDE53C"/>
          </p15:clr>
        </p15:guide>
        <p15:guide id="5" pos="2479">
          <p15:clr>
            <a:srgbClr val="FDE53C"/>
          </p15:clr>
        </p15:guide>
        <p15:guide id="6" pos="3840">
          <p15:clr>
            <a:srgbClr val="FDE53C"/>
          </p15:clr>
        </p15:guide>
        <p15:guide id="7" orient="horz" pos="640">
          <p15:clr>
            <a:srgbClr val="FDE53C"/>
          </p15:clr>
        </p15:guide>
        <p15:guide id="8" orient="horz" pos="1003">
          <p15:clr>
            <a:srgbClr val="FDE53C"/>
          </p15:clr>
        </p15:guide>
        <p15:guide id="9" pos="1073">
          <p15:clr>
            <a:srgbClr val="FDE53C"/>
          </p15:clr>
        </p15:guide>
        <p15:guide id="10" pos="6584">
          <p15:clr>
            <a:srgbClr val="FDE53C"/>
          </p15:clr>
        </p15:guide>
        <p15:guide id="11" orient="horz" pos="255">
          <p15:clr>
            <a:srgbClr val="FDE53C"/>
          </p15:clr>
        </p15:guide>
      </p15:sldGuideLst>
    </p:ext>
  </p:extLst>
</p:sldMaster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6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6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6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6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81" name="BrandDeck Text 381"/>
          <p:cNvSpPr txBox="1"/>
          <p:nvPr>
            <p:ph type="title"/>
          </p:nvPr>
        </p:nvSpPr>
        <p:spPr>
          <a:xfrm>
            <a:off x="429253" y="2490555"/>
            <a:ext cx="7827335" cy="1876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chemeClr val="lt1"/>
              </a:buClr>
              <a:buSzPts val="4800"/>
              <a:buFont typeface="Play"/>
              <a:buNone/>
            </a:pPr>
            <a:r>
              <a:rPr sz="4000"/>
              <a:t>Пилот ИИ-помощника по внутренним регламентам</a:t>
            </a:r>
            <a:endParaRPr sz="48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59" name="BrandDeck Text 459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42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sz="2800"/>
              <a:t>Поиск инструкции занимает до 30 минут, треть обращений повторяется</a:t>
            </a:r>
            <a:endParaRPr/>
          </a:p>
        </p:txBody>
      </p:sp>
      <p:grpSp>
        <p:nvGrpSpPr>
          <p:cNvPr id="2" name="BrandDeck Diagram icon_grid" descr="icon_grid: Сотрудник тратит до 30 минут на поиск нужной инструкции.; Регламенты находятся в нескольких источниках, и поиск отвлекает от основной работы.; Треть обращений в поддержку — повторяющиеся вопросы.; Специалисты снова тратят время на поиск одного и того же ответа."/>
          <p:cNvGrpSpPr/>
          <p:nvPr/>
        </p:nvGrpSpPr>
        <p:grpSpPr>
          <a:xfrm>
            <a:off x="415687" y="1949416"/>
            <a:ext cx="10733793" cy="2780482"/>
            <a:chOff x="415687" y="1949416"/>
            <a:chExt cx="10733793" cy="2780482"/>
          </a:xfrm>
        </p:grpSpPr>
        <p:sp>
          <p:nvSpPr>
            <p:cNvPr id="468" name="BrandDeck Diagram Card 1"/>
            <p:cNvSpPr/>
            <p:nvPr/>
          </p:nvSpPr>
          <p:spPr>
            <a:xfrm>
              <a:off x="415687" y="1949416"/>
              <a:ext cx="5259559" cy="1282903"/>
            </a:xfrm>
            <a:prstGeom prst="roundRect">
              <a:avLst>
                <a:gd name="adj" fmla="val 8000"/>
              </a:avLst>
            </a:prstGeom>
            <a:solidFill>
              <a:srgbClr val="1A1A1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9" name="BrandDeck Diagram Icon 1 Badge"/>
            <p:cNvSpPr/>
            <p:nvPr/>
          </p:nvSpPr>
          <p:spPr>
            <a:xfrm>
              <a:off x="635143" y="2359145"/>
              <a:ext cx="463445" cy="463445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0" name="BrandDeck Icon users"/>
            <p:cNvSpPr/>
            <p:nvPr/>
          </p:nvSpPr>
          <p:spPr>
            <a:xfrm>
              <a:off x="737101" y="2461103"/>
              <a:ext cx="259529" cy="259529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6000" y="21000"/>
                  </a:moveTo>
                  <a:lnTo>
                    <a:pt x="16000" y="19000"/>
                  </a:lnTo>
                  <a:cubicBezTo>
                    <a:pt x="16000" y="16791"/>
                    <a:pt x="14209" y="15000"/>
                    <a:pt x="12000" y="15000"/>
                  </a:cubicBezTo>
                  <a:lnTo>
                    <a:pt x="6000" y="15000"/>
                  </a:lnTo>
                  <a:cubicBezTo>
                    <a:pt x="3791" y="15000"/>
                    <a:pt x="2000" y="16791"/>
                    <a:pt x="2000" y="19000"/>
                  </a:cubicBezTo>
                  <a:lnTo>
                    <a:pt x="2000" y="21000"/>
                  </a:lnTo>
                </a:path>
                <a:path w="24000" h="24000" fill="none">
                  <a:moveTo>
                    <a:pt x="13000" y="7000"/>
                  </a:moveTo>
                  <a:cubicBezTo>
                    <a:pt x="13000" y="9209"/>
                    <a:pt x="11209" y="11000"/>
                    <a:pt x="9000" y="11000"/>
                  </a:cubicBezTo>
                  <a:cubicBezTo>
                    <a:pt x="6791" y="11000"/>
                    <a:pt x="5000" y="9209"/>
                    <a:pt x="5000" y="7000"/>
                  </a:cubicBezTo>
                  <a:cubicBezTo>
                    <a:pt x="5000" y="4791"/>
                    <a:pt x="6791" y="3000"/>
                    <a:pt x="9000" y="3000"/>
                  </a:cubicBezTo>
                  <a:cubicBezTo>
                    <a:pt x="11209" y="3000"/>
                    <a:pt x="13000" y="4791"/>
                    <a:pt x="13000" y="7000"/>
                  </a:cubicBezTo>
                  <a:close/>
                </a:path>
                <a:path w="24000" h="24000" fill="none">
                  <a:moveTo>
                    <a:pt x="22000" y="21000"/>
                  </a:moveTo>
                  <a:lnTo>
                    <a:pt x="22000" y="19000"/>
                  </a:lnTo>
                  <a:cubicBezTo>
                    <a:pt x="21999" y="17177"/>
                    <a:pt x="20765" y="15586"/>
                    <a:pt x="19000" y="15130"/>
                  </a:cubicBezTo>
                </a:path>
                <a:path w="24000" h="24000" fill="none">
                  <a:moveTo>
                    <a:pt x="16000" y="3130"/>
                  </a:moveTo>
                  <a:cubicBezTo>
                    <a:pt x="17770" y="3583"/>
                    <a:pt x="19008" y="5178"/>
                    <a:pt x="19008" y="7005"/>
                  </a:cubicBezTo>
                  <a:cubicBezTo>
                    <a:pt x="19008" y="8832"/>
                    <a:pt x="17770" y="10427"/>
                    <a:pt x="16000" y="10880"/>
                  </a:cubicBezTo>
                </a:path>
              </a:pathLst>
            </a:custGeom>
            <a:noFill/>
            <a:ln w="21627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1" name="BrandDeck Diagram Text 1"/>
            <p:cNvSpPr txBox="1"/>
            <p:nvPr/>
          </p:nvSpPr>
          <p:spPr>
            <a:xfrm>
              <a:off x="1230262" y="2081090"/>
              <a:ext cx="4225527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FFFFFF"/>
                  </a:solidFill>
                  <a:latin typeface="Play"/>
                </a:rPr>
                <a:t>Сотрудник тратит до 30 минут на поиск нужной инструкции.</a:t>
              </a:r>
            </a:p>
          </p:txBody>
        </p:sp>
        <p:sp>
          <p:nvSpPr>
            <p:cNvPr id="472" name="BrandDeck Diagram Card 2"/>
            <p:cNvSpPr/>
            <p:nvPr/>
          </p:nvSpPr>
          <p:spPr>
            <a:xfrm>
              <a:off x="5889921" y="1949416"/>
              <a:ext cx="5259559" cy="1282903"/>
            </a:xfrm>
            <a:prstGeom prst="roundRect">
              <a:avLst>
                <a:gd name="adj" fmla="val 8000"/>
              </a:avLst>
            </a:prstGeom>
            <a:solidFill>
              <a:srgbClr val="1A1A1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3" name="BrandDeck Diagram Icon 2 Badge"/>
            <p:cNvSpPr/>
            <p:nvPr/>
          </p:nvSpPr>
          <p:spPr>
            <a:xfrm>
              <a:off x="6109377" y="2359145"/>
              <a:ext cx="463445" cy="463445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4" name="BrandDeck Icon file-text"/>
            <p:cNvSpPr/>
            <p:nvPr/>
          </p:nvSpPr>
          <p:spPr>
            <a:xfrm>
              <a:off x="6211335" y="2461103"/>
              <a:ext cx="259529" cy="259529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5000" y="2000"/>
                  </a:moveTo>
                  <a:lnTo>
                    <a:pt x="6000" y="2000"/>
                  </a:lnTo>
                  <a:cubicBezTo>
                    <a:pt x="4895" y="2000"/>
                    <a:pt x="4000" y="2895"/>
                    <a:pt x="4000" y="4000"/>
                  </a:cubicBezTo>
                  <a:lnTo>
                    <a:pt x="4000" y="20000"/>
                  </a:lnTo>
                  <a:cubicBezTo>
                    <a:pt x="4000" y="21105"/>
                    <a:pt x="4895" y="22000"/>
                    <a:pt x="6000" y="22000"/>
                  </a:cubicBezTo>
                  <a:lnTo>
                    <a:pt x="18000" y="22000"/>
                  </a:lnTo>
                  <a:cubicBezTo>
                    <a:pt x="19105" y="22000"/>
                    <a:pt x="20000" y="21105"/>
                    <a:pt x="20000" y="20000"/>
                  </a:cubicBezTo>
                  <a:lnTo>
                    <a:pt x="20000" y="7000"/>
                  </a:lnTo>
                  <a:close/>
                </a:path>
                <a:path w="24000" h="24000" fill="none">
                  <a:moveTo>
                    <a:pt x="14000" y="2000"/>
                  </a:moveTo>
                  <a:lnTo>
                    <a:pt x="14000" y="6000"/>
                  </a:lnTo>
                  <a:cubicBezTo>
                    <a:pt x="14000" y="7105"/>
                    <a:pt x="14895" y="8000"/>
                    <a:pt x="16000" y="8000"/>
                  </a:cubicBezTo>
                  <a:lnTo>
                    <a:pt x="20000" y="8000"/>
                  </a:lnTo>
                </a:path>
                <a:path w="24000" h="24000" fill="none">
                  <a:moveTo>
                    <a:pt x="10000" y="9000"/>
                  </a:moveTo>
                  <a:lnTo>
                    <a:pt x="8000" y="9000"/>
                  </a:lnTo>
                </a:path>
                <a:path w="24000" h="24000" fill="none">
                  <a:moveTo>
                    <a:pt x="16000" y="13000"/>
                  </a:moveTo>
                  <a:lnTo>
                    <a:pt x="8000" y="13000"/>
                  </a:lnTo>
                </a:path>
                <a:path w="24000" h="24000" fill="none">
                  <a:moveTo>
                    <a:pt x="16000" y="17000"/>
                  </a:moveTo>
                  <a:lnTo>
                    <a:pt x="8000" y="17000"/>
                  </a:lnTo>
                </a:path>
              </a:pathLst>
            </a:custGeom>
            <a:noFill/>
            <a:ln w="21627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5" name="BrandDeck Diagram Text 2"/>
            <p:cNvSpPr txBox="1"/>
            <p:nvPr/>
          </p:nvSpPr>
          <p:spPr>
            <a:xfrm>
              <a:off x="6704497" y="2081090"/>
              <a:ext cx="4225527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FFFFFF"/>
                  </a:solidFill>
                  <a:latin typeface="Play"/>
                </a:rPr>
                <a:t>Регламенты находятся в нескольких источниках, и поиск отвлекает от основной работы.</a:t>
              </a:r>
            </a:p>
          </p:txBody>
        </p:sp>
        <p:sp>
          <p:nvSpPr>
            <p:cNvPr id="476" name="BrandDeck Diagram Card 3"/>
            <p:cNvSpPr/>
            <p:nvPr/>
          </p:nvSpPr>
          <p:spPr>
            <a:xfrm>
              <a:off x="415687" y="3446995"/>
              <a:ext cx="5259559" cy="1282903"/>
            </a:xfrm>
            <a:prstGeom prst="roundRect">
              <a:avLst>
                <a:gd name="adj" fmla="val 8000"/>
              </a:avLst>
            </a:prstGeom>
            <a:solidFill>
              <a:srgbClr val="1A1A1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7" name="BrandDeck Diagram Icon 3 Badge"/>
            <p:cNvSpPr/>
            <p:nvPr/>
          </p:nvSpPr>
          <p:spPr>
            <a:xfrm>
              <a:off x="635143" y="3856724"/>
              <a:ext cx="463445" cy="463445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8" name="BrandDeck Icon headset"/>
            <p:cNvSpPr/>
            <p:nvPr/>
          </p:nvSpPr>
          <p:spPr>
            <a:xfrm>
              <a:off x="737101" y="3958682"/>
              <a:ext cx="259529" cy="259529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3000" y="11000"/>
                  </a:moveTo>
                  <a:lnTo>
                    <a:pt x="6000" y="11000"/>
                  </a:lnTo>
                  <a:cubicBezTo>
                    <a:pt x="7105" y="11000"/>
                    <a:pt x="8000" y="11895"/>
                    <a:pt x="8000" y="13000"/>
                  </a:cubicBezTo>
                  <a:lnTo>
                    <a:pt x="8000" y="16000"/>
                  </a:lnTo>
                  <a:cubicBezTo>
                    <a:pt x="8000" y="17105"/>
                    <a:pt x="7105" y="18000"/>
                    <a:pt x="6000" y="18000"/>
                  </a:cubicBezTo>
                  <a:lnTo>
                    <a:pt x="5000" y="18000"/>
                  </a:lnTo>
                  <a:cubicBezTo>
                    <a:pt x="3895" y="18000"/>
                    <a:pt x="3000" y="17105"/>
                    <a:pt x="3000" y="16000"/>
                  </a:cubicBezTo>
                  <a:lnTo>
                    <a:pt x="3000" y="11000"/>
                  </a:lnTo>
                  <a:close/>
                  <a:moveTo>
                    <a:pt x="3000" y="11000"/>
                  </a:moveTo>
                  <a:cubicBezTo>
                    <a:pt x="3000" y="6029"/>
                    <a:pt x="7029" y="2000"/>
                    <a:pt x="12000" y="2000"/>
                  </a:cubicBezTo>
                  <a:cubicBezTo>
                    <a:pt x="16971" y="2000"/>
                    <a:pt x="21000" y="6029"/>
                    <a:pt x="21000" y="11000"/>
                  </a:cubicBezTo>
                  <a:moveTo>
                    <a:pt x="21000" y="11000"/>
                  </a:moveTo>
                  <a:lnTo>
                    <a:pt x="21000" y="16000"/>
                  </a:lnTo>
                  <a:cubicBezTo>
                    <a:pt x="21000" y="17105"/>
                    <a:pt x="20105" y="18000"/>
                    <a:pt x="19000" y="18000"/>
                  </a:cubicBezTo>
                  <a:lnTo>
                    <a:pt x="18000" y="18000"/>
                  </a:lnTo>
                  <a:cubicBezTo>
                    <a:pt x="16895" y="18000"/>
                    <a:pt x="16000" y="17105"/>
                    <a:pt x="16000" y="16000"/>
                  </a:cubicBezTo>
                  <a:lnTo>
                    <a:pt x="16000" y="13000"/>
                  </a:lnTo>
                  <a:cubicBezTo>
                    <a:pt x="16000" y="11895"/>
                    <a:pt x="16895" y="11000"/>
                    <a:pt x="18000" y="11000"/>
                  </a:cubicBezTo>
                  <a:lnTo>
                    <a:pt x="21000" y="11000"/>
                  </a:lnTo>
                  <a:close/>
                </a:path>
                <a:path w="24000" h="24000" fill="none">
                  <a:moveTo>
                    <a:pt x="21000" y="16000"/>
                  </a:moveTo>
                  <a:lnTo>
                    <a:pt x="21000" y="18000"/>
                  </a:lnTo>
                  <a:cubicBezTo>
                    <a:pt x="21000" y="20209"/>
                    <a:pt x="19209" y="22000"/>
                    <a:pt x="17000" y="22000"/>
                  </a:cubicBezTo>
                  <a:lnTo>
                    <a:pt x="12000" y="22000"/>
                  </a:lnTo>
                </a:path>
              </a:pathLst>
            </a:custGeom>
            <a:noFill/>
            <a:ln w="21627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9" name="BrandDeck Diagram Text 3"/>
            <p:cNvSpPr txBox="1"/>
            <p:nvPr/>
          </p:nvSpPr>
          <p:spPr>
            <a:xfrm>
              <a:off x="1230262" y="3578669"/>
              <a:ext cx="4225527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1">
                  <a:solidFill>
                    <a:srgbClr val="FFFFFF"/>
                  </a:solidFill>
                  <a:latin typeface="Play"/>
                </a:rPr>
                <a:t>Треть обращений в поддержку —</a:t>
              </a:r>
              <a:r>
                <a:rPr sz="1800" b="0">
                  <a:solidFill>
                    <a:srgbClr val="FFFFFF"/>
                  </a:solidFill>
                  <a:latin typeface="Play"/>
                </a:rPr>
                <a:t> повторяющиеся вопросы.</a:t>
              </a:r>
            </a:p>
          </p:txBody>
        </p:sp>
        <p:sp>
          <p:nvSpPr>
            <p:cNvPr id="480" name="BrandDeck Diagram Card 4"/>
            <p:cNvSpPr/>
            <p:nvPr/>
          </p:nvSpPr>
          <p:spPr>
            <a:xfrm>
              <a:off x="5889921" y="3446995"/>
              <a:ext cx="5259559" cy="1282903"/>
            </a:xfrm>
            <a:prstGeom prst="roundRect">
              <a:avLst>
                <a:gd name="adj" fmla="val 8000"/>
              </a:avLst>
            </a:prstGeom>
            <a:solidFill>
              <a:srgbClr val="1A1A1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1" name="BrandDeck Diagram Icon 4 Badge"/>
            <p:cNvSpPr/>
            <p:nvPr/>
          </p:nvSpPr>
          <p:spPr>
            <a:xfrm>
              <a:off x="6109377" y="3856724"/>
              <a:ext cx="463445" cy="463445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2" name="BrandDeck Icon user"/>
            <p:cNvSpPr/>
            <p:nvPr/>
          </p:nvSpPr>
          <p:spPr>
            <a:xfrm>
              <a:off x="6211335" y="3958682"/>
              <a:ext cx="259529" cy="259529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9000" y="21000"/>
                  </a:moveTo>
                  <a:lnTo>
                    <a:pt x="19000" y="19000"/>
                  </a:lnTo>
                  <a:cubicBezTo>
                    <a:pt x="19000" y="16791"/>
                    <a:pt x="17209" y="15000"/>
                    <a:pt x="15000" y="15000"/>
                  </a:cubicBezTo>
                  <a:lnTo>
                    <a:pt x="9000" y="15000"/>
                  </a:lnTo>
                  <a:cubicBezTo>
                    <a:pt x="6791" y="15000"/>
                    <a:pt x="5000" y="16791"/>
                    <a:pt x="5000" y="19000"/>
                  </a:cubicBezTo>
                  <a:lnTo>
                    <a:pt x="5000" y="21000"/>
                  </a:lnTo>
                </a:path>
                <a:path w="24000" h="24000" fill="none">
                  <a:moveTo>
                    <a:pt x="16000" y="7000"/>
                  </a:moveTo>
                  <a:cubicBezTo>
                    <a:pt x="16000" y="9209"/>
                    <a:pt x="14209" y="11000"/>
                    <a:pt x="12000" y="11000"/>
                  </a:cubicBezTo>
                  <a:cubicBezTo>
                    <a:pt x="9791" y="11000"/>
                    <a:pt x="8000" y="9209"/>
                    <a:pt x="8000" y="7000"/>
                  </a:cubicBezTo>
                  <a:cubicBezTo>
                    <a:pt x="8000" y="4791"/>
                    <a:pt x="9791" y="3000"/>
                    <a:pt x="12000" y="3000"/>
                  </a:cubicBezTo>
                  <a:cubicBezTo>
                    <a:pt x="14209" y="3000"/>
                    <a:pt x="16000" y="4791"/>
                    <a:pt x="16000" y="7000"/>
                  </a:cubicBezTo>
                  <a:close/>
                </a:path>
              </a:pathLst>
            </a:custGeom>
            <a:noFill/>
            <a:ln w="21627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3" name="BrandDeck Diagram Text 4"/>
            <p:cNvSpPr txBox="1"/>
            <p:nvPr/>
          </p:nvSpPr>
          <p:spPr>
            <a:xfrm>
              <a:off x="6704497" y="3578669"/>
              <a:ext cx="4225527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FFFFFF"/>
                  </a:solidFill>
                  <a:latin typeface="Play"/>
                </a:rPr>
                <a:t>Специалисты снова тратят время на поиск одного и того же ответа.</a:t>
              </a:r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12" name="BrandDeck Text 812"/>
          <p:cNvSpPr txBox="1"/>
          <p:nvPr>
            <p:ph type="title"/>
          </p:nvPr>
        </p:nvSpPr>
        <p:spPr>
          <a:xfrm>
            <a:off x="429253" y="424691"/>
            <a:ext cx="2341359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24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sz="1600"/>
              <a:t>Сотруднику нужен источник ответа, специалисту — контекст вопроса</a:t>
            </a:r>
            <a:endParaRPr/>
          </a:p>
        </p:txBody>
      </p:sp>
      <p:pic>
        <p:nvPicPr>
          <p:cNvPr id="835" name="BrandDeck Image" descr="02 сотрудник специалист поддержки"/>
          <p:cNvPicPr>
            <a:picLocks noChangeAspect="1"/>
          </p:cNvPicPr>
          <p:nvPr/>
        </p:nvPicPr>
        <p:blipFill>
          <a:blip r:embed="rId4"/>
          <a:srcRect l="20599" r="20599"/>
          <a:stretch>
            <a:fillRect/>
          </a:stretch>
        </p:blipFill>
        <p:spPr>
          <a:xfrm>
            <a:off x="5362697" y="324571"/>
            <a:ext cx="6826255" cy="6533429"/>
          </a:xfrm>
          <a:prstGeom prst="rect">
            <a:avLst/>
          </a:prstGeom>
        </p:spPr>
      </p:pic>
      <p:sp>
        <p:nvSpPr>
          <p:cNvPr id="834" name="BrandDeck Body"/>
          <p:cNvSpPr txBox="1"/>
          <p:nvPr/>
        </p:nvSpPr>
        <p:spPr>
          <a:xfrm>
            <a:off x="1036774" y="1729423"/>
            <a:ext cx="4143042" cy="4717097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40"/>
              </a:spcAft>
            </a:pPr>
            <a:r>
              <a:rPr sz="1600">
                <a:solidFill>
                  <a:srgbClr val="FFFFFF"/>
                </a:solidFill>
                <a:latin typeface="Play"/>
              </a:rPr>
              <a:t>• Сотруднику нужен понятный ответ со ссылкой на документ-источник.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40"/>
              </a:spcAft>
            </a:pPr>
            <a:r>
              <a:rPr sz="1600">
                <a:solidFill>
                  <a:srgbClr val="FFFFFF"/>
                </a:solidFill>
                <a:latin typeface="Play"/>
              </a:rPr>
              <a:t>• Специалисту нужен контекст вопроса, если автоматического ответа недостаточно.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40"/>
              </a:spcAft>
            </a:pPr>
            <a:r>
              <a:rPr sz="1600">
                <a:solidFill>
                  <a:srgbClr val="FFFFFF"/>
                </a:solidFill>
                <a:latin typeface="Play"/>
              </a:rPr>
              <a:t>• Передача вопроса вместе с контекстом избавляет сотрудника от повторного объяснения.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7" name="BrandDeck Text 547"/>
          <p:cNvSpPr txBox="1"/>
          <p:nvPr>
            <p:ph type="title"/>
          </p:nvPr>
        </p:nvSpPr>
        <p:spPr>
          <a:xfrm>
            <a:off x="429253" y="424691"/>
            <a:ext cx="7827311" cy="626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sz="1800"/>
              <a:t>ИИ-помощник отвечает по регламентам и передаёт сложные вопросы специалисту</a:t>
            </a:r>
            <a:endParaRPr/>
          </a:p>
        </p:txBody>
      </p:sp>
      <p:grpSp>
        <p:nvGrpSpPr>
          <p:cNvPr id="2" name="BrandDeck Diagram icon_grid" descr="icon_grid: ИИ-помощник работает во внутреннем портале компании.; Он принимает вопрос сотрудника и ищет подходящий регламент.; Ответ сопровождается ссылкой на документ-источник.; Если подтверждённого ответа нет, вопрос принимает специалист поддержки."/>
          <p:cNvGrpSpPr/>
          <p:nvPr/>
        </p:nvGrpSpPr>
        <p:grpSpPr>
          <a:xfrm>
            <a:off x="5383513" y="2710690"/>
            <a:ext cx="5917557" cy="3556255"/>
            <a:chOff x="5383513" y="2710690"/>
            <a:chExt cx="5917557" cy="3556255"/>
          </a:xfrm>
        </p:grpSpPr>
        <p:sp>
          <p:nvSpPr>
            <p:cNvPr id="560" name="BrandDeck Diagram Card 1"/>
            <p:cNvSpPr/>
            <p:nvPr/>
          </p:nvSpPr>
          <p:spPr>
            <a:xfrm>
              <a:off x="5383513" y="2710690"/>
              <a:ext cx="2899603" cy="1718952"/>
            </a:xfrm>
            <a:prstGeom prst="roundRect">
              <a:avLst>
                <a:gd name="adj" fmla="val 8000"/>
              </a:avLst>
            </a:prstGeom>
            <a:solidFill>
              <a:srgbClr val="1A1A1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1" name="BrandDeck Diagram Icon 1 Badge"/>
            <p:cNvSpPr/>
            <p:nvPr/>
          </p:nvSpPr>
          <p:spPr>
            <a:xfrm>
              <a:off x="5586485" y="2913662"/>
              <a:ext cx="481306" cy="481306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2" name="BrandDeck Icon building"/>
            <p:cNvSpPr/>
            <p:nvPr/>
          </p:nvSpPr>
          <p:spPr>
            <a:xfrm>
              <a:off x="5692372" y="3019549"/>
              <a:ext cx="269531" cy="269531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6000" y="2000"/>
                  </a:moveTo>
                  <a:lnTo>
                    <a:pt x="18000" y="2000"/>
                  </a:lnTo>
                  <a:cubicBezTo>
                    <a:pt x="19105" y="2000"/>
                    <a:pt x="20000" y="2895"/>
                    <a:pt x="20000" y="4000"/>
                  </a:cubicBezTo>
                  <a:lnTo>
                    <a:pt x="20000" y="20000"/>
                  </a:lnTo>
                  <a:cubicBezTo>
                    <a:pt x="20000" y="21105"/>
                    <a:pt x="19105" y="22000"/>
                    <a:pt x="18000" y="22000"/>
                  </a:cubicBezTo>
                  <a:lnTo>
                    <a:pt x="6000" y="22000"/>
                  </a:lnTo>
                  <a:cubicBezTo>
                    <a:pt x="4895" y="22000"/>
                    <a:pt x="4000" y="21105"/>
                    <a:pt x="4000" y="20000"/>
                  </a:cubicBezTo>
                  <a:lnTo>
                    <a:pt x="4000" y="4000"/>
                  </a:lnTo>
                  <a:cubicBezTo>
                    <a:pt x="4000" y="2895"/>
                    <a:pt x="4895" y="2000"/>
                    <a:pt x="6000" y="2000"/>
                  </a:cubicBezTo>
                  <a:close/>
                </a:path>
                <a:path w="24000" h="24000" fill="none">
                  <a:moveTo>
                    <a:pt x="9000" y="22000"/>
                  </a:moveTo>
                  <a:lnTo>
                    <a:pt x="9000" y="18000"/>
                  </a:lnTo>
                  <a:lnTo>
                    <a:pt x="15000" y="18000"/>
                  </a:lnTo>
                  <a:lnTo>
                    <a:pt x="15000" y="22000"/>
                  </a:lnTo>
                </a:path>
                <a:path w="24000" h="24000" fill="none">
                  <a:moveTo>
                    <a:pt x="8000" y="6000"/>
                  </a:moveTo>
                  <a:lnTo>
                    <a:pt x="8010" y="6000"/>
                  </a:lnTo>
                </a:path>
                <a:path w="24000" h="24000" fill="none">
                  <a:moveTo>
                    <a:pt x="16000" y="6000"/>
                  </a:moveTo>
                  <a:lnTo>
                    <a:pt x="16010" y="6000"/>
                  </a:lnTo>
                </a:path>
                <a:path w="24000" h="24000" fill="none">
                  <a:moveTo>
                    <a:pt x="12000" y="6000"/>
                  </a:moveTo>
                  <a:lnTo>
                    <a:pt x="12010" y="6000"/>
                  </a:lnTo>
                </a:path>
                <a:path w="24000" h="24000" fill="none">
                  <a:moveTo>
                    <a:pt x="12000" y="10000"/>
                  </a:moveTo>
                  <a:lnTo>
                    <a:pt x="12010" y="10000"/>
                  </a:lnTo>
                </a:path>
                <a:path w="24000" h="24000" fill="none">
                  <a:moveTo>
                    <a:pt x="12000" y="14000"/>
                  </a:moveTo>
                  <a:lnTo>
                    <a:pt x="12010" y="14000"/>
                  </a:lnTo>
                </a:path>
                <a:path w="24000" h="24000" fill="none">
                  <a:moveTo>
                    <a:pt x="16000" y="10000"/>
                  </a:moveTo>
                  <a:lnTo>
                    <a:pt x="16010" y="10000"/>
                  </a:lnTo>
                </a:path>
                <a:path w="24000" h="24000" fill="none">
                  <a:moveTo>
                    <a:pt x="16000" y="14000"/>
                  </a:moveTo>
                  <a:lnTo>
                    <a:pt x="16010" y="14000"/>
                  </a:lnTo>
                </a:path>
                <a:path w="24000" h="24000" fill="none">
                  <a:moveTo>
                    <a:pt x="8000" y="10000"/>
                  </a:moveTo>
                  <a:lnTo>
                    <a:pt x="8010" y="10000"/>
                  </a:lnTo>
                </a:path>
                <a:path w="24000" h="24000" fill="none">
                  <a:moveTo>
                    <a:pt x="8000" y="14000"/>
                  </a:moveTo>
                  <a:lnTo>
                    <a:pt x="8010" y="14000"/>
                  </a:lnTo>
                </a:path>
              </a:pathLst>
            </a:custGeom>
            <a:noFill/>
            <a:ln w="22460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3" name="BrandDeck Diagram Text 1"/>
            <p:cNvSpPr txBox="1"/>
            <p:nvPr/>
          </p:nvSpPr>
          <p:spPr>
            <a:xfrm>
              <a:off x="5525593" y="3537049"/>
              <a:ext cx="2615442" cy="791106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0">
                  <a:solidFill>
                    <a:srgbClr val="FFFFFF"/>
                  </a:solidFill>
                  <a:latin typeface="Play"/>
                </a:rPr>
                <a:t>ИИ-помощник работает во внутреннем портале компании.</a:t>
              </a:r>
            </a:p>
          </p:txBody>
        </p:sp>
        <p:sp>
          <p:nvSpPr>
            <p:cNvPr id="564" name="BrandDeck Diagram Card 2"/>
            <p:cNvSpPr/>
            <p:nvPr/>
          </p:nvSpPr>
          <p:spPr>
            <a:xfrm>
              <a:off x="8401467" y="2710690"/>
              <a:ext cx="2899603" cy="1718952"/>
            </a:xfrm>
            <a:prstGeom prst="roundRect">
              <a:avLst>
                <a:gd name="adj" fmla="val 8000"/>
              </a:avLst>
            </a:prstGeom>
            <a:solidFill>
              <a:srgbClr val="1A1A1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5" name="BrandDeck Diagram Icon 2 Badge"/>
            <p:cNvSpPr/>
            <p:nvPr/>
          </p:nvSpPr>
          <p:spPr>
            <a:xfrm>
              <a:off x="8604439" y="2913662"/>
              <a:ext cx="481306" cy="481306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6" name="BrandDeck Icon circle-help"/>
            <p:cNvSpPr/>
            <p:nvPr/>
          </p:nvSpPr>
          <p:spPr>
            <a:xfrm>
              <a:off x="8710327" y="3019549"/>
              <a:ext cx="269531" cy="269531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9090" y="9000"/>
                  </a:moveTo>
                  <a:cubicBezTo>
                    <a:pt x="9575" y="7620"/>
                    <a:pt x="10985" y="6791"/>
                    <a:pt x="12427" y="7039"/>
                  </a:cubicBezTo>
                  <a:cubicBezTo>
                    <a:pt x="13869" y="7286"/>
                    <a:pt x="14922" y="8537"/>
                    <a:pt x="14920" y="10000"/>
                  </a:cubicBezTo>
                  <a:cubicBezTo>
                    <a:pt x="14920" y="12000"/>
                    <a:pt x="11920" y="13000"/>
                    <a:pt x="11920" y="13000"/>
                  </a:cubicBezTo>
                </a:path>
                <a:path w="24000" h="24000" fill="none">
                  <a:moveTo>
                    <a:pt x="12000" y="17000"/>
                  </a:moveTo>
                  <a:lnTo>
                    <a:pt x="12010" y="17000"/>
                  </a:lnTo>
                </a:path>
              </a:pathLst>
            </a:custGeom>
            <a:noFill/>
            <a:ln w="22460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7" name="BrandDeck Diagram Text 2"/>
            <p:cNvSpPr txBox="1"/>
            <p:nvPr/>
          </p:nvSpPr>
          <p:spPr>
            <a:xfrm>
              <a:off x="8543548" y="3537049"/>
              <a:ext cx="2615442" cy="791106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0">
                  <a:solidFill>
                    <a:srgbClr val="FFFFFF"/>
                  </a:solidFill>
                  <a:latin typeface="Play"/>
                </a:rPr>
                <a:t>Он принимает вопрос сотрудника и ищет подходящий регламент.</a:t>
              </a:r>
            </a:p>
          </p:txBody>
        </p:sp>
        <p:sp>
          <p:nvSpPr>
            <p:cNvPr id="568" name="BrandDeck Diagram Card 3"/>
            <p:cNvSpPr/>
            <p:nvPr/>
          </p:nvSpPr>
          <p:spPr>
            <a:xfrm>
              <a:off x="5383513" y="4547993"/>
              <a:ext cx="2899603" cy="1718952"/>
            </a:xfrm>
            <a:prstGeom prst="roundRect">
              <a:avLst>
                <a:gd name="adj" fmla="val 8000"/>
              </a:avLst>
            </a:prstGeom>
            <a:solidFill>
              <a:srgbClr val="1A1A1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9" name="BrandDeck Diagram Icon 3 Badge"/>
            <p:cNvSpPr/>
            <p:nvPr/>
          </p:nvSpPr>
          <p:spPr>
            <a:xfrm>
              <a:off x="5586485" y="4750965"/>
              <a:ext cx="481306" cy="481306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0" name="BrandDeck Icon file-text"/>
            <p:cNvSpPr/>
            <p:nvPr/>
          </p:nvSpPr>
          <p:spPr>
            <a:xfrm>
              <a:off x="5692372" y="4856853"/>
              <a:ext cx="269531" cy="269531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5000" y="2000"/>
                  </a:moveTo>
                  <a:lnTo>
                    <a:pt x="6000" y="2000"/>
                  </a:lnTo>
                  <a:cubicBezTo>
                    <a:pt x="4895" y="2000"/>
                    <a:pt x="4000" y="2895"/>
                    <a:pt x="4000" y="4000"/>
                  </a:cubicBezTo>
                  <a:lnTo>
                    <a:pt x="4000" y="20000"/>
                  </a:lnTo>
                  <a:cubicBezTo>
                    <a:pt x="4000" y="21105"/>
                    <a:pt x="4895" y="22000"/>
                    <a:pt x="6000" y="22000"/>
                  </a:cubicBezTo>
                  <a:lnTo>
                    <a:pt x="18000" y="22000"/>
                  </a:lnTo>
                  <a:cubicBezTo>
                    <a:pt x="19105" y="22000"/>
                    <a:pt x="20000" y="21105"/>
                    <a:pt x="20000" y="20000"/>
                  </a:cubicBezTo>
                  <a:lnTo>
                    <a:pt x="20000" y="7000"/>
                  </a:lnTo>
                  <a:close/>
                </a:path>
                <a:path w="24000" h="24000" fill="none">
                  <a:moveTo>
                    <a:pt x="14000" y="2000"/>
                  </a:moveTo>
                  <a:lnTo>
                    <a:pt x="14000" y="6000"/>
                  </a:lnTo>
                  <a:cubicBezTo>
                    <a:pt x="14000" y="7105"/>
                    <a:pt x="14895" y="8000"/>
                    <a:pt x="16000" y="8000"/>
                  </a:cubicBezTo>
                  <a:lnTo>
                    <a:pt x="20000" y="8000"/>
                  </a:lnTo>
                </a:path>
                <a:path w="24000" h="24000" fill="none">
                  <a:moveTo>
                    <a:pt x="10000" y="9000"/>
                  </a:moveTo>
                  <a:lnTo>
                    <a:pt x="8000" y="9000"/>
                  </a:lnTo>
                </a:path>
                <a:path w="24000" h="24000" fill="none">
                  <a:moveTo>
                    <a:pt x="16000" y="13000"/>
                  </a:moveTo>
                  <a:lnTo>
                    <a:pt x="8000" y="13000"/>
                  </a:lnTo>
                </a:path>
                <a:path w="24000" h="24000" fill="none">
                  <a:moveTo>
                    <a:pt x="16000" y="17000"/>
                  </a:moveTo>
                  <a:lnTo>
                    <a:pt x="8000" y="17000"/>
                  </a:lnTo>
                </a:path>
              </a:pathLst>
            </a:custGeom>
            <a:noFill/>
            <a:ln w="22460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1" name="BrandDeck Diagram Text 3"/>
            <p:cNvSpPr txBox="1"/>
            <p:nvPr/>
          </p:nvSpPr>
          <p:spPr>
            <a:xfrm>
              <a:off x="5525593" y="5374353"/>
              <a:ext cx="2615442" cy="791106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0">
                  <a:solidFill>
                    <a:srgbClr val="FFFFFF"/>
                  </a:solidFill>
                  <a:latin typeface="Play"/>
                </a:rPr>
                <a:t>Ответ сопровождается ссылкой на документ-источник.</a:t>
              </a:r>
            </a:p>
          </p:txBody>
        </p:sp>
        <p:sp>
          <p:nvSpPr>
            <p:cNvPr id="572" name="BrandDeck Diagram Card 4"/>
            <p:cNvSpPr/>
            <p:nvPr/>
          </p:nvSpPr>
          <p:spPr>
            <a:xfrm>
              <a:off x="8401467" y="4547993"/>
              <a:ext cx="2899603" cy="1718952"/>
            </a:xfrm>
            <a:prstGeom prst="roundRect">
              <a:avLst>
                <a:gd name="adj" fmla="val 8000"/>
              </a:avLst>
            </a:prstGeom>
            <a:solidFill>
              <a:srgbClr val="1A1A1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3" name="BrandDeck Diagram Icon 4 Badge"/>
            <p:cNvSpPr/>
            <p:nvPr/>
          </p:nvSpPr>
          <p:spPr>
            <a:xfrm>
              <a:off x="8604439" y="4750965"/>
              <a:ext cx="481306" cy="481306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4" name="BrandDeck Icon circle-check"/>
            <p:cNvSpPr/>
            <p:nvPr/>
          </p:nvSpPr>
          <p:spPr>
            <a:xfrm>
              <a:off x="8710327" y="4856853"/>
              <a:ext cx="269531" cy="269531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9000" y="12000"/>
                  </a:moveTo>
                  <a:lnTo>
                    <a:pt x="11000" y="14000"/>
                  </a:lnTo>
                  <a:lnTo>
                    <a:pt x="15000" y="10000"/>
                  </a:lnTo>
                </a:path>
              </a:pathLst>
            </a:custGeom>
            <a:noFill/>
            <a:ln w="22460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5" name="BrandDeck Diagram Text 4"/>
            <p:cNvSpPr txBox="1"/>
            <p:nvPr/>
          </p:nvSpPr>
          <p:spPr>
            <a:xfrm>
              <a:off x="8543548" y="5374353"/>
              <a:ext cx="2615442" cy="791106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0">
                  <a:solidFill>
                    <a:srgbClr val="FFFFFF"/>
                  </a:solidFill>
                  <a:latin typeface="Play"/>
                </a:rPr>
                <a:t>Если подтверждённого ответа нет, вопрос принимает специалист поддержки.</a:t>
              </a:r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41" name="BrandDeck Text 441"/>
          <p:cNvSpPr txBox="1"/>
          <p:nvPr>
            <p:ph type="title"/>
          </p:nvPr>
        </p:nvSpPr>
        <p:spPr>
          <a:xfrm>
            <a:off x="429253" y="424691"/>
            <a:ext cx="7827311" cy="626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sz="1800"/>
              <a:t>Вопрос проходит путь от портала до ответа со ссылкой или эскалации</a:t>
            </a:r>
            <a:endParaRPr/>
          </a:p>
        </p:txBody>
      </p:sp>
      <p:sp>
        <p:nvSpPr>
          <p:cNvPr id="442" name="BrandDeck Text 442"/>
          <p:cNvSpPr/>
          <p:nvPr/>
        </p:nvSpPr>
        <p:spPr>
          <a:xfrm>
            <a:off x="5383513" y="860119"/>
            <a:ext cx="5917558" cy="1705685"/>
          </a:xfrm>
          <a:prstGeom prst="roundRect">
            <a:avLst>
              <a:gd fmla="val 9293" name="adj"/>
            </a:avLst>
          </a:prstGeom>
          <a:solidFill>
            <a:srgbClr val="151515"/>
          </a:solidFill>
          <a:ln>
            <a:noFill/>
          </a:ln>
        </p:spPr>
        <p:txBody>
          <a:bodyPr anchorCtr="0" anchor="t" bIns="0" lIns="108000" spcFirstLastPara="1" rIns="0" wrap="square" tIns="756000">
            <a:normAutofit/>
          </a:bodyPr>
          <a:lstStyle/>
          <a:p>
            <a:pPr indent="0" marL="0" marR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None/>
            </a:pPr>
            <a:r>
              <a:rPr sz="1800" b="0">
                <a:solidFill>
                  <a:srgbClr val="0077FF"/>
                </a:solidFill>
                <a:latin typeface="Play"/>
              </a:rPr>
              <a:t>Сотрудник задаёт вопрос во внутреннем портале.</a:t>
            </a:r>
            <a:endParaRPr/>
          </a:p>
        </p:txBody>
      </p:sp>
      <p:grpSp>
        <p:nvGrpSpPr>
          <p:cNvPr id="443" name="Google Shape;443;p21"/>
          <p:cNvGrpSpPr/>
          <p:nvPr/>
        </p:nvGrpSpPr>
        <p:grpSpPr>
          <a:xfrm>
            <a:off x="5523729" y="996732"/>
            <a:ext cx="515460" cy="515395"/>
            <a:chOff x="5166883" y="996732"/>
            <a:chExt cx="515460" cy="515395"/>
          </a:xfrm>
        </p:grpSpPr>
        <p:sp>
          <p:nvSpPr>
            <p:cNvPr id="444" name="Google Shape;444;p21"/>
            <p:cNvSpPr/>
            <p:nvPr/>
          </p:nvSpPr>
          <p:spPr>
            <a:xfrm>
              <a:off x="5166883" y="996732"/>
              <a:ext cx="515460" cy="515395"/>
            </a:xfrm>
            <a:prstGeom prst="roundRect">
              <a:avLst>
                <a:gd fmla="val 23586" name="adj"/>
              </a:avLst>
            </a:prstGeom>
            <a:solidFill>
              <a:srgbClr val="21212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45" name="Google Shape;445;p2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5291263" y="1117786"/>
              <a:ext cx="266700" cy="2667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46" name="BrandDeck Text 446"/>
          <p:cNvSpPr/>
          <p:nvPr/>
        </p:nvSpPr>
        <p:spPr>
          <a:xfrm>
            <a:off x="5383513" y="2710690"/>
            <a:ext cx="5917558" cy="1705685"/>
          </a:xfrm>
          <a:prstGeom prst="roundRect">
            <a:avLst>
              <a:gd fmla="val 9293" name="adj"/>
            </a:avLst>
          </a:prstGeom>
          <a:solidFill>
            <a:srgbClr val="151515"/>
          </a:solidFill>
          <a:ln>
            <a:noFill/>
          </a:ln>
        </p:spPr>
        <p:txBody>
          <a:bodyPr anchorCtr="0" anchor="t" bIns="0" lIns="108000" spcFirstLastPara="1" rIns="0" wrap="square" tIns="756000">
            <a:normAutofit/>
          </a:bodyPr>
          <a:lstStyle/>
          <a:p>
            <a:pPr indent="0" marL="0" marR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None/>
            </a:pPr>
            <a:r>
              <a:rPr sz="1800" b="0">
                <a:solidFill>
                  <a:srgbClr val="0077FF"/>
                </a:solidFill>
                <a:latin typeface="Play"/>
              </a:rPr>
              <a:t>Помощник ищет ответ в регламентах и показывает источник.</a:t>
            </a:r>
            <a:endParaRPr/>
          </a:p>
        </p:txBody>
      </p:sp>
      <p:grpSp>
        <p:nvGrpSpPr>
          <p:cNvPr id="447" name="Google Shape;447;p21"/>
          <p:cNvGrpSpPr/>
          <p:nvPr/>
        </p:nvGrpSpPr>
        <p:grpSpPr>
          <a:xfrm>
            <a:off x="5523729" y="2847303"/>
            <a:ext cx="515460" cy="515395"/>
            <a:chOff x="5166883" y="996732"/>
            <a:chExt cx="515460" cy="515395"/>
          </a:xfrm>
        </p:grpSpPr>
        <p:sp>
          <p:nvSpPr>
            <p:cNvPr id="448" name="Google Shape;448;p21"/>
            <p:cNvSpPr/>
            <p:nvPr/>
          </p:nvSpPr>
          <p:spPr>
            <a:xfrm>
              <a:off x="5166883" y="996732"/>
              <a:ext cx="515460" cy="515395"/>
            </a:xfrm>
            <a:prstGeom prst="roundRect">
              <a:avLst>
                <a:gd fmla="val 23586" name="adj"/>
              </a:avLst>
            </a:prstGeom>
            <a:solidFill>
              <a:srgbClr val="21212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49" name="Google Shape;449;p2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5291263" y="1117786"/>
              <a:ext cx="266700" cy="2667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50" name="BrandDeck Text 450"/>
          <p:cNvSpPr/>
          <p:nvPr/>
        </p:nvSpPr>
        <p:spPr>
          <a:xfrm>
            <a:off x="5383513" y="4561261"/>
            <a:ext cx="5917558" cy="1705685"/>
          </a:xfrm>
          <a:prstGeom prst="roundRect">
            <a:avLst>
              <a:gd fmla="val 9293" name="adj"/>
            </a:avLst>
          </a:prstGeom>
          <a:solidFill>
            <a:srgbClr val="151515"/>
          </a:solidFill>
          <a:ln>
            <a:noFill/>
          </a:ln>
        </p:spPr>
        <p:txBody>
          <a:bodyPr anchorCtr="0" anchor="t" bIns="0" lIns="108000" spcFirstLastPara="1" rIns="0" wrap="square" tIns="756000">
            <a:normAutofit/>
          </a:bodyPr>
          <a:lstStyle/>
          <a:p>
            <a:pPr indent="0" marL="0" marR="0" rtl="0" algn="l">
              <a:lnSpc>
                <a:spcPct val="115000"/>
              </a:lnSpc>
              <a:spcBef>
                <a:spcPts val="0"/>
              </a:spcBef>
              <a:spcAft>
                <a:spcPts val="210"/>
              </a:spcAft>
              <a:buNone/>
            </a:pPr>
            <a:r>
              <a:rPr sz="1400" b="0">
                <a:solidFill>
                  <a:srgbClr val="0077FF"/>
                </a:solidFill>
                <a:latin typeface="Play"/>
              </a:rPr>
              <a:t>При отсутствии подтверждённого ответа вопрос передаётся специалисту.</a:t>
            </a:r>
            <a:endParaRPr/>
          </a:p>
          <a:p>
            <a:pPr indent="0" marL="0" marR="0" rtl="0" algn="l">
              <a:lnSpc>
                <a:spcPct val="115000"/>
              </a:lnSpc>
              <a:spcBef>
                <a:spcPts val="0"/>
              </a:spcBef>
              <a:spcAft>
                <a:spcPts val="210"/>
              </a:spcAft>
              <a:buNone/>
            </a:pPr>
            <a:r>
              <a:rPr sz="1400" b="0">
                <a:solidFill>
                  <a:srgbClr val="0077FF"/>
                </a:solidFill>
                <a:latin typeface="Play"/>
              </a:rPr>
              <a:t>Специалист получает контекст исходного обращения.</a:t>
            </a:r>
          </a:p>
        </p:txBody>
      </p:sp>
      <p:grpSp>
        <p:nvGrpSpPr>
          <p:cNvPr id="451" name="Google Shape;451;p21"/>
          <p:cNvGrpSpPr/>
          <p:nvPr/>
        </p:nvGrpSpPr>
        <p:grpSpPr>
          <a:xfrm>
            <a:off x="5523729" y="4697874"/>
            <a:ext cx="515460" cy="515395"/>
            <a:chOff x="5166883" y="996732"/>
            <a:chExt cx="515460" cy="515395"/>
          </a:xfrm>
        </p:grpSpPr>
        <p:sp>
          <p:nvSpPr>
            <p:cNvPr id="452" name="Google Shape;452;p21"/>
            <p:cNvSpPr/>
            <p:nvPr/>
          </p:nvSpPr>
          <p:spPr>
            <a:xfrm>
              <a:off x="5166883" y="996732"/>
              <a:ext cx="515460" cy="515395"/>
            </a:xfrm>
            <a:prstGeom prst="roundRect">
              <a:avLst>
                <a:gd fmla="val 23586" name="adj"/>
              </a:avLst>
            </a:prstGeom>
            <a:solidFill>
              <a:srgbClr val="21212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53" name="Google Shape;453;p2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5291263" y="1117786"/>
              <a:ext cx="266700" cy="2667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59" name="BrandDeck Text 459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sz="2000"/>
              <a:t>Документы остаются внутри контура, неподтверждённый ответ проверяет специалист</a:t>
            </a:r>
            <a:endParaRPr/>
          </a:p>
        </p:txBody>
      </p:sp>
      <p:grpSp>
        <p:nvGrpSpPr>
          <p:cNvPr id="2" name="BrandDeck Diagram icon_grid" descr="icon_grid: Модель с открытыми весами работает внутри контура компании.; Документы не уходят наружу при обработке запроса.; Инструкция может устареть или не дать подтверждённого ответа.; В таком случае вопрос передаётся специалисту; ссылку на источник можно проверить."/>
          <p:cNvGrpSpPr/>
          <p:nvPr/>
        </p:nvGrpSpPr>
        <p:grpSpPr>
          <a:xfrm>
            <a:off x="415687" y="1949416"/>
            <a:ext cx="10733793" cy="2780482"/>
            <a:chOff x="415687" y="1949416"/>
            <a:chExt cx="10733793" cy="2780482"/>
          </a:xfrm>
        </p:grpSpPr>
        <p:sp>
          <p:nvSpPr>
            <p:cNvPr id="468" name="BrandDeck Diagram Card 1"/>
            <p:cNvSpPr/>
            <p:nvPr/>
          </p:nvSpPr>
          <p:spPr>
            <a:xfrm>
              <a:off x="415687" y="1949416"/>
              <a:ext cx="5259559" cy="1282903"/>
            </a:xfrm>
            <a:prstGeom prst="roundRect">
              <a:avLst>
                <a:gd name="adj" fmla="val 8000"/>
              </a:avLst>
            </a:prstGeom>
            <a:solidFill>
              <a:srgbClr val="1A1A1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9" name="BrandDeck Diagram Icon 1 Badge"/>
            <p:cNvSpPr/>
            <p:nvPr/>
          </p:nvSpPr>
          <p:spPr>
            <a:xfrm>
              <a:off x="635143" y="2359145"/>
              <a:ext cx="463445" cy="463445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0" name="BrandDeck Icon brain"/>
            <p:cNvSpPr/>
            <p:nvPr/>
          </p:nvSpPr>
          <p:spPr>
            <a:xfrm>
              <a:off x="737101" y="2461103"/>
              <a:ext cx="259529" cy="259529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2000" y="5000"/>
                  </a:moveTo>
                  <a:cubicBezTo>
                    <a:pt x="12003" y="3911"/>
                    <a:pt x="11416" y="2906"/>
                    <a:pt x="10466" y="2374"/>
                  </a:cubicBezTo>
                  <a:cubicBezTo>
                    <a:pt x="9516" y="1842"/>
                    <a:pt x="8353" y="1866"/>
                    <a:pt x="7426" y="2437"/>
                  </a:cubicBezTo>
                  <a:cubicBezTo>
                    <a:pt x="6499" y="3009"/>
                    <a:pt x="5954" y="4037"/>
                    <a:pt x="6003" y="5125"/>
                  </a:cubicBezTo>
                  <a:cubicBezTo>
                    <a:pt x="4812" y="5431"/>
                    <a:pt x="3828" y="6268"/>
                    <a:pt x="3335" y="7395"/>
                  </a:cubicBezTo>
                  <a:cubicBezTo>
                    <a:pt x="2842" y="8521"/>
                    <a:pt x="2894" y="9812"/>
                    <a:pt x="3477" y="10895"/>
                  </a:cubicBezTo>
                  <a:cubicBezTo>
                    <a:pt x="2450" y="11729"/>
                    <a:pt x="1902" y="13018"/>
                    <a:pt x="2013" y="14336"/>
                  </a:cubicBezTo>
                  <a:cubicBezTo>
                    <a:pt x="2125" y="15654"/>
                    <a:pt x="2881" y="16833"/>
                    <a:pt x="4033" y="17483"/>
                  </a:cubicBezTo>
                  <a:cubicBezTo>
                    <a:pt x="3842" y="18961"/>
                    <a:pt x="4488" y="20422"/>
                    <a:pt x="5710" y="21275"/>
                  </a:cubicBezTo>
                  <a:cubicBezTo>
                    <a:pt x="6931" y="22128"/>
                    <a:pt x="8526" y="22232"/>
                    <a:pt x="9847" y="21544"/>
                  </a:cubicBezTo>
                  <a:cubicBezTo>
                    <a:pt x="11169" y="20856"/>
                    <a:pt x="11998" y="19490"/>
                    <a:pt x="12000" y="18000"/>
                  </a:cubicBezTo>
                  <a:close/>
                </a:path>
                <a:path w="24000" h="24000" fill="none">
                  <a:moveTo>
                    <a:pt x="12000" y="5000"/>
                  </a:moveTo>
                  <a:cubicBezTo>
                    <a:pt x="11997" y="3911"/>
                    <a:pt x="12584" y="2906"/>
                    <a:pt x="13534" y="2374"/>
                  </a:cubicBezTo>
                  <a:cubicBezTo>
                    <a:pt x="14484" y="1842"/>
                    <a:pt x="15647" y="1866"/>
                    <a:pt x="16574" y="2437"/>
                  </a:cubicBezTo>
                  <a:cubicBezTo>
                    <a:pt x="17501" y="3009"/>
                    <a:pt x="18046" y="4037"/>
                    <a:pt x="17997" y="5125"/>
                  </a:cubicBezTo>
                  <a:cubicBezTo>
                    <a:pt x="19188" y="5431"/>
                    <a:pt x="20172" y="6268"/>
                    <a:pt x="20665" y="7395"/>
                  </a:cubicBezTo>
                  <a:cubicBezTo>
                    <a:pt x="21158" y="8521"/>
                    <a:pt x="21106" y="9812"/>
                    <a:pt x="20523" y="10895"/>
                  </a:cubicBezTo>
                  <a:cubicBezTo>
                    <a:pt x="21550" y="11729"/>
                    <a:pt x="22098" y="13018"/>
                    <a:pt x="21987" y="14336"/>
                  </a:cubicBezTo>
                  <a:cubicBezTo>
                    <a:pt x="21875" y="15654"/>
                    <a:pt x="21119" y="16833"/>
                    <a:pt x="19967" y="17483"/>
                  </a:cubicBezTo>
                  <a:cubicBezTo>
                    <a:pt x="20158" y="18961"/>
                    <a:pt x="19512" y="20422"/>
                    <a:pt x="18290" y="21275"/>
                  </a:cubicBezTo>
                  <a:cubicBezTo>
                    <a:pt x="17069" y="22128"/>
                    <a:pt x="15474" y="22232"/>
                    <a:pt x="14153" y="21544"/>
                  </a:cubicBezTo>
                  <a:cubicBezTo>
                    <a:pt x="12831" y="20856"/>
                    <a:pt x="12002" y="19490"/>
                    <a:pt x="12000" y="18000"/>
                  </a:cubicBezTo>
                  <a:close/>
                </a:path>
                <a:path w="24000" h="24000" fill="none">
                  <a:moveTo>
                    <a:pt x="15000" y="13000"/>
                  </a:moveTo>
                  <a:cubicBezTo>
                    <a:pt x="13283" y="12396"/>
                    <a:pt x="12099" y="10817"/>
                    <a:pt x="12000" y="9000"/>
                  </a:cubicBezTo>
                  <a:cubicBezTo>
                    <a:pt x="11901" y="10817"/>
                    <a:pt x="10717" y="12396"/>
                    <a:pt x="9000" y="13000"/>
                  </a:cubicBezTo>
                </a:path>
                <a:path w="24000" h="24000" fill="none">
                  <a:moveTo>
                    <a:pt x="17599" y="6500"/>
                  </a:moveTo>
                  <a:cubicBezTo>
                    <a:pt x="17841" y="6081"/>
                    <a:pt x="17978" y="5609"/>
                    <a:pt x="17998" y="5125"/>
                  </a:cubicBezTo>
                </a:path>
                <a:path w="24000" h="24000" fill="none">
                  <a:moveTo>
                    <a:pt x="6003" y="5125"/>
                  </a:moveTo>
                  <a:cubicBezTo>
                    <a:pt x="6023" y="5609"/>
                    <a:pt x="6159" y="6080"/>
                    <a:pt x="6401" y="6500"/>
                  </a:cubicBezTo>
                </a:path>
                <a:path w="24000" h="24000" fill="none">
                  <a:moveTo>
                    <a:pt x="3477" y="10896"/>
                  </a:moveTo>
                  <a:cubicBezTo>
                    <a:pt x="3660" y="10747"/>
                    <a:pt x="3856" y="10614"/>
                    <a:pt x="4062" y="10500"/>
                  </a:cubicBezTo>
                </a:path>
                <a:path w="24000" h="24000" fill="none">
                  <a:moveTo>
                    <a:pt x="19938" y="10500"/>
                  </a:moveTo>
                  <a:cubicBezTo>
                    <a:pt x="20144" y="10614"/>
                    <a:pt x="20340" y="10747"/>
                    <a:pt x="20523" y="10896"/>
                  </a:cubicBezTo>
                </a:path>
                <a:path w="24000" h="24000" fill="none">
                  <a:moveTo>
                    <a:pt x="6000" y="18000"/>
                  </a:moveTo>
                  <a:cubicBezTo>
                    <a:pt x="5311" y="18000"/>
                    <a:pt x="4633" y="17823"/>
                    <a:pt x="4033" y="17484"/>
                  </a:cubicBezTo>
                </a:path>
                <a:path w="24000" h="24000" fill="none">
                  <a:moveTo>
                    <a:pt x="19967" y="17484"/>
                  </a:moveTo>
                  <a:cubicBezTo>
                    <a:pt x="19367" y="17823"/>
                    <a:pt x="18689" y="18000"/>
                    <a:pt x="18000" y="18000"/>
                  </a:cubicBezTo>
                </a:path>
              </a:pathLst>
            </a:custGeom>
            <a:noFill/>
            <a:ln w="21627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1" name="BrandDeck Diagram Text 1"/>
            <p:cNvSpPr txBox="1"/>
            <p:nvPr/>
          </p:nvSpPr>
          <p:spPr>
            <a:xfrm>
              <a:off x="1230262" y="2081090"/>
              <a:ext cx="4225527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FFFFFF"/>
                  </a:solidFill>
                  <a:latin typeface="Play"/>
                </a:rPr>
                <a:t>Модель с открытыми весами работает внутри контура компании.</a:t>
              </a:r>
            </a:p>
          </p:txBody>
        </p:sp>
        <p:sp>
          <p:nvSpPr>
            <p:cNvPr id="472" name="BrandDeck Diagram Card 2"/>
            <p:cNvSpPr/>
            <p:nvPr/>
          </p:nvSpPr>
          <p:spPr>
            <a:xfrm>
              <a:off x="5889921" y="1949416"/>
              <a:ext cx="5259559" cy="1282903"/>
            </a:xfrm>
            <a:prstGeom prst="roundRect">
              <a:avLst>
                <a:gd name="adj" fmla="val 8000"/>
              </a:avLst>
            </a:prstGeom>
            <a:solidFill>
              <a:srgbClr val="1A1A1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3" name="BrandDeck Diagram Icon 2 Badge"/>
            <p:cNvSpPr/>
            <p:nvPr/>
          </p:nvSpPr>
          <p:spPr>
            <a:xfrm>
              <a:off x="6109377" y="2359145"/>
              <a:ext cx="463445" cy="463445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4" name="BrandDeck Icon file-text"/>
            <p:cNvSpPr/>
            <p:nvPr/>
          </p:nvSpPr>
          <p:spPr>
            <a:xfrm>
              <a:off x="6211335" y="2461103"/>
              <a:ext cx="259529" cy="259529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5000" y="2000"/>
                  </a:moveTo>
                  <a:lnTo>
                    <a:pt x="6000" y="2000"/>
                  </a:lnTo>
                  <a:cubicBezTo>
                    <a:pt x="4895" y="2000"/>
                    <a:pt x="4000" y="2895"/>
                    <a:pt x="4000" y="4000"/>
                  </a:cubicBezTo>
                  <a:lnTo>
                    <a:pt x="4000" y="20000"/>
                  </a:lnTo>
                  <a:cubicBezTo>
                    <a:pt x="4000" y="21105"/>
                    <a:pt x="4895" y="22000"/>
                    <a:pt x="6000" y="22000"/>
                  </a:cubicBezTo>
                  <a:lnTo>
                    <a:pt x="18000" y="22000"/>
                  </a:lnTo>
                  <a:cubicBezTo>
                    <a:pt x="19105" y="22000"/>
                    <a:pt x="20000" y="21105"/>
                    <a:pt x="20000" y="20000"/>
                  </a:cubicBezTo>
                  <a:lnTo>
                    <a:pt x="20000" y="7000"/>
                  </a:lnTo>
                  <a:close/>
                </a:path>
                <a:path w="24000" h="24000" fill="none">
                  <a:moveTo>
                    <a:pt x="14000" y="2000"/>
                  </a:moveTo>
                  <a:lnTo>
                    <a:pt x="14000" y="6000"/>
                  </a:lnTo>
                  <a:cubicBezTo>
                    <a:pt x="14000" y="7105"/>
                    <a:pt x="14895" y="8000"/>
                    <a:pt x="16000" y="8000"/>
                  </a:cubicBezTo>
                  <a:lnTo>
                    <a:pt x="20000" y="8000"/>
                  </a:lnTo>
                </a:path>
                <a:path w="24000" h="24000" fill="none">
                  <a:moveTo>
                    <a:pt x="10000" y="9000"/>
                  </a:moveTo>
                  <a:lnTo>
                    <a:pt x="8000" y="9000"/>
                  </a:lnTo>
                </a:path>
                <a:path w="24000" h="24000" fill="none">
                  <a:moveTo>
                    <a:pt x="16000" y="13000"/>
                  </a:moveTo>
                  <a:lnTo>
                    <a:pt x="8000" y="13000"/>
                  </a:lnTo>
                </a:path>
                <a:path w="24000" h="24000" fill="none">
                  <a:moveTo>
                    <a:pt x="16000" y="17000"/>
                  </a:moveTo>
                  <a:lnTo>
                    <a:pt x="8000" y="17000"/>
                  </a:lnTo>
                </a:path>
              </a:pathLst>
            </a:custGeom>
            <a:noFill/>
            <a:ln w="21627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5" name="BrandDeck Diagram Text 2"/>
            <p:cNvSpPr txBox="1"/>
            <p:nvPr/>
          </p:nvSpPr>
          <p:spPr>
            <a:xfrm>
              <a:off x="6704497" y="2081090"/>
              <a:ext cx="4225527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FFFFFF"/>
                  </a:solidFill>
                  <a:latin typeface="Play"/>
                </a:rPr>
                <a:t>Документы не уходят наружу при обработке запроса.</a:t>
              </a:r>
            </a:p>
          </p:txBody>
        </p:sp>
        <p:sp>
          <p:nvSpPr>
            <p:cNvPr id="476" name="BrandDeck Diagram Card 3"/>
            <p:cNvSpPr/>
            <p:nvPr/>
          </p:nvSpPr>
          <p:spPr>
            <a:xfrm>
              <a:off x="415687" y="3446995"/>
              <a:ext cx="5259559" cy="1282903"/>
            </a:xfrm>
            <a:prstGeom prst="roundRect">
              <a:avLst>
                <a:gd name="adj" fmla="val 8000"/>
              </a:avLst>
            </a:prstGeom>
            <a:solidFill>
              <a:srgbClr val="1A1A1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7" name="BrandDeck Diagram Icon 3 Badge"/>
            <p:cNvSpPr/>
            <p:nvPr/>
          </p:nvSpPr>
          <p:spPr>
            <a:xfrm>
              <a:off x="635143" y="3856724"/>
              <a:ext cx="463445" cy="463445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8" name="BrandDeck Icon circle-check"/>
            <p:cNvSpPr/>
            <p:nvPr/>
          </p:nvSpPr>
          <p:spPr>
            <a:xfrm>
              <a:off x="737101" y="3958682"/>
              <a:ext cx="259529" cy="259529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9000" y="12000"/>
                  </a:moveTo>
                  <a:lnTo>
                    <a:pt x="11000" y="14000"/>
                  </a:lnTo>
                  <a:lnTo>
                    <a:pt x="15000" y="10000"/>
                  </a:lnTo>
                </a:path>
              </a:pathLst>
            </a:custGeom>
            <a:noFill/>
            <a:ln w="21627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9" name="BrandDeck Diagram Text 3"/>
            <p:cNvSpPr txBox="1"/>
            <p:nvPr/>
          </p:nvSpPr>
          <p:spPr>
            <a:xfrm>
              <a:off x="1230262" y="3578669"/>
              <a:ext cx="4225527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FFFFFF"/>
                  </a:solidFill>
                  <a:latin typeface="Play"/>
                </a:rPr>
                <a:t>Инструкция может устареть или не дать подтверждённого ответа.</a:t>
              </a:r>
            </a:p>
          </p:txBody>
        </p:sp>
        <p:sp>
          <p:nvSpPr>
            <p:cNvPr id="480" name="BrandDeck Diagram Card 4"/>
            <p:cNvSpPr/>
            <p:nvPr/>
          </p:nvSpPr>
          <p:spPr>
            <a:xfrm>
              <a:off x="5889921" y="3446995"/>
              <a:ext cx="5259559" cy="1282903"/>
            </a:xfrm>
            <a:prstGeom prst="roundRect">
              <a:avLst>
                <a:gd name="adj" fmla="val 8000"/>
              </a:avLst>
            </a:prstGeom>
            <a:solidFill>
              <a:srgbClr val="1A1A1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1" name="BrandDeck Diagram Icon 4 Badge"/>
            <p:cNvSpPr/>
            <p:nvPr/>
          </p:nvSpPr>
          <p:spPr>
            <a:xfrm>
              <a:off x="6109377" y="3856724"/>
              <a:ext cx="463445" cy="463445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2" name="BrandDeck Icon user"/>
            <p:cNvSpPr/>
            <p:nvPr/>
          </p:nvSpPr>
          <p:spPr>
            <a:xfrm>
              <a:off x="6211335" y="3958682"/>
              <a:ext cx="259529" cy="259529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9000" y="21000"/>
                  </a:moveTo>
                  <a:lnTo>
                    <a:pt x="19000" y="19000"/>
                  </a:lnTo>
                  <a:cubicBezTo>
                    <a:pt x="19000" y="16791"/>
                    <a:pt x="17209" y="15000"/>
                    <a:pt x="15000" y="15000"/>
                  </a:cubicBezTo>
                  <a:lnTo>
                    <a:pt x="9000" y="15000"/>
                  </a:lnTo>
                  <a:cubicBezTo>
                    <a:pt x="6791" y="15000"/>
                    <a:pt x="5000" y="16791"/>
                    <a:pt x="5000" y="19000"/>
                  </a:cubicBezTo>
                  <a:lnTo>
                    <a:pt x="5000" y="21000"/>
                  </a:lnTo>
                </a:path>
                <a:path w="24000" h="24000" fill="none">
                  <a:moveTo>
                    <a:pt x="16000" y="7000"/>
                  </a:moveTo>
                  <a:cubicBezTo>
                    <a:pt x="16000" y="9209"/>
                    <a:pt x="14209" y="11000"/>
                    <a:pt x="12000" y="11000"/>
                  </a:cubicBezTo>
                  <a:cubicBezTo>
                    <a:pt x="9791" y="11000"/>
                    <a:pt x="8000" y="9209"/>
                    <a:pt x="8000" y="7000"/>
                  </a:cubicBezTo>
                  <a:cubicBezTo>
                    <a:pt x="8000" y="4791"/>
                    <a:pt x="9791" y="3000"/>
                    <a:pt x="12000" y="3000"/>
                  </a:cubicBezTo>
                  <a:cubicBezTo>
                    <a:pt x="14209" y="3000"/>
                    <a:pt x="16000" y="4791"/>
                    <a:pt x="16000" y="7000"/>
                  </a:cubicBezTo>
                  <a:close/>
                </a:path>
              </a:pathLst>
            </a:custGeom>
            <a:noFill/>
            <a:ln w="21627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3" name="BrandDeck Diagram Text 4"/>
            <p:cNvSpPr txBox="1"/>
            <p:nvPr/>
          </p:nvSpPr>
          <p:spPr>
            <a:xfrm>
              <a:off x="6704497" y="3578669"/>
              <a:ext cx="4225527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FFFFFF"/>
                  </a:solidFill>
                  <a:latin typeface="Play"/>
                </a:rPr>
                <a:t>В таком случае вопрос передаётся специалисту; ссылку на источник можно проверить.</a:t>
              </a:r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59" name="BrandDeck Text 459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48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sz="3200"/>
              <a:t>Пилот охватит 150 сотрудников двух подразделений за 6 недель</a:t>
            </a:r>
            <a:endParaRPr/>
          </a:p>
        </p:txBody>
      </p:sp>
      <p:sp>
        <p:nvSpPr>
          <p:cNvPr id="460" name="BrandDeck Text 460"/>
          <p:cNvSpPr/>
          <p:nvPr/>
        </p:nvSpPr>
        <p:spPr>
          <a:xfrm>
            <a:off x="7729481" y="1666499"/>
            <a:ext cx="3420000" cy="3525002"/>
          </a:xfrm>
          <a:prstGeom prst="roundRect">
            <a:avLst>
              <a:gd fmla="val 4432" name="adj"/>
            </a:avLst>
          </a:prstGeom>
          <a:solidFill>
            <a:srgbClr val="212121"/>
          </a:solidFill>
          <a:ln>
            <a:noFill/>
          </a:ln>
        </p:spPr>
        <p:txBody>
          <a:bodyPr anchorCtr="0" anchor="t" bIns="45700" lIns="108000" spcFirstLastPara="1" rIns="91425" wrap="square" tIns="108000">
            <a:normAutofit/>
          </a:bodyPr>
          <a:lstStyle/>
          <a:p>
            <a:pPr indent="0" marL="0" marR="0" rtl="0"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2000" b="0">
                <a:solidFill>
                  <a:srgbClr val="0077FF"/>
                </a:solidFill>
                <a:latin typeface="Play"/>
              </a:rPr>
              <a:t>В пилоте проверяются ответы по регламентам и передача вопросов специалисту.</a:t>
            </a:r>
            <a:endParaRPr/>
          </a:p>
        </p:txBody>
      </p:sp>
      <p:sp>
        <p:nvSpPr>
          <p:cNvPr id="461" name="BrandDeck Text 461"/>
          <p:cNvSpPr/>
          <p:nvPr/>
        </p:nvSpPr>
        <p:spPr>
          <a:xfrm>
            <a:off x="4056891" y="1666499"/>
            <a:ext cx="3420000" cy="3525002"/>
          </a:xfrm>
          <a:prstGeom prst="roundRect">
            <a:avLst>
              <a:gd fmla="val 4027" name="adj"/>
            </a:avLst>
          </a:prstGeom>
          <a:solidFill>
            <a:srgbClr val="212121"/>
          </a:solidFill>
          <a:ln>
            <a:noFill/>
          </a:ln>
        </p:spPr>
        <p:txBody>
          <a:bodyPr anchorCtr="0" anchor="t" bIns="45700" lIns="108000" spcFirstLastPara="1" rIns="91425" wrap="square" tIns="108000">
            <a:normAutofit/>
          </a:bodyPr>
          <a:lstStyle/>
          <a:p>
            <a:pPr indent="0" marL="0" marR="0" rtl="0"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2000">
                <a:solidFill>
                  <a:srgbClr val="0077FF"/>
                </a:solidFill>
                <a:latin typeface="Play"/>
              </a:rPr>
              <a:t>Продолжительность пилота — 6 недель.</a:t>
            </a:r>
            <a:endParaRPr/>
          </a:p>
        </p:txBody>
      </p:sp>
      <p:sp>
        <p:nvSpPr>
          <p:cNvPr id="462" name="BrandDeck Text 462"/>
          <p:cNvSpPr/>
          <p:nvPr/>
        </p:nvSpPr>
        <p:spPr>
          <a:xfrm>
            <a:off x="415687" y="1666499"/>
            <a:ext cx="3420000" cy="3525002"/>
          </a:xfrm>
          <a:prstGeom prst="roundRect">
            <a:avLst>
              <a:gd fmla="val 4432" name="adj"/>
            </a:avLst>
          </a:prstGeom>
          <a:solidFill>
            <a:srgbClr val="212121"/>
          </a:solidFill>
          <a:ln>
            <a:noFill/>
          </a:ln>
        </p:spPr>
        <p:txBody>
          <a:bodyPr anchorCtr="0" anchor="t" bIns="45700" lIns="108000" spcFirstLastPara="1" rIns="91425" wrap="square" tIns="108000">
            <a:normAutofit/>
          </a:bodyPr>
          <a:lstStyle/>
          <a:p>
            <a:pPr indent="0" marL="0" marR="0" rtl="0"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2000">
                <a:solidFill>
                  <a:srgbClr val="0077FF"/>
                </a:solidFill>
                <a:latin typeface="Play"/>
              </a:rPr>
              <a:t>Пилот охватывает 2 подразделения и 150 сотрудников.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7" name="BrandDeck Text 547"/>
          <p:cNvSpPr txBox="1"/>
          <p:nvPr>
            <p:ph type="title"/>
          </p:nvPr>
        </p:nvSpPr>
        <p:spPr>
          <a:xfrm>
            <a:off x="429253" y="424691"/>
            <a:ext cx="7827311" cy="626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sz="1800"/>
              <a:t>Успех измерят временем поиска и долей обращений без специалиста</a:t>
            </a:r>
            <a:endParaRPr/>
          </a:p>
        </p:txBody>
      </p:sp>
      <p:sp>
        <p:nvSpPr>
          <p:cNvPr id="548" name="BrandDeck Text 548"/>
          <p:cNvSpPr/>
          <p:nvPr/>
        </p:nvSpPr>
        <p:spPr>
          <a:xfrm>
            <a:off x="5383513" y="860119"/>
            <a:ext cx="5917558" cy="1705685"/>
          </a:xfrm>
          <a:prstGeom prst="roundRect">
            <a:avLst>
              <a:gd fmla="val 9293" name="adj"/>
            </a:avLst>
          </a:prstGeom>
          <a:solidFill>
            <a:srgbClr val="0077FF">
              <a:alpha val="30196"/>
            </a:srgbClr>
          </a:solidFill>
          <a:ln>
            <a:noFill/>
          </a:ln>
        </p:spPr>
        <p:txBody>
          <a:bodyPr anchorCtr="0" anchor="t" bIns="0" lIns="108000" spcFirstLastPara="1" rIns="0" wrap="square" tIns="756000">
            <a:normAutofit/>
          </a:bodyPr>
          <a:lstStyle/>
          <a:p>
            <a:pPr indent="0" marL="0" marR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None/>
            </a:pPr>
            <a:r>
              <a:rPr sz="1800">
                <a:latin typeface="Play"/>
                <a:solidFill>
                  <a:schemeClr val="lt1"/>
                </a:solidFill>
              </a:rPr>
              <a:t>Команда измеряет время поиска ответа.</a:t>
            </a:r>
            <a:endParaRPr/>
          </a:p>
        </p:txBody>
      </p:sp>
      <p:grpSp>
        <p:nvGrpSpPr>
          <p:cNvPr id="549" name="Google Shape;549;p26"/>
          <p:cNvGrpSpPr/>
          <p:nvPr/>
        </p:nvGrpSpPr>
        <p:grpSpPr>
          <a:xfrm>
            <a:off x="5523729" y="996732"/>
            <a:ext cx="515460" cy="515395"/>
            <a:chOff x="5166883" y="996732"/>
            <a:chExt cx="515460" cy="515395"/>
          </a:xfrm>
        </p:grpSpPr>
        <p:sp>
          <p:nvSpPr>
            <p:cNvPr id="550" name="Google Shape;550;p26"/>
            <p:cNvSpPr/>
            <p:nvPr/>
          </p:nvSpPr>
          <p:spPr>
            <a:xfrm>
              <a:off x="5166883" y="996732"/>
              <a:ext cx="515460" cy="515395"/>
            </a:xfrm>
            <a:prstGeom prst="roundRect">
              <a:avLst>
                <a:gd fmla="val 23586" name="adj"/>
              </a:avLst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551" name="Google Shape;551;p2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5291263" y="1117786"/>
              <a:ext cx="266700" cy="2667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52" name="BrandDeck Text 552"/>
          <p:cNvSpPr/>
          <p:nvPr/>
        </p:nvSpPr>
        <p:spPr>
          <a:xfrm>
            <a:off x="5383513" y="2710690"/>
            <a:ext cx="5917558" cy="1705685"/>
          </a:xfrm>
          <a:prstGeom prst="roundRect">
            <a:avLst>
              <a:gd fmla="val 9293" name="adj"/>
            </a:avLst>
          </a:prstGeom>
          <a:solidFill>
            <a:srgbClr val="0077FF">
              <a:alpha val="30196"/>
            </a:srgbClr>
          </a:solidFill>
          <a:ln>
            <a:noFill/>
          </a:ln>
        </p:spPr>
        <p:txBody>
          <a:bodyPr anchorCtr="0" anchor="t" bIns="0" lIns="108000" spcFirstLastPara="1" rIns="0" wrap="square" tIns="756000">
            <a:normAutofit/>
          </a:bodyPr>
          <a:lstStyle/>
          <a:p>
            <a:pPr indent="0" marL="0" marR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None/>
            </a:pPr>
            <a:r>
              <a:rPr sz="1800">
                <a:latin typeface="Play"/>
                <a:solidFill>
                  <a:schemeClr val="lt1"/>
                </a:solidFill>
              </a:rPr>
              <a:t>Также измеряется доля обращений, закрытых без специалиста.</a:t>
            </a:r>
            <a:endParaRPr/>
          </a:p>
        </p:txBody>
      </p:sp>
      <p:grpSp>
        <p:nvGrpSpPr>
          <p:cNvPr id="553" name="Google Shape;553;p26"/>
          <p:cNvGrpSpPr/>
          <p:nvPr/>
        </p:nvGrpSpPr>
        <p:grpSpPr>
          <a:xfrm>
            <a:off x="5523729" y="2847303"/>
            <a:ext cx="515460" cy="515395"/>
            <a:chOff x="5166883" y="996732"/>
            <a:chExt cx="515460" cy="515395"/>
          </a:xfrm>
        </p:grpSpPr>
        <p:sp>
          <p:nvSpPr>
            <p:cNvPr id="554" name="Google Shape;554;p26"/>
            <p:cNvSpPr/>
            <p:nvPr/>
          </p:nvSpPr>
          <p:spPr>
            <a:xfrm>
              <a:off x="5166883" y="996732"/>
              <a:ext cx="515460" cy="515395"/>
            </a:xfrm>
            <a:prstGeom prst="roundRect">
              <a:avLst>
                <a:gd fmla="val 23586" name="adj"/>
              </a:avLst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555" name="Google Shape;555;p2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5291263" y="1117786"/>
              <a:ext cx="266700" cy="2667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56" name="BrandDeck Text 556"/>
          <p:cNvSpPr/>
          <p:nvPr/>
        </p:nvSpPr>
        <p:spPr>
          <a:xfrm>
            <a:off x="5383513" y="4561261"/>
            <a:ext cx="5917558" cy="1705685"/>
          </a:xfrm>
          <a:prstGeom prst="roundRect">
            <a:avLst>
              <a:gd fmla="val 9293" name="adj"/>
            </a:avLst>
          </a:prstGeom>
          <a:solidFill>
            <a:srgbClr val="0077FF">
              <a:alpha val="30196"/>
            </a:srgbClr>
          </a:solidFill>
          <a:ln>
            <a:noFill/>
          </a:ln>
        </p:spPr>
        <p:txBody>
          <a:bodyPr anchorCtr="0" anchor="t" bIns="0" lIns="108000" spcFirstLastPara="1" rIns="0" wrap="square" tIns="756000">
            <a:normAutofit/>
          </a:bodyPr>
          <a:lstStyle/>
          <a:p>
            <a:pPr indent="0" marL="0" marR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None/>
            </a:pPr>
            <a:r>
              <a:rPr sz="1800">
                <a:latin typeface="Play"/>
                <a:solidFill>
                  <a:schemeClr val="lt1"/>
                </a:solidFill>
              </a:rPr>
              <a:t>Целевые значения согласуются до запуска.</a:t>
            </a:r>
            <a:endParaRPr/>
          </a:p>
          <a:p>
            <a:pPr indent="0" marL="0" marR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None/>
            </a:pPr>
            <a:r>
              <a:rPr sz="1800">
                <a:latin typeface="Play"/>
                <a:solidFill>
                  <a:schemeClr val="lt1"/>
                </a:solidFill>
              </a:rPr>
              <a:t>Фактических результатов пилота пока нет.</a:t>
            </a:r>
          </a:p>
        </p:txBody>
      </p:sp>
      <p:grpSp>
        <p:nvGrpSpPr>
          <p:cNvPr id="557" name="Google Shape;557;p26"/>
          <p:cNvGrpSpPr/>
          <p:nvPr/>
        </p:nvGrpSpPr>
        <p:grpSpPr>
          <a:xfrm>
            <a:off x="5523729" y="4697874"/>
            <a:ext cx="515460" cy="515395"/>
            <a:chOff x="5166883" y="996732"/>
            <a:chExt cx="515460" cy="515395"/>
          </a:xfrm>
        </p:grpSpPr>
        <p:sp>
          <p:nvSpPr>
            <p:cNvPr id="558" name="Google Shape;558;p26"/>
            <p:cNvSpPr/>
            <p:nvPr/>
          </p:nvSpPr>
          <p:spPr>
            <a:xfrm>
              <a:off x="5166883" y="996732"/>
              <a:ext cx="515460" cy="515395"/>
            </a:xfrm>
            <a:prstGeom prst="roundRect">
              <a:avLst>
                <a:gd fmla="val 23586" name="adj"/>
              </a:avLst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559" name="Google Shape;559;p2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5291263" y="1117786"/>
              <a:ext cx="266700" cy="2667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41" name="BrandDeck Text 441"/>
          <p:cNvSpPr txBox="1"/>
          <p:nvPr>
            <p:ph type="title"/>
          </p:nvPr>
        </p:nvSpPr>
        <p:spPr>
          <a:xfrm>
            <a:off x="429253" y="424691"/>
            <a:ext cx="7827311" cy="626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sz="2000"/>
              <a:t>Команда из 3 человек подготовит и проверит пилот</a:t>
            </a:r>
            <a:endParaRPr/>
          </a:p>
        </p:txBody>
      </p:sp>
      <p:sp>
        <p:nvSpPr>
          <p:cNvPr id="442" name="BrandDeck Text 442"/>
          <p:cNvSpPr/>
          <p:nvPr/>
        </p:nvSpPr>
        <p:spPr>
          <a:xfrm>
            <a:off x="5383513" y="860119"/>
            <a:ext cx="5917558" cy="1705685"/>
          </a:xfrm>
          <a:prstGeom prst="roundRect">
            <a:avLst>
              <a:gd fmla="val 9293" name="adj"/>
            </a:avLst>
          </a:prstGeom>
          <a:solidFill>
            <a:srgbClr val="151515"/>
          </a:solidFill>
          <a:ln>
            <a:noFill/>
          </a:ln>
        </p:spPr>
        <p:txBody>
          <a:bodyPr anchorCtr="0" anchor="t" bIns="0" lIns="108000" spcFirstLastPara="1" rIns="0" wrap="square" tIns="756000">
            <a:normAutofit/>
          </a:bodyPr>
          <a:lstStyle/>
          <a:p>
            <a:pPr indent="0" marL="0" marR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None/>
            </a:pPr>
            <a:r>
              <a:rPr sz="1800" b="0">
                <a:solidFill>
                  <a:srgbClr val="0077FF"/>
                </a:solidFill>
                <a:latin typeface="Play"/>
              </a:rPr>
              <a:t>Просим одобрить пилот и выделить команду из 3 человек.</a:t>
            </a:r>
            <a:endParaRPr/>
          </a:p>
        </p:txBody>
      </p:sp>
      <p:grpSp>
        <p:nvGrpSpPr>
          <p:cNvPr id="443" name="Google Shape;443;p21"/>
          <p:cNvGrpSpPr/>
          <p:nvPr/>
        </p:nvGrpSpPr>
        <p:grpSpPr>
          <a:xfrm>
            <a:off x="5523729" y="996732"/>
            <a:ext cx="515460" cy="515395"/>
            <a:chOff x="5166883" y="996732"/>
            <a:chExt cx="515460" cy="515395"/>
          </a:xfrm>
        </p:grpSpPr>
        <p:sp>
          <p:nvSpPr>
            <p:cNvPr id="444" name="Google Shape;444;p21"/>
            <p:cNvSpPr/>
            <p:nvPr/>
          </p:nvSpPr>
          <p:spPr>
            <a:xfrm>
              <a:off x="5166883" y="996732"/>
              <a:ext cx="515460" cy="515395"/>
            </a:xfrm>
            <a:prstGeom prst="roundRect">
              <a:avLst>
                <a:gd fmla="val 23586" name="adj"/>
              </a:avLst>
            </a:prstGeom>
            <a:solidFill>
              <a:srgbClr val="21212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45" name="Google Shape;445;p2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5291263" y="1117786"/>
              <a:ext cx="266700" cy="2667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46" name="BrandDeck Text 446"/>
          <p:cNvSpPr/>
          <p:nvPr/>
        </p:nvSpPr>
        <p:spPr>
          <a:xfrm>
            <a:off x="5383513" y="2710690"/>
            <a:ext cx="5917558" cy="1705685"/>
          </a:xfrm>
          <a:prstGeom prst="roundRect">
            <a:avLst>
              <a:gd fmla="val 9293" name="adj"/>
            </a:avLst>
          </a:prstGeom>
          <a:solidFill>
            <a:srgbClr val="151515"/>
          </a:solidFill>
          <a:ln>
            <a:noFill/>
          </a:ln>
        </p:spPr>
        <p:txBody>
          <a:bodyPr anchorCtr="0" anchor="t" bIns="0" lIns="108000" spcFirstLastPara="1" rIns="0" wrap="square" tIns="756000">
            <a:normAutofit/>
          </a:bodyPr>
          <a:lstStyle/>
          <a:p>
            <a:pPr indent="0" marL="0" marR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None/>
            </a:pPr>
            <a:r>
              <a:rPr sz="1800" b="0">
                <a:solidFill>
                  <a:srgbClr val="0077FF"/>
                </a:solidFill>
                <a:latin typeface="Play"/>
              </a:rPr>
              <a:t>Команда готовит инструкции, проверяет ответы и сопровождает запуск.</a:t>
            </a:r>
            <a:endParaRPr/>
          </a:p>
        </p:txBody>
      </p:sp>
      <p:grpSp>
        <p:nvGrpSpPr>
          <p:cNvPr id="447" name="Google Shape;447;p21"/>
          <p:cNvGrpSpPr/>
          <p:nvPr/>
        </p:nvGrpSpPr>
        <p:grpSpPr>
          <a:xfrm>
            <a:off x="5523729" y="2847303"/>
            <a:ext cx="515460" cy="515395"/>
            <a:chOff x="5166883" y="996732"/>
            <a:chExt cx="515460" cy="515395"/>
          </a:xfrm>
        </p:grpSpPr>
        <p:sp>
          <p:nvSpPr>
            <p:cNvPr id="448" name="Google Shape;448;p21"/>
            <p:cNvSpPr/>
            <p:nvPr/>
          </p:nvSpPr>
          <p:spPr>
            <a:xfrm>
              <a:off x="5166883" y="996732"/>
              <a:ext cx="515460" cy="515395"/>
            </a:xfrm>
            <a:prstGeom prst="roundRect">
              <a:avLst>
                <a:gd fmla="val 23586" name="adj"/>
              </a:avLst>
            </a:prstGeom>
            <a:solidFill>
              <a:srgbClr val="21212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49" name="Google Shape;449;p2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5291263" y="1117786"/>
              <a:ext cx="266700" cy="2667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50" name="BrandDeck Text 450"/>
          <p:cNvSpPr/>
          <p:nvPr/>
        </p:nvSpPr>
        <p:spPr>
          <a:xfrm>
            <a:off x="5383513" y="4561261"/>
            <a:ext cx="5917558" cy="1705685"/>
          </a:xfrm>
          <a:prstGeom prst="roundRect">
            <a:avLst>
              <a:gd fmla="val 9293" name="adj"/>
            </a:avLst>
          </a:prstGeom>
          <a:solidFill>
            <a:srgbClr val="151515"/>
          </a:solidFill>
          <a:ln>
            <a:noFill/>
          </a:ln>
        </p:spPr>
        <p:txBody>
          <a:bodyPr anchorCtr="0" anchor="t" bIns="0" lIns="108000" spcFirstLastPara="1" rIns="0" wrap="square" tIns="756000">
            <a:normAutofit/>
          </a:bodyPr>
          <a:lstStyle/>
          <a:p>
            <a:pPr indent="0" marL="0" marR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None/>
            </a:pPr>
            <a:r>
              <a:rPr sz="1800" b="0">
                <a:solidFill>
                  <a:srgbClr val="0077FF"/>
                </a:solidFill>
                <a:latin typeface="Play"/>
              </a:rPr>
              <a:t>Дальнейшее использование решается после измерения результатов и обратной связи.</a:t>
            </a:r>
            <a:endParaRPr/>
          </a:p>
        </p:txBody>
      </p:sp>
      <p:grpSp>
        <p:nvGrpSpPr>
          <p:cNvPr id="451" name="Google Shape;451;p21"/>
          <p:cNvGrpSpPr/>
          <p:nvPr/>
        </p:nvGrpSpPr>
        <p:grpSpPr>
          <a:xfrm>
            <a:off x="5523729" y="4697874"/>
            <a:ext cx="515460" cy="515395"/>
            <a:chOff x="5166883" y="996732"/>
            <a:chExt cx="515460" cy="515395"/>
          </a:xfrm>
        </p:grpSpPr>
        <p:sp>
          <p:nvSpPr>
            <p:cNvPr id="452" name="Google Shape;452;p21"/>
            <p:cNvSpPr/>
            <p:nvPr/>
          </p:nvSpPr>
          <p:spPr>
            <a:xfrm>
              <a:off x="5166883" y="996732"/>
              <a:ext cx="515460" cy="515395"/>
            </a:xfrm>
            <a:prstGeom prst="roundRect">
              <a:avLst>
                <a:gd fmla="val 23586" name="adj"/>
              </a:avLst>
            </a:prstGeom>
            <a:solidFill>
              <a:srgbClr val="21212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53" name="Google Shape;453;p2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5291263" y="1117786"/>
              <a:ext cx="266700" cy="2667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80" name="BrandDeck Text 880"/>
          <p:cNvSpPr txBox="1"/>
          <p:nvPr>
            <p:ph type="title"/>
          </p:nvPr>
        </p:nvSpPr>
        <p:spPr>
          <a:xfrm>
            <a:off x="429253" y="2291422"/>
            <a:ext cx="7827335" cy="1876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810"/>
              </a:spcAft>
              <a:buClr>
                <a:schemeClr val="lt1"/>
              </a:buClr>
              <a:buSzPts val="5400"/>
              <a:buFont typeface="Play"/>
              <a:buNone/>
            </a:pPr>
            <a:r>
              <a:rPr sz="5400"/>
              <a:t>Спасибо</a:t>
            </a:r>
            <a:endParaRPr/>
          </a:p>
        </p:txBody>
      </p:sp>
      <p:sp>
        <p:nvSpPr>
          <p:cNvPr id="882" name="BrandDeck Text 882"/>
          <p:cNvSpPr txBox="1"/>
          <p:nvPr/>
        </p:nvSpPr>
        <p:spPr>
          <a:xfrm>
            <a:off x="1510259" y="4567906"/>
            <a:ext cx="2213844" cy="8342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marR="0" rtl="0" algn="l">
              <a:lnSpc>
                <a:spcPct val="115000"/>
              </a:lnSpc>
              <a:spcBef>
                <a:spcPts val="0"/>
              </a:spcBef>
              <a:spcAft>
                <a:spcPts val="240"/>
              </a:spcAft>
              <a:buClr>
                <a:srgbClr val="AFB8C2"/>
              </a:buClr>
              <a:buSzPts val="1600"/>
              <a:buFont typeface="Play"/>
              <a:buNone/>
            </a:pPr>
            <a:r>
              <a:rPr sz="1600" b="0">
                <a:solidFill>
                  <a:srgbClr val="AFB8C2"/>
                </a:solidFill>
                <a:latin typeface="Play"/>
              </a:rPr>
              <a:t>Вопросы?</a:t>
            </a:r>
            <a:endParaRPr b="0" i="0" sz="1600">
              <a:solidFill>
                <a:srgbClr val="AFB8C2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Контентные">
  <a:themeElements>
    <a:clrScheme name="VK Tech 2024">
      <a:dk1>
        <a:srgbClr val="000000"/>
      </a:dk1>
      <a:lt1>
        <a:srgbClr val="FFFFFF"/>
      </a:lt1>
      <a:dk2>
        <a:srgbClr val="0077FF"/>
      </a:dk2>
      <a:lt2>
        <a:srgbClr val="FFFFFF"/>
      </a:lt2>
      <a:accent1>
        <a:srgbClr val="0077FF"/>
      </a:accent1>
      <a:accent2>
        <a:srgbClr val="00E9FF"/>
      </a:accent2>
      <a:accent3>
        <a:srgbClr val="AAFBFF"/>
      </a:accent3>
      <a:accent4>
        <a:srgbClr val="EDF3FC"/>
      </a:accent4>
      <a:accent5>
        <a:srgbClr val="7C8A9A"/>
      </a:accent5>
      <a:accent6>
        <a:srgbClr val="202020"/>
      </a:accent6>
      <a:hlink>
        <a:srgbClr val="0077FF"/>
      </a:hlink>
      <a:folHlink>
        <a:srgbClr val="00E9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Пилот ИИ-помощника по внутренним регламентам</dc:title>
  <cp:lastModifiedBy/>
  <cp:revision>1</cp:revision>
  <dcterms:modified xsi:type="dcterms:W3CDTF">2026-09-27T16:58:29Z</dcterms:modified>
  <dc:subject>Template-adaptive presentation</dc:subject>
  <cp:keywords>BrandDeck, template-adaptive, presentation</cp:keywords>
  <dc:creator/>
  <dc:description/>
</cp:coreProperties>
</file>