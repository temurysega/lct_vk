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3"/>
  </p:notesMasterIdLst>
  <p:sldIdLst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3" Type="http://schemas.openxmlformats.org/officeDocument/2006/relationships/notesMaster" Target="notesMasters/notesMaster1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e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"/>
    </a:lvl1pPr>
  </p:notesStyle>
</p:notesMaster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pt169_brutalism_field_guid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pt169_brutalism_field_guid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8ccba3a41b3b1a86.png"/><Relationship Id="rId3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04c2bf7f81f67f3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Line 3"/>
          <p:cNvSpPr/>
          <p:nvPr/>
        </p:nvSpPr>
        <p:spPr>
          <a:xfrm>
            <a:off x="457200" y="60960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1428750"/>
            <a:ext cx="121920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5" name="Line 5"/>
          <p:cNvSpPr/>
          <p:nvPr/>
        </p:nvSpPr>
        <p:spPr>
          <a:xfrm>
            <a:off x="457200" y="645795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sp>
        <p:nvSpPr>
          <p:cNvPr id="35" name="BrandDeck Title"/>
          <p:cNvSpPr txBox="1"/>
          <p:nvPr/>
        </p:nvSpPr>
        <p:spPr>
          <a:xfrm>
            <a:off x="3127248" y="411480"/>
            <a:ext cx="593445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 b="1">
                <a:solidFill>
                  <a:srgbClr val="1C1A17"/>
                </a:solidFill>
                <a:latin typeface="Consolas"/>
              </a:rPr>
              <a:t>Пилот ИИ-помощника по внутренним регламентам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Line 3"/>
          <p:cNvSpPr/>
          <p:nvPr/>
        </p:nvSpPr>
        <p:spPr>
          <a:xfrm>
            <a:off x="457200" y="60960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1428750"/>
            <a:ext cx="121920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6" name="Line 6"/>
          <p:cNvSpPr/>
          <p:nvPr/>
        </p:nvSpPr>
        <p:spPr>
          <a:xfrm>
            <a:off x="457200" y="645795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sp>
        <p:nvSpPr>
          <p:cNvPr id="37" name="BrandDeck Title"/>
          <p:cNvSpPr txBox="1"/>
          <p:nvPr/>
        </p:nvSpPr>
        <p:spPr>
          <a:xfrm>
            <a:off x="3127248" y="411480"/>
            <a:ext cx="593445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 b="1">
                <a:solidFill>
                  <a:srgbClr val="1C1A17"/>
                </a:solidFill>
                <a:latin typeface="Consolas"/>
              </a:rPr>
              <a:t>Поиск инструкции занимает до 30 минут, треть обращений повторяется</a:t>
            </a:r>
          </a:p>
        </p:txBody>
      </p:sp>
      <p:grpSp>
        <p:nvGrpSpPr>
          <p:cNvPr id="38" name="BrandDeck Diagram icon_grid" descr="icon_grid: Сотрудник тратит до 30 минут на поиск нужной инструкции.; Регламенты находятся в нескольких источниках, и поиск отвлекает от основной работы.; Треть обращений в поддержку — повторяющиеся вопросы.; Специалисты снова тратят время на поиск одного и того же ответа."/>
          <p:cNvGrpSpPr/>
          <p:nvPr/>
        </p:nvGrpSpPr>
        <p:grpSpPr>
          <a:xfrm>
            <a:off x="3127248" y="1280160"/>
            <a:ext cx="2889504" cy="5166358"/>
            <a:chOff x="3127248" y="1280160"/>
            <a:chExt cx="2889504" cy="5166358"/>
          </a:xfrm>
        </p:grpSpPr>
        <p:sp>
          <p:nvSpPr>
            <p:cNvPr id="39" name="BrandDeck Diagram Card 1"/>
            <p:cNvSpPr/>
            <p:nvPr/>
          </p:nvSpPr>
          <p:spPr>
            <a:xfrm>
              <a:off x="3127248" y="1280160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BrandDeck Diagram Icon 1 Badge"/>
            <p:cNvSpPr/>
            <p:nvPr/>
          </p:nvSpPr>
          <p:spPr>
            <a:xfrm>
              <a:off x="3329513" y="1701926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BrandDeck Icon users"/>
            <p:cNvSpPr/>
            <p:nvPr/>
          </p:nvSpPr>
          <p:spPr>
            <a:xfrm>
              <a:off x="3409980" y="1782394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BrandDeck Diagram Text 1"/>
            <p:cNvSpPr txBox="1"/>
            <p:nvPr/>
          </p:nvSpPr>
          <p:spPr>
            <a:xfrm>
              <a:off x="3816632" y="1401519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Сотрудник тратит до 30 минут на поиск нужной инструкции.</a:t>
              </a:r>
            </a:p>
          </p:txBody>
        </p:sp>
        <p:sp>
          <p:nvSpPr>
            <p:cNvPr id="43" name="BrandDeck Diagram Card 2"/>
            <p:cNvSpPr/>
            <p:nvPr/>
          </p:nvSpPr>
          <p:spPr>
            <a:xfrm>
              <a:off x="3127248" y="2599182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BrandDeck Diagram Icon 2 Badge"/>
            <p:cNvSpPr/>
            <p:nvPr/>
          </p:nvSpPr>
          <p:spPr>
            <a:xfrm>
              <a:off x="3329513" y="3020948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BrandDeck Icon file-text"/>
            <p:cNvSpPr/>
            <p:nvPr/>
          </p:nvSpPr>
          <p:spPr>
            <a:xfrm>
              <a:off x="3409980" y="3101416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BrandDeck Diagram Text 2"/>
            <p:cNvSpPr txBox="1"/>
            <p:nvPr/>
          </p:nvSpPr>
          <p:spPr>
            <a:xfrm>
              <a:off x="3816632" y="2720541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Регламенты находятся в нескольких источниках, и поиск отвлекает от основной работы.</a:t>
              </a:r>
            </a:p>
          </p:txBody>
        </p:sp>
        <p:sp>
          <p:nvSpPr>
            <p:cNvPr id="47" name="BrandDeck Diagram Card 3"/>
            <p:cNvSpPr/>
            <p:nvPr/>
          </p:nvSpPr>
          <p:spPr>
            <a:xfrm>
              <a:off x="3127248" y="3918204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BrandDeck Diagram Icon 3 Badge"/>
            <p:cNvSpPr/>
            <p:nvPr/>
          </p:nvSpPr>
          <p:spPr>
            <a:xfrm>
              <a:off x="3329513" y="4339971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BrandDeck Icon headset"/>
            <p:cNvSpPr/>
            <p:nvPr/>
          </p:nvSpPr>
          <p:spPr>
            <a:xfrm>
              <a:off x="3409980" y="4420438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11000"/>
                  </a:moveTo>
                  <a:lnTo>
                    <a:pt x="6000" y="11000"/>
                  </a:lnTo>
                  <a:cubicBezTo>
                    <a:pt x="7105" y="11000"/>
                    <a:pt x="8000" y="11895"/>
                    <a:pt x="8000" y="13000"/>
                  </a:cubicBezTo>
                  <a:lnTo>
                    <a:pt x="8000" y="16000"/>
                  </a:lnTo>
                  <a:cubicBezTo>
                    <a:pt x="8000" y="17105"/>
                    <a:pt x="7105" y="18000"/>
                    <a:pt x="6000" y="18000"/>
                  </a:cubicBezTo>
                  <a:lnTo>
                    <a:pt x="5000" y="18000"/>
                  </a:lnTo>
                  <a:cubicBezTo>
                    <a:pt x="3895" y="18000"/>
                    <a:pt x="3000" y="17105"/>
                    <a:pt x="3000" y="16000"/>
                  </a:cubicBezTo>
                  <a:lnTo>
                    <a:pt x="3000" y="11000"/>
                  </a:lnTo>
                  <a:close/>
                  <a:moveTo>
                    <a:pt x="3000" y="11000"/>
                  </a:moveTo>
                  <a:cubicBezTo>
                    <a:pt x="3000" y="6029"/>
                    <a:pt x="7029" y="2000"/>
                    <a:pt x="12000" y="2000"/>
                  </a:cubicBezTo>
                  <a:cubicBezTo>
                    <a:pt x="16971" y="2000"/>
                    <a:pt x="21000" y="6029"/>
                    <a:pt x="21000" y="11000"/>
                  </a:cubicBezTo>
                  <a:moveTo>
                    <a:pt x="21000" y="11000"/>
                  </a:moveTo>
                  <a:lnTo>
                    <a:pt x="21000" y="16000"/>
                  </a:lnTo>
                  <a:cubicBezTo>
                    <a:pt x="21000" y="17105"/>
                    <a:pt x="20105" y="18000"/>
                    <a:pt x="19000" y="18000"/>
                  </a:cubicBezTo>
                  <a:lnTo>
                    <a:pt x="18000" y="18000"/>
                  </a:lnTo>
                  <a:cubicBezTo>
                    <a:pt x="16895" y="18000"/>
                    <a:pt x="16000" y="17105"/>
                    <a:pt x="16000" y="16000"/>
                  </a:cubicBezTo>
                  <a:lnTo>
                    <a:pt x="16000" y="13000"/>
                  </a:lnTo>
                  <a:cubicBezTo>
                    <a:pt x="16000" y="11895"/>
                    <a:pt x="16895" y="11000"/>
                    <a:pt x="18000" y="11000"/>
                  </a:cubicBezTo>
                  <a:lnTo>
                    <a:pt x="21000" y="11000"/>
                  </a:lnTo>
                  <a:close/>
                </a:path>
                <a:path w="24000" h="24000" fill="none">
                  <a:moveTo>
                    <a:pt x="21000" y="16000"/>
                  </a:moveTo>
                  <a:lnTo>
                    <a:pt x="21000" y="18000"/>
                  </a:lnTo>
                  <a:cubicBezTo>
                    <a:pt x="21000" y="20209"/>
                    <a:pt x="19209" y="22000"/>
                    <a:pt x="17000" y="22000"/>
                  </a:cubicBezTo>
                  <a:lnTo>
                    <a:pt x="12000" y="22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BrandDeck Diagram Text 3"/>
            <p:cNvSpPr txBox="1"/>
            <p:nvPr/>
          </p:nvSpPr>
          <p:spPr>
            <a:xfrm>
              <a:off x="3816632" y="4039563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1">
                  <a:solidFill>
                    <a:srgbClr val="1C1A17"/>
                  </a:solidFill>
                  <a:latin typeface="Consolas"/>
                </a:rPr>
                <a:t>Треть обращений в поддержку —</a:t>
              </a:r>
              <a:r>
                <a:rPr sz="1200" b="0">
                  <a:solidFill>
                    <a:srgbClr val="1C1A17"/>
                  </a:solidFill>
                  <a:latin typeface="Consolas"/>
                </a:rPr>
                <a:t> повторяющиеся вопросы.</a:t>
              </a:r>
            </a:p>
          </p:txBody>
        </p:sp>
        <p:sp>
          <p:nvSpPr>
            <p:cNvPr id="51" name="BrandDeck Diagram Card 4"/>
            <p:cNvSpPr/>
            <p:nvPr/>
          </p:nvSpPr>
          <p:spPr>
            <a:xfrm>
              <a:off x="3127248" y="5237225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BrandDeck Diagram Icon 4 Badge"/>
            <p:cNvSpPr/>
            <p:nvPr/>
          </p:nvSpPr>
          <p:spPr>
            <a:xfrm>
              <a:off x="3329513" y="5658992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BrandDeck Icon user"/>
            <p:cNvSpPr/>
            <p:nvPr/>
          </p:nvSpPr>
          <p:spPr>
            <a:xfrm>
              <a:off x="3409980" y="5739460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BrandDeck Diagram Text 4"/>
            <p:cNvSpPr txBox="1"/>
            <p:nvPr/>
          </p:nvSpPr>
          <p:spPr>
            <a:xfrm>
              <a:off x="3816632" y="5358585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Специалисты снова тратят время на поиск одного и того же ответа.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Line 3"/>
          <p:cNvSpPr/>
          <p:nvPr/>
        </p:nvSpPr>
        <p:spPr>
          <a:xfrm>
            <a:off x="457200" y="60960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txBody>
          <a:bodyPr/>
          <a:p/>
        </p:txBody>
      </p:sp>
      <p:sp>
        <p:nvSpPr>
          <p:cNvPr id="25" name="BrandDeck Title"/>
          <p:cNvSpPr txBox="1"/>
          <p:nvPr/>
        </p:nvSpPr>
        <p:spPr>
          <a:xfrm>
            <a:off x="3127248" y="411480"/>
            <a:ext cx="593445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 b="1">
                <a:solidFill>
                  <a:srgbClr val="1C1A17"/>
                </a:solidFill>
                <a:latin typeface="Consolas"/>
              </a:rPr>
              <a:t>Сотруднику нужен источник ответа, специалисту — контекст вопроса</a:t>
            </a:r>
          </a:p>
        </p:txBody>
      </p:sp>
      <p:sp>
        <p:nvSpPr>
          <p:cNvPr id="26" name="BrandDeck Body"/>
          <p:cNvSpPr txBox="1"/>
          <p:nvPr/>
        </p:nvSpPr>
        <p:spPr>
          <a:xfrm>
            <a:off x="3127248" y="1280160"/>
            <a:ext cx="1143365" cy="5166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79"/>
              </a:spcAft>
            </a:pPr>
            <a:r>
              <a:rPr sz="1200">
                <a:solidFill>
                  <a:srgbClr val="1C1A17"/>
                </a:solidFill>
                <a:latin typeface="Consolas"/>
              </a:rPr>
              <a:t>• Сотруднику нужен понятный ответ со ссылкой на документ-источник.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79"/>
              </a:spcAft>
            </a:pPr>
            <a:r>
              <a:rPr sz="1200">
                <a:solidFill>
                  <a:srgbClr val="1C1A17"/>
                </a:solidFill>
                <a:latin typeface="Consolas"/>
              </a:rPr>
              <a:t>• Специалисту нужен контекст вопроса, если автоматического ответа недостаточно.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79"/>
              </a:spcAft>
            </a:pPr>
            <a:r>
              <a:rPr sz="1200">
                <a:solidFill>
                  <a:srgbClr val="1C1A17"/>
                </a:solidFill>
                <a:latin typeface="Consolas"/>
              </a:rPr>
              <a:t>• Передача вопроса вместе с контекстом избавляет сотрудника от повторного объяснения.</a:t>
            </a:r>
          </a:p>
        </p:txBody>
      </p:sp>
      <p:pic>
        <p:nvPicPr>
          <p:cNvPr id="27" name="BrandDeck Image" descr="02 сотрудник специалист поддержки"/>
          <p:cNvPicPr>
            <a:picLocks noChangeAspect="1"/>
          </p:cNvPicPr>
          <p:nvPr/>
        </p:nvPicPr>
        <p:blipFill>
          <a:blip r:embed="rId3"/>
          <a:srcRect l="41884" r="41884"/>
          <a:stretch>
            <a:fillRect/>
          </a:stretch>
        </p:blipFill>
        <p:spPr>
          <a:xfrm>
            <a:off x="4526645" y="1280160"/>
            <a:ext cx="1490106" cy="516635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Line 3"/>
          <p:cNvSpPr/>
          <p:nvPr/>
        </p:nvSpPr>
        <p:spPr>
          <a:xfrm>
            <a:off x="457200" y="60960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1428750"/>
            <a:ext cx="121920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5" name="Line 5"/>
          <p:cNvSpPr/>
          <p:nvPr/>
        </p:nvSpPr>
        <p:spPr>
          <a:xfrm>
            <a:off x="457200" y="645795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sp>
        <p:nvSpPr>
          <p:cNvPr id="29" name="BrandDeck Title"/>
          <p:cNvSpPr txBox="1"/>
          <p:nvPr/>
        </p:nvSpPr>
        <p:spPr>
          <a:xfrm>
            <a:off x="3127248" y="411480"/>
            <a:ext cx="593445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 b="1">
                <a:solidFill>
                  <a:srgbClr val="1C1A17"/>
                </a:solidFill>
                <a:latin typeface="Consolas"/>
              </a:rPr>
              <a:t>ИИ-помощник отвечает по регламентам и передаёт сложные вопросы специалисту</a:t>
            </a:r>
          </a:p>
        </p:txBody>
      </p:sp>
      <p:grpSp>
        <p:nvGrpSpPr>
          <p:cNvPr id="30" name="BrandDeck Diagram icon_grid" descr="icon_grid: ИИ-помощник работает во внутреннем портале компании.; Он принимает вопрос сотрудника и ищет подходящий регламент.; Ответ сопровождается ссылкой на документ-источник.; Если подтверждённого ответа нет, вопрос принимает специалист поддержки."/>
          <p:cNvGrpSpPr/>
          <p:nvPr/>
        </p:nvGrpSpPr>
        <p:grpSpPr>
          <a:xfrm>
            <a:off x="3127248" y="1280160"/>
            <a:ext cx="2889504" cy="5166358"/>
            <a:chOff x="3127248" y="1280160"/>
            <a:chExt cx="2889504" cy="5166358"/>
          </a:xfrm>
        </p:grpSpPr>
        <p:sp>
          <p:nvSpPr>
            <p:cNvPr id="31" name="BrandDeck Diagram Card 1"/>
            <p:cNvSpPr/>
            <p:nvPr/>
          </p:nvSpPr>
          <p:spPr>
            <a:xfrm>
              <a:off x="3127248" y="1280160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BrandDeck Diagram Icon 1 Badge"/>
            <p:cNvSpPr/>
            <p:nvPr/>
          </p:nvSpPr>
          <p:spPr>
            <a:xfrm>
              <a:off x="3329513" y="1701926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BrandDeck Icon building"/>
            <p:cNvSpPr/>
            <p:nvPr/>
          </p:nvSpPr>
          <p:spPr>
            <a:xfrm>
              <a:off x="3409980" y="1782394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2000"/>
                  </a:moveTo>
                  <a:lnTo>
                    <a:pt x="18000" y="2000"/>
                  </a:lnTo>
                  <a:cubicBezTo>
                    <a:pt x="19105" y="2000"/>
                    <a:pt x="20000" y="2895"/>
                    <a:pt x="20000" y="4000"/>
                  </a:cubicBezTo>
                  <a:lnTo>
                    <a:pt x="20000" y="20000"/>
                  </a:lnTo>
                  <a:cubicBezTo>
                    <a:pt x="20000" y="21105"/>
                    <a:pt x="19105" y="22000"/>
                    <a:pt x="18000" y="22000"/>
                  </a:cubicBezTo>
                  <a:lnTo>
                    <a:pt x="6000" y="22000"/>
                  </a:lnTo>
                  <a:cubicBezTo>
                    <a:pt x="4895" y="22000"/>
                    <a:pt x="4000" y="21105"/>
                    <a:pt x="4000" y="20000"/>
                  </a:cubicBezTo>
                  <a:lnTo>
                    <a:pt x="4000" y="4000"/>
                  </a:lnTo>
                  <a:cubicBezTo>
                    <a:pt x="4000" y="2895"/>
                    <a:pt x="4895" y="2000"/>
                    <a:pt x="6000" y="2000"/>
                  </a:cubicBezTo>
                  <a:close/>
                </a:path>
                <a:path w="24000" h="24000" fill="none">
                  <a:moveTo>
                    <a:pt x="9000" y="22000"/>
                  </a:moveTo>
                  <a:lnTo>
                    <a:pt x="9000" y="18000"/>
                  </a:lnTo>
                  <a:lnTo>
                    <a:pt x="15000" y="18000"/>
                  </a:lnTo>
                  <a:lnTo>
                    <a:pt x="15000" y="22000"/>
                  </a:lnTo>
                </a:path>
                <a:path w="24000" h="24000" fill="none">
                  <a:moveTo>
                    <a:pt x="8000" y="6000"/>
                  </a:moveTo>
                  <a:lnTo>
                    <a:pt x="8010" y="6000"/>
                  </a:lnTo>
                </a:path>
                <a:path w="24000" h="24000" fill="none">
                  <a:moveTo>
                    <a:pt x="16000" y="6000"/>
                  </a:moveTo>
                  <a:lnTo>
                    <a:pt x="16010" y="6000"/>
                  </a:lnTo>
                </a:path>
                <a:path w="24000" h="24000" fill="none">
                  <a:moveTo>
                    <a:pt x="12000" y="6000"/>
                  </a:moveTo>
                  <a:lnTo>
                    <a:pt x="12010" y="6000"/>
                  </a:lnTo>
                </a:path>
                <a:path w="24000" h="24000" fill="none">
                  <a:moveTo>
                    <a:pt x="12000" y="10000"/>
                  </a:moveTo>
                  <a:lnTo>
                    <a:pt x="12010" y="10000"/>
                  </a:lnTo>
                </a:path>
                <a:path w="24000" h="24000" fill="none">
                  <a:moveTo>
                    <a:pt x="12000" y="14000"/>
                  </a:moveTo>
                  <a:lnTo>
                    <a:pt x="12010" y="14000"/>
                  </a:lnTo>
                </a:path>
                <a:path w="24000" h="24000" fill="none">
                  <a:moveTo>
                    <a:pt x="16000" y="10000"/>
                  </a:moveTo>
                  <a:lnTo>
                    <a:pt x="16010" y="10000"/>
                  </a:lnTo>
                </a:path>
                <a:path w="24000" h="24000" fill="none">
                  <a:moveTo>
                    <a:pt x="16000" y="14000"/>
                  </a:moveTo>
                  <a:lnTo>
                    <a:pt x="16010" y="14000"/>
                  </a:lnTo>
                </a:path>
                <a:path w="24000" h="24000" fill="none">
                  <a:moveTo>
                    <a:pt x="8000" y="10000"/>
                  </a:moveTo>
                  <a:lnTo>
                    <a:pt x="8010" y="10000"/>
                  </a:lnTo>
                </a:path>
                <a:path w="24000" h="24000" fill="none">
                  <a:moveTo>
                    <a:pt x="8000" y="14000"/>
                  </a:moveTo>
                  <a:lnTo>
                    <a:pt x="8010" y="14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BrandDeck Diagram Text 1"/>
            <p:cNvSpPr txBox="1"/>
            <p:nvPr/>
          </p:nvSpPr>
          <p:spPr>
            <a:xfrm>
              <a:off x="3816632" y="1401519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ИИ-помощник работает во внутреннем портале компании.</a:t>
              </a:r>
            </a:p>
          </p:txBody>
        </p:sp>
        <p:sp>
          <p:nvSpPr>
            <p:cNvPr id="35" name="BrandDeck Diagram Card 2"/>
            <p:cNvSpPr/>
            <p:nvPr/>
          </p:nvSpPr>
          <p:spPr>
            <a:xfrm>
              <a:off x="3127248" y="2599182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BrandDeck Diagram Icon 2 Badge"/>
            <p:cNvSpPr/>
            <p:nvPr/>
          </p:nvSpPr>
          <p:spPr>
            <a:xfrm>
              <a:off x="3329513" y="3020948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BrandDeck Icon circle-help"/>
            <p:cNvSpPr/>
            <p:nvPr/>
          </p:nvSpPr>
          <p:spPr>
            <a:xfrm>
              <a:off x="3409980" y="3101416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90" y="9000"/>
                  </a:moveTo>
                  <a:cubicBezTo>
                    <a:pt x="9575" y="7620"/>
                    <a:pt x="10985" y="6791"/>
                    <a:pt x="12427" y="7039"/>
                  </a:cubicBezTo>
                  <a:cubicBezTo>
                    <a:pt x="13869" y="7286"/>
                    <a:pt x="14922" y="8537"/>
                    <a:pt x="14920" y="10000"/>
                  </a:cubicBezTo>
                  <a:cubicBezTo>
                    <a:pt x="14920" y="12000"/>
                    <a:pt x="11920" y="13000"/>
                    <a:pt x="11920" y="13000"/>
                  </a:cubicBezTo>
                </a:path>
                <a:path w="24000" h="24000" fill="none">
                  <a:moveTo>
                    <a:pt x="12000" y="17000"/>
                  </a:moveTo>
                  <a:lnTo>
                    <a:pt x="12010" y="17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BrandDeck Diagram Text 2"/>
            <p:cNvSpPr txBox="1"/>
            <p:nvPr/>
          </p:nvSpPr>
          <p:spPr>
            <a:xfrm>
              <a:off x="3816632" y="2720541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Он принимает вопрос сотрудника и ищет подходящий регламент.</a:t>
              </a:r>
            </a:p>
          </p:txBody>
        </p:sp>
        <p:sp>
          <p:nvSpPr>
            <p:cNvPr id="39" name="BrandDeck Diagram Card 3"/>
            <p:cNvSpPr/>
            <p:nvPr/>
          </p:nvSpPr>
          <p:spPr>
            <a:xfrm>
              <a:off x="3127248" y="3918204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BrandDeck Diagram Icon 3 Badge"/>
            <p:cNvSpPr/>
            <p:nvPr/>
          </p:nvSpPr>
          <p:spPr>
            <a:xfrm>
              <a:off x="3329513" y="4339971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BrandDeck Icon file-text"/>
            <p:cNvSpPr/>
            <p:nvPr/>
          </p:nvSpPr>
          <p:spPr>
            <a:xfrm>
              <a:off x="3409980" y="4420438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BrandDeck Diagram Text 3"/>
            <p:cNvSpPr txBox="1"/>
            <p:nvPr/>
          </p:nvSpPr>
          <p:spPr>
            <a:xfrm>
              <a:off x="3816632" y="4039563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Ответ сопровождается ссылкой на документ-источник.</a:t>
              </a:r>
            </a:p>
          </p:txBody>
        </p:sp>
        <p:sp>
          <p:nvSpPr>
            <p:cNvPr id="43" name="BrandDeck Diagram Card 4"/>
            <p:cNvSpPr/>
            <p:nvPr/>
          </p:nvSpPr>
          <p:spPr>
            <a:xfrm>
              <a:off x="3127248" y="5237225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BrandDeck Diagram Icon 4 Badge"/>
            <p:cNvSpPr/>
            <p:nvPr/>
          </p:nvSpPr>
          <p:spPr>
            <a:xfrm>
              <a:off x="3329513" y="5658992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BrandDeck Icon circle-check"/>
            <p:cNvSpPr/>
            <p:nvPr/>
          </p:nvSpPr>
          <p:spPr>
            <a:xfrm>
              <a:off x="3409980" y="5739460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BrandDeck Diagram Text 4"/>
            <p:cNvSpPr txBox="1"/>
            <p:nvPr/>
          </p:nvSpPr>
          <p:spPr>
            <a:xfrm>
              <a:off x="3816632" y="5358585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Если подтверждённого ответа нет, вопрос принимает специалист поддержки.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Line 3"/>
          <p:cNvSpPr/>
          <p:nvPr/>
        </p:nvSpPr>
        <p:spPr>
          <a:xfrm>
            <a:off x="457200" y="60960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1428750"/>
            <a:ext cx="121920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6" name="Line 6"/>
          <p:cNvSpPr/>
          <p:nvPr/>
        </p:nvSpPr>
        <p:spPr>
          <a:xfrm>
            <a:off x="457200" y="645795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sp>
        <p:nvSpPr>
          <p:cNvPr id="38" name="BrandDeck Title"/>
          <p:cNvSpPr txBox="1"/>
          <p:nvPr/>
        </p:nvSpPr>
        <p:spPr>
          <a:xfrm>
            <a:off x="3127248" y="411480"/>
            <a:ext cx="593445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 b="1">
                <a:solidFill>
                  <a:srgbClr val="1C1A17"/>
                </a:solidFill>
                <a:latin typeface="Consolas"/>
              </a:rPr>
              <a:t>Вопрос проходит путь от портала до ответа со ссылкой или эскалации</a:t>
            </a:r>
          </a:p>
        </p:txBody>
      </p:sp>
      <p:grpSp>
        <p:nvGrpSpPr>
          <p:cNvPr id="39" name="BrandDeck Diagram icon_grid" descr="icon_grid: Сотрудник задаёт вопрос во внутреннем портале.; Помощник ищет ответ в регламентах и показывает источник.; При отсутствии подтверждённого ответа вопрос передаётся специалисту.; Специалист получает контекст исходного обращения."/>
          <p:cNvGrpSpPr/>
          <p:nvPr/>
        </p:nvGrpSpPr>
        <p:grpSpPr>
          <a:xfrm>
            <a:off x="3127248" y="1280160"/>
            <a:ext cx="2889504" cy="5166358"/>
            <a:chOff x="3127248" y="1280160"/>
            <a:chExt cx="2889504" cy="5166358"/>
          </a:xfrm>
        </p:grpSpPr>
        <p:sp>
          <p:nvSpPr>
            <p:cNvPr id="40" name="BrandDeck Diagram Card 1"/>
            <p:cNvSpPr/>
            <p:nvPr/>
          </p:nvSpPr>
          <p:spPr>
            <a:xfrm>
              <a:off x="3127248" y="1280160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BrandDeck Diagram Icon 1 Badge"/>
            <p:cNvSpPr/>
            <p:nvPr/>
          </p:nvSpPr>
          <p:spPr>
            <a:xfrm>
              <a:off x="3329513" y="1701926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BrandDeck Icon users"/>
            <p:cNvSpPr/>
            <p:nvPr/>
          </p:nvSpPr>
          <p:spPr>
            <a:xfrm>
              <a:off x="3409980" y="1782394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BrandDeck Diagram Text 1"/>
            <p:cNvSpPr txBox="1"/>
            <p:nvPr/>
          </p:nvSpPr>
          <p:spPr>
            <a:xfrm>
              <a:off x="3816632" y="1401519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Сотрудник задаёт вопрос во внутреннем портале.</a:t>
              </a:r>
            </a:p>
          </p:txBody>
        </p:sp>
        <p:sp>
          <p:nvSpPr>
            <p:cNvPr id="44" name="BrandDeck Diagram Card 2"/>
            <p:cNvSpPr/>
            <p:nvPr/>
          </p:nvSpPr>
          <p:spPr>
            <a:xfrm>
              <a:off x="3127248" y="2599182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BrandDeck Diagram Icon 2 Badge"/>
            <p:cNvSpPr/>
            <p:nvPr/>
          </p:nvSpPr>
          <p:spPr>
            <a:xfrm>
              <a:off x="3329513" y="3020948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BrandDeck Icon life-buoy"/>
            <p:cNvSpPr/>
            <p:nvPr/>
          </p:nvSpPr>
          <p:spPr>
            <a:xfrm>
              <a:off x="3409980" y="3101416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4930" y="4930"/>
                  </a:moveTo>
                  <a:lnTo>
                    <a:pt x="9170" y="9170"/>
                  </a:lnTo>
                </a:path>
                <a:path w="24000" h="24000" fill="none">
                  <a:moveTo>
                    <a:pt x="14830" y="9170"/>
                  </a:moveTo>
                  <a:lnTo>
                    <a:pt x="19070" y="4930"/>
                  </a:lnTo>
                </a:path>
                <a:path w="24000" h="24000" fill="none">
                  <a:moveTo>
                    <a:pt x="14830" y="14830"/>
                  </a:moveTo>
                  <a:lnTo>
                    <a:pt x="19070" y="19070"/>
                  </a:lnTo>
                </a:path>
                <a:path w="24000" h="24000" fill="none">
                  <a:moveTo>
                    <a:pt x="9170" y="14830"/>
                  </a:moveTo>
                  <a:lnTo>
                    <a:pt x="4930" y="19070"/>
                  </a:lnTo>
                </a:path>
                <a:path w="24000" h="24000" fill="none">
                  <a:moveTo>
                    <a:pt x="16000" y="12000"/>
                  </a:moveTo>
                  <a:cubicBezTo>
                    <a:pt x="16000" y="14209"/>
                    <a:pt x="14209" y="16000"/>
                    <a:pt x="12000" y="16000"/>
                  </a:cubicBezTo>
                  <a:cubicBezTo>
                    <a:pt x="9791" y="16000"/>
                    <a:pt x="8000" y="14209"/>
                    <a:pt x="8000" y="12000"/>
                  </a:cubicBezTo>
                  <a:cubicBezTo>
                    <a:pt x="8000" y="9791"/>
                    <a:pt x="9791" y="8000"/>
                    <a:pt x="12000" y="8000"/>
                  </a:cubicBezTo>
                  <a:cubicBezTo>
                    <a:pt x="14209" y="8000"/>
                    <a:pt x="16000" y="9791"/>
                    <a:pt x="16000" y="12000"/>
                  </a:cubicBezTo>
                  <a:close/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BrandDeck Diagram Text 2"/>
            <p:cNvSpPr txBox="1"/>
            <p:nvPr/>
          </p:nvSpPr>
          <p:spPr>
            <a:xfrm>
              <a:off x="3816632" y="2720541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Помощник ищет ответ в регламентах и показывает источник.</a:t>
              </a:r>
            </a:p>
          </p:txBody>
        </p:sp>
        <p:sp>
          <p:nvSpPr>
            <p:cNvPr id="48" name="BrandDeck Diagram Card 3"/>
            <p:cNvSpPr/>
            <p:nvPr/>
          </p:nvSpPr>
          <p:spPr>
            <a:xfrm>
              <a:off x="3127248" y="3918204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BrandDeck Diagram Icon 3 Badge"/>
            <p:cNvSpPr/>
            <p:nvPr/>
          </p:nvSpPr>
          <p:spPr>
            <a:xfrm>
              <a:off x="3329513" y="4339971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BrandDeck Icon circle-check"/>
            <p:cNvSpPr/>
            <p:nvPr/>
          </p:nvSpPr>
          <p:spPr>
            <a:xfrm>
              <a:off x="3409980" y="4420438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BrandDeck Diagram Text 3"/>
            <p:cNvSpPr txBox="1"/>
            <p:nvPr/>
          </p:nvSpPr>
          <p:spPr>
            <a:xfrm>
              <a:off x="3816632" y="4039563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При отсутствии подтверждённого ответа вопрос передаётся специалисту.</a:t>
              </a:r>
            </a:p>
          </p:txBody>
        </p:sp>
        <p:sp>
          <p:nvSpPr>
            <p:cNvPr id="52" name="BrandDeck Diagram Card 4"/>
            <p:cNvSpPr/>
            <p:nvPr/>
          </p:nvSpPr>
          <p:spPr>
            <a:xfrm>
              <a:off x="3127248" y="5237225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BrandDeck Diagram Icon 4 Badge"/>
            <p:cNvSpPr/>
            <p:nvPr/>
          </p:nvSpPr>
          <p:spPr>
            <a:xfrm>
              <a:off x="3329513" y="5658992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BrandDeck Icon user"/>
            <p:cNvSpPr/>
            <p:nvPr/>
          </p:nvSpPr>
          <p:spPr>
            <a:xfrm>
              <a:off x="3409980" y="5739460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BrandDeck Diagram Text 4"/>
            <p:cNvSpPr txBox="1"/>
            <p:nvPr/>
          </p:nvSpPr>
          <p:spPr>
            <a:xfrm>
              <a:off x="3816632" y="5358585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Специалист получает контекст исходного обращения.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Line 3"/>
          <p:cNvSpPr/>
          <p:nvPr/>
        </p:nvSpPr>
        <p:spPr>
          <a:xfrm>
            <a:off x="457200" y="60960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1428750"/>
            <a:ext cx="121920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6" name="Line 6"/>
          <p:cNvSpPr/>
          <p:nvPr/>
        </p:nvSpPr>
        <p:spPr>
          <a:xfrm>
            <a:off x="457200" y="645795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sp>
        <p:nvSpPr>
          <p:cNvPr id="37" name="BrandDeck Title"/>
          <p:cNvSpPr txBox="1"/>
          <p:nvPr/>
        </p:nvSpPr>
        <p:spPr>
          <a:xfrm>
            <a:off x="3127248" y="411480"/>
            <a:ext cx="593445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7"/>
              </a:spcAft>
            </a:pPr>
            <a:r>
              <a:rPr sz="1650" b="1">
                <a:solidFill>
                  <a:srgbClr val="1C1A17"/>
                </a:solidFill>
                <a:latin typeface="Consolas"/>
              </a:rPr>
              <a:t>Документы остаются внутри контура, неподтверждённый ответ проверяет специалист</a:t>
            </a:r>
          </a:p>
        </p:txBody>
      </p:sp>
      <p:grpSp>
        <p:nvGrpSpPr>
          <p:cNvPr id="38" name="BrandDeck Diagram icon_grid" descr="icon_grid: Модель с открытыми весами работает внутри контура компании.; Документы не уходят наружу при обработке запроса.; Инструкция может устареть или не дать подтверждённого ответа.; В таком случае вопрос передаётся специалисту; ссылку на источник можно проверить."/>
          <p:cNvGrpSpPr/>
          <p:nvPr/>
        </p:nvGrpSpPr>
        <p:grpSpPr>
          <a:xfrm>
            <a:off x="3127248" y="1280160"/>
            <a:ext cx="2889504" cy="5166358"/>
            <a:chOff x="3127248" y="1280160"/>
            <a:chExt cx="2889504" cy="5166358"/>
          </a:xfrm>
        </p:grpSpPr>
        <p:sp>
          <p:nvSpPr>
            <p:cNvPr id="39" name="BrandDeck Diagram Card 1"/>
            <p:cNvSpPr/>
            <p:nvPr/>
          </p:nvSpPr>
          <p:spPr>
            <a:xfrm>
              <a:off x="3127248" y="1280160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BrandDeck Diagram Icon 1 Badge"/>
            <p:cNvSpPr/>
            <p:nvPr/>
          </p:nvSpPr>
          <p:spPr>
            <a:xfrm>
              <a:off x="3329513" y="1701926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BrandDeck Icon brain"/>
            <p:cNvSpPr/>
            <p:nvPr/>
          </p:nvSpPr>
          <p:spPr>
            <a:xfrm>
              <a:off x="3409980" y="1782394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000" y="5000"/>
                  </a:moveTo>
                  <a:cubicBezTo>
                    <a:pt x="12003" y="3911"/>
                    <a:pt x="11416" y="2906"/>
                    <a:pt x="10466" y="2374"/>
                  </a:cubicBezTo>
                  <a:cubicBezTo>
                    <a:pt x="9516" y="1842"/>
                    <a:pt x="8353" y="1866"/>
                    <a:pt x="7426" y="2437"/>
                  </a:cubicBezTo>
                  <a:cubicBezTo>
                    <a:pt x="6499" y="3009"/>
                    <a:pt x="5954" y="4037"/>
                    <a:pt x="6003" y="5125"/>
                  </a:cubicBezTo>
                  <a:cubicBezTo>
                    <a:pt x="4812" y="5431"/>
                    <a:pt x="3828" y="6268"/>
                    <a:pt x="3335" y="7395"/>
                  </a:cubicBezTo>
                  <a:cubicBezTo>
                    <a:pt x="2842" y="8521"/>
                    <a:pt x="2894" y="9812"/>
                    <a:pt x="3477" y="10895"/>
                  </a:cubicBezTo>
                  <a:cubicBezTo>
                    <a:pt x="2450" y="11729"/>
                    <a:pt x="1902" y="13018"/>
                    <a:pt x="2013" y="14336"/>
                  </a:cubicBezTo>
                  <a:cubicBezTo>
                    <a:pt x="2125" y="15654"/>
                    <a:pt x="2881" y="16833"/>
                    <a:pt x="4033" y="17483"/>
                  </a:cubicBezTo>
                  <a:cubicBezTo>
                    <a:pt x="3842" y="18961"/>
                    <a:pt x="4488" y="20422"/>
                    <a:pt x="5710" y="21275"/>
                  </a:cubicBezTo>
                  <a:cubicBezTo>
                    <a:pt x="6931" y="22128"/>
                    <a:pt x="8526" y="22232"/>
                    <a:pt x="9847" y="21544"/>
                  </a:cubicBezTo>
                  <a:cubicBezTo>
                    <a:pt x="11169" y="20856"/>
                    <a:pt x="11998" y="19490"/>
                    <a:pt x="12000" y="18000"/>
                  </a:cubicBezTo>
                  <a:close/>
                </a:path>
                <a:path w="24000" h="24000" fill="none">
                  <a:moveTo>
                    <a:pt x="12000" y="5000"/>
                  </a:moveTo>
                  <a:cubicBezTo>
                    <a:pt x="11997" y="3911"/>
                    <a:pt x="12584" y="2906"/>
                    <a:pt x="13534" y="2374"/>
                  </a:cubicBezTo>
                  <a:cubicBezTo>
                    <a:pt x="14484" y="1842"/>
                    <a:pt x="15647" y="1866"/>
                    <a:pt x="16574" y="2437"/>
                  </a:cubicBezTo>
                  <a:cubicBezTo>
                    <a:pt x="17501" y="3009"/>
                    <a:pt x="18046" y="4037"/>
                    <a:pt x="17997" y="5125"/>
                  </a:cubicBezTo>
                  <a:cubicBezTo>
                    <a:pt x="19188" y="5431"/>
                    <a:pt x="20172" y="6268"/>
                    <a:pt x="20665" y="7395"/>
                  </a:cubicBezTo>
                  <a:cubicBezTo>
                    <a:pt x="21158" y="8521"/>
                    <a:pt x="21106" y="9812"/>
                    <a:pt x="20523" y="10895"/>
                  </a:cubicBezTo>
                  <a:cubicBezTo>
                    <a:pt x="21550" y="11729"/>
                    <a:pt x="22098" y="13018"/>
                    <a:pt x="21987" y="14336"/>
                  </a:cubicBezTo>
                  <a:cubicBezTo>
                    <a:pt x="21875" y="15654"/>
                    <a:pt x="21119" y="16833"/>
                    <a:pt x="19967" y="17483"/>
                  </a:cubicBezTo>
                  <a:cubicBezTo>
                    <a:pt x="20158" y="18961"/>
                    <a:pt x="19512" y="20422"/>
                    <a:pt x="18290" y="21275"/>
                  </a:cubicBezTo>
                  <a:cubicBezTo>
                    <a:pt x="17069" y="22128"/>
                    <a:pt x="15474" y="22232"/>
                    <a:pt x="14153" y="21544"/>
                  </a:cubicBezTo>
                  <a:cubicBezTo>
                    <a:pt x="12831" y="20856"/>
                    <a:pt x="12002" y="19490"/>
                    <a:pt x="12000" y="18000"/>
                  </a:cubicBezTo>
                  <a:close/>
                </a:path>
                <a:path w="24000" h="24000" fill="none">
                  <a:moveTo>
                    <a:pt x="15000" y="13000"/>
                  </a:moveTo>
                  <a:cubicBezTo>
                    <a:pt x="13283" y="12396"/>
                    <a:pt x="12099" y="10817"/>
                    <a:pt x="12000" y="9000"/>
                  </a:cubicBezTo>
                  <a:cubicBezTo>
                    <a:pt x="11901" y="10817"/>
                    <a:pt x="10717" y="12396"/>
                    <a:pt x="9000" y="13000"/>
                  </a:cubicBezTo>
                </a:path>
                <a:path w="24000" h="24000" fill="none">
                  <a:moveTo>
                    <a:pt x="17599" y="6500"/>
                  </a:moveTo>
                  <a:cubicBezTo>
                    <a:pt x="17841" y="6081"/>
                    <a:pt x="17978" y="5609"/>
                    <a:pt x="17998" y="5125"/>
                  </a:cubicBezTo>
                </a:path>
                <a:path w="24000" h="24000" fill="none">
                  <a:moveTo>
                    <a:pt x="6003" y="5125"/>
                  </a:moveTo>
                  <a:cubicBezTo>
                    <a:pt x="6023" y="5609"/>
                    <a:pt x="6159" y="6080"/>
                    <a:pt x="6401" y="6500"/>
                  </a:cubicBezTo>
                </a:path>
                <a:path w="24000" h="24000" fill="none">
                  <a:moveTo>
                    <a:pt x="3477" y="10896"/>
                  </a:moveTo>
                  <a:cubicBezTo>
                    <a:pt x="3660" y="10747"/>
                    <a:pt x="3856" y="10614"/>
                    <a:pt x="4062" y="10500"/>
                  </a:cubicBezTo>
                </a:path>
                <a:path w="24000" h="24000" fill="none">
                  <a:moveTo>
                    <a:pt x="19938" y="10500"/>
                  </a:moveTo>
                  <a:cubicBezTo>
                    <a:pt x="20144" y="10614"/>
                    <a:pt x="20340" y="10747"/>
                    <a:pt x="20523" y="10896"/>
                  </a:cubicBezTo>
                </a:path>
                <a:path w="24000" h="24000" fill="none">
                  <a:moveTo>
                    <a:pt x="6000" y="18000"/>
                  </a:moveTo>
                  <a:cubicBezTo>
                    <a:pt x="5311" y="18000"/>
                    <a:pt x="4633" y="17823"/>
                    <a:pt x="4033" y="17484"/>
                  </a:cubicBezTo>
                </a:path>
                <a:path w="24000" h="24000" fill="none">
                  <a:moveTo>
                    <a:pt x="19967" y="17484"/>
                  </a:moveTo>
                  <a:cubicBezTo>
                    <a:pt x="19367" y="17823"/>
                    <a:pt x="18689" y="18000"/>
                    <a:pt x="18000" y="18000"/>
                  </a:cubicBez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BrandDeck Diagram Text 1"/>
            <p:cNvSpPr txBox="1"/>
            <p:nvPr/>
          </p:nvSpPr>
          <p:spPr>
            <a:xfrm>
              <a:off x="3816632" y="1401519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Модель с открытыми весами работает внутри контура компании.</a:t>
              </a:r>
            </a:p>
          </p:txBody>
        </p:sp>
        <p:sp>
          <p:nvSpPr>
            <p:cNvPr id="43" name="BrandDeck Diagram Card 2"/>
            <p:cNvSpPr/>
            <p:nvPr/>
          </p:nvSpPr>
          <p:spPr>
            <a:xfrm>
              <a:off x="3127248" y="2599182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BrandDeck Diagram Icon 2 Badge"/>
            <p:cNvSpPr/>
            <p:nvPr/>
          </p:nvSpPr>
          <p:spPr>
            <a:xfrm>
              <a:off x="3329513" y="3020948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BrandDeck Icon file-text"/>
            <p:cNvSpPr/>
            <p:nvPr/>
          </p:nvSpPr>
          <p:spPr>
            <a:xfrm>
              <a:off x="3409980" y="3101416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BrandDeck Diagram Text 2"/>
            <p:cNvSpPr txBox="1"/>
            <p:nvPr/>
          </p:nvSpPr>
          <p:spPr>
            <a:xfrm>
              <a:off x="3816632" y="2720541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Документы не уходят наружу при обработке запроса.</a:t>
              </a:r>
            </a:p>
          </p:txBody>
        </p:sp>
        <p:sp>
          <p:nvSpPr>
            <p:cNvPr id="47" name="BrandDeck Diagram Card 3"/>
            <p:cNvSpPr/>
            <p:nvPr/>
          </p:nvSpPr>
          <p:spPr>
            <a:xfrm>
              <a:off x="3127248" y="3918204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BrandDeck Diagram Icon 3 Badge"/>
            <p:cNvSpPr/>
            <p:nvPr/>
          </p:nvSpPr>
          <p:spPr>
            <a:xfrm>
              <a:off x="3329513" y="4339971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BrandDeck Icon circle-check"/>
            <p:cNvSpPr/>
            <p:nvPr/>
          </p:nvSpPr>
          <p:spPr>
            <a:xfrm>
              <a:off x="3409980" y="4420438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BrandDeck Diagram Text 3"/>
            <p:cNvSpPr txBox="1"/>
            <p:nvPr/>
          </p:nvSpPr>
          <p:spPr>
            <a:xfrm>
              <a:off x="3816632" y="4039563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Инструкция может устареть или не дать подтверждённого ответа.</a:t>
              </a:r>
            </a:p>
          </p:txBody>
        </p:sp>
        <p:sp>
          <p:nvSpPr>
            <p:cNvPr id="51" name="BrandDeck Diagram Card 4"/>
            <p:cNvSpPr/>
            <p:nvPr/>
          </p:nvSpPr>
          <p:spPr>
            <a:xfrm>
              <a:off x="3127248" y="5237225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BrandDeck Diagram Icon 4 Badge"/>
            <p:cNvSpPr/>
            <p:nvPr/>
          </p:nvSpPr>
          <p:spPr>
            <a:xfrm>
              <a:off x="3329513" y="5658992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BrandDeck Icon user"/>
            <p:cNvSpPr/>
            <p:nvPr/>
          </p:nvSpPr>
          <p:spPr>
            <a:xfrm>
              <a:off x="3409980" y="5739460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BrandDeck Diagram Text 4"/>
            <p:cNvSpPr txBox="1"/>
            <p:nvPr/>
          </p:nvSpPr>
          <p:spPr>
            <a:xfrm>
              <a:off x="3816632" y="5358585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В таком случае вопрос передаётся специалисту; ссылку на источник можно проверить.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Line 3"/>
          <p:cNvSpPr/>
          <p:nvPr/>
        </p:nvSpPr>
        <p:spPr>
          <a:xfrm>
            <a:off x="457200" y="60960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1428750"/>
            <a:ext cx="121920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5" name="Line 5"/>
          <p:cNvSpPr/>
          <p:nvPr/>
        </p:nvSpPr>
        <p:spPr>
          <a:xfrm>
            <a:off x="457200" y="645795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sp>
        <p:nvSpPr>
          <p:cNvPr id="35" name="BrandDeck Title"/>
          <p:cNvSpPr txBox="1"/>
          <p:nvPr/>
        </p:nvSpPr>
        <p:spPr>
          <a:xfrm>
            <a:off x="3127248" y="411480"/>
            <a:ext cx="593445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 b="1">
                <a:solidFill>
                  <a:srgbClr val="1C1A17"/>
                </a:solidFill>
                <a:latin typeface="Consolas"/>
              </a:rPr>
              <a:t>Пилот охватит 150 сотрудников двух подразделений за 6 недель</a:t>
            </a:r>
          </a:p>
        </p:txBody>
      </p:sp>
      <p:grpSp>
        <p:nvGrpSpPr>
          <p:cNvPr id="36" name="BrandDeck Diagram icon_grid" descr="icon_grid: Пилот охватывает 2 подразделения и 150 сотрудников.; Продолжительность пилота — 6 недель.; В пилоте проверяются ответы по регламентам и передача вопросов специалисту."/>
          <p:cNvGrpSpPr/>
          <p:nvPr/>
        </p:nvGrpSpPr>
        <p:grpSpPr>
          <a:xfrm>
            <a:off x="3127248" y="1280160"/>
            <a:ext cx="2889504" cy="5166358"/>
            <a:chOff x="3127248" y="1280160"/>
            <a:chExt cx="2889504" cy="5166358"/>
          </a:xfrm>
        </p:grpSpPr>
        <p:sp>
          <p:nvSpPr>
            <p:cNvPr id="37" name="BrandDeck Diagram Card 1"/>
            <p:cNvSpPr/>
            <p:nvPr/>
          </p:nvSpPr>
          <p:spPr>
            <a:xfrm>
              <a:off x="3127248" y="1280160"/>
              <a:ext cx="2889504" cy="1648967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BrandDeck Diagram Icon 1 Badge"/>
            <p:cNvSpPr/>
            <p:nvPr/>
          </p:nvSpPr>
          <p:spPr>
            <a:xfrm>
              <a:off x="3329513" y="1482425"/>
              <a:ext cx="461711" cy="461711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BrandDeck Icon rocket"/>
            <p:cNvSpPr/>
            <p:nvPr/>
          </p:nvSpPr>
          <p:spPr>
            <a:xfrm>
              <a:off x="3431089" y="1584001"/>
              <a:ext cx="258558" cy="25855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500" y="16500"/>
                  </a:moveTo>
                  <a:cubicBezTo>
                    <a:pt x="3000" y="17760"/>
                    <a:pt x="2500" y="21500"/>
                    <a:pt x="2500" y="21500"/>
                  </a:cubicBezTo>
                  <a:cubicBezTo>
                    <a:pt x="2500" y="21500"/>
                    <a:pt x="6240" y="21000"/>
                    <a:pt x="7500" y="19500"/>
                  </a:cubicBezTo>
                  <a:cubicBezTo>
                    <a:pt x="8210" y="18660"/>
                    <a:pt x="8200" y="17370"/>
                    <a:pt x="7410" y="16590"/>
                  </a:cubicBezTo>
                  <a:cubicBezTo>
                    <a:pt x="6605" y="15822"/>
                    <a:pt x="5351" y="15783"/>
                    <a:pt x="4500" y="16500"/>
                  </a:cubicBezTo>
                  <a:close/>
                </a:path>
                <a:path w="24000" h="24000" fill="none">
                  <a:moveTo>
                    <a:pt x="12000" y="15000"/>
                  </a:moveTo>
                  <a:lnTo>
                    <a:pt x="9000" y="12000"/>
                  </a:lnTo>
                  <a:cubicBezTo>
                    <a:pt x="9532" y="10619"/>
                    <a:pt x="10202" y="9296"/>
                    <a:pt x="11000" y="8050"/>
                  </a:cubicBezTo>
                  <a:cubicBezTo>
                    <a:pt x="13369" y="4262"/>
                    <a:pt x="17532" y="1972"/>
                    <a:pt x="22000" y="2000"/>
                  </a:cubicBezTo>
                  <a:cubicBezTo>
                    <a:pt x="22000" y="4720"/>
                    <a:pt x="21220" y="9500"/>
                    <a:pt x="16000" y="13000"/>
                  </a:cubicBezTo>
                  <a:cubicBezTo>
                    <a:pt x="14737" y="13799"/>
                    <a:pt x="13397" y="14469"/>
                    <a:pt x="12000" y="15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4000" y="12000"/>
                  </a:lnTo>
                  <a:cubicBezTo>
                    <a:pt x="4000" y="12000"/>
                    <a:pt x="4550" y="8970"/>
                    <a:pt x="6000" y="8000"/>
                  </a:cubicBezTo>
                  <a:cubicBezTo>
                    <a:pt x="7620" y="6920"/>
                    <a:pt x="11000" y="8000"/>
                    <a:pt x="11000" y="8000"/>
                  </a:cubicBezTo>
                </a:path>
                <a:path w="24000" h="24000" fill="none">
                  <a:moveTo>
                    <a:pt x="12000" y="15000"/>
                  </a:moveTo>
                  <a:lnTo>
                    <a:pt x="12000" y="20000"/>
                  </a:lnTo>
                  <a:cubicBezTo>
                    <a:pt x="12000" y="20000"/>
                    <a:pt x="15030" y="19450"/>
                    <a:pt x="16000" y="18000"/>
                  </a:cubicBezTo>
                  <a:cubicBezTo>
                    <a:pt x="17080" y="16380"/>
                    <a:pt x="16000" y="13000"/>
                    <a:pt x="16000" y="13000"/>
                  </a:cubicBezTo>
                </a:path>
              </a:pathLst>
            </a:custGeom>
            <a:noFill/>
            <a:ln w="21546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BrandDeck Diagram Text 1"/>
            <p:cNvSpPr txBox="1"/>
            <p:nvPr/>
          </p:nvSpPr>
          <p:spPr>
            <a:xfrm>
              <a:off x="3268833" y="2085722"/>
              <a:ext cx="2606332" cy="742273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Пилот охватывает 2 подразделения и 150 сотрудников.</a:t>
              </a:r>
            </a:p>
          </p:txBody>
        </p:sp>
        <p:sp>
          <p:nvSpPr>
            <p:cNvPr id="41" name="BrandDeck Diagram Card 2"/>
            <p:cNvSpPr/>
            <p:nvPr/>
          </p:nvSpPr>
          <p:spPr>
            <a:xfrm>
              <a:off x="3127248" y="3038855"/>
              <a:ext cx="2889504" cy="1648967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BrandDeck Diagram Icon 2 Badge"/>
            <p:cNvSpPr/>
            <p:nvPr/>
          </p:nvSpPr>
          <p:spPr>
            <a:xfrm>
              <a:off x="3329513" y="3241121"/>
              <a:ext cx="461711" cy="461711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BrandDeck Icon hourglass"/>
            <p:cNvSpPr/>
            <p:nvPr/>
          </p:nvSpPr>
          <p:spPr>
            <a:xfrm>
              <a:off x="3431089" y="3342697"/>
              <a:ext cx="258558" cy="25855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5000" y="22000"/>
                  </a:moveTo>
                  <a:lnTo>
                    <a:pt x="19000" y="22000"/>
                  </a:lnTo>
                </a:path>
                <a:path w="24000" h="24000" fill="none">
                  <a:moveTo>
                    <a:pt x="5000" y="2000"/>
                  </a:moveTo>
                  <a:lnTo>
                    <a:pt x="19000" y="2000"/>
                  </a:lnTo>
                </a:path>
                <a:path w="24000" h="24000" fill="none">
                  <a:moveTo>
                    <a:pt x="17000" y="22000"/>
                  </a:moveTo>
                  <a:lnTo>
                    <a:pt x="17000" y="17828"/>
                  </a:lnTo>
                  <a:cubicBezTo>
                    <a:pt x="17000" y="17298"/>
                    <a:pt x="16789" y="16789"/>
                    <a:pt x="16414" y="16414"/>
                  </a:cubicBezTo>
                  <a:lnTo>
                    <a:pt x="12000" y="12000"/>
                  </a:lnTo>
                  <a:lnTo>
                    <a:pt x="7586" y="16414"/>
                  </a:lnTo>
                  <a:cubicBezTo>
                    <a:pt x="7211" y="16789"/>
                    <a:pt x="7000" y="17298"/>
                    <a:pt x="7000" y="17828"/>
                  </a:cubicBezTo>
                  <a:lnTo>
                    <a:pt x="7000" y="22000"/>
                  </a:lnTo>
                </a:path>
                <a:path w="24000" h="24000" fill="none">
                  <a:moveTo>
                    <a:pt x="7000" y="2000"/>
                  </a:moveTo>
                  <a:lnTo>
                    <a:pt x="7000" y="6172"/>
                  </a:lnTo>
                  <a:cubicBezTo>
                    <a:pt x="7000" y="6702"/>
                    <a:pt x="7211" y="7211"/>
                    <a:pt x="7586" y="7586"/>
                  </a:cubicBezTo>
                  <a:lnTo>
                    <a:pt x="12000" y="12000"/>
                  </a:lnTo>
                  <a:lnTo>
                    <a:pt x="16414" y="7586"/>
                  </a:lnTo>
                  <a:cubicBezTo>
                    <a:pt x="16789" y="7211"/>
                    <a:pt x="17000" y="6702"/>
                    <a:pt x="17000" y="6172"/>
                  </a:cubicBezTo>
                  <a:lnTo>
                    <a:pt x="17000" y="2000"/>
                  </a:lnTo>
                </a:path>
              </a:pathLst>
            </a:custGeom>
            <a:noFill/>
            <a:ln w="21546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BrandDeck Diagram Text 2"/>
            <p:cNvSpPr txBox="1"/>
            <p:nvPr/>
          </p:nvSpPr>
          <p:spPr>
            <a:xfrm>
              <a:off x="3268833" y="3844418"/>
              <a:ext cx="2606332" cy="742273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1">
                  <a:solidFill>
                    <a:srgbClr val="1C1A17"/>
                  </a:solidFill>
                  <a:latin typeface="Consolas"/>
                </a:rPr>
                <a:t>Продолжительность пилота —</a:t>
              </a:r>
              <a:r>
                <a:rPr sz="1200" b="0">
                  <a:solidFill>
                    <a:srgbClr val="1C1A17"/>
                  </a:solidFill>
                  <a:latin typeface="Consolas"/>
                </a:rPr>
                <a:t> 6 недель.</a:t>
              </a:r>
            </a:p>
          </p:txBody>
        </p:sp>
        <p:sp>
          <p:nvSpPr>
            <p:cNvPr id="45" name="BrandDeck Diagram Card 3"/>
            <p:cNvSpPr/>
            <p:nvPr/>
          </p:nvSpPr>
          <p:spPr>
            <a:xfrm>
              <a:off x="3127248" y="4797551"/>
              <a:ext cx="2889504" cy="1648967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BrandDeck Diagram Icon 3 Badge"/>
            <p:cNvSpPr/>
            <p:nvPr/>
          </p:nvSpPr>
          <p:spPr>
            <a:xfrm>
              <a:off x="3329513" y="4999817"/>
              <a:ext cx="461711" cy="461711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BrandDeck Icon user"/>
            <p:cNvSpPr/>
            <p:nvPr/>
          </p:nvSpPr>
          <p:spPr>
            <a:xfrm>
              <a:off x="3431089" y="5101393"/>
              <a:ext cx="258558" cy="25855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1546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BrandDeck Diagram Text 3"/>
            <p:cNvSpPr txBox="1"/>
            <p:nvPr/>
          </p:nvSpPr>
          <p:spPr>
            <a:xfrm>
              <a:off x="3268833" y="5603114"/>
              <a:ext cx="2606332" cy="742273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В пилоте проверяются ответы по регламентам и передача вопросов специалисту.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Line 3"/>
          <p:cNvSpPr/>
          <p:nvPr/>
        </p:nvSpPr>
        <p:spPr>
          <a:xfrm>
            <a:off x="457200" y="60960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1428750"/>
            <a:ext cx="121920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5" name="Line 5"/>
          <p:cNvSpPr/>
          <p:nvPr/>
        </p:nvSpPr>
        <p:spPr>
          <a:xfrm>
            <a:off x="457200" y="645795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sp>
        <p:nvSpPr>
          <p:cNvPr id="35" name="BrandDeck Title"/>
          <p:cNvSpPr txBox="1"/>
          <p:nvPr/>
        </p:nvSpPr>
        <p:spPr>
          <a:xfrm>
            <a:off x="3127248" y="411480"/>
            <a:ext cx="593445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 b="1">
                <a:solidFill>
                  <a:srgbClr val="1C1A17"/>
                </a:solidFill>
                <a:latin typeface="Consolas"/>
              </a:rPr>
              <a:t>Успех измерят временем поиска и долей обращений без специалиста</a:t>
            </a:r>
          </a:p>
        </p:txBody>
      </p:sp>
      <p:grpSp>
        <p:nvGrpSpPr>
          <p:cNvPr id="36" name="BrandDeck Diagram icon_grid" descr="icon_grid: Команда измеряет время поиска ответа.; Также измеряется доля обращений, закрытых без специалиста.; Целевые значения согласуются до запуска.; Фактических результатов пилота пока нет."/>
          <p:cNvGrpSpPr/>
          <p:nvPr/>
        </p:nvGrpSpPr>
        <p:grpSpPr>
          <a:xfrm>
            <a:off x="3127248" y="1280160"/>
            <a:ext cx="2889504" cy="5166358"/>
            <a:chOff x="3127248" y="1280160"/>
            <a:chExt cx="2889504" cy="5166358"/>
          </a:xfrm>
        </p:grpSpPr>
        <p:sp>
          <p:nvSpPr>
            <p:cNvPr id="37" name="BrandDeck Diagram Card 1"/>
            <p:cNvSpPr/>
            <p:nvPr/>
          </p:nvSpPr>
          <p:spPr>
            <a:xfrm>
              <a:off x="3127248" y="1280160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BrandDeck Diagram Icon 1 Badge"/>
            <p:cNvSpPr/>
            <p:nvPr/>
          </p:nvSpPr>
          <p:spPr>
            <a:xfrm>
              <a:off x="3329513" y="1701926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BrandDeck Icon users"/>
            <p:cNvSpPr/>
            <p:nvPr/>
          </p:nvSpPr>
          <p:spPr>
            <a:xfrm>
              <a:off x="3409980" y="1782394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BrandDeck Diagram Text 1"/>
            <p:cNvSpPr txBox="1"/>
            <p:nvPr/>
          </p:nvSpPr>
          <p:spPr>
            <a:xfrm>
              <a:off x="3816632" y="1401519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Команда измеряет время поиска ответа.</a:t>
              </a:r>
            </a:p>
          </p:txBody>
        </p:sp>
        <p:sp>
          <p:nvSpPr>
            <p:cNvPr id="41" name="BrandDeck Diagram Card 2"/>
            <p:cNvSpPr/>
            <p:nvPr/>
          </p:nvSpPr>
          <p:spPr>
            <a:xfrm>
              <a:off x="3127248" y="2599182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BrandDeck Diagram Icon 2 Badge"/>
            <p:cNvSpPr/>
            <p:nvPr/>
          </p:nvSpPr>
          <p:spPr>
            <a:xfrm>
              <a:off x="3329513" y="3020948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BrandDeck Icon chart-column"/>
            <p:cNvSpPr/>
            <p:nvPr/>
          </p:nvSpPr>
          <p:spPr>
            <a:xfrm>
              <a:off x="3409980" y="3101416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3000"/>
                  </a:moveTo>
                  <a:lnTo>
                    <a:pt x="3000" y="19000"/>
                  </a:lnTo>
                  <a:cubicBezTo>
                    <a:pt x="3000" y="20105"/>
                    <a:pt x="3895" y="21000"/>
                    <a:pt x="5000" y="21000"/>
                  </a:cubicBezTo>
                  <a:lnTo>
                    <a:pt x="21000" y="21000"/>
                  </a:lnTo>
                </a:path>
                <a:path w="24000" h="24000" fill="none">
                  <a:moveTo>
                    <a:pt x="18000" y="17000"/>
                  </a:moveTo>
                  <a:lnTo>
                    <a:pt x="18000" y="9000"/>
                  </a:lnTo>
                </a:path>
                <a:path w="24000" h="24000" fill="none">
                  <a:moveTo>
                    <a:pt x="13000" y="17000"/>
                  </a:moveTo>
                  <a:lnTo>
                    <a:pt x="13000" y="5000"/>
                  </a:lnTo>
                </a:path>
                <a:path w="24000" h="24000" fill="none">
                  <a:moveTo>
                    <a:pt x="8000" y="17000"/>
                  </a:moveTo>
                  <a:lnTo>
                    <a:pt x="8000" y="14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BrandDeck Diagram Text 2"/>
            <p:cNvSpPr txBox="1"/>
            <p:nvPr/>
          </p:nvSpPr>
          <p:spPr>
            <a:xfrm>
              <a:off x="3816632" y="2720541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Также измеряется доля обращений, закрытых без специалиста.</a:t>
              </a:r>
            </a:p>
          </p:txBody>
        </p:sp>
        <p:sp>
          <p:nvSpPr>
            <p:cNvPr id="45" name="BrandDeck Diagram Card 3"/>
            <p:cNvSpPr/>
            <p:nvPr/>
          </p:nvSpPr>
          <p:spPr>
            <a:xfrm>
              <a:off x="3127248" y="3918204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BrandDeck Diagram Icon 3 Badge"/>
            <p:cNvSpPr/>
            <p:nvPr/>
          </p:nvSpPr>
          <p:spPr>
            <a:xfrm>
              <a:off x="3329513" y="4339971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BrandDeck Icon target"/>
            <p:cNvSpPr/>
            <p:nvPr/>
          </p:nvSpPr>
          <p:spPr>
            <a:xfrm>
              <a:off x="3409980" y="4420438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18000" y="12000"/>
                  </a:moveTo>
                  <a:cubicBezTo>
                    <a:pt x="18000" y="15314"/>
                    <a:pt x="15314" y="18000"/>
                    <a:pt x="12000" y="18000"/>
                  </a:cubicBezTo>
                  <a:cubicBezTo>
                    <a:pt x="8686" y="18000"/>
                    <a:pt x="6000" y="15314"/>
                    <a:pt x="6000" y="12000"/>
                  </a:cubicBezTo>
                  <a:cubicBezTo>
                    <a:pt x="6000" y="8686"/>
                    <a:pt x="8686" y="6000"/>
                    <a:pt x="12000" y="6000"/>
                  </a:cubicBezTo>
                  <a:cubicBezTo>
                    <a:pt x="15314" y="6000"/>
                    <a:pt x="18000" y="8686"/>
                    <a:pt x="18000" y="12000"/>
                  </a:cubicBezTo>
                  <a:close/>
                </a:path>
                <a:path w="24000" h="24000" fill="none">
                  <a:moveTo>
                    <a:pt x="14000" y="12000"/>
                  </a:moveTo>
                  <a:cubicBezTo>
                    <a:pt x="14000" y="13105"/>
                    <a:pt x="13105" y="14000"/>
                    <a:pt x="12000" y="14000"/>
                  </a:cubicBezTo>
                  <a:cubicBezTo>
                    <a:pt x="10895" y="14000"/>
                    <a:pt x="10000" y="13105"/>
                    <a:pt x="10000" y="12000"/>
                  </a:cubicBezTo>
                  <a:cubicBezTo>
                    <a:pt x="10000" y="10895"/>
                    <a:pt x="10895" y="10000"/>
                    <a:pt x="12000" y="10000"/>
                  </a:cubicBezTo>
                  <a:cubicBezTo>
                    <a:pt x="13105" y="10000"/>
                    <a:pt x="14000" y="10895"/>
                    <a:pt x="14000" y="12000"/>
                  </a:cubicBezTo>
                  <a:close/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BrandDeck Diagram Text 3"/>
            <p:cNvSpPr txBox="1"/>
            <p:nvPr/>
          </p:nvSpPr>
          <p:spPr>
            <a:xfrm>
              <a:off x="3816632" y="4039563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Целевые значения согласуются до запуска.</a:t>
              </a:r>
            </a:p>
          </p:txBody>
        </p:sp>
        <p:sp>
          <p:nvSpPr>
            <p:cNvPr id="49" name="BrandDeck Diagram Card 4"/>
            <p:cNvSpPr/>
            <p:nvPr/>
          </p:nvSpPr>
          <p:spPr>
            <a:xfrm>
              <a:off x="3127248" y="5237225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BrandDeck Diagram Icon 4 Badge"/>
            <p:cNvSpPr/>
            <p:nvPr/>
          </p:nvSpPr>
          <p:spPr>
            <a:xfrm>
              <a:off x="3329513" y="5658992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BrandDeck Icon trophy"/>
            <p:cNvSpPr/>
            <p:nvPr/>
          </p:nvSpPr>
          <p:spPr>
            <a:xfrm>
              <a:off x="3409980" y="5739460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9000"/>
                  </a:moveTo>
                  <a:lnTo>
                    <a:pt x="4500" y="9000"/>
                  </a:lnTo>
                  <a:cubicBezTo>
                    <a:pt x="3119" y="9000"/>
                    <a:pt x="2000" y="7881"/>
                    <a:pt x="2000" y="6500"/>
                  </a:cubicBezTo>
                  <a:cubicBezTo>
                    <a:pt x="2000" y="5119"/>
                    <a:pt x="3119" y="4000"/>
                    <a:pt x="4500" y="4000"/>
                  </a:cubicBezTo>
                  <a:lnTo>
                    <a:pt x="6000" y="4000"/>
                  </a:lnTo>
                </a:path>
                <a:path w="24000" h="24000" fill="none">
                  <a:moveTo>
                    <a:pt x="18000" y="9000"/>
                  </a:moveTo>
                  <a:lnTo>
                    <a:pt x="19500" y="9000"/>
                  </a:lnTo>
                  <a:cubicBezTo>
                    <a:pt x="20881" y="9000"/>
                    <a:pt x="22000" y="7881"/>
                    <a:pt x="22000" y="6500"/>
                  </a:cubicBezTo>
                  <a:cubicBezTo>
                    <a:pt x="22000" y="5119"/>
                    <a:pt x="20881" y="4000"/>
                    <a:pt x="19500" y="4000"/>
                  </a:cubicBezTo>
                  <a:lnTo>
                    <a:pt x="18000" y="4000"/>
                  </a:lnTo>
                </a:path>
                <a:path w="24000" h="24000" fill="none">
                  <a:moveTo>
                    <a:pt x="4000" y="22000"/>
                  </a:moveTo>
                  <a:lnTo>
                    <a:pt x="20000" y="22000"/>
                  </a:lnTo>
                </a:path>
                <a:path w="24000" h="24000" fill="none">
                  <a:moveTo>
                    <a:pt x="10000" y="14660"/>
                  </a:moveTo>
                  <a:lnTo>
                    <a:pt x="10000" y="17000"/>
                  </a:lnTo>
                  <a:cubicBezTo>
                    <a:pt x="10000" y="17550"/>
                    <a:pt x="9530" y="17980"/>
                    <a:pt x="9030" y="18210"/>
                  </a:cubicBezTo>
                  <a:cubicBezTo>
                    <a:pt x="7850" y="18750"/>
                    <a:pt x="7000" y="20240"/>
                    <a:pt x="7000" y="22000"/>
                  </a:cubicBezTo>
                </a:path>
                <a:path w="24000" h="24000" fill="none">
                  <a:moveTo>
                    <a:pt x="14000" y="14660"/>
                  </a:moveTo>
                  <a:lnTo>
                    <a:pt x="14000" y="17000"/>
                  </a:lnTo>
                  <a:cubicBezTo>
                    <a:pt x="14000" y="17550"/>
                    <a:pt x="14470" y="17980"/>
                    <a:pt x="14970" y="18210"/>
                  </a:cubicBezTo>
                  <a:cubicBezTo>
                    <a:pt x="16150" y="18750"/>
                    <a:pt x="17000" y="20240"/>
                    <a:pt x="17000" y="22000"/>
                  </a:cubicBezTo>
                </a:path>
                <a:path w="24000" h="24000" fill="none">
                  <a:moveTo>
                    <a:pt x="18000" y="2000"/>
                  </a:moveTo>
                  <a:lnTo>
                    <a:pt x="6000" y="2000"/>
                  </a:lnTo>
                  <a:lnTo>
                    <a:pt x="6000" y="9000"/>
                  </a:lnTo>
                  <a:cubicBezTo>
                    <a:pt x="6000" y="12314"/>
                    <a:pt x="8686" y="15000"/>
                    <a:pt x="12000" y="15000"/>
                  </a:cubicBezTo>
                  <a:cubicBezTo>
                    <a:pt x="15314" y="15000"/>
                    <a:pt x="18000" y="12314"/>
                    <a:pt x="18000" y="9000"/>
                  </a:cubicBezTo>
                  <a:lnTo>
                    <a:pt x="18000" y="2000"/>
                  </a:lnTo>
                  <a:close/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BrandDeck Diagram Text 4"/>
            <p:cNvSpPr txBox="1"/>
            <p:nvPr/>
          </p:nvSpPr>
          <p:spPr>
            <a:xfrm>
              <a:off x="3816632" y="5358585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Фактических результатов пилота пока нет.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Line 3"/>
          <p:cNvSpPr/>
          <p:nvPr/>
        </p:nvSpPr>
        <p:spPr>
          <a:xfrm>
            <a:off x="457200" y="60960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1428750"/>
            <a:ext cx="121920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6" name="Line 6"/>
          <p:cNvSpPr/>
          <p:nvPr/>
        </p:nvSpPr>
        <p:spPr>
          <a:xfrm>
            <a:off x="457200" y="645795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sp>
        <p:nvSpPr>
          <p:cNvPr id="38" name="BrandDeck Title"/>
          <p:cNvSpPr txBox="1"/>
          <p:nvPr/>
        </p:nvSpPr>
        <p:spPr>
          <a:xfrm>
            <a:off x="3127248" y="411480"/>
            <a:ext cx="593445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 b="1">
                <a:solidFill>
                  <a:srgbClr val="1C1A17"/>
                </a:solidFill>
                <a:latin typeface="Consolas"/>
              </a:rPr>
              <a:t>Команда из 3 человек подготовит и проверит пилот</a:t>
            </a:r>
          </a:p>
        </p:txBody>
      </p:sp>
      <p:grpSp>
        <p:nvGrpSpPr>
          <p:cNvPr id="39" name="BrandDeck Diagram icon_grid" descr="icon_grid: Просим одобрить пилот и выделить команду из 3 человек.; Команда готовит инструкции, проверяет ответы и сопровождает запуск.; Дальнейшее использование решается после измерения результатов и обратной связи."/>
          <p:cNvGrpSpPr/>
          <p:nvPr/>
        </p:nvGrpSpPr>
        <p:grpSpPr>
          <a:xfrm>
            <a:off x="3127248" y="1280160"/>
            <a:ext cx="2889504" cy="5166358"/>
            <a:chOff x="3127248" y="1280160"/>
            <a:chExt cx="2889504" cy="5166358"/>
          </a:xfrm>
        </p:grpSpPr>
        <p:sp>
          <p:nvSpPr>
            <p:cNvPr id="40" name="BrandDeck Diagram Card 1"/>
            <p:cNvSpPr/>
            <p:nvPr/>
          </p:nvSpPr>
          <p:spPr>
            <a:xfrm>
              <a:off x="3127248" y="1280160"/>
              <a:ext cx="2889504" cy="1648967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BrandDeck Diagram Icon 1 Badge"/>
            <p:cNvSpPr/>
            <p:nvPr/>
          </p:nvSpPr>
          <p:spPr>
            <a:xfrm>
              <a:off x="3329513" y="1482425"/>
              <a:ext cx="461711" cy="461711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BrandDeck Icon rocket"/>
            <p:cNvSpPr/>
            <p:nvPr/>
          </p:nvSpPr>
          <p:spPr>
            <a:xfrm>
              <a:off x="3431089" y="1584001"/>
              <a:ext cx="258558" cy="25855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500" y="16500"/>
                  </a:moveTo>
                  <a:cubicBezTo>
                    <a:pt x="3000" y="17760"/>
                    <a:pt x="2500" y="21500"/>
                    <a:pt x="2500" y="21500"/>
                  </a:cubicBezTo>
                  <a:cubicBezTo>
                    <a:pt x="2500" y="21500"/>
                    <a:pt x="6240" y="21000"/>
                    <a:pt x="7500" y="19500"/>
                  </a:cubicBezTo>
                  <a:cubicBezTo>
                    <a:pt x="8210" y="18660"/>
                    <a:pt x="8200" y="17370"/>
                    <a:pt x="7410" y="16590"/>
                  </a:cubicBezTo>
                  <a:cubicBezTo>
                    <a:pt x="6605" y="15822"/>
                    <a:pt x="5351" y="15783"/>
                    <a:pt x="4500" y="16500"/>
                  </a:cubicBezTo>
                  <a:close/>
                </a:path>
                <a:path w="24000" h="24000" fill="none">
                  <a:moveTo>
                    <a:pt x="12000" y="15000"/>
                  </a:moveTo>
                  <a:lnTo>
                    <a:pt x="9000" y="12000"/>
                  </a:lnTo>
                  <a:cubicBezTo>
                    <a:pt x="9532" y="10619"/>
                    <a:pt x="10202" y="9296"/>
                    <a:pt x="11000" y="8050"/>
                  </a:cubicBezTo>
                  <a:cubicBezTo>
                    <a:pt x="13369" y="4262"/>
                    <a:pt x="17532" y="1972"/>
                    <a:pt x="22000" y="2000"/>
                  </a:cubicBezTo>
                  <a:cubicBezTo>
                    <a:pt x="22000" y="4720"/>
                    <a:pt x="21220" y="9500"/>
                    <a:pt x="16000" y="13000"/>
                  </a:cubicBezTo>
                  <a:cubicBezTo>
                    <a:pt x="14737" y="13799"/>
                    <a:pt x="13397" y="14469"/>
                    <a:pt x="12000" y="15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4000" y="12000"/>
                  </a:lnTo>
                  <a:cubicBezTo>
                    <a:pt x="4000" y="12000"/>
                    <a:pt x="4550" y="8970"/>
                    <a:pt x="6000" y="8000"/>
                  </a:cubicBezTo>
                  <a:cubicBezTo>
                    <a:pt x="7620" y="6920"/>
                    <a:pt x="11000" y="8000"/>
                    <a:pt x="11000" y="8000"/>
                  </a:cubicBezTo>
                </a:path>
                <a:path w="24000" h="24000" fill="none">
                  <a:moveTo>
                    <a:pt x="12000" y="15000"/>
                  </a:moveTo>
                  <a:lnTo>
                    <a:pt x="12000" y="20000"/>
                  </a:lnTo>
                  <a:cubicBezTo>
                    <a:pt x="12000" y="20000"/>
                    <a:pt x="15030" y="19450"/>
                    <a:pt x="16000" y="18000"/>
                  </a:cubicBezTo>
                  <a:cubicBezTo>
                    <a:pt x="17080" y="16380"/>
                    <a:pt x="16000" y="13000"/>
                    <a:pt x="16000" y="13000"/>
                  </a:cubicBezTo>
                </a:path>
              </a:pathLst>
            </a:custGeom>
            <a:noFill/>
            <a:ln w="21546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BrandDeck Diagram Text 1"/>
            <p:cNvSpPr txBox="1"/>
            <p:nvPr/>
          </p:nvSpPr>
          <p:spPr>
            <a:xfrm>
              <a:off x="3268833" y="2085722"/>
              <a:ext cx="2606332" cy="742273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Просим одобрить пилот и выделить команду из 3 человек.</a:t>
              </a:r>
            </a:p>
          </p:txBody>
        </p:sp>
        <p:sp>
          <p:nvSpPr>
            <p:cNvPr id="44" name="BrandDeck Diagram Card 2"/>
            <p:cNvSpPr/>
            <p:nvPr/>
          </p:nvSpPr>
          <p:spPr>
            <a:xfrm>
              <a:off x="3127248" y="3038855"/>
              <a:ext cx="2889504" cy="1648967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BrandDeck Diagram Icon 2 Badge"/>
            <p:cNvSpPr/>
            <p:nvPr/>
          </p:nvSpPr>
          <p:spPr>
            <a:xfrm>
              <a:off x="3329513" y="3241121"/>
              <a:ext cx="461711" cy="461711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BrandDeck Icon users"/>
            <p:cNvSpPr/>
            <p:nvPr/>
          </p:nvSpPr>
          <p:spPr>
            <a:xfrm>
              <a:off x="3431089" y="3342697"/>
              <a:ext cx="258558" cy="25855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1546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BrandDeck Diagram Text 2"/>
            <p:cNvSpPr txBox="1"/>
            <p:nvPr/>
          </p:nvSpPr>
          <p:spPr>
            <a:xfrm>
              <a:off x="3268833" y="3844418"/>
              <a:ext cx="2606332" cy="742273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Команда готовит инструкции, проверяет ответы и сопровождает запуск.</a:t>
              </a:r>
            </a:p>
          </p:txBody>
        </p:sp>
        <p:sp>
          <p:nvSpPr>
            <p:cNvPr id="48" name="BrandDeck Diagram Card 3"/>
            <p:cNvSpPr/>
            <p:nvPr/>
          </p:nvSpPr>
          <p:spPr>
            <a:xfrm>
              <a:off x="3127248" y="4797551"/>
              <a:ext cx="2889504" cy="1648967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BrandDeck Diagram Icon 3 Badge"/>
            <p:cNvSpPr/>
            <p:nvPr/>
          </p:nvSpPr>
          <p:spPr>
            <a:xfrm>
              <a:off x="3329513" y="4999817"/>
              <a:ext cx="461711" cy="461711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BrandDeck Icon chart-column"/>
            <p:cNvSpPr/>
            <p:nvPr/>
          </p:nvSpPr>
          <p:spPr>
            <a:xfrm>
              <a:off x="3431089" y="5101393"/>
              <a:ext cx="258558" cy="25855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3000"/>
                  </a:moveTo>
                  <a:lnTo>
                    <a:pt x="3000" y="19000"/>
                  </a:lnTo>
                  <a:cubicBezTo>
                    <a:pt x="3000" y="20105"/>
                    <a:pt x="3895" y="21000"/>
                    <a:pt x="5000" y="21000"/>
                  </a:cubicBezTo>
                  <a:lnTo>
                    <a:pt x="21000" y="21000"/>
                  </a:lnTo>
                </a:path>
                <a:path w="24000" h="24000" fill="none">
                  <a:moveTo>
                    <a:pt x="18000" y="17000"/>
                  </a:moveTo>
                  <a:lnTo>
                    <a:pt x="18000" y="9000"/>
                  </a:lnTo>
                </a:path>
                <a:path w="24000" h="24000" fill="none">
                  <a:moveTo>
                    <a:pt x="13000" y="17000"/>
                  </a:moveTo>
                  <a:lnTo>
                    <a:pt x="13000" y="5000"/>
                  </a:lnTo>
                </a:path>
                <a:path w="24000" h="24000" fill="none">
                  <a:moveTo>
                    <a:pt x="8000" y="17000"/>
                  </a:moveTo>
                  <a:lnTo>
                    <a:pt x="8000" y="14000"/>
                  </a:lnTo>
                </a:path>
              </a:pathLst>
            </a:custGeom>
            <a:noFill/>
            <a:ln w="21546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BrandDeck Diagram Text 3"/>
            <p:cNvSpPr txBox="1"/>
            <p:nvPr/>
          </p:nvSpPr>
          <p:spPr>
            <a:xfrm>
              <a:off x="3268833" y="5603114"/>
              <a:ext cx="2606332" cy="742273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Дальнейшее использование решается после измерения результатов и обратной связи.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Line 3"/>
          <p:cNvSpPr/>
          <p:nvPr/>
        </p:nvSpPr>
        <p:spPr>
          <a:xfrm>
            <a:off x="457200" y="60960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1428750"/>
            <a:ext cx="121920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7" name="Line 7"/>
          <p:cNvSpPr/>
          <p:nvPr/>
        </p:nvSpPr>
        <p:spPr>
          <a:xfrm>
            <a:off x="457200" y="645795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sp>
        <p:nvSpPr>
          <p:cNvPr id="39" name="BrandDeck Title"/>
          <p:cNvSpPr txBox="1"/>
          <p:nvPr/>
        </p:nvSpPr>
        <p:spPr>
          <a:xfrm>
            <a:off x="3127248" y="411480"/>
            <a:ext cx="593445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5"/>
              </a:spcAft>
            </a:pPr>
            <a:r>
              <a:rPr sz="2700" b="1">
                <a:solidFill>
                  <a:srgbClr val="1C1A17"/>
                </a:solidFill>
                <a:latin typeface="Consolas"/>
              </a:rPr>
              <a:t>Спасибо</a:t>
            </a:r>
          </a:p>
        </p:txBody>
      </p:sp>
      <p:sp>
        <p:nvSpPr>
          <p:cNvPr id="40" name="BrandDeck Subtitle"/>
          <p:cNvSpPr txBox="1"/>
          <p:nvPr/>
        </p:nvSpPr>
        <p:spPr>
          <a:xfrm>
            <a:off x="731520" y="4389120"/>
            <a:ext cx="10725912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5"/>
              </a:spcAft>
            </a:pPr>
            <a:r>
              <a:rPr sz="1500">
                <a:solidFill>
                  <a:srgbClr val="1C1A17"/>
                </a:solidFill>
                <a:latin typeface="Consolas"/>
              </a:rPr>
              <a:t>Вопросы?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169_brutalism_field_guide">
  <a:themeElements>
    <a:clrScheme name="ppt169_brutalism_field_guide">
      <a:dk1>
        <a:srgbClr val="1C1A17"/>
      </a:dk1>
      <a:lt1>
        <a:srgbClr val="F2F0EA"/>
      </a:lt1>
      <a:dk2>
        <a:srgbClr val="1F497D"/>
      </a:dk2>
      <a:lt2>
        <a:srgbClr val="E2DFD5"/>
      </a:lt2>
      <a:accent1>
        <a:srgbClr val="14110F"/>
      </a:accent1>
      <a:accent2>
        <a:srgbClr val="C8331E"/>
      </a:accent2>
      <a:accent3>
        <a:srgbClr val="6E6A62"/>
      </a:accent3>
      <a:accent4>
        <a:srgbClr val="14110F"/>
      </a:accent4>
      <a:accent5>
        <a:srgbClr val="55514A"/>
      </a:accent5>
      <a:accent6>
        <a:srgbClr val="9A958B"/>
      </a:accent6>
      <a:hlink>
        <a:srgbClr val="C8331E"/>
      </a:hlink>
      <a:folHlink>
        <a:srgbClr val="6E6A62"/>
      </a:folHlink>
    </a:clrScheme>
    <a:fontScheme name="ppt169_brutalism_field_guide">
      <a:majorFont>
        <a:latin typeface="Arial Black"/>
        <a:ea typeface="Microsoft YaHei"/>
        <a:cs typeface="Arial Black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SimSun"/>
        <a:cs typeface="Cambria"/>
        <a:font script="Jpan" typeface="SimSun"/>
        <a:font script="Hang" typeface="SimSun"/>
        <a:font script="Hans" typeface="SimSun"/>
        <a:font script="Hant" typeface="SimSun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169_brutalism_field_guid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pt169_brutalism_field_guide">
  <a:themeElements>
    <a:clrScheme name="ppt169_brutalism_field_guide">
      <a:dk1>
        <a:srgbClr val="1C1A17"/>
      </a:dk1>
      <a:lt1>
        <a:srgbClr val="F2F0EA"/>
      </a:lt1>
      <a:dk2>
        <a:srgbClr val="1F497D"/>
      </a:dk2>
      <a:lt2>
        <a:srgbClr val="E2DFD5"/>
      </a:lt2>
      <a:accent1>
        <a:srgbClr val="14110F"/>
      </a:accent1>
      <a:accent2>
        <a:srgbClr val="C8331E"/>
      </a:accent2>
      <a:accent3>
        <a:srgbClr val="6E6A62"/>
      </a:accent3>
      <a:accent4>
        <a:srgbClr val="14110F"/>
      </a:accent4>
      <a:accent5>
        <a:srgbClr val="55514A"/>
      </a:accent5>
      <a:accent6>
        <a:srgbClr val="9A958B"/>
      </a:accent6>
      <a:hlink>
        <a:srgbClr val="C8331E"/>
      </a:hlink>
      <a:folHlink>
        <a:srgbClr val="6E6A62"/>
      </a:folHlink>
    </a:clrScheme>
    <a:fontScheme name="ppt169_brutalism_field_guide">
      <a:majorFont>
        <a:latin typeface="Arial Black"/>
        <a:ea typeface="Microsoft YaHei"/>
        <a:cs typeface="Arial Black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SimSun"/>
        <a:cs typeface="Cambria"/>
        <a:font script="Jpan" typeface="SimSun"/>
        <a:font script="Hang" typeface="SimSun"/>
        <a:font script="Hans" typeface="SimSun"/>
        <a:font script="Hant" typeface="SimSun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169_brutalism_field_guid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Пилот ИИ-помощника по внутренним регламентам</dc:title>
  <dc:subject>Template-adaptive presentation</dc:subject>
  <dc:creator/>
  <cp:keywords>BrandDeck, template-adaptive, presentation</cp:keywords>
  <dc:description/>
  <dc:language>en</dc:language>
  <cp:lastModifiedBy/>
  <cp:revision>1</cp:revision>
  <dcterms:created xsi:type="dcterms:W3CDTF">2026-09-04T11:42:18Z</dcterms:created>
  <dcterms:modified xsi:type="dcterms:W3CDTF">2026-09-04T11:42:18Z</dcterms:modified>
  <cp:category/>
  <cp:contentStatus/>
</cp:coreProperties>
</file>