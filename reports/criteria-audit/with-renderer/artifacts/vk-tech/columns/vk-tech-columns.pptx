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" name="Google Shape;24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" name="Google Shape;25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" name="Google Shape;27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" name="Google Shape;28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33" name="Google Shape;33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" name="Google Shape;34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36" name="Google Shape;36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" name="Google Shape;37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0" name="Google Shape;40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1" name="Google Shape;4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2" name="Google Shape;42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" name="Google Shape;43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45" name="Google Shape;45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46" name="Google Shape;46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50" name="Google Shape;50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52" name="Google Shape;52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3" name="Google Shape;53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Разделитель">
  <p:cSld name="1_Разделитель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57" name="Google Shape;57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58" name="Google Shape;58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9" name="Google Shape;5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p6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62" name="Google Shape;62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63" name="Google Shape;63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64" name="Google Shape;6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65" name="Google Shape;6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лайд &quot;Спасибо!&quot;">
  <p:cSld name="4_Слайд &quot;Спасибо!&quot;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0" name="Google Shape;7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74" name="Google Shape;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5" name="Google Shape;7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одержание">
  <p:cSld name="1_Содержание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78" name="Google Shape;78;p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79" name="Google Shape;79;p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80" name="Google Shape;8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81" name="Google Shape;8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одержание">
  <p:cSld name="2_Содержание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90" name="Google Shape;90;p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91" name="Google Shape;91;p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92" name="Google Shape;92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93" name="Google Shape;9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одержание">
  <p:cSld name="3_Содержание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04" name="Google Shape;10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05" name="Google Shape;10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Визитка">
  <p:cSld name="1_Визитка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12" name="Google Shape;112;p1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13" name="Google Shape;11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14" name="Google Shape;114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1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Визитка">
  <p:cSld name="4_Визитка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23" name="Google Shape;123;p1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24" name="Google Shape;12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25" name="Google Shape;12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1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1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Контент">
  <p:cSld name="1_Контент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45" name="Google Shape;145;p1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46" name="Google Shape;146;p1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7" name="Google Shape;14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8" name="Google Shape;14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Контент">
  <p:cSld name="3_Контент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2" name="Google Shape;152;p1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53" name="Google Shape;153;p1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54" name="Google Shape;15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5" name="Google Shape;15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Контент">
  <p:cSld name="5_Контент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9" name="Google Shape;159;p1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0" name="Google Shape;160;p1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1" name="Google Shape;16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2" name="Google Shape;16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Контент">
  <p:cSld name="7_Контент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66" name="Google Shape;166;p1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7" name="Google Shape;167;p1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8" name="Google Shape;16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9" name="Google Shape;16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Контент">
  <p:cSld name="8_Контент"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73" name="Google Shape;173;p1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74" name="Google Shape;174;p1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75" name="Google Shape;17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76" name="Google Shape;17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Контент">
  <p:cSld name="13_Контент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0" name="Google Shape;180;p1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1" name="Google Shape;18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2" name="Google Shape;182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6" name="Google Shape;186;p2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7" name="Google Shape;187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8" name="Google Shape;18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вободный дизайн">
  <p:cSld name="2_Свободный дизайн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2" name="Google Shape;192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3" name="Google Shape;19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94" name="Google Shape;19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21"/>
          <p:cNvSpPr txBox="1"/>
          <p:nvPr>
            <p:ph type="title"/>
          </p:nvPr>
        </p:nvSpPr>
        <p:spPr>
          <a:xfrm>
            <a:off x="177970" y="175372"/>
            <a:ext cx="6792985" cy="9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6" name="Google Shape;196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8" name="Google Shape;198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9" name="Google Shape;19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0" name="Google Shape;20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Разделитель">
  <p:cSld name="2_Разделитель">
    <p:bg>
      <p:bgPr>
        <a:solidFill>
          <a:schemeClr val="dk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3" name="Google Shape;203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04" name="Google Shape;204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5" name="Google Shape;205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2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08" name="Google Shape;208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9" name="Google Shape;209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10" name="Google Shape;21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1" name="Google Shape;211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13" name="Google Shape;21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4" name="Google Shape;2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16" name="Google Shape;21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7" name="Google Shape;217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3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20" name="Google Shape;220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21" name="Google Shape;221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22" name="Google Shape;222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4" name="Google Shape;22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" name="Google Shape;22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6" name="Google Shape;226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" name="Google Shape;227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29" name="Google Shape;229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0" name="Google Shape;230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4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2" name="Google Shape;232;p24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35" name="Google Shape;235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6" name="Google Shape;236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38" name="Google Shape;238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9" name="Google Shape;239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1" name="Google Shape;24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2" name="Google Shape;242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3" name="Google Shape;24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4" name="Google Shape;244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" name="Google Shape;245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47" name="Google Shape;247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48" name="Google Shape;248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0" name="Google Shape;250;p25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52" name="Google Shape;252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54" name="Google Shape;254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55" name="Google Shape;255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лайд &quot;Спасибо!&quot;">
  <p:cSld name="2_Слайд &quot;Спасибо!&quot;">
    <p:bg>
      <p:bgPr>
        <a:solidFill>
          <a:schemeClr val="dk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7" name="Google Shape;257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" name="Google Shape;260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1" name="Google Shape;261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63" name="Google Shape;263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64" name="Google Shape;264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6" name="Google Shape;266;p26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7" name="Google Shape;267;p26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68" name="Google Shape;268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0" name="Google Shape;270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1" name="Google Shape;271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лайд &quot;Спасибо!&quot;">
  <p:cSld name="3_Слайд &quot;Спасибо!&quot;">
    <p:bg>
      <p:bgPr>
        <a:solidFill>
          <a:schemeClr val="dk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5" name="Google Shape;275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6" name="Google Shape;27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8" name="Google Shape;278;p2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1" name="Google Shape;281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Содержание">
  <p:cSld name="5_Содержание">
    <p:bg>
      <p:bgPr>
        <a:solidFill>
          <a:schemeClr val="dk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84" name="Google Shape;284;p2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85" name="Google Shape;285;p2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86" name="Google Shape;286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7" name="Google Shape;28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2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0" name="Google Shape;290;p2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1" name="Google Shape;291;p2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Содержание">
  <p:cSld name="6_Содержание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96" name="Google Shape;296;p2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97" name="Google Shape;297;p2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98" name="Google Shape;29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99" name="Google Shape;299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2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1" name="Google Shape;301;p2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2" name="Google Shape;302;p2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3" name="Google Shape;303;p2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2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одержание">
  <p:cSld name="4_Содержание"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0" name="Google Shape;31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11" name="Google Shape;311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Визитка">
  <p:cSld name="3_Визитка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18" name="Google Shape;318;p3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9" name="Google Shape;319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20" name="Google Shape;320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3" name="Google Shape;323;p3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4" name="Google Shape;324;p3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5" name="Google Shape;325;p3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Визитка">
  <p:cSld name="2_Визитка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3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29" name="Google Shape;329;p3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30" name="Google Shape;33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31" name="Google Shape;33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p3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5" name="Google Shape;335;p3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Контент">
  <p:cSld name="2_Контент"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39" name="Google Shape;339;p3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0" name="Google Shape;340;p3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1" name="Google Shape;34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2" name="Google Shape;342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Контент">
  <p:cSld name="4_Контент">
    <p:bg>
      <p:bgPr>
        <a:solidFill>
          <a:schemeClr val="dk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46" name="Google Shape;346;p3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7" name="Google Shape;347;p3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8" name="Google Shape;34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9" name="Google Shape;349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Контент">
  <p:cSld name="6_Контент">
    <p:bg>
      <p:bgPr>
        <a:solidFill>
          <a:schemeClr val="dk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53" name="Google Shape;353;p3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54" name="Google Shape;354;p3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55" name="Google Shape;355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56" name="Google Shape;356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Контент">
  <p:cSld name="12_Контент">
    <p:bg>
      <p:bgPr>
        <a:solidFill>
          <a:schemeClr val="dk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0" name="Google Shape;360;p3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1" name="Google Shape;361;p3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2" name="Google Shape;362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63" name="Google Shape;36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Контент">
  <p:cSld name="9_Контент">
    <p:bg>
      <p:bgPr>
        <a:solidFill>
          <a:schemeClr val="dk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7" name="Google Shape;367;p3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8" name="Google Shape;368;p3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9" name="Google Shape;369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0" name="Google Shape;37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Контент">
  <p:cSld name="10_Контент">
    <p:bg>
      <p:bgPr>
        <a:solidFill>
          <a:schemeClr val="dk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74" name="Google Shape;374;p3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75" name="Google Shape;375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6" name="Google Shape;376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38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Контент">
  <p:cSld name="11_Контент"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3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1" name="Google Shape;381;p3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2" name="Google Shape;382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83" name="Google Shape;383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3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Контент">
  <p:cSld name="14_Контент">
    <p:bg>
      <p:bgPr>
        <a:solidFill>
          <a:schemeClr val="dk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4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8" name="Google Shape;388;p4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9" name="Google Shape;389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0" name="Google Shape;390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40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EFAULT">
  <p:cSld name="1_DEFAULT">
    <p:bg>
      <p:bgPr>
        <a:solidFill>
          <a:schemeClr val="dk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4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94" name="Google Shape;394;p4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95" name="Google Shape;395;p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6" name="Google Shape;39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39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65.png"/><Relationship Id="rId6" Type="http://schemas.openxmlformats.org/officeDocument/2006/relationships/image" Target="../media/image71.png"/><Relationship Id="rId7" Type="http://schemas.openxmlformats.org/officeDocument/2006/relationships/image" Target="../media/image223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1.png"/><Relationship Id="rId3" Type="http://schemas.openxmlformats.org/officeDocument/2006/relationships/image" Target="../media/image52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1.png"/><Relationship Id="rId3" Type="http://schemas.openxmlformats.org/officeDocument/2006/relationships/image" Target="../media/image52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01" name="BrandDeck Text 401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rtl="0" algn="ctr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sz="1800"/>
              <a:t>Пилот ИИ-помощника по внутренним регламентам</a:t>
            </a:r>
            <a:endParaRPr/>
          </a:p>
        </p:txBody>
      </p:sp>
      <p:sp>
        <p:nvSpPr>
          <p:cNvPr id="402" name="Google Shape;402;p4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62" name="Google Shape;662;p55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5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BrandDeck Text 68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800"/>
              <a:t>Поиск инструкции занимает до 30 минут, треть обращений повторяется</a:t>
            </a:r>
            <a:endParaRPr/>
          </a:p>
        </p:txBody>
      </p:sp>
      <p:grpSp>
        <p:nvGrpSpPr>
          <p:cNvPr id="2" name="BrandDeck Diagram icon_grid" descr="icon_grid: Сотрудник тратит до 30 минут на поиск нужной инструкции.; Регламенты находятся в нескольких источниках, и поиск отвлекает от основной работы.; Треть обращений в поддержку — повторяющиеся вопросы.; Специалисты снова тратят время на поиск одного и того же ответа."/>
          <p:cNvGrpSpPr/>
          <p:nvPr/>
        </p:nvGrpSpPr>
        <p:grpSpPr>
          <a:xfrm>
            <a:off x="438148" y="1819373"/>
            <a:ext cx="8305756" cy="2290463"/>
            <a:chOff x="438148" y="1819373"/>
            <a:chExt cx="8305756" cy="2290463"/>
          </a:xfrm>
        </p:grpSpPr>
        <p:sp>
          <p:nvSpPr>
            <p:cNvPr id="686" name="BrandDeck Diagram Card 1"/>
            <p:cNvSpPr/>
            <p:nvPr/>
          </p:nvSpPr>
          <p:spPr>
            <a:xfrm>
              <a:off x="438148" y="1819373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7" name="BrandDeck Diagram Icon 1 Badge"/>
            <p:cNvSpPr/>
            <p:nvPr/>
          </p:nvSpPr>
          <p:spPr>
            <a:xfrm>
              <a:off x="657604" y="2167580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8" name="BrandDeck Icon users"/>
            <p:cNvSpPr/>
            <p:nvPr/>
          </p:nvSpPr>
          <p:spPr>
            <a:xfrm>
              <a:off x="738071" y="2248047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9" name="BrandDeck Diagram Text 1"/>
            <p:cNvSpPr txBox="1"/>
            <p:nvPr/>
          </p:nvSpPr>
          <p:spPr>
            <a:xfrm>
              <a:off x="1155037" y="195104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0">
                  <a:solidFill>
                    <a:srgbClr val="000000"/>
                  </a:solidFill>
                  <a:latin typeface="Play"/>
                </a:rPr>
                <a:t>Сотрудник тратит до 30 минут на поиск нужной инструкции.</a:t>
              </a:r>
            </a:p>
          </p:txBody>
        </p:sp>
        <p:sp>
          <p:nvSpPr>
            <p:cNvPr id="690" name="BrandDeck Diagram Card 2"/>
            <p:cNvSpPr/>
            <p:nvPr/>
          </p:nvSpPr>
          <p:spPr>
            <a:xfrm>
              <a:off x="4674084" y="1819373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1" name="BrandDeck Diagram Icon 2 Badge"/>
            <p:cNvSpPr/>
            <p:nvPr/>
          </p:nvSpPr>
          <p:spPr>
            <a:xfrm>
              <a:off x="4893540" y="2167580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2" name="BrandDeck Icon file-text"/>
            <p:cNvSpPr/>
            <p:nvPr/>
          </p:nvSpPr>
          <p:spPr>
            <a:xfrm>
              <a:off x="4974007" y="2248047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3" name="BrandDeck Diagram Text 2"/>
            <p:cNvSpPr txBox="1"/>
            <p:nvPr/>
          </p:nvSpPr>
          <p:spPr>
            <a:xfrm>
              <a:off x="5390973" y="195104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0">
                  <a:solidFill>
                    <a:srgbClr val="000000"/>
                  </a:solidFill>
                  <a:latin typeface="Play"/>
                </a:rPr>
                <a:t>Регламенты находятся в нескольких источниках, и поиск отвлекает от основной работы.</a:t>
              </a:r>
            </a:p>
          </p:txBody>
        </p:sp>
        <p:sp>
          <p:nvSpPr>
            <p:cNvPr id="694" name="BrandDeck Diagram Card 3"/>
            <p:cNvSpPr/>
            <p:nvPr/>
          </p:nvSpPr>
          <p:spPr>
            <a:xfrm>
              <a:off x="438148" y="3047662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5" name="BrandDeck Diagram Icon 3 Badge"/>
            <p:cNvSpPr/>
            <p:nvPr/>
          </p:nvSpPr>
          <p:spPr>
            <a:xfrm>
              <a:off x="657604" y="3395869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6" name="BrandDeck Icon headset"/>
            <p:cNvSpPr/>
            <p:nvPr/>
          </p:nvSpPr>
          <p:spPr>
            <a:xfrm>
              <a:off x="738071" y="347633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11000"/>
                  </a:moveTo>
                  <a:lnTo>
                    <a:pt x="6000" y="11000"/>
                  </a:lnTo>
                  <a:cubicBezTo>
                    <a:pt x="7105" y="11000"/>
                    <a:pt x="8000" y="11895"/>
                    <a:pt x="8000" y="13000"/>
                  </a:cubicBezTo>
                  <a:lnTo>
                    <a:pt x="8000" y="16000"/>
                  </a:lnTo>
                  <a:cubicBezTo>
                    <a:pt x="8000" y="17105"/>
                    <a:pt x="7105" y="18000"/>
                    <a:pt x="6000" y="18000"/>
                  </a:cubicBezTo>
                  <a:lnTo>
                    <a:pt x="5000" y="18000"/>
                  </a:lnTo>
                  <a:cubicBezTo>
                    <a:pt x="3895" y="18000"/>
                    <a:pt x="3000" y="17105"/>
                    <a:pt x="3000" y="16000"/>
                  </a:cubicBezTo>
                  <a:lnTo>
                    <a:pt x="3000" y="11000"/>
                  </a:lnTo>
                  <a:close/>
                  <a:moveTo>
                    <a:pt x="3000" y="11000"/>
                  </a:moveTo>
                  <a:cubicBezTo>
                    <a:pt x="3000" y="6029"/>
                    <a:pt x="7029" y="2000"/>
                    <a:pt x="12000" y="2000"/>
                  </a:cubicBezTo>
                  <a:cubicBezTo>
                    <a:pt x="16971" y="2000"/>
                    <a:pt x="21000" y="6029"/>
                    <a:pt x="21000" y="11000"/>
                  </a:cubicBezTo>
                  <a:moveTo>
                    <a:pt x="21000" y="11000"/>
                  </a:moveTo>
                  <a:lnTo>
                    <a:pt x="21000" y="16000"/>
                  </a:lnTo>
                  <a:cubicBezTo>
                    <a:pt x="21000" y="17105"/>
                    <a:pt x="20105" y="18000"/>
                    <a:pt x="19000" y="18000"/>
                  </a:cubicBezTo>
                  <a:lnTo>
                    <a:pt x="18000" y="18000"/>
                  </a:lnTo>
                  <a:cubicBezTo>
                    <a:pt x="16895" y="18000"/>
                    <a:pt x="16000" y="17105"/>
                    <a:pt x="16000" y="16000"/>
                  </a:cubicBezTo>
                  <a:lnTo>
                    <a:pt x="16000" y="13000"/>
                  </a:lnTo>
                  <a:cubicBezTo>
                    <a:pt x="16000" y="11895"/>
                    <a:pt x="16895" y="11000"/>
                    <a:pt x="18000" y="11000"/>
                  </a:cubicBezTo>
                  <a:lnTo>
                    <a:pt x="21000" y="11000"/>
                  </a:lnTo>
                  <a:close/>
                </a:path>
                <a:path w="24000" h="24000" fill="none">
                  <a:moveTo>
                    <a:pt x="21000" y="16000"/>
                  </a:moveTo>
                  <a:lnTo>
                    <a:pt x="21000" y="18000"/>
                  </a:lnTo>
                  <a:cubicBezTo>
                    <a:pt x="21000" y="20209"/>
                    <a:pt x="19209" y="22000"/>
                    <a:pt x="17000" y="22000"/>
                  </a:cubicBezTo>
                  <a:lnTo>
                    <a:pt x="12000" y="22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7" name="BrandDeck Diagram Text 3"/>
            <p:cNvSpPr txBox="1"/>
            <p:nvPr/>
          </p:nvSpPr>
          <p:spPr>
            <a:xfrm>
              <a:off x="1155037" y="317933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1">
                  <a:solidFill>
                    <a:srgbClr val="000000"/>
                  </a:solidFill>
                  <a:latin typeface="Play"/>
                </a:rPr>
                <a:t>Треть обращений в поддержку —</a:t>
              </a:r>
              <a:r>
                <a:rPr sz="1320" b="0">
                  <a:solidFill>
                    <a:srgbClr val="000000"/>
                  </a:solidFill>
                  <a:latin typeface="Play"/>
                </a:rPr>
                <a:t> повторяющиеся вопросы.</a:t>
              </a:r>
            </a:p>
          </p:txBody>
        </p:sp>
        <p:sp>
          <p:nvSpPr>
            <p:cNvPr id="698" name="BrandDeck Diagram Card 4"/>
            <p:cNvSpPr/>
            <p:nvPr/>
          </p:nvSpPr>
          <p:spPr>
            <a:xfrm>
              <a:off x="4674084" y="3047662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9" name="BrandDeck Diagram Icon 4 Badge"/>
            <p:cNvSpPr/>
            <p:nvPr/>
          </p:nvSpPr>
          <p:spPr>
            <a:xfrm>
              <a:off x="4893540" y="3395869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0" name="BrandDeck Icon user"/>
            <p:cNvSpPr/>
            <p:nvPr/>
          </p:nvSpPr>
          <p:spPr>
            <a:xfrm>
              <a:off x="4974007" y="347633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1" name="BrandDeck Diagram Text 4"/>
            <p:cNvSpPr txBox="1"/>
            <p:nvPr/>
          </p:nvSpPr>
          <p:spPr>
            <a:xfrm>
              <a:off x="5390973" y="317933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0">
                  <a:solidFill>
                    <a:srgbClr val="000000"/>
                  </a:solidFill>
                  <a:latin typeface="Play"/>
                </a:rPr>
                <a:t>Специалисты снова тратят время на поиск одного и того же ответа.</a:t>
              </a: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19" name="Google Shape;1119;p69"/>
          <p:cNvSpPr/>
          <p:nvPr/>
        </p:nvSpPr>
        <p:spPr>
          <a:xfrm>
            <a:off x="285748" y="286047"/>
            <a:ext cx="8572456" cy="4176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69"/>
          <p:cNvSpPr/>
          <p:nvPr/>
        </p:nvSpPr>
        <p:spPr>
          <a:xfrm>
            <a:off x="285748" y="1209852"/>
            <a:ext cx="8572456" cy="325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69"/>
          <p:cNvSpPr/>
          <p:nvPr/>
        </p:nvSpPr>
        <p:spPr>
          <a:xfrm>
            <a:off x="285748" y="1209852"/>
            <a:ext cx="8572456" cy="325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69"/>
          <p:cNvSpPr/>
          <p:nvPr/>
        </p:nvSpPr>
        <p:spPr>
          <a:xfrm>
            <a:off x="500061" y="1424137"/>
            <a:ext cx="2919397" cy="28952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16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69"/>
          <p:cNvSpPr/>
          <p:nvPr/>
        </p:nvSpPr>
        <p:spPr>
          <a:xfrm>
            <a:off x="3657581" y="1209852"/>
            <a:ext cx="5200623" cy="325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BrandDeck Text 1132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800"/>
              <a:t>Сотруднику нужен источник ответа, специалисту — контекст вопроса</a:t>
            </a:r>
            <a:endParaRPr/>
          </a:p>
        </p:txBody>
      </p:sp>
      <p:sp>
        <p:nvSpPr>
          <p:cNvPr id="1133" name="BrandDeck Body"/>
          <p:cNvSpPr txBox="1"/>
          <p:nvPr/>
        </p:nvSpPr>
        <p:spPr>
          <a:xfrm>
            <a:off x="500060" y="1424137"/>
            <a:ext cx="2558400" cy="2895223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97"/>
              </a:spcAft>
            </a:pPr>
            <a:r>
              <a:rPr sz="1320">
                <a:solidFill>
                  <a:srgbClr val="000000"/>
                </a:solidFill>
                <a:latin typeface="Play"/>
              </a:rPr>
              <a:t>• Сотруднику нужен понятный ответ со ссылкой на документ-источник.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97"/>
              </a:spcAft>
            </a:pPr>
            <a:r>
              <a:rPr sz="1320">
                <a:solidFill>
                  <a:srgbClr val="000000"/>
                </a:solidFill>
                <a:latin typeface="Play"/>
              </a:rPr>
              <a:t>• Специалисту нужен контекст вопроса, если автоматического ответа недостаточно.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97"/>
              </a:spcAft>
            </a:pPr>
            <a:r>
              <a:rPr sz="1320">
                <a:solidFill>
                  <a:srgbClr val="000000"/>
                </a:solidFill>
                <a:latin typeface="Play"/>
              </a:rPr>
              <a:t>• Передача вопроса вместе с контекстом избавляет сотрудника от повторного объяснения.</a:t>
            </a:r>
          </a:p>
        </p:txBody>
      </p:sp>
      <p:pic>
        <p:nvPicPr>
          <p:cNvPr id="1134" name="BrandDeck Image" descr="02 сотрудник специалист поддержки"/>
          <p:cNvPicPr>
            <a:picLocks noChangeAspect="1"/>
          </p:cNvPicPr>
          <p:nvPr/>
        </p:nvPicPr>
        <p:blipFill>
          <a:blip r:embed="rId7"/>
          <a:srcRect l="18013" r="18013"/>
          <a:stretch>
            <a:fillRect/>
          </a:stretch>
        </p:blipFill>
        <p:spPr>
          <a:xfrm>
            <a:off x="3314493" y="1424137"/>
            <a:ext cx="3291060" cy="2895223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62" name="Google Shape;662;p55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5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BrandDeck Text 68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800"/>
              <a:t>ИИ-помощник отвечает по регламентам и передаёт сложные вопросы специалисту</a:t>
            </a:r>
            <a:endParaRPr/>
          </a:p>
        </p:txBody>
      </p:sp>
      <p:grpSp>
        <p:nvGrpSpPr>
          <p:cNvPr id="2" name="BrandDeck Diagram icon_grid" descr="icon_grid: ИИ-помощник работает во внутреннем портале компании.; Он принимает вопрос сотрудника и ищет подходящий регламент.; Ответ сопровождается ссылкой на документ-источник.; Если подтверждённого ответа нет, вопрос принимает специалист поддержки."/>
          <p:cNvGrpSpPr/>
          <p:nvPr/>
        </p:nvGrpSpPr>
        <p:grpSpPr>
          <a:xfrm>
            <a:off x="438148" y="1819373"/>
            <a:ext cx="8305756" cy="2290463"/>
            <a:chOff x="438148" y="1819373"/>
            <a:chExt cx="8305756" cy="2290463"/>
          </a:xfrm>
        </p:grpSpPr>
        <p:sp>
          <p:nvSpPr>
            <p:cNvPr id="686" name="BrandDeck Diagram Card 1"/>
            <p:cNvSpPr/>
            <p:nvPr/>
          </p:nvSpPr>
          <p:spPr>
            <a:xfrm>
              <a:off x="438148" y="1819373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7" name="BrandDeck Diagram Icon 1 Badge"/>
            <p:cNvSpPr/>
            <p:nvPr/>
          </p:nvSpPr>
          <p:spPr>
            <a:xfrm>
              <a:off x="657604" y="2167580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8" name="BrandDeck Icon building"/>
            <p:cNvSpPr/>
            <p:nvPr/>
          </p:nvSpPr>
          <p:spPr>
            <a:xfrm>
              <a:off x="738071" y="2248047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2000"/>
                  </a:moveTo>
                  <a:lnTo>
                    <a:pt x="18000" y="2000"/>
                  </a:lnTo>
                  <a:cubicBezTo>
                    <a:pt x="19105" y="2000"/>
                    <a:pt x="20000" y="2895"/>
                    <a:pt x="20000" y="4000"/>
                  </a:cubicBezTo>
                  <a:lnTo>
                    <a:pt x="20000" y="20000"/>
                  </a:lnTo>
                  <a:cubicBezTo>
                    <a:pt x="20000" y="21105"/>
                    <a:pt x="19105" y="22000"/>
                    <a:pt x="18000" y="22000"/>
                  </a:cubicBezTo>
                  <a:lnTo>
                    <a:pt x="6000" y="22000"/>
                  </a:lnTo>
                  <a:cubicBezTo>
                    <a:pt x="4895" y="22000"/>
                    <a:pt x="4000" y="21105"/>
                    <a:pt x="4000" y="20000"/>
                  </a:cubicBezTo>
                  <a:lnTo>
                    <a:pt x="4000" y="4000"/>
                  </a:lnTo>
                  <a:cubicBezTo>
                    <a:pt x="4000" y="2895"/>
                    <a:pt x="4895" y="2000"/>
                    <a:pt x="6000" y="2000"/>
                  </a:cubicBezTo>
                  <a:close/>
                </a:path>
                <a:path w="24000" h="24000" fill="none">
                  <a:moveTo>
                    <a:pt x="9000" y="22000"/>
                  </a:moveTo>
                  <a:lnTo>
                    <a:pt x="9000" y="18000"/>
                  </a:lnTo>
                  <a:lnTo>
                    <a:pt x="15000" y="18000"/>
                  </a:lnTo>
                  <a:lnTo>
                    <a:pt x="15000" y="22000"/>
                  </a:lnTo>
                </a:path>
                <a:path w="24000" h="24000" fill="none">
                  <a:moveTo>
                    <a:pt x="8000" y="6000"/>
                  </a:moveTo>
                  <a:lnTo>
                    <a:pt x="8010" y="6000"/>
                  </a:lnTo>
                </a:path>
                <a:path w="24000" h="24000" fill="none">
                  <a:moveTo>
                    <a:pt x="16000" y="6000"/>
                  </a:moveTo>
                  <a:lnTo>
                    <a:pt x="16010" y="6000"/>
                  </a:lnTo>
                </a:path>
                <a:path w="24000" h="24000" fill="none">
                  <a:moveTo>
                    <a:pt x="12000" y="6000"/>
                  </a:moveTo>
                  <a:lnTo>
                    <a:pt x="12010" y="6000"/>
                  </a:lnTo>
                </a:path>
                <a:path w="24000" h="24000" fill="none">
                  <a:moveTo>
                    <a:pt x="12000" y="10000"/>
                  </a:moveTo>
                  <a:lnTo>
                    <a:pt x="12010" y="10000"/>
                  </a:lnTo>
                </a:path>
                <a:path w="24000" h="24000" fill="none">
                  <a:moveTo>
                    <a:pt x="12000" y="14000"/>
                  </a:moveTo>
                  <a:lnTo>
                    <a:pt x="12010" y="14000"/>
                  </a:lnTo>
                </a:path>
                <a:path w="24000" h="24000" fill="none">
                  <a:moveTo>
                    <a:pt x="16000" y="10000"/>
                  </a:moveTo>
                  <a:lnTo>
                    <a:pt x="16010" y="10000"/>
                  </a:lnTo>
                </a:path>
                <a:path w="24000" h="24000" fill="none">
                  <a:moveTo>
                    <a:pt x="16000" y="14000"/>
                  </a:moveTo>
                  <a:lnTo>
                    <a:pt x="16010" y="14000"/>
                  </a:lnTo>
                </a:path>
                <a:path w="24000" h="24000" fill="none">
                  <a:moveTo>
                    <a:pt x="8000" y="10000"/>
                  </a:moveTo>
                  <a:lnTo>
                    <a:pt x="8010" y="10000"/>
                  </a:lnTo>
                </a:path>
                <a:path w="24000" h="24000" fill="none">
                  <a:moveTo>
                    <a:pt x="8000" y="14000"/>
                  </a:moveTo>
                  <a:lnTo>
                    <a:pt x="8010" y="14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9" name="BrandDeck Diagram Text 1"/>
            <p:cNvSpPr txBox="1"/>
            <p:nvPr/>
          </p:nvSpPr>
          <p:spPr>
            <a:xfrm>
              <a:off x="1155037" y="195104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10" b="0">
                  <a:solidFill>
                    <a:srgbClr val="000000"/>
                  </a:solidFill>
                  <a:latin typeface="Play"/>
                </a:rPr>
                <a:t>ИИ-помощник работает во внутреннем портале компании.</a:t>
              </a:r>
            </a:p>
          </p:txBody>
        </p:sp>
        <p:sp>
          <p:nvSpPr>
            <p:cNvPr id="690" name="BrandDeck Diagram Card 2"/>
            <p:cNvSpPr/>
            <p:nvPr/>
          </p:nvSpPr>
          <p:spPr>
            <a:xfrm>
              <a:off x="4674084" y="1819373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1" name="BrandDeck Diagram Icon 2 Badge"/>
            <p:cNvSpPr/>
            <p:nvPr/>
          </p:nvSpPr>
          <p:spPr>
            <a:xfrm>
              <a:off x="4893540" y="2167580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2" name="BrandDeck Icon circle-help"/>
            <p:cNvSpPr/>
            <p:nvPr/>
          </p:nvSpPr>
          <p:spPr>
            <a:xfrm>
              <a:off x="4974007" y="2248047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90" y="9000"/>
                  </a:moveTo>
                  <a:cubicBezTo>
                    <a:pt x="9575" y="7620"/>
                    <a:pt x="10985" y="6791"/>
                    <a:pt x="12427" y="7039"/>
                  </a:cubicBezTo>
                  <a:cubicBezTo>
                    <a:pt x="13869" y="7286"/>
                    <a:pt x="14922" y="8537"/>
                    <a:pt x="14920" y="10000"/>
                  </a:cubicBezTo>
                  <a:cubicBezTo>
                    <a:pt x="14920" y="12000"/>
                    <a:pt x="11920" y="13000"/>
                    <a:pt x="11920" y="13000"/>
                  </a:cubicBezTo>
                </a:path>
                <a:path w="24000" h="24000" fill="none">
                  <a:moveTo>
                    <a:pt x="12000" y="17000"/>
                  </a:moveTo>
                  <a:lnTo>
                    <a:pt x="12010" y="17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3" name="BrandDeck Diagram Text 2"/>
            <p:cNvSpPr txBox="1"/>
            <p:nvPr/>
          </p:nvSpPr>
          <p:spPr>
            <a:xfrm>
              <a:off x="5390973" y="195104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10" b="0">
                  <a:solidFill>
                    <a:srgbClr val="000000"/>
                  </a:solidFill>
                  <a:latin typeface="Play"/>
                </a:rPr>
                <a:t>Он принимает вопрос сотрудника и ищет подходящий регламент.</a:t>
              </a:r>
            </a:p>
          </p:txBody>
        </p:sp>
        <p:sp>
          <p:nvSpPr>
            <p:cNvPr id="694" name="BrandDeck Diagram Card 3"/>
            <p:cNvSpPr/>
            <p:nvPr/>
          </p:nvSpPr>
          <p:spPr>
            <a:xfrm>
              <a:off x="438148" y="3047662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5" name="BrandDeck Diagram Icon 3 Badge"/>
            <p:cNvSpPr/>
            <p:nvPr/>
          </p:nvSpPr>
          <p:spPr>
            <a:xfrm>
              <a:off x="657604" y="3395869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6" name="BrandDeck Icon file-text"/>
            <p:cNvSpPr/>
            <p:nvPr/>
          </p:nvSpPr>
          <p:spPr>
            <a:xfrm>
              <a:off x="738071" y="347633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7" name="BrandDeck Diagram Text 3"/>
            <p:cNvSpPr txBox="1"/>
            <p:nvPr/>
          </p:nvSpPr>
          <p:spPr>
            <a:xfrm>
              <a:off x="1155037" y="317933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10" b="0">
                  <a:solidFill>
                    <a:srgbClr val="000000"/>
                  </a:solidFill>
                  <a:latin typeface="Play"/>
                </a:rPr>
                <a:t>Ответ сопровождается ссылкой на документ-источник.</a:t>
              </a:r>
            </a:p>
          </p:txBody>
        </p:sp>
        <p:sp>
          <p:nvSpPr>
            <p:cNvPr id="698" name="BrandDeck Diagram Card 4"/>
            <p:cNvSpPr/>
            <p:nvPr/>
          </p:nvSpPr>
          <p:spPr>
            <a:xfrm>
              <a:off x="4674084" y="3047662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9" name="BrandDeck Diagram Icon 4 Badge"/>
            <p:cNvSpPr/>
            <p:nvPr/>
          </p:nvSpPr>
          <p:spPr>
            <a:xfrm>
              <a:off x="4893540" y="3395869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0" name="BrandDeck Icon circle-check"/>
            <p:cNvSpPr/>
            <p:nvPr/>
          </p:nvSpPr>
          <p:spPr>
            <a:xfrm>
              <a:off x="4974007" y="347633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1" name="BrandDeck Diagram Text 4"/>
            <p:cNvSpPr txBox="1"/>
            <p:nvPr/>
          </p:nvSpPr>
          <p:spPr>
            <a:xfrm>
              <a:off x="5390973" y="317933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10" b="0">
                  <a:solidFill>
                    <a:srgbClr val="000000"/>
                  </a:solidFill>
                  <a:latin typeface="Play"/>
                </a:rPr>
                <a:t>Если подтверждённого ответа нет, вопрос принимает специалист поддержки.</a:t>
              </a: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62" name="Google Shape;662;p55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5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BrandDeck Text 68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800"/>
              <a:t>Вопрос проходит путь от портала до ответа со ссылкой или эскалации</a:t>
            </a:r>
            <a:endParaRPr/>
          </a:p>
        </p:txBody>
      </p:sp>
      <p:grpSp>
        <p:nvGrpSpPr>
          <p:cNvPr id="2" name="BrandDeck Diagram icon_grid" descr="icon_grid: Сотрудник задаёт вопрос во внутреннем портале.; Помощник ищет ответ в регламентах и показывает источник.; При отсутствии подтверждённого ответа вопрос передаётся специалисту.; Специалист получает контекст исходного обращения."/>
          <p:cNvGrpSpPr/>
          <p:nvPr/>
        </p:nvGrpSpPr>
        <p:grpSpPr>
          <a:xfrm>
            <a:off x="438148" y="1819373"/>
            <a:ext cx="8305756" cy="2290463"/>
            <a:chOff x="438148" y="1819373"/>
            <a:chExt cx="8305756" cy="2290463"/>
          </a:xfrm>
        </p:grpSpPr>
        <p:sp>
          <p:nvSpPr>
            <p:cNvPr id="686" name="BrandDeck Diagram Card 1"/>
            <p:cNvSpPr/>
            <p:nvPr/>
          </p:nvSpPr>
          <p:spPr>
            <a:xfrm>
              <a:off x="438148" y="1819373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7" name="BrandDeck Diagram Icon 1 Badge"/>
            <p:cNvSpPr/>
            <p:nvPr/>
          </p:nvSpPr>
          <p:spPr>
            <a:xfrm>
              <a:off x="657604" y="2167580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8" name="BrandDeck Icon users"/>
            <p:cNvSpPr/>
            <p:nvPr/>
          </p:nvSpPr>
          <p:spPr>
            <a:xfrm>
              <a:off x="738071" y="2248047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9" name="BrandDeck Diagram Text 1"/>
            <p:cNvSpPr txBox="1"/>
            <p:nvPr/>
          </p:nvSpPr>
          <p:spPr>
            <a:xfrm>
              <a:off x="1155037" y="195104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0">
                  <a:solidFill>
                    <a:srgbClr val="000000"/>
                  </a:solidFill>
                  <a:latin typeface="Play"/>
                </a:rPr>
                <a:t>Сотрудник задаёт вопрос во внутреннем портале.</a:t>
              </a:r>
            </a:p>
          </p:txBody>
        </p:sp>
        <p:sp>
          <p:nvSpPr>
            <p:cNvPr id="690" name="BrandDeck Diagram Card 2"/>
            <p:cNvSpPr/>
            <p:nvPr/>
          </p:nvSpPr>
          <p:spPr>
            <a:xfrm>
              <a:off x="4674084" y="1819373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1" name="BrandDeck Diagram Icon 2 Badge"/>
            <p:cNvSpPr/>
            <p:nvPr/>
          </p:nvSpPr>
          <p:spPr>
            <a:xfrm>
              <a:off x="4893540" y="2167580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2" name="BrandDeck Icon life-buoy"/>
            <p:cNvSpPr/>
            <p:nvPr/>
          </p:nvSpPr>
          <p:spPr>
            <a:xfrm>
              <a:off x="4974007" y="2248047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4930" y="4930"/>
                  </a:moveTo>
                  <a:lnTo>
                    <a:pt x="9170" y="9170"/>
                  </a:lnTo>
                </a:path>
                <a:path w="24000" h="24000" fill="none">
                  <a:moveTo>
                    <a:pt x="14830" y="9170"/>
                  </a:moveTo>
                  <a:lnTo>
                    <a:pt x="19070" y="4930"/>
                  </a:lnTo>
                </a:path>
                <a:path w="24000" h="24000" fill="none">
                  <a:moveTo>
                    <a:pt x="14830" y="14830"/>
                  </a:moveTo>
                  <a:lnTo>
                    <a:pt x="19070" y="19070"/>
                  </a:lnTo>
                </a:path>
                <a:path w="24000" h="24000" fill="none">
                  <a:moveTo>
                    <a:pt x="9170" y="14830"/>
                  </a:moveTo>
                  <a:lnTo>
                    <a:pt x="4930" y="19070"/>
                  </a:lnTo>
                </a:path>
                <a:path w="24000" h="24000" fill="none">
                  <a:moveTo>
                    <a:pt x="16000" y="12000"/>
                  </a:moveTo>
                  <a:cubicBezTo>
                    <a:pt x="16000" y="14209"/>
                    <a:pt x="14209" y="16000"/>
                    <a:pt x="12000" y="16000"/>
                  </a:cubicBezTo>
                  <a:cubicBezTo>
                    <a:pt x="9791" y="16000"/>
                    <a:pt x="8000" y="14209"/>
                    <a:pt x="8000" y="12000"/>
                  </a:cubicBezTo>
                  <a:cubicBezTo>
                    <a:pt x="8000" y="9791"/>
                    <a:pt x="9791" y="8000"/>
                    <a:pt x="12000" y="8000"/>
                  </a:cubicBezTo>
                  <a:cubicBezTo>
                    <a:pt x="14209" y="8000"/>
                    <a:pt x="16000" y="9791"/>
                    <a:pt x="16000" y="12000"/>
                  </a:cubicBezTo>
                  <a:close/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3" name="BrandDeck Diagram Text 2"/>
            <p:cNvSpPr txBox="1"/>
            <p:nvPr/>
          </p:nvSpPr>
          <p:spPr>
            <a:xfrm>
              <a:off x="5390973" y="195104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0">
                  <a:solidFill>
                    <a:srgbClr val="000000"/>
                  </a:solidFill>
                  <a:latin typeface="Play"/>
                </a:rPr>
                <a:t>Помощник ищет ответ в регламентах и показывает источник.</a:t>
              </a:r>
            </a:p>
          </p:txBody>
        </p:sp>
        <p:sp>
          <p:nvSpPr>
            <p:cNvPr id="694" name="BrandDeck Diagram Card 3"/>
            <p:cNvSpPr/>
            <p:nvPr/>
          </p:nvSpPr>
          <p:spPr>
            <a:xfrm>
              <a:off x="438148" y="3047662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5" name="BrandDeck Diagram Icon 3 Badge"/>
            <p:cNvSpPr/>
            <p:nvPr/>
          </p:nvSpPr>
          <p:spPr>
            <a:xfrm>
              <a:off x="657604" y="3395869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6" name="BrandDeck Icon circle-check"/>
            <p:cNvSpPr/>
            <p:nvPr/>
          </p:nvSpPr>
          <p:spPr>
            <a:xfrm>
              <a:off x="738071" y="347633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7" name="BrandDeck Diagram Text 3"/>
            <p:cNvSpPr txBox="1"/>
            <p:nvPr/>
          </p:nvSpPr>
          <p:spPr>
            <a:xfrm>
              <a:off x="1155037" y="317933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0">
                  <a:solidFill>
                    <a:srgbClr val="000000"/>
                  </a:solidFill>
                  <a:latin typeface="Play"/>
                </a:rPr>
                <a:t>При отсутствии подтверждённого ответа вопрос передаётся специалисту.</a:t>
              </a:r>
            </a:p>
          </p:txBody>
        </p:sp>
        <p:sp>
          <p:nvSpPr>
            <p:cNvPr id="698" name="BrandDeck Diagram Card 4"/>
            <p:cNvSpPr/>
            <p:nvPr/>
          </p:nvSpPr>
          <p:spPr>
            <a:xfrm>
              <a:off x="4674084" y="3047662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9" name="BrandDeck Diagram Icon 4 Badge"/>
            <p:cNvSpPr/>
            <p:nvPr/>
          </p:nvSpPr>
          <p:spPr>
            <a:xfrm>
              <a:off x="4893540" y="3395869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0" name="BrandDeck Icon user"/>
            <p:cNvSpPr/>
            <p:nvPr/>
          </p:nvSpPr>
          <p:spPr>
            <a:xfrm>
              <a:off x="4974007" y="347633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1" name="BrandDeck Diagram Text 4"/>
            <p:cNvSpPr txBox="1"/>
            <p:nvPr/>
          </p:nvSpPr>
          <p:spPr>
            <a:xfrm>
              <a:off x="5390973" y="317933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0">
                  <a:solidFill>
                    <a:srgbClr val="000000"/>
                  </a:solidFill>
                  <a:latin typeface="Play"/>
                </a:rPr>
                <a:t>Специалист получает контекст исходного обращения.</a:t>
              </a:r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62" name="Google Shape;662;p55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5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BrandDeck Text 68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800"/>
              <a:t>Документы остаются внутри контура, неподтверждённый ответ проверяет специалист</a:t>
            </a:r>
            <a:endParaRPr/>
          </a:p>
        </p:txBody>
      </p:sp>
      <p:grpSp>
        <p:nvGrpSpPr>
          <p:cNvPr id="2" name="BrandDeck Diagram icon_grid" descr="icon_grid: Модель с открытыми весами работает внутри контура компании.; Документы не уходят наружу при обработке запроса.; Инструкция может устареть или не дать подтверждённого ответа.; В таком случае вопрос передаётся специалисту; ссылку на источник можно проверить."/>
          <p:cNvGrpSpPr/>
          <p:nvPr/>
        </p:nvGrpSpPr>
        <p:grpSpPr>
          <a:xfrm>
            <a:off x="438148" y="1819373"/>
            <a:ext cx="8305756" cy="2290463"/>
            <a:chOff x="438148" y="1819373"/>
            <a:chExt cx="8305756" cy="2290463"/>
          </a:xfrm>
        </p:grpSpPr>
        <p:sp>
          <p:nvSpPr>
            <p:cNvPr id="686" name="BrandDeck Diagram Card 1"/>
            <p:cNvSpPr/>
            <p:nvPr/>
          </p:nvSpPr>
          <p:spPr>
            <a:xfrm>
              <a:off x="438148" y="1819373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7" name="BrandDeck Diagram Icon 1 Badge"/>
            <p:cNvSpPr/>
            <p:nvPr/>
          </p:nvSpPr>
          <p:spPr>
            <a:xfrm>
              <a:off x="657604" y="2167580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8" name="BrandDeck Icon brain"/>
            <p:cNvSpPr/>
            <p:nvPr/>
          </p:nvSpPr>
          <p:spPr>
            <a:xfrm>
              <a:off x="738071" y="2248047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5000"/>
                  </a:moveTo>
                  <a:cubicBezTo>
                    <a:pt x="12003" y="3911"/>
                    <a:pt x="11416" y="2906"/>
                    <a:pt x="10466" y="2374"/>
                  </a:cubicBezTo>
                  <a:cubicBezTo>
                    <a:pt x="9516" y="1842"/>
                    <a:pt x="8353" y="1866"/>
                    <a:pt x="7426" y="2437"/>
                  </a:cubicBezTo>
                  <a:cubicBezTo>
                    <a:pt x="6499" y="3009"/>
                    <a:pt x="5954" y="4037"/>
                    <a:pt x="6003" y="5125"/>
                  </a:cubicBezTo>
                  <a:cubicBezTo>
                    <a:pt x="4812" y="5431"/>
                    <a:pt x="3828" y="6268"/>
                    <a:pt x="3335" y="7395"/>
                  </a:cubicBezTo>
                  <a:cubicBezTo>
                    <a:pt x="2842" y="8521"/>
                    <a:pt x="2894" y="9812"/>
                    <a:pt x="3477" y="10895"/>
                  </a:cubicBezTo>
                  <a:cubicBezTo>
                    <a:pt x="2450" y="11729"/>
                    <a:pt x="1902" y="13018"/>
                    <a:pt x="2013" y="14336"/>
                  </a:cubicBezTo>
                  <a:cubicBezTo>
                    <a:pt x="2125" y="15654"/>
                    <a:pt x="2881" y="16833"/>
                    <a:pt x="4033" y="17483"/>
                  </a:cubicBezTo>
                  <a:cubicBezTo>
                    <a:pt x="3842" y="18961"/>
                    <a:pt x="4488" y="20422"/>
                    <a:pt x="5710" y="21275"/>
                  </a:cubicBezTo>
                  <a:cubicBezTo>
                    <a:pt x="6931" y="22128"/>
                    <a:pt x="8526" y="22232"/>
                    <a:pt x="9847" y="21544"/>
                  </a:cubicBezTo>
                  <a:cubicBezTo>
                    <a:pt x="11169" y="20856"/>
                    <a:pt x="11998" y="19490"/>
                    <a:pt x="12000" y="18000"/>
                  </a:cubicBezTo>
                  <a:close/>
                </a:path>
                <a:path w="24000" h="24000" fill="none">
                  <a:moveTo>
                    <a:pt x="12000" y="5000"/>
                  </a:moveTo>
                  <a:cubicBezTo>
                    <a:pt x="11997" y="3911"/>
                    <a:pt x="12584" y="2906"/>
                    <a:pt x="13534" y="2374"/>
                  </a:cubicBezTo>
                  <a:cubicBezTo>
                    <a:pt x="14484" y="1842"/>
                    <a:pt x="15647" y="1866"/>
                    <a:pt x="16574" y="2437"/>
                  </a:cubicBezTo>
                  <a:cubicBezTo>
                    <a:pt x="17501" y="3009"/>
                    <a:pt x="18046" y="4037"/>
                    <a:pt x="17997" y="5125"/>
                  </a:cubicBezTo>
                  <a:cubicBezTo>
                    <a:pt x="19188" y="5431"/>
                    <a:pt x="20172" y="6268"/>
                    <a:pt x="20665" y="7395"/>
                  </a:cubicBezTo>
                  <a:cubicBezTo>
                    <a:pt x="21158" y="8521"/>
                    <a:pt x="21106" y="9812"/>
                    <a:pt x="20523" y="10895"/>
                  </a:cubicBezTo>
                  <a:cubicBezTo>
                    <a:pt x="21550" y="11729"/>
                    <a:pt x="22098" y="13018"/>
                    <a:pt x="21987" y="14336"/>
                  </a:cubicBezTo>
                  <a:cubicBezTo>
                    <a:pt x="21875" y="15654"/>
                    <a:pt x="21119" y="16833"/>
                    <a:pt x="19967" y="17483"/>
                  </a:cubicBezTo>
                  <a:cubicBezTo>
                    <a:pt x="20158" y="18961"/>
                    <a:pt x="19512" y="20422"/>
                    <a:pt x="18290" y="21275"/>
                  </a:cubicBezTo>
                  <a:cubicBezTo>
                    <a:pt x="17069" y="22128"/>
                    <a:pt x="15474" y="22232"/>
                    <a:pt x="14153" y="21544"/>
                  </a:cubicBezTo>
                  <a:cubicBezTo>
                    <a:pt x="12831" y="20856"/>
                    <a:pt x="12002" y="19490"/>
                    <a:pt x="12000" y="18000"/>
                  </a:cubicBezTo>
                  <a:close/>
                </a:path>
                <a:path w="24000" h="24000" fill="none">
                  <a:moveTo>
                    <a:pt x="15000" y="13000"/>
                  </a:moveTo>
                  <a:cubicBezTo>
                    <a:pt x="13283" y="12396"/>
                    <a:pt x="12099" y="10817"/>
                    <a:pt x="12000" y="9000"/>
                  </a:cubicBezTo>
                  <a:cubicBezTo>
                    <a:pt x="11901" y="10817"/>
                    <a:pt x="10717" y="12396"/>
                    <a:pt x="9000" y="13000"/>
                  </a:cubicBezTo>
                </a:path>
                <a:path w="24000" h="24000" fill="none">
                  <a:moveTo>
                    <a:pt x="17599" y="6500"/>
                  </a:moveTo>
                  <a:cubicBezTo>
                    <a:pt x="17841" y="6081"/>
                    <a:pt x="17978" y="5609"/>
                    <a:pt x="17998" y="5125"/>
                  </a:cubicBezTo>
                </a:path>
                <a:path w="24000" h="24000" fill="none">
                  <a:moveTo>
                    <a:pt x="6003" y="5125"/>
                  </a:moveTo>
                  <a:cubicBezTo>
                    <a:pt x="6023" y="5609"/>
                    <a:pt x="6159" y="6080"/>
                    <a:pt x="6401" y="6500"/>
                  </a:cubicBezTo>
                </a:path>
                <a:path w="24000" h="24000" fill="none">
                  <a:moveTo>
                    <a:pt x="3477" y="10896"/>
                  </a:moveTo>
                  <a:cubicBezTo>
                    <a:pt x="3660" y="10747"/>
                    <a:pt x="3856" y="10614"/>
                    <a:pt x="4062" y="10500"/>
                  </a:cubicBezTo>
                </a:path>
                <a:path w="24000" h="24000" fill="none">
                  <a:moveTo>
                    <a:pt x="19938" y="10500"/>
                  </a:moveTo>
                  <a:cubicBezTo>
                    <a:pt x="20144" y="10614"/>
                    <a:pt x="20340" y="10747"/>
                    <a:pt x="20523" y="10896"/>
                  </a:cubicBezTo>
                </a:path>
                <a:path w="24000" h="24000" fill="none">
                  <a:moveTo>
                    <a:pt x="6000" y="18000"/>
                  </a:moveTo>
                  <a:cubicBezTo>
                    <a:pt x="5311" y="18000"/>
                    <a:pt x="4633" y="17823"/>
                    <a:pt x="4033" y="17484"/>
                  </a:cubicBezTo>
                </a:path>
                <a:path w="24000" h="24000" fill="none">
                  <a:moveTo>
                    <a:pt x="19967" y="17484"/>
                  </a:moveTo>
                  <a:cubicBezTo>
                    <a:pt x="19367" y="17823"/>
                    <a:pt x="18689" y="18000"/>
                    <a:pt x="18000" y="18000"/>
                  </a:cubicBez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9" name="BrandDeck Diagram Text 1"/>
            <p:cNvSpPr txBox="1"/>
            <p:nvPr/>
          </p:nvSpPr>
          <p:spPr>
            <a:xfrm>
              <a:off x="1155037" y="195104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0">
                  <a:solidFill>
                    <a:srgbClr val="000000"/>
                  </a:solidFill>
                  <a:latin typeface="Play"/>
                </a:rPr>
                <a:t>Модель с открытыми весами работает внутри контура компании.</a:t>
              </a:r>
            </a:p>
          </p:txBody>
        </p:sp>
        <p:sp>
          <p:nvSpPr>
            <p:cNvPr id="690" name="BrandDeck Diagram Card 2"/>
            <p:cNvSpPr/>
            <p:nvPr/>
          </p:nvSpPr>
          <p:spPr>
            <a:xfrm>
              <a:off x="4674084" y="1819373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1" name="BrandDeck Diagram Icon 2 Badge"/>
            <p:cNvSpPr/>
            <p:nvPr/>
          </p:nvSpPr>
          <p:spPr>
            <a:xfrm>
              <a:off x="4893540" y="2167580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2" name="BrandDeck Icon file-text"/>
            <p:cNvSpPr/>
            <p:nvPr/>
          </p:nvSpPr>
          <p:spPr>
            <a:xfrm>
              <a:off x="4974007" y="2248047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3" name="BrandDeck Diagram Text 2"/>
            <p:cNvSpPr txBox="1"/>
            <p:nvPr/>
          </p:nvSpPr>
          <p:spPr>
            <a:xfrm>
              <a:off x="5390973" y="195104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0">
                  <a:solidFill>
                    <a:srgbClr val="000000"/>
                  </a:solidFill>
                  <a:latin typeface="Play"/>
                </a:rPr>
                <a:t>Документы не уходят наружу при обработке запроса.</a:t>
              </a:r>
            </a:p>
          </p:txBody>
        </p:sp>
        <p:sp>
          <p:nvSpPr>
            <p:cNvPr id="694" name="BrandDeck Diagram Card 3"/>
            <p:cNvSpPr/>
            <p:nvPr/>
          </p:nvSpPr>
          <p:spPr>
            <a:xfrm>
              <a:off x="438148" y="3047662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5" name="BrandDeck Diagram Icon 3 Badge"/>
            <p:cNvSpPr/>
            <p:nvPr/>
          </p:nvSpPr>
          <p:spPr>
            <a:xfrm>
              <a:off x="657604" y="3395869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6" name="BrandDeck Icon circle-check"/>
            <p:cNvSpPr/>
            <p:nvPr/>
          </p:nvSpPr>
          <p:spPr>
            <a:xfrm>
              <a:off x="738071" y="347633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7" name="BrandDeck Diagram Text 3"/>
            <p:cNvSpPr txBox="1"/>
            <p:nvPr/>
          </p:nvSpPr>
          <p:spPr>
            <a:xfrm>
              <a:off x="1155037" y="317933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0">
                  <a:solidFill>
                    <a:srgbClr val="000000"/>
                  </a:solidFill>
                  <a:latin typeface="Play"/>
                </a:rPr>
                <a:t>Инструкция может устареть или не дать подтверждённого ответа.</a:t>
              </a:r>
            </a:p>
          </p:txBody>
        </p:sp>
        <p:sp>
          <p:nvSpPr>
            <p:cNvPr id="698" name="BrandDeck Diagram Card 4"/>
            <p:cNvSpPr/>
            <p:nvPr/>
          </p:nvSpPr>
          <p:spPr>
            <a:xfrm>
              <a:off x="4674084" y="3047662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9" name="BrandDeck Diagram Icon 4 Badge"/>
            <p:cNvSpPr/>
            <p:nvPr/>
          </p:nvSpPr>
          <p:spPr>
            <a:xfrm>
              <a:off x="4893540" y="3395869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0" name="BrandDeck Icon user"/>
            <p:cNvSpPr/>
            <p:nvPr/>
          </p:nvSpPr>
          <p:spPr>
            <a:xfrm>
              <a:off x="4974007" y="347633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1" name="BrandDeck Diagram Text 4"/>
            <p:cNvSpPr txBox="1"/>
            <p:nvPr/>
          </p:nvSpPr>
          <p:spPr>
            <a:xfrm>
              <a:off x="5390973" y="317933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0">
                  <a:solidFill>
                    <a:srgbClr val="000000"/>
                  </a:solidFill>
                  <a:latin typeface="Play"/>
                </a:rPr>
                <a:t>В таком случае вопрос передаётся специалисту; ссылку на источник можно проверить.</a:t>
              </a:r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32" name="Google Shape;1032;p6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6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BrandDeck Text 1050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800"/>
              <a:t>Пилот охватит 150 сотрудников двух подразделений за 6 недель</a:t>
            </a:r>
            <a:endParaRPr/>
          </a:p>
        </p:txBody>
      </p:sp>
      <p:grpSp>
        <p:nvGrpSpPr>
          <p:cNvPr id="2" name="BrandDeck Diagram icon_grid" descr="icon_grid: Пилот охватывает 2 подразделения и 150 сотрудников.; Продолжительность пилота — 6 недель.; В пилоте проверяются ответы по регламентам и передача вопросов специалисту."/>
          <p:cNvGrpSpPr/>
          <p:nvPr/>
        </p:nvGrpSpPr>
        <p:grpSpPr>
          <a:xfrm>
            <a:off x="585216" y="1144312"/>
            <a:ext cx="5129783" cy="3583136"/>
            <a:chOff x="585216" y="1144312"/>
            <a:chExt cx="5129783" cy="3583136"/>
          </a:xfrm>
        </p:grpSpPr>
        <p:sp>
          <p:nvSpPr>
            <p:cNvPr id="1051" name="BrandDeck Diagram Card 1"/>
            <p:cNvSpPr/>
            <p:nvPr/>
          </p:nvSpPr>
          <p:spPr>
            <a:xfrm>
              <a:off x="585216" y="1144312"/>
              <a:ext cx="2510027" cy="173670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2" name="BrandDeck Diagram Icon 1 Badge"/>
            <p:cNvSpPr/>
            <p:nvPr/>
          </p:nvSpPr>
          <p:spPr>
            <a:xfrm>
              <a:off x="760917" y="1320013"/>
              <a:ext cx="486277" cy="486277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3" name="BrandDeck Icon rocket"/>
            <p:cNvSpPr/>
            <p:nvPr/>
          </p:nvSpPr>
          <p:spPr>
            <a:xfrm>
              <a:off x="867898" y="1426994"/>
              <a:ext cx="272315" cy="27231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500" y="16500"/>
                  </a:moveTo>
                  <a:cubicBezTo>
                    <a:pt x="3000" y="17760"/>
                    <a:pt x="2500" y="21500"/>
                    <a:pt x="2500" y="21500"/>
                  </a:cubicBezTo>
                  <a:cubicBezTo>
                    <a:pt x="2500" y="21500"/>
                    <a:pt x="6240" y="21000"/>
                    <a:pt x="7500" y="19500"/>
                  </a:cubicBezTo>
                  <a:cubicBezTo>
                    <a:pt x="8210" y="18660"/>
                    <a:pt x="8200" y="17370"/>
                    <a:pt x="7410" y="16590"/>
                  </a:cubicBezTo>
                  <a:cubicBezTo>
                    <a:pt x="6605" y="15822"/>
                    <a:pt x="5351" y="15783"/>
                    <a:pt x="4500" y="16500"/>
                  </a:cubicBezTo>
                  <a:close/>
                </a:path>
                <a:path w="24000" h="24000" fill="none">
                  <a:moveTo>
                    <a:pt x="12000" y="15000"/>
                  </a:moveTo>
                  <a:lnTo>
                    <a:pt x="9000" y="12000"/>
                  </a:lnTo>
                  <a:cubicBezTo>
                    <a:pt x="9532" y="10619"/>
                    <a:pt x="10202" y="9296"/>
                    <a:pt x="11000" y="8050"/>
                  </a:cubicBezTo>
                  <a:cubicBezTo>
                    <a:pt x="13369" y="4262"/>
                    <a:pt x="17532" y="1972"/>
                    <a:pt x="22000" y="2000"/>
                  </a:cubicBezTo>
                  <a:cubicBezTo>
                    <a:pt x="22000" y="4720"/>
                    <a:pt x="21220" y="9500"/>
                    <a:pt x="16000" y="13000"/>
                  </a:cubicBezTo>
                  <a:cubicBezTo>
                    <a:pt x="14737" y="13799"/>
                    <a:pt x="13397" y="14469"/>
                    <a:pt x="12000" y="15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4000" y="12000"/>
                  </a:lnTo>
                  <a:cubicBezTo>
                    <a:pt x="4000" y="12000"/>
                    <a:pt x="4550" y="8970"/>
                    <a:pt x="6000" y="8000"/>
                  </a:cubicBezTo>
                  <a:cubicBezTo>
                    <a:pt x="7620" y="6920"/>
                    <a:pt x="11000" y="8000"/>
                    <a:pt x="11000" y="8000"/>
                  </a:cubicBezTo>
                </a:path>
                <a:path w="24000" h="24000" fill="none">
                  <a:moveTo>
                    <a:pt x="12000" y="15000"/>
                  </a:moveTo>
                  <a:lnTo>
                    <a:pt x="12000" y="20000"/>
                  </a:lnTo>
                  <a:cubicBezTo>
                    <a:pt x="12000" y="20000"/>
                    <a:pt x="15030" y="19450"/>
                    <a:pt x="16000" y="18000"/>
                  </a:cubicBezTo>
                  <a:cubicBezTo>
                    <a:pt x="17080" y="16380"/>
                    <a:pt x="16000" y="13000"/>
                    <a:pt x="16000" y="13000"/>
                  </a:cubicBezTo>
                </a:path>
              </a:pathLst>
            </a:custGeom>
            <a:noFill/>
            <a:ln w="22692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4" name="BrandDeck Diagram Text 1"/>
            <p:cNvSpPr txBox="1"/>
            <p:nvPr/>
          </p:nvSpPr>
          <p:spPr>
            <a:xfrm>
              <a:off x="708207" y="1929282"/>
              <a:ext cx="2264045" cy="863882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000000"/>
                  </a:solidFill>
                  <a:latin typeface="Play"/>
                </a:rPr>
                <a:t>Пилот охватывает 2 подразделения и 150 сотрудников.</a:t>
              </a:r>
            </a:p>
          </p:txBody>
        </p:sp>
        <p:sp>
          <p:nvSpPr>
            <p:cNvPr id="1055" name="BrandDeck Diagram Card 2"/>
            <p:cNvSpPr/>
            <p:nvPr/>
          </p:nvSpPr>
          <p:spPr>
            <a:xfrm>
              <a:off x="3204972" y="1144312"/>
              <a:ext cx="2510027" cy="173670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6" name="BrandDeck Diagram Icon 2 Badge"/>
            <p:cNvSpPr/>
            <p:nvPr/>
          </p:nvSpPr>
          <p:spPr>
            <a:xfrm>
              <a:off x="3380673" y="1320013"/>
              <a:ext cx="486277" cy="486277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7" name="BrandDeck Icon hourglass"/>
            <p:cNvSpPr/>
            <p:nvPr/>
          </p:nvSpPr>
          <p:spPr>
            <a:xfrm>
              <a:off x="3487654" y="1426994"/>
              <a:ext cx="272315" cy="27231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5000" y="22000"/>
                  </a:moveTo>
                  <a:lnTo>
                    <a:pt x="19000" y="22000"/>
                  </a:lnTo>
                </a:path>
                <a:path w="24000" h="24000" fill="none">
                  <a:moveTo>
                    <a:pt x="5000" y="2000"/>
                  </a:moveTo>
                  <a:lnTo>
                    <a:pt x="19000" y="2000"/>
                  </a:lnTo>
                </a:path>
                <a:path w="24000" h="24000" fill="none">
                  <a:moveTo>
                    <a:pt x="17000" y="22000"/>
                  </a:moveTo>
                  <a:lnTo>
                    <a:pt x="17000" y="17828"/>
                  </a:lnTo>
                  <a:cubicBezTo>
                    <a:pt x="17000" y="17298"/>
                    <a:pt x="16789" y="16789"/>
                    <a:pt x="16414" y="16414"/>
                  </a:cubicBezTo>
                  <a:lnTo>
                    <a:pt x="12000" y="12000"/>
                  </a:lnTo>
                  <a:lnTo>
                    <a:pt x="7586" y="16414"/>
                  </a:lnTo>
                  <a:cubicBezTo>
                    <a:pt x="7211" y="16789"/>
                    <a:pt x="7000" y="17298"/>
                    <a:pt x="7000" y="17828"/>
                  </a:cubicBezTo>
                  <a:lnTo>
                    <a:pt x="7000" y="22000"/>
                  </a:lnTo>
                </a:path>
                <a:path w="24000" h="24000" fill="none">
                  <a:moveTo>
                    <a:pt x="7000" y="2000"/>
                  </a:moveTo>
                  <a:lnTo>
                    <a:pt x="7000" y="6172"/>
                  </a:lnTo>
                  <a:cubicBezTo>
                    <a:pt x="7000" y="6702"/>
                    <a:pt x="7211" y="7211"/>
                    <a:pt x="7586" y="7586"/>
                  </a:cubicBezTo>
                  <a:lnTo>
                    <a:pt x="12000" y="12000"/>
                  </a:lnTo>
                  <a:lnTo>
                    <a:pt x="16414" y="7586"/>
                  </a:lnTo>
                  <a:cubicBezTo>
                    <a:pt x="16789" y="7211"/>
                    <a:pt x="17000" y="6702"/>
                    <a:pt x="17000" y="6172"/>
                  </a:cubicBezTo>
                  <a:lnTo>
                    <a:pt x="17000" y="2000"/>
                  </a:lnTo>
                </a:path>
              </a:pathLst>
            </a:custGeom>
            <a:noFill/>
            <a:ln w="22692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8" name="BrandDeck Diagram Text 2"/>
            <p:cNvSpPr txBox="1"/>
            <p:nvPr/>
          </p:nvSpPr>
          <p:spPr>
            <a:xfrm>
              <a:off x="3327963" y="1929282"/>
              <a:ext cx="2264045" cy="863882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1">
                  <a:solidFill>
                    <a:srgbClr val="000000"/>
                  </a:solidFill>
                  <a:latin typeface="Play"/>
                </a:rPr>
                <a:t>Продолжительность пилота —</a:t>
              </a:r>
              <a:r>
                <a:rPr sz="1200" b="0">
                  <a:solidFill>
                    <a:srgbClr val="000000"/>
                  </a:solidFill>
                  <a:latin typeface="Play"/>
                </a:rPr>
                <a:t> 6 недель.</a:t>
              </a:r>
            </a:p>
          </p:txBody>
        </p:sp>
        <p:sp>
          <p:nvSpPr>
            <p:cNvPr id="1059" name="BrandDeck Diagram Card 3"/>
            <p:cNvSpPr/>
            <p:nvPr/>
          </p:nvSpPr>
          <p:spPr>
            <a:xfrm>
              <a:off x="585216" y="2990744"/>
              <a:ext cx="2510027" cy="173670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0" name="BrandDeck Diagram Icon 3 Badge"/>
            <p:cNvSpPr/>
            <p:nvPr/>
          </p:nvSpPr>
          <p:spPr>
            <a:xfrm>
              <a:off x="760917" y="3166445"/>
              <a:ext cx="486277" cy="486277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1" name="BrandDeck Icon user"/>
            <p:cNvSpPr/>
            <p:nvPr/>
          </p:nvSpPr>
          <p:spPr>
            <a:xfrm>
              <a:off x="867898" y="3273426"/>
              <a:ext cx="272315" cy="27231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2692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2" name="BrandDeck Diagram Text 3"/>
            <p:cNvSpPr txBox="1"/>
            <p:nvPr/>
          </p:nvSpPr>
          <p:spPr>
            <a:xfrm>
              <a:off x="708207" y="3775714"/>
              <a:ext cx="2264045" cy="863882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000000"/>
                  </a:solidFill>
                  <a:latin typeface="Play"/>
                </a:rPr>
                <a:t>В пилоте проверяются ответы по регламентам и передача вопросов специалисту.</a:t>
              </a: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62" name="Google Shape;662;p55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5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BrandDeck Text 68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800"/>
              <a:t>Успех измерят временем поиска и долей обращений без специалиста</a:t>
            </a:r>
            <a:endParaRPr/>
          </a:p>
        </p:txBody>
      </p:sp>
      <p:grpSp>
        <p:nvGrpSpPr>
          <p:cNvPr id="2" name="BrandDeck Diagram icon_grid" descr="icon_grid: Команда измеряет время поиска ответа.; Также измеряется доля обращений, закрытых без специалиста.; Целевые значения согласуются до запуска.; Фактических результатов пилота пока нет."/>
          <p:cNvGrpSpPr/>
          <p:nvPr/>
        </p:nvGrpSpPr>
        <p:grpSpPr>
          <a:xfrm>
            <a:off x="438148" y="1819373"/>
            <a:ext cx="8305756" cy="2290463"/>
            <a:chOff x="438148" y="1819373"/>
            <a:chExt cx="8305756" cy="2290463"/>
          </a:xfrm>
        </p:grpSpPr>
        <p:sp>
          <p:nvSpPr>
            <p:cNvPr id="686" name="BrandDeck Diagram Card 1"/>
            <p:cNvSpPr/>
            <p:nvPr/>
          </p:nvSpPr>
          <p:spPr>
            <a:xfrm>
              <a:off x="438148" y="1819373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7" name="BrandDeck Diagram Icon 1 Badge"/>
            <p:cNvSpPr/>
            <p:nvPr/>
          </p:nvSpPr>
          <p:spPr>
            <a:xfrm>
              <a:off x="657604" y="2167580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8" name="BrandDeck Icon users"/>
            <p:cNvSpPr/>
            <p:nvPr/>
          </p:nvSpPr>
          <p:spPr>
            <a:xfrm>
              <a:off x="738071" y="2248047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9" name="BrandDeck Diagram Text 1"/>
            <p:cNvSpPr txBox="1"/>
            <p:nvPr/>
          </p:nvSpPr>
          <p:spPr>
            <a:xfrm>
              <a:off x="1155037" y="195104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10" b="0">
                  <a:solidFill>
                    <a:srgbClr val="000000"/>
                  </a:solidFill>
                  <a:latin typeface="Play"/>
                </a:rPr>
                <a:t>Команда измеряет время поиска ответа.</a:t>
              </a:r>
            </a:p>
          </p:txBody>
        </p:sp>
        <p:sp>
          <p:nvSpPr>
            <p:cNvPr id="690" name="BrandDeck Diagram Card 2"/>
            <p:cNvSpPr/>
            <p:nvPr/>
          </p:nvSpPr>
          <p:spPr>
            <a:xfrm>
              <a:off x="4674084" y="1819373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1" name="BrandDeck Diagram Icon 2 Badge"/>
            <p:cNvSpPr/>
            <p:nvPr/>
          </p:nvSpPr>
          <p:spPr>
            <a:xfrm>
              <a:off x="4893540" y="2167580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2" name="BrandDeck Icon chart-column"/>
            <p:cNvSpPr/>
            <p:nvPr/>
          </p:nvSpPr>
          <p:spPr>
            <a:xfrm>
              <a:off x="4974007" y="2248047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3000"/>
                  </a:moveTo>
                  <a:lnTo>
                    <a:pt x="3000" y="19000"/>
                  </a:lnTo>
                  <a:cubicBezTo>
                    <a:pt x="3000" y="20105"/>
                    <a:pt x="3895" y="21000"/>
                    <a:pt x="5000" y="21000"/>
                  </a:cubicBezTo>
                  <a:lnTo>
                    <a:pt x="21000" y="21000"/>
                  </a:lnTo>
                </a:path>
                <a:path w="24000" h="24000" fill="none">
                  <a:moveTo>
                    <a:pt x="18000" y="17000"/>
                  </a:moveTo>
                  <a:lnTo>
                    <a:pt x="18000" y="9000"/>
                  </a:lnTo>
                </a:path>
                <a:path w="24000" h="24000" fill="none">
                  <a:moveTo>
                    <a:pt x="13000" y="17000"/>
                  </a:moveTo>
                  <a:lnTo>
                    <a:pt x="13000" y="5000"/>
                  </a:lnTo>
                </a:path>
                <a:path w="24000" h="24000" fill="none">
                  <a:moveTo>
                    <a:pt x="8000" y="17000"/>
                  </a:moveTo>
                  <a:lnTo>
                    <a:pt x="8000" y="14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3" name="BrandDeck Diagram Text 2"/>
            <p:cNvSpPr txBox="1"/>
            <p:nvPr/>
          </p:nvSpPr>
          <p:spPr>
            <a:xfrm>
              <a:off x="5390973" y="195104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10" b="0">
                  <a:solidFill>
                    <a:srgbClr val="000000"/>
                  </a:solidFill>
                  <a:latin typeface="Play"/>
                </a:rPr>
                <a:t>Также измеряется доля обращений, закрытых без специалиста.</a:t>
              </a:r>
            </a:p>
          </p:txBody>
        </p:sp>
        <p:sp>
          <p:nvSpPr>
            <p:cNvPr id="694" name="BrandDeck Diagram Card 3"/>
            <p:cNvSpPr/>
            <p:nvPr/>
          </p:nvSpPr>
          <p:spPr>
            <a:xfrm>
              <a:off x="438148" y="3047662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5" name="BrandDeck Diagram Icon 3 Badge"/>
            <p:cNvSpPr/>
            <p:nvPr/>
          </p:nvSpPr>
          <p:spPr>
            <a:xfrm>
              <a:off x="657604" y="3395869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6" name="BrandDeck Icon target"/>
            <p:cNvSpPr/>
            <p:nvPr/>
          </p:nvSpPr>
          <p:spPr>
            <a:xfrm>
              <a:off x="738071" y="347633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18000" y="12000"/>
                  </a:moveTo>
                  <a:cubicBezTo>
                    <a:pt x="18000" y="15314"/>
                    <a:pt x="15314" y="18000"/>
                    <a:pt x="12000" y="18000"/>
                  </a:cubicBezTo>
                  <a:cubicBezTo>
                    <a:pt x="8686" y="18000"/>
                    <a:pt x="6000" y="15314"/>
                    <a:pt x="6000" y="12000"/>
                  </a:cubicBezTo>
                  <a:cubicBezTo>
                    <a:pt x="6000" y="8686"/>
                    <a:pt x="8686" y="6000"/>
                    <a:pt x="12000" y="6000"/>
                  </a:cubicBezTo>
                  <a:cubicBezTo>
                    <a:pt x="15314" y="6000"/>
                    <a:pt x="18000" y="8686"/>
                    <a:pt x="18000" y="12000"/>
                  </a:cubicBezTo>
                  <a:close/>
                </a:path>
                <a:path w="24000" h="24000" fill="none">
                  <a:moveTo>
                    <a:pt x="14000" y="12000"/>
                  </a:moveTo>
                  <a:cubicBezTo>
                    <a:pt x="14000" y="13105"/>
                    <a:pt x="13105" y="14000"/>
                    <a:pt x="12000" y="14000"/>
                  </a:cubicBezTo>
                  <a:cubicBezTo>
                    <a:pt x="10895" y="14000"/>
                    <a:pt x="10000" y="13105"/>
                    <a:pt x="10000" y="12000"/>
                  </a:cubicBezTo>
                  <a:cubicBezTo>
                    <a:pt x="10000" y="10895"/>
                    <a:pt x="10895" y="10000"/>
                    <a:pt x="12000" y="10000"/>
                  </a:cubicBezTo>
                  <a:cubicBezTo>
                    <a:pt x="13105" y="10000"/>
                    <a:pt x="14000" y="10895"/>
                    <a:pt x="14000" y="12000"/>
                  </a:cubicBezTo>
                  <a:close/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7" name="BrandDeck Diagram Text 3"/>
            <p:cNvSpPr txBox="1"/>
            <p:nvPr/>
          </p:nvSpPr>
          <p:spPr>
            <a:xfrm>
              <a:off x="1155037" y="317933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10" b="0">
                  <a:solidFill>
                    <a:srgbClr val="000000"/>
                  </a:solidFill>
                  <a:latin typeface="Play"/>
                </a:rPr>
                <a:t>Целевые значения согласуются до запуска.</a:t>
              </a:r>
            </a:p>
          </p:txBody>
        </p:sp>
        <p:sp>
          <p:nvSpPr>
            <p:cNvPr id="698" name="BrandDeck Diagram Card 4"/>
            <p:cNvSpPr/>
            <p:nvPr/>
          </p:nvSpPr>
          <p:spPr>
            <a:xfrm>
              <a:off x="4674084" y="3047662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9" name="BrandDeck Diagram Icon 4 Badge"/>
            <p:cNvSpPr/>
            <p:nvPr/>
          </p:nvSpPr>
          <p:spPr>
            <a:xfrm>
              <a:off x="4893540" y="3395869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0" name="BrandDeck Icon trophy"/>
            <p:cNvSpPr/>
            <p:nvPr/>
          </p:nvSpPr>
          <p:spPr>
            <a:xfrm>
              <a:off x="4974007" y="347633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9000"/>
                  </a:moveTo>
                  <a:lnTo>
                    <a:pt x="4500" y="9000"/>
                  </a:lnTo>
                  <a:cubicBezTo>
                    <a:pt x="3119" y="9000"/>
                    <a:pt x="2000" y="7881"/>
                    <a:pt x="2000" y="6500"/>
                  </a:cubicBezTo>
                  <a:cubicBezTo>
                    <a:pt x="2000" y="5119"/>
                    <a:pt x="3119" y="4000"/>
                    <a:pt x="4500" y="4000"/>
                  </a:cubicBezTo>
                  <a:lnTo>
                    <a:pt x="6000" y="4000"/>
                  </a:lnTo>
                </a:path>
                <a:path w="24000" h="24000" fill="none">
                  <a:moveTo>
                    <a:pt x="18000" y="9000"/>
                  </a:moveTo>
                  <a:lnTo>
                    <a:pt x="19500" y="9000"/>
                  </a:lnTo>
                  <a:cubicBezTo>
                    <a:pt x="20881" y="9000"/>
                    <a:pt x="22000" y="7881"/>
                    <a:pt x="22000" y="6500"/>
                  </a:cubicBezTo>
                  <a:cubicBezTo>
                    <a:pt x="22000" y="5119"/>
                    <a:pt x="20881" y="4000"/>
                    <a:pt x="19500" y="4000"/>
                  </a:cubicBezTo>
                  <a:lnTo>
                    <a:pt x="18000" y="4000"/>
                  </a:lnTo>
                </a:path>
                <a:path w="24000" h="24000" fill="none">
                  <a:moveTo>
                    <a:pt x="4000" y="22000"/>
                  </a:moveTo>
                  <a:lnTo>
                    <a:pt x="20000" y="22000"/>
                  </a:lnTo>
                </a:path>
                <a:path w="24000" h="24000" fill="none">
                  <a:moveTo>
                    <a:pt x="10000" y="14660"/>
                  </a:moveTo>
                  <a:lnTo>
                    <a:pt x="10000" y="17000"/>
                  </a:lnTo>
                  <a:cubicBezTo>
                    <a:pt x="10000" y="17550"/>
                    <a:pt x="9530" y="17980"/>
                    <a:pt x="9030" y="18210"/>
                  </a:cubicBezTo>
                  <a:cubicBezTo>
                    <a:pt x="7850" y="18750"/>
                    <a:pt x="7000" y="20240"/>
                    <a:pt x="7000" y="22000"/>
                  </a:cubicBezTo>
                </a:path>
                <a:path w="24000" h="24000" fill="none">
                  <a:moveTo>
                    <a:pt x="14000" y="14660"/>
                  </a:moveTo>
                  <a:lnTo>
                    <a:pt x="14000" y="17000"/>
                  </a:lnTo>
                  <a:cubicBezTo>
                    <a:pt x="14000" y="17550"/>
                    <a:pt x="14470" y="17980"/>
                    <a:pt x="14970" y="18210"/>
                  </a:cubicBezTo>
                  <a:cubicBezTo>
                    <a:pt x="16150" y="18750"/>
                    <a:pt x="17000" y="20240"/>
                    <a:pt x="17000" y="22000"/>
                  </a:cubicBezTo>
                </a:path>
                <a:path w="24000" h="24000" fill="none">
                  <a:moveTo>
                    <a:pt x="18000" y="2000"/>
                  </a:moveTo>
                  <a:lnTo>
                    <a:pt x="6000" y="2000"/>
                  </a:lnTo>
                  <a:lnTo>
                    <a:pt x="6000" y="9000"/>
                  </a:lnTo>
                  <a:cubicBezTo>
                    <a:pt x="6000" y="12314"/>
                    <a:pt x="8686" y="15000"/>
                    <a:pt x="12000" y="15000"/>
                  </a:cubicBezTo>
                  <a:cubicBezTo>
                    <a:pt x="15314" y="15000"/>
                    <a:pt x="18000" y="12314"/>
                    <a:pt x="18000" y="9000"/>
                  </a:cubicBezTo>
                  <a:lnTo>
                    <a:pt x="18000" y="2000"/>
                  </a:lnTo>
                  <a:close/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1" name="BrandDeck Diagram Text 4"/>
            <p:cNvSpPr txBox="1"/>
            <p:nvPr/>
          </p:nvSpPr>
          <p:spPr>
            <a:xfrm>
              <a:off x="5390973" y="317933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10" b="0">
                  <a:solidFill>
                    <a:srgbClr val="000000"/>
                  </a:solidFill>
                  <a:latin typeface="Play"/>
                </a:rPr>
                <a:t>Фактических результатов пилота пока нет.</a:t>
              </a: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32" name="Google Shape;1032;p6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6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BrandDeck Text 1050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800"/>
              <a:t>Команда из 3 человек подготовит и проверит пилот</a:t>
            </a:r>
            <a:endParaRPr/>
          </a:p>
        </p:txBody>
      </p:sp>
      <p:grpSp>
        <p:nvGrpSpPr>
          <p:cNvPr id="2" name="BrandDeck Diagram icon_grid" descr="icon_grid: Просим одобрить пилот и выделить команду из 3 человек.; Команда готовит инструкции, проверяет ответы и сопровождает запуск.; Дальнейшее использование решается после измерения результатов и обратной связи."/>
          <p:cNvGrpSpPr/>
          <p:nvPr/>
        </p:nvGrpSpPr>
        <p:grpSpPr>
          <a:xfrm>
            <a:off x="585216" y="1144312"/>
            <a:ext cx="5129783" cy="3583136"/>
            <a:chOff x="585216" y="1144312"/>
            <a:chExt cx="5129783" cy="3583136"/>
          </a:xfrm>
        </p:grpSpPr>
        <p:sp>
          <p:nvSpPr>
            <p:cNvPr id="1051" name="BrandDeck Diagram Card 1"/>
            <p:cNvSpPr/>
            <p:nvPr/>
          </p:nvSpPr>
          <p:spPr>
            <a:xfrm>
              <a:off x="585216" y="1144312"/>
              <a:ext cx="2510027" cy="173670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2" name="BrandDeck Diagram Icon 1 Badge"/>
            <p:cNvSpPr/>
            <p:nvPr/>
          </p:nvSpPr>
          <p:spPr>
            <a:xfrm>
              <a:off x="760917" y="1320013"/>
              <a:ext cx="486277" cy="486277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3" name="BrandDeck Icon rocket"/>
            <p:cNvSpPr/>
            <p:nvPr/>
          </p:nvSpPr>
          <p:spPr>
            <a:xfrm>
              <a:off x="867898" y="1426994"/>
              <a:ext cx="272315" cy="27231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500" y="16500"/>
                  </a:moveTo>
                  <a:cubicBezTo>
                    <a:pt x="3000" y="17760"/>
                    <a:pt x="2500" y="21500"/>
                    <a:pt x="2500" y="21500"/>
                  </a:cubicBezTo>
                  <a:cubicBezTo>
                    <a:pt x="2500" y="21500"/>
                    <a:pt x="6240" y="21000"/>
                    <a:pt x="7500" y="19500"/>
                  </a:cubicBezTo>
                  <a:cubicBezTo>
                    <a:pt x="8210" y="18660"/>
                    <a:pt x="8200" y="17370"/>
                    <a:pt x="7410" y="16590"/>
                  </a:cubicBezTo>
                  <a:cubicBezTo>
                    <a:pt x="6605" y="15822"/>
                    <a:pt x="5351" y="15783"/>
                    <a:pt x="4500" y="16500"/>
                  </a:cubicBezTo>
                  <a:close/>
                </a:path>
                <a:path w="24000" h="24000" fill="none">
                  <a:moveTo>
                    <a:pt x="12000" y="15000"/>
                  </a:moveTo>
                  <a:lnTo>
                    <a:pt x="9000" y="12000"/>
                  </a:lnTo>
                  <a:cubicBezTo>
                    <a:pt x="9532" y="10619"/>
                    <a:pt x="10202" y="9296"/>
                    <a:pt x="11000" y="8050"/>
                  </a:cubicBezTo>
                  <a:cubicBezTo>
                    <a:pt x="13369" y="4262"/>
                    <a:pt x="17532" y="1972"/>
                    <a:pt x="22000" y="2000"/>
                  </a:cubicBezTo>
                  <a:cubicBezTo>
                    <a:pt x="22000" y="4720"/>
                    <a:pt x="21220" y="9500"/>
                    <a:pt x="16000" y="13000"/>
                  </a:cubicBezTo>
                  <a:cubicBezTo>
                    <a:pt x="14737" y="13799"/>
                    <a:pt x="13397" y="14469"/>
                    <a:pt x="12000" y="15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4000" y="12000"/>
                  </a:lnTo>
                  <a:cubicBezTo>
                    <a:pt x="4000" y="12000"/>
                    <a:pt x="4550" y="8970"/>
                    <a:pt x="6000" y="8000"/>
                  </a:cubicBezTo>
                  <a:cubicBezTo>
                    <a:pt x="7620" y="6920"/>
                    <a:pt x="11000" y="8000"/>
                    <a:pt x="11000" y="8000"/>
                  </a:cubicBezTo>
                </a:path>
                <a:path w="24000" h="24000" fill="none">
                  <a:moveTo>
                    <a:pt x="12000" y="15000"/>
                  </a:moveTo>
                  <a:lnTo>
                    <a:pt x="12000" y="20000"/>
                  </a:lnTo>
                  <a:cubicBezTo>
                    <a:pt x="12000" y="20000"/>
                    <a:pt x="15030" y="19450"/>
                    <a:pt x="16000" y="18000"/>
                  </a:cubicBezTo>
                  <a:cubicBezTo>
                    <a:pt x="17080" y="16380"/>
                    <a:pt x="16000" y="13000"/>
                    <a:pt x="16000" y="13000"/>
                  </a:cubicBezTo>
                </a:path>
              </a:pathLst>
            </a:custGeom>
            <a:noFill/>
            <a:ln w="22692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4" name="BrandDeck Diagram Text 1"/>
            <p:cNvSpPr txBox="1"/>
            <p:nvPr/>
          </p:nvSpPr>
          <p:spPr>
            <a:xfrm>
              <a:off x="708207" y="1929282"/>
              <a:ext cx="2264045" cy="863882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70" b="0">
                  <a:solidFill>
                    <a:srgbClr val="000000"/>
                  </a:solidFill>
                  <a:latin typeface="Play"/>
                </a:rPr>
                <a:t>Просим одобрить пилот и выделить команду из 3 человек.</a:t>
              </a:r>
            </a:p>
          </p:txBody>
        </p:sp>
        <p:sp>
          <p:nvSpPr>
            <p:cNvPr id="1055" name="BrandDeck Diagram Card 2"/>
            <p:cNvSpPr/>
            <p:nvPr/>
          </p:nvSpPr>
          <p:spPr>
            <a:xfrm>
              <a:off x="3204972" y="1144312"/>
              <a:ext cx="2510027" cy="173670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6" name="BrandDeck Diagram Icon 2 Badge"/>
            <p:cNvSpPr/>
            <p:nvPr/>
          </p:nvSpPr>
          <p:spPr>
            <a:xfrm>
              <a:off x="3380673" y="1320013"/>
              <a:ext cx="486277" cy="486277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7" name="BrandDeck Icon users"/>
            <p:cNvSpPr/>
            <p:nvPr/>
          </p:nvSpPr>
          <p:spPr>
            <a:xfrm>
              <a:off x="3487654" y="1426994"/>
              <a:ext cx="272315" cy="27231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2692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8" name="BrandDeck Diagram Text 2"/>
            <p:cNvSpPr txBox="1"/>
            <p:nvPr/>
          </p:nvSpPr>
          <p:spPr>
            <a:xfrm>
              <a:off x="3327963" y="1929282"/>
              <a:ext cx="2264045" cy="863882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70" b="0">
                  <a:solidFill>
                    <a:srgbClr val="000000"/>
                  </a:solidFill>
                  <a:latin typeface="Play"/>
                </a:rPr>
                <a:t>Команда готовит инструкции, проверяет ответы и сопровождает запуск.</a:t>
              </a:r>
            </a:p>
          </p:txBody>
        </p:sp>
        <p:sp>
          <p:nvSpPr>
            <p:cNvPr id="1059" name="BrandDeck Diagram Card 3"/>
            <p:cNvSpPr/>
            <p:nvPr/>
          </p:nvSpPr>
          <p:spPr>
            <a:xfrm>
              <a:off x="585216" y="2990744"/>
              <a:ext cx="2510027" cy="173670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0" name="BrandDeck Diagram Icon 3 Badge"/>
            <p:cNvSpPr/>
            <p:nvPr/>
          </p:nvSpPr>
          <p:spPr>
            <a:xfrm>
              <a:off x="760917" y="3166445"/>
              <a:ext cx="486277" cy="486277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1" name="BrandDeck Icon chart-column"/>
            <p:cNvSpPr/>
            <p:nvPr/>
          </p:nvSpPr>
          <p:spPr>
            <a:xfrm>
              <a:off x="867898" y="3273426"/>
              <a:ext cx="272315" cy="27231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3000"/>
                  </a:moveTo>
                  <a:lnTo>
                    <a:pt x="3000" y="19000"/>
                  </a:lnTo>
                  <a:cubicBezTo>
                    <a:pt x="3000" y="20105"/>
                    <a:pt x="3895" y="21000"/>
                    <a:pt x="5000" y="21000"/>
                  </a:cubicBezTo>
                  <a:lnTo>
                    <a:pt x="21000" y="21000"/>
                  </a:lnTo>
                </a:path>
                <a:path w="24000" h="24000" fill="none">
                  <a:moveTo>
                    <a:pt x="18000" y="17000"/>
                  </a:moveTo>
                  <a:lnTo>
                    <a:pt x="18000" y="9000"/>
                  </a:lnTo>
                </a:path>
                <a:path w="24000" h="24000" fill="none">
                  <a:moveTo>
                    <a:pt x="13000" y="17000"/>
                  </a:moveTo>
                  <a:lnTo>
                    <a:pt x="13000" y="5000"/>
                  </a:lnTo>
                </a:path>
                <a:path w="24000" h="24000" fill="none">
                  <a:moveTo>
                    <a:pt x="8000" y="17000"/>
                  </a:moveTo>
                  <a:lnTo>
                    <a:pt x="8000" y="14000"/>
                  </a:lnTo>
                </a:path>
              </a:pathLst>
            </a:custGeom>
            <a:noFill/>
            <a:ln w="22692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2" name="BrandDeck Diagram Text 3"/>
            <p:cNvSpPr txBox="1"/>
            <p:nvPr/>
          </p:nvSpPr>
          <p:spPr>
            <a:xfrm>
              <a:off x="708207" y="3775714"/>
              <a:ext cx="2264045" cy="863882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70" b="0">
                  <a:solidFill>
                    <a:srgbClr val="000000"/>
                  </a:solidFill>
                  <a:latin typeface="Play"/>
                </a:rPr>
                <a:t>Дальнейшее использование решается после измерения результатов и обратной связи.</a:t>
              </a:r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9" name="BrandDeck Text 429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480"/>
              </a:spcAft>
              <a:buClr>
                <a:schemeClr val="lt1"/>
              </a:buClr>
              <a:buSzPts val="4700"/>
              <a:buFont typeface="Play"/>
              <a:buNone/>
            </a:pPr>
            <a:r>
              <a:rPr sz="3200"/>
              <a:t>Спасибо</a:t>
            </a:r>
            <a:endParaRPr/>
          </a:p>
        </p:txBody>
      </p:sp>
      <p:sp>
        <p:nvSpPr>
          <p:cNvPr id="430" name="BrandDeck Text 430"/>
          <p:cNvSpPr txBox="1"/>
          <p:nvPr>
            <p:ph idx="1" type="body"/>
          </p:nvPr>
        </p:nvSpPr>
        <p:spPr>
          <a:xfrm>
            <a:off x="1430535" y="3842780"/>
            <a:ext cx="428827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marL="171450" rtl="0"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  <a:buClr>
                <a:schemeClr val="lt1"/>
              </a:buClr>
              <a:buSzPts val="1600"/>
              <a:buNone/>
            </a:pPr>
            <a:r>
              <a:rPr sz="1600"/>
              <a:t>Вопросы?</a:t>
            </a:r>
            <a:endParaRPr/>
          </a:p>
        </p:txBody>
      </p:sp>
      <p:sp>
        <p:nvSpPr>
          <p:cNvPr id="431" name="Google Shape;431;p4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Пилот ИИ-помощника по внутренним регламентам</dc:title>
  <cp:lastModifiedBy/>
  <cp:revision>1</cp:revision>
  <dcterms:modified xsi:type="dcterms:W3CDTF">2026-09-27T17:10:53Z</dcterms:modified>
  <dc:subject>Template-adaptive presentation</dc:subject>
  <cp:keywords>BrandDeck, template-adaptive, presentation</cp:keywords>
  <dc:creator/>
  <dc:description/>
</cp:coreProperties>
</file>