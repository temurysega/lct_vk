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Relationship Id="rId43" Type="http://schemas.openxmlformats.org/officeDocument/2006/relationships/slide" Target="slides/slide6.xml"/><Relationship Id="rId44" Type="http://schemas.openxmlformats.org/officeDocument/2006/relationships/slide" Target="slides/slide7.xml"/><Relationship Id="rId45" Type="http://schemas.openxmlformats.org/officeDocument/2006/relationships/slide" Target="slides/slide8.xml"/><Relationship Id="rId46" Type="http://schemas.openxmlformats.org/officeDocument/2006/relationships/slide" Target="slides/slide9.xml"/><Relationship Id="rId4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BrandDeck Text 381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4000"/>
              <a:t>Пилот ИИ-помощника по внутренним регламентам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800"/>
              <a:t>Поиск инструкции занимает до 30 минут, треть обращений повторяется</a:t>
            </a:r>
            <a:endParaRPr/>
          </a:p>
        </p:txBody>
      </p:sp>
      <p:grpSp>
        <p:nvGrpSpPr>
          <p:cNvPr id="2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415687" y="1949416"/>
            <a:ext cx="10733793" cy="2780482"/>
            <a:chOff x="415687" y="1949416"/>
            <a:chExt cx="10733793" cy="2780482"/>
          </a:xfrm>
        </p:grpSpPr>
        <p:sp>
          <p:nvSpPr>
            <p:cNvPr id="468" name="BrandDeck Diagram Card 1"/>
            <p:cNvSpPr/>
            <p:nvPr/>
          </p:nvSpPr>
          <p:spPr>
            <a:xfrm>
              <a:off x="415687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BrandDeck Diagram Icon 1 Badge"/>
            <p:cNvSpPr/>
            <p:nvPr/>
          </p:nvSpPr>
          <p:spPr>
            <a:xfrm>
              <a:off x="635143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BrandDeck Icon users"/>
            <p:cNvSpPr/>
            <p:nvPr/>
          </p:nvSpPr>
          <p:spPr>
            <a:xfrm>
              <a:off x="737101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BrandDeck Diagram Text 1"/>
            <p:cNvSpPr txBox="1"/>
            <p:nvPr/>
          </p:nvSpPr>
          <p:spPr>
            <a:xfrm>
              <a:off x="1230262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472" name="BrandDeck Diagram Card 2"/>
            <p:cNvSpPr/>
            <p:nvPr/>
          </p:nvSpPr>
          <p:spPr>
            <a:xfrm>
              <a:off x="5889921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BrandDeck Diagram Icon 2 Badge"/>
            <p:cNvSpPr/>
            <p:nvPr/>
          </p:nvSpPr>
          <p:spPr>
            <a:xfrm>
              <a:off x="6109377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BrandDeck Icon file-text"/>
            <p:cNvSpPr/>
            <p:nvPr/>
          </p:nvSpPr>
          <p:spPr>
            <a:xfrm>
              <a:off x="6211335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BrandDeck Diagram Text 2"/>
            <p:cNvSpPr txBox="1"/>
            <p:nvPr/>
          </p:nvSpPr>
          <p:spPr>
            <a:xfrm>
              <a:off x="6704497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476" name="BrandDeck Diagram Card 3"/>
            <p:cNvSpPr/>
            <p:nvPr/>
          </p:nvSpPr>
          <p:spPr>
            <a:xfrm>
              <a:off x="415687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BrandDeck Diagram Icon 3 Badge"/>
            <p:cNvSpPr/>
            <p:nvPr/>
          </p:nvSpPr>
          <p:spPr>
            <a:xfrm>
              <a:off x="635143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BrandDeck Icon headset"/>
            <p:cNvSpPr/>
            <p:nvPr/>
          </p:nvSpPr>
          <p:spPr>
            <a:xfrm>
              <a:off x="737101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BrandDeck Diagram Text 3"/>
            <p:cNvSpPr txBox="1"/>
            <p:nvPr/>
          </p:nvSpPr>
          <p:spPr>
            <a:xfrm>
              <a:off x="1230262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FFFFFF"/>
                  </a:solidFill>
                  <a:latin typeface="Play"/>
                </a:rPr>
                <a:t>Треть обращений в поддержку —</a:t>
              </a:r>
              <a:r>
                <a:rPr sz="1800" b="0">
                  <a:solidFill>
                    <a:srgbClr val="FFFFFF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480" name="BrandDeck Diagram Card 4"/>
            <p:cNvSpPr/>
            <p:nvPr/>
          </p:nvSpPr>
          <p:spPr>
            <a:xfrm>
              <a:off x="5889921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BrandDeck Diagram Icon 4 Badge"/>
            <p:cNvSpPr/>
            <p:nvPr/>
          </p:nvSpPr>
          <p:spPr>
            <a:xfrm>
              <a:off x="6109377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BrandDeck Icon user"/>
            <p:cNvSpPr/>
            <p:nvPr/>
          </p:nvSpPr>
          <p:spPr>
            <a:xfrm>
              <a:off x="6211335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BrandDeck Diagram Text 4"/>
            <p:cNvSpPr txBox="1"/>
            <p:nvPr/>
          </p:nvSpPr>
          <p:spPr>
            <a:xfrm>
              <a:off x="6704497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12" name="BrandDeck Text 812"/>
          <p:cNvSpPr txBox="1"/>
          <p:nvPr>
            <p:ph type="title"/>
          </p:nvPr>
        </p:nvSpPr>
        <p:spPr>
          <a:xfrm>
            <a:off x="429253" y="424691"/>
            <a:ext cx="234135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600"/>
              <a:t>Сотруднику нужен источник ответа, специалисту — контекст вопроса</a:t>
            </a:r>
            <a:endParaRPr/>
          </a:p>
        </p:txBody>
      </p:sp>
      <p:pic>
        <p:nvPicPr>
          <p:cNvPr id="835" name="BrandDeck Image" descr="02 сотрудник специалист поддержки"/>
          <p:cNvPicPr>
            <a:picLocks noChangeAspect="1"/>
          </p:cNvPicPr>
          <p:nvPr/>
        </p:nvPicPr>
        <p:blipFill>
          <a:blip r:embed="rId4"/>
          <a:srcRect l="20599" r="20599"/>
          <a:stretch>
            <a:fillRect/>
          </a:stretch>
        </p:blipFill>
        <p:spPr>
          <a:xfrm>
            <a:off x="5362697" y="324571"/>
            <a:ext cx="6826255" cy="6533429"/>
          </a:xfrm>
          <a:prstGeom prst="rect">
            <a:avLst/>
          </a:prstGeom>
        </p:spPr>
      </p:pic>
      <p:sp>
        <p:nvSpPr>
          <p:cNvPr id="834" name="BrandDeck Body"/>
          <p:cNvSpPr txBox="1"/>
          <p:nvPr/>
        </p:nvSpPr>
        <p:spPr>
          <a:xfrm>
            <a:off x="1036774" y="1729423"/>
            <a:ext cx="4143042" cy="4717097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Сотруднику нужен понятный ответ со ссылкой на документ-источник.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Специалисту нужен контекст вопроса, если автоматического ответа недостаточно.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Передача вопроса вместе с контекстом избавляет сотрудника от повторного объяснения.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BrandDeck Text 547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ИИ-помощник отвечает по регламентам и передаёт сложные вопросы специалисту</a:t>
            </a:r>
            <a:endParaRPr/>
          </a:p>
        </p:txBody>
      </p:sp>
      <p:grpSp>
        <p:nvGrpSpPr>
          <p:cNvPr id="2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5383513" y="2710690"/>
            <a:ext cx="5917557" cy="3556255"/>
            <a:chOff x="5383513" y="2710690"/>
            <a:chExt cx="5917557" cy="3556255"/>
          </a:xfrm>
        </p:grpSpPr>
        <p:sp>
          <p:nvSpPr>
            <p:cNvPr id="560" name="BrandDeck Diagram Card 1"/>
            <p:cNvSpPr/>
            <p:nvPr/>
          </p:nvSpPr>
          <p:spPr>
            <a:xfrm>
              <a:off x="5383513" y="2710690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1" name="BrandDeck Diagram Icon 1 Badge"/>
            <p:cNvSpPr/>
            <p:nvPr/>
          </p:nvSpPr>
          <p:spPr>
            <a:xfrm>
              <a:off x="5586485" y="2913662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2" name="BrandDeck Icon building"/>
            <p:cNvSpPr/>
            <p:nvPr/>
          </p:nvSpPr>
          <p:spPr>
            <a:xfrm>
              <a:off x="5692372" y="3019549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3" name="BrandDeck Diagram Text 1"/>
            <p:cNvSpPr txBox="1"/>
            <p:nvPr/>
          </p:nvSpPr>
          <p:spPr>
            <a:xfrm>
              <a:off x="5525593" y="3537049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FFFFFF"/>
                  </a:solidFill>
                  <a:latin typeface="Play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564" name="BrandDeck Diagram Card 2"/>
            <p:cNvSpPr/>
            <p:nvPr/>
          </p:nvSpPr>
          <p:spPr>
            <a:xfrm>
              <a:off x="8401467" y="2710690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5" name="BrandDeck Diagram Icon 2 Badge"/>
            <p:cNvSpPr/>
            <p:nvPr/>
          </p:nvSpPr>
          <p:spPr>
            <a:xfrm>
              <a:off x="8604439" y="2913662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6" name="BrandDeck Icon circle-help"/>
            <p:cNvSpPr/>
            <p:nvPr/>
          </p:nvSpPr>
          <p:spPr>
            <a:xfrm>
              <a:off x="8710327" y="3019549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7" name="BrandDeck Diagram Text 2"/>
            <p:cNvSpPr txBox="1"/>
            <p:nvPr/>
          </p:nvSpPr>
          <p:spPr>
            <a:xfrm>
              <a:off x="8543548" y="3537049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FFFFFF"/>
                  </a:solidFill>
                  <a:latin typeface="Play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568" name="BrandDeck Diagram Card 3"/>
            <p:cNvSpPr/>
            <p:nvPr/>
          </p:nvSpPr>
          <p:spPr>
            <a:xfrm>
              <a:off x="5383513" y="4547993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9" name="BrandDeck Diagram Icon 3 Badge"/>
            <p:cNvSpPr/>
            <p:nvPr/>
          </p:nvSpPr>
          <p:spPr>
            <a:xfrm>
              <a:off x="5586485" y="4750965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0" name="BrandDeck Icon file-text"/>
            <p:cNvSpPr/>
            <p:nvPr/>
          </p:nvSpPr>
          <p:spPr>
            <a:xfrm>
              <a:off x="5692372" y="4856853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1" name="BrandDeck Diagram Text 3"/>
            <p:cNvSpPr txBox="1"/>
            <p:nvPr/>
          </p:nvSpPr>
          <p:spPr>
            <a:xfrm>
              <a:off x="5525593" y="5374353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FFFFFF"/>
                  </a:solidFill>
                  <a:latin typeface="Play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572" name="BrandDeck Diagram Card 4"/>
            <p:cNvSpPr/>
            <p:nvPr/>
          </p:nvSpPr>
          <p:spPr>
            <a:xfrm>
              <a:off x="8401467" y="4547993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3" name="BrandDeck Diagram Icon 4 Badge"/>
            <p:cNvSpPr/>
            <p:nvPr/>
          </p:nvSpPr>
          <p:spPr>
            <a:xfrm>
              <a:off x="8604439" y="4750965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BrandDeck Icon circle-check"/>
            <p:cNvSpPr/>
            <p:nvPr/>
          </p:nvSpPr>
          <p:spPr>
            <a:xfrm>
              <a:off x="8710327" y="4856853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5" name="BrandDeck Diagram Text 4"/>
            <p:cNvSpPr txBox="1"/>
            <p:nvPr/>
          </p:nvSpPr>
          <p:spPr>
            <a:xfrm>
              <a:off x="8543548" y="5374353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FFFFFF"/>
                  </a:solidFill>
                  <a:latin typeface="Play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BrandDeck Text 44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Вопрос проходит путь от портала до ответа со ссылкой или эскалации</a:t>
            </a:r>
            <a:endParaRPr/>
          </a:p>
        </p:txBody>
      </p:sp>
      <p:sp>
        <p:nvSpPr>
          <p:cNvPr id="442" name="BrandDeck Text 442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FFFFFF"/>
                </a:solidFill>
                <a:latin typeface="Play"/>
              </a:rPr>
              <a:t>Сотрудник задаёт вопрос во внутреннем портале.</a:t>
            </a:r>
            <a:endParaRPr/>
          </a:p>
        </p:txBody>
      </p:sp>
      <p:grpSp>
        <p:nvGrpSpPr>
          <p:cNvPr id="443" name="Google Shape;443;p21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444" name="Google Shape;444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5" name="Google Shape;445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BrandDeck Text 446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FFFFFF"/>
                </a:solidFill>
                <a:latin typeface="Play"/>
              </a:rPr>
              <a:t>Помощник ищет ответ в регламентах и показывает источник.</a:t>
            </a:r>
            <a:endParaRPr/>
          </a:p>
        </p:txBody>
      </p:sp>
      <p:grpSp>
        <p:nvGrpSpPr>
          <p:cNvPr id="447" name="Google Shape;447;p21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448" name="Google Shape;448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9" name="Google Shape;449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" name="BrandDeck Text 450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  <a:buNone/>
            </a:pPr>
            <a:r>
              <a:rPr sz="1400" b="0">
                <a:solidFill>
                  <a:srgbClr val="FFFFFF"/>
                </a:solidFill>
                <a:latin typeface="Play"/>
              </a:rPr>
              <a:t>При отсутствии подтверждённого ответа вопрос передаётся специалисту.</a:t>
            </a:r>
            <a:endParaRPr/>
          </a:p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  <a:buNone/>
            </a:pPr>
            <a:r>
              <a:rPr sz="1400" b="0">
                <a:solidFill>
                  <a:srgbClr val="FFFFFF"/>
                </a:solidFill>
                <a:latin typeface="Play"/>
              </a:rPr>
              <a:t>Специалист получает контекст исходного обращения.</a:t>
            </a:r>
          </a:p>
        </p:txBody>
      </p:sp>
      <p:grpSp>
        <p:nvGrpSpPr>
          <p:cNvPr id="451" name="Google Shape;451;p21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452" name="Google Shape;452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Документы остаются внутри контура, неподтверждённый ответ проверяет специалист</a:t>
            </a:r>
            <a:endParaRPr/>
          </a:p>
        </p:txBody>
      </p:sp>
      <p:grpSp>
        <p:nvGrpSpPr>
          <p:cNvPr id="2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415687" y="1949416"/>
            <a:ext cx="10733793" cy="2780482"/>
            <a:chOff x="415687" y="1949416"/>
            <a:chExt cx="10733793" cy="2780482"/>
          </a:xfrm>
        </p:grpSpPr>
        <p:sp>
          <p:nvSpPr>
            <p:cNvPr id="468" name="BrandDeck Diagram Card 1"/>
            <p:cNvSpPr/>
            <p:nvPr/>
          </p:nvSpPr>
          <p:spPr>
            <a:xfrm>
              <a:off x="415687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BrandDeck Diagram Icon 1 Badge"/>
            <p:cNvSpPr/>
            <p:nvPr/>
          </p:nvSpPr>
          <p:spPr>
            <a:xfrm>
              <a:off x="635143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BrandDeck Icon brain"/>
            <p:cNvSpPr/>
            <p:nvPr/>
          </p:nvSpPr>
          <p:spPr>
            <a:xfrm>
              <a:off x="737101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BrandDeck Diagram Text 1"/>
            <p:cNvSpPr txBox="1"/>
            <p:nvPr/>
          </p:nvSpPr>
          <p:spPr>
            <a:xfrm>
              <a:off x="1230262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472" name="BrandDeck Diagram Card 2"/>
            <p:cNvSpPr/>
            <p:nvPr/>
          </p:nvSpPr>
          <p:spPr>
            <a:xfrm>
              <a:off x="5889921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BrandDeck Diagram Icon 2 Badge"/>
            <p:cNvSpPr/>
            <p:nvPr/>
          </p:nvSpPr>
          <p:spPr>
            <a:xfrm>
              <a:off x="6109377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BrandDeck Icon file-text"/>
            <p:cNvSpPr/>
            <p:nvPr/>
          </p:nvSpPr>
          <p:spPr>
            <a:xfrm>
              <a:off x="6211335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BrandDeck Diagram Text 2"/>
            <p:cNvSpPr txBox="1"/>
            <p:nvPr/>
          </p:nvSpPr>
          <p:spPr>
            <a:xfrm>
              <a:off x="6704497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476" name="BrandDeck Diagram Card 3"/>
            <p:cNvSpPr/>
            <p:nvPr/>
          </p:nvSpPr>
          <p:spPr>
            <a:xfrm>
              <a:off x="415687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BrandDeck Diagram Icon 3 Badge"/>
            <p:cNvSpPr/>
            <p:nvPr/>
          </p:nvSpPr>
          <p:spPr>
            <a:xfrm>
              <a:off x="635143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BrandDeck Icon circle-check"/>
            <p:cNvSpPr/>
            <p:nvPr/>
          </p:nvSpPr>
          <p:spPr>
            <a:xfrm>
              <a:off x="737101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BrandDeck Diagram Text 3"/>
            <p:cNvSpPr txBox="1"/>
            <p:nvPr/>
          </p:nvSpPr>
          <p:spPr>
            <a:xfrm>
              <a:off x="1230262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480" name="BrandDeck Diagram Card 4"/>
            <p:cNvSpPr/>
            <p:nvPr/>
          </p:nvSpPr>
          <p:spPr>
            <a:xfrm>
              <a:off x="5889921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BrandDeck Diagram Icon 4 Badge"/>
            <p:cNvSpPr/>
            <p:nvPr/>
          </p:nvSpPr>
          <p:spPr>
            <a:xfrm>
              <a:off x="6109377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BrandDeck Icon user"/>
            <p:cNvSpPr/>
            <p:nvPr/>
          </p:nvSpPr>
          <p:spPr>
            <a:xfrm>
              <a:off x="6211335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BrandDeck Diagram Text 4"/>
            <p:cNvSpPr txBox="1"/>
            <p:nvPr/>
          </p:nvSpPr>
          <p:spPr>
            <a:xfrm>
              <a:off x="6704497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200"/>
              <a:t>Пилот охватит 150 сотрудников двух подразделений за 6 недель</a:t>
            </a:r>
            <a:endParaRPr/>
          </a:p>
        </p:txBody>
      </p:sp>
      <p:sp>
        <p:nvSpPr>
          <p:cNvPr id="460" name="BrandDeck Text 460"/>
          <p:cNvSpPr/>
          <p:nvPr/>
        </p:nvSpPr>
        <p:spPr>
          <a:xfrm>
            <a:off x="7729481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0">
                <a:solidFill>
                  <a:srgbClr val="FFFFFF"/>
                </a:solidFill>
                <a:latin typeface="Play"/>
              </a:rPr>
              <a:t>В пилоте проверяются ответы по регламентам и передача вопросов специалисту.</a:t>
            </a:r>
            <a:endParaRPr/>
          </a:p>
        </p:txBody>
      </p:sp>
      <p:sp>
        <p:nvSpPr>
          <p:cNvPr id="461" name="BrandDeck Text 461"/>
          <p:cNvSpPr/>
          <p:nvPr/>
        </p:nvSpPr>
        <p:spPr>
          <a:xfrm>
            <a:off x="4056891" y="1666499"/>
            <a:ext cx="3420000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>
                <a:solidFill>
                  <a:srgbClr val="FFFFFF"/>
                </a:solidFill>
                <a:latin typeface="Play"/>
              </a:rPr>
              <a:t>Продолжительность пилота — 6 недель.</a:t>
            </a:r>
            <a:endParaRPr/>
          </a:p>
        </p:txBody>
      </p:sp>
      <p:sp>
        <p:nvSpPr>
          <p:cNvPr id="462" name="BrandDeck Text 462"/>
          <p:cNvSpPr/>
          <p:nvPr/>
        </p:nvSpPr>
        <p:spPr>
          <a:xfrm>
            <a:off x="415687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>
                <a:solidFill>
                  <a:srgbClr val="FFFFFF"/>
                </a:solidFill>
                <a:latin typeface="Play"/>
              </a:rPr>
              <a:t>Пилот охватывает 2 подразделения и 150 сотрудников.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BrandDeck Text 547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Успех измерят временем поиска и долей обращений без специалиста</a:t>
            </a:r>
            <a:endParaRPr/>
          </a:p>
        </p:txBody>
      </p:sp>
      <p:sp>
        <p:nvSpPr>
          <p:cNvPr id="548" name="BrandDeck Text 548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Команда измеряет время поиска ответа.</a:t>
            </a:r>
            <a:endParaRPr/>
          </a:p>
        </p:txBody>
      </p:sp>
      <p:grpSp>
        <p:nvGrpSpPr>
          <p:cNvPr id="549" name="Google Shape;549;p26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550" name="Google Shape;550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1" name="Google Shape;551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2" name="BrandDeck Text 552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Также измеряется доля обращений, закрытых без специалиста.</a:t>
            </a:r>
            <a:endParaRPr/>
          </a:p>
        </p:txBody>
      </p:sp>
      <p:grpSp>
        <p:nvGrpSpPr>
          <p:cNvPr id="553" name="Google Shape;553;p26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554" name="Google Shape;554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5" name="Google Shape;555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6" name="BrandDeck Text 556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Целевые значения согласуются до запуска.</a:t>
            </a:r>
            <a:endParaRPr/>
          </a:p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Фактических результатов пилота пока нет.</a:t>
            </a:r>
          </a:p>
        </p:txBody>
      </p:sp>
      <p:grpSp>
        <p:nvGrpSpPr>
          <p:cNvPr id="557" name="Google Shape;557;p26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558" name="Google Shape;558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9" name="Google Shape;559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BrandDeck Text 44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Команда из 3 человек подготовит и проверит пилот</a:t>
            </a:r>
            <a:endParaRPr/>
          </a:p>
        </p:txBody>
      </p:sp>
      <p:sp>
        <p:nvSpPr>
          <p:cNvPr id="442" name="BrandDeck Text 442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FFFFFF"/>
                </a:solidFill>
                <a:latin typeface="Play"/>
              </a:rPr>
              <a:t>Просим одобрить пилот и выделить команду из 3 человек.</a:t>
            </a:r>
            <a:endParaRPr/>
          </a:p>
        </p:txBody>
      </p:sp>
      <p:grpSp>
        <p:nvGrpSpPr>
          <p:cNvPr id="443" name="Google Shape;443;p21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444" name="Google Shape;444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5" name="Google Shape;445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BrandDeck Text 446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FFFFFF"/>
                </a:solidFill>
                <a:latin typeface="Play"/>
              </a:rPr>
              <a:t>Команда готовит инструкции, проверяет ответы и сопровождает запуск.</a:t>
            </a:r>
            <a:endParaRPr/>
          </a:p>
        </p:txBody>
      </p:sp>
      <p:grpSp>
        <p:nvGrpSpPr>
          <p:cNvPr id="447" name="Google Shape;447;p21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448" name="Google Shape;448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9" name="Google Shape;449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" name="BrandDeck Text 450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FFFFFF"/>
                </a:solidFill>
                <a:latin typeface="Play"/>
              </a:rPr>
              <a:t>Дальнейшее использование решается после измерения результатов и обратной связи.</a:t>
            </a:r>
            <a:endParaRPr/>
          </a:p>
        </p:txBody>
      </p:sp>
      <p:grpSp>
        <p:nvGrpSpPr>
          <p:cNvPr id="451" name="Google Shape;451;p21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452" name="Google Shape;452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0" name="BrandDeck Text 880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81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sz="5400"/>
              <a:t>Спасибо</a:t>
            </a:r>
            <a:endParaRPr/>
          </a:p>
        </p:txBody>
      </p:sp>
      <p:sp>
        <p:nvSpPr>
          <p:cNvPr id="882" name="BrandDeck Text 882"/>
          <p:cNvSpPr txBox="1"/>
          <p:nvPr/>
        </p:nvSpPr>
        <p:spPr>
          <a:xfrm>
            <a:off x="1510259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sz="1600" b="0">
                <a:solidFill>
                  <a:srgbClr val="AFB8C2"/>
                </a:solidFill>
                <a:latin typeface="Play"/>
              </a:rPr>
              <a:t>Вопросы?</a:t>
            </a: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Пилот ИИ-помощника по внутренним регламентам</dc:title>
  <cp:lastModifiedBy/>
  <cp:revision>1</cp:revision>
  <dcterms:modified xsi:type="dcterms:W3CDTF">2026-09-27T17:11:31Z</dcterms:modified>
  <dc:subject>Template-adaptive presentation</dc:subject>
  <cp:keywords>BrandDeck, template-adaptive, presentation</cp:keywords>
  <dc:creator/>
  <dc:description/>
</cp:coreProperties>
</file>