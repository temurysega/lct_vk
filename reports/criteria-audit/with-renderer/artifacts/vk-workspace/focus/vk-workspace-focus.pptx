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1.xml"/><Relationship Id="rId39" Type="http://schemas.openxmlformats.org/officeDocument/2006/relationships/slide" Target="slides/slide2.xml"/><Relationship Id="rId40" Type="http://schemas.openxmlformats.org/officeDocument/2006/relationships/slide" Target="slides/slide3.xml"/><Relationship Id="rId41" Type="http://schemas.openxmlformats.org/officeDocument/2006/relationships/slide" Target="slides/slide4.xml"/><Relationship Id="rId42" Type="http://schemas.openxmlformats.org/officeDocument/2006/relationships/slide" Target="slides/slide5.xml"/><Relationship Id="rId43" Type="http://schemas.openxmlformats.org/officeDocument/2006/relationships/slide" Target="slides/slide6.xml"/><Relationship Id="rId44" Type="http://schemas.openxmlformats.org/officeDocument/2006/relationships/slide" Target="slides/slide7.xml"/><Relationship Id="rId45" Type="http://schemas.openxmlformats.org/officeDocument/2006/relationships/slide" Target="slides/slide8.xml"/><Relationship Id="rId46" Type="http://schemas.openxmlformats.org/officeDocument/2006/relationships/slide" Target="slides/slide9.xml"/><Relationship Id="rId4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BrandDeck Text 381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sz="4000"/>
              <a:t>Пилот ИИ-помощника по внутренним регламентам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2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800"/>
              <a:t>Поиск инструкции занимает до 30 минут, треть обращений повторяется</a:t>
            </a:r>
            <a:endParaRPr/>
          </a:p>
        </p:txBody>
      </p:sp>
      <p:grpSp>
        <p:nvGrpSpPr>
          <p:cNvPr id="2" name="BrandDeck Diagram icon_grid" descr="icon_grid: Сотрудник тратит до 30 минут на поиск нужной инструкции.; Регламенты находятся в нескольких источниках, и поиск отвлекает от основной работы.; Треть обращений в поддержку — повторяющиеся вопросы.; Специалисты снова тратят время на поиск одного и того же ответа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users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6000" y="21000"/>
                  </a:moveTo>
                  <a:lnTo>
                    <a:pt x="16000" y="19000"/>
                  </a:lnTo>
                  <a:cubicBezTo>
                    <a:pt x="16000" y="16791"/>
                    <a:pt x="14209" y="15000"/>
                    <a:pt x="12000" y="15000"/>
                  </a:cubicBezTo>
                  <a:lnTo>
                    <a:pt x="6000" y="15000"/>
                  </a:lnTo>
                  <a:cubicBezTo>
                    <a:pt x="3791" y="15000"/>
                    <a:pt x="2000" y="16791"/>
                    <a:pt x="2000" y="19000"/>
                  </a:cubicBezTo>
                  <a:lnTo>
                    <a:pt x="2000" y="21000"/>
                  </a:lnTo>
                </a:path>
                <a:path w="24000" h="24000" fill="none">
                  <a:moveTo>
                    <a:pt x="13000" y="7000"/>
                  </a:moveTo>
                  <a:cubicBezTo>
                    <a:pt x="13000" y="9209"/>
                    <a:pt x="11209" y="11000"/>
                    <a:pt x="9000" y="11000"/>
                  </a:cubicBezTo>
                  <a:cubicBezTo>
                    <a:pt x="6791" y="11000"/>
                    <a:pt x="5000" y="9209"/>
                    <a:pt x="5000" y="7000"/>
                  </a:cubicBezTo>
                  <a:cubicBezTo>
                    <a:pt x="5000" y="4791"/>
                    <a:pt x="6791" y="3000"/>
                    <a:pt x="9000" y="3000"/>
                  </a:cubicBezTo>
                  <a:cubicBezTo>
                    <a:pt x="11209" y="3000"/>
                    <a:pt x="13000" y="4791"/>
                    <a:pt x="13000" y="7000"/>
                  </a:cubicBezTo>
                  <a:close/>
                </a:path>
                <a:path w="24000" h="24000" fill="none">
                  <a:moveTo>
                    <a:pt x="22000" y="21000"/>
                  </a:moveTo>
                  <a:lnTo>
                    <a:pt x="22000" y="19000"/>
                  </a:lnTo>
                  <a:cubicBezTo>
                    <a:pt x="21999" y="17177"/>
                    <a:pt x="20765" y="15586"/>
                    <a:pt x="19000" y="15130"/>
                  </a:cubicBezTo>
                </a:path>
                <a:path w="24000" h="24000" fill="none">
                  <a:moveTo>
                    <a:pt x="16000" y="3130"/>
                  </a:moveTo>
                  <a:cubicBezTo>
                    <a:pt x="17770" y="3583"/>
                    <a:pt x="19008" y="5178"/>
                    <a:pt x="19008" y="7005"/>
                  </a:cubicBezTo>
                  <a:cubicBezTo>
                    <a:pt x="19008" y="8832"/>
                    <a:pt x="17770" y="10427"/>
                    <a:pt x="16000" y="1088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Сотрудник тратит до 30 минут на поиск нужной инструкции.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Регламенты находятся в нескольких источниках, и поиск отвлекает от основной работы.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headset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3000" y="11000"/>
                  </a:moveTo>
                  <a:lnTo>
                    <a:pt x="6000" y="11000"/>
                  </a:lnTo>
                  <a:cubicBezTo>
                    <a:pt x="7105" y="11000"/>
                    <a:pt x="8000" y="11895"/>
                    <a:pt x="8000" y="13000"/>
                  </a:cubicBezTo>
                  <a:lnTo>
                    <a:pt x="8000" y="16000"/>
                  </a:lnTo>
                  <a:cubicBezTo>
                    <a:pt x="8000" y="17105"/>
                    <a:pt x="7105" y="18000"/>
                    <a:pt x="6000" y="18000"/>
                  </a:cubicBezTo>
                  <a:lnTo>
                    <a:pt x="5000" y="18000"/>
                  </a:lnTo>
                  <a:cubicBezTo>
                    <a:pt x="3895" y="18000"/>
                    <a:pt x="3000" y="17105"/>
                    <a:pt x="3000" y="16000"/>
                  </a:cubicBezTo>
                  <a:lnTo>
                    <a:pt x="3000" y="11000"/>
                  </a:lnTo>
                  <a:close/>
                  <a:moveTo>
                    <a:pt x="3000" y="11000"/>
                  </a:moveTo>
                  <a:cubicBezTo>
                    <a:pt x="3000" y="6029"/>
                    <a:pt x="7029" y="2000"/>
                    <a:pt x="12000" y="2000"/>
                  </a:cubicBezTo>
                  <a:cubicBezTo>
                    <a:pt x="16971" y="2000"/>
                    <a:pt x="21000" y="6029"/>
                    <a:pt x="21000" y="11000"/>
                  </a:cubicBezTo>
                  <a:moveTo>
                    <a:pt x="21000" y="11000"/>
                  </a:moveTo>
                  <a:lnTo>
                    <a:pt x="21000" y="16000"/>
                  </a:lnTo>
                  <a:cubicBezTo>
                    <a:pt x="21000" y="17105"/>
                    <a:pt x="20105" y="18000"/>
                    <a:pt x="19000" y="18000"/>
                  </a:cubicBezTo>
                  <a:lnTo>
                    <a:pt x="18000" y="18000"/>
                  </a:lnTo>
                  <a:cubicBezTo>
                    <a:pt x="16895" y="18000"/>
                    <a:pt x="16000" y="17105"/>
                    <a:pt x="16000" y="16000"/>
                  </a:cubicBezTo>
                  <a:lnTo>
                    <a:pt x="16000" y="13000"/>
                  </a:lnTo>
                  <a:cubicBezTo>
                    <a:pt x="16000" y="11895"/>
                    <a:pt x="16895" y="11000"/>
                    <a:pt x="18000" y="11000"/>
                  </a:cubicBezTo>
                  <a:lnTo>
                    <a:pt x="21000" y="11000"/>
                  </a:lnTo>
                  <a:close/>
                </a:path>
                <a:path w="24000" h="24000" fill="none">
                  <a:moveTo>
                    <a:pt x="21000" y="16000"/>
                  </a:moveTo>
                  <a:lnTo>
                    <a:pt x="21000" y="18000"/>
                  </a:lnTo>
                  <a:cubicBezTo>
                    <a:pt x="21000" y="20209"/>
                    <a:pt x="19209" y="22000"/>
                    <a:pt x="17000" y="22000"/>
                  </a:cubicBezTo>
                  <a:lnTo>
                    <a:pt x="12000" y="22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1">
                  <a:solidFill>
                    <a:srgbClr val="FFFFFF"/>
                  </a:solidFill>
                  <a:latin typeface="Play"/>
                </a:rPr>
                <a:t>Треть обращений в поддержку —</a:t>
              </a:r>
              <a:r>
                <a:rPr sz="1800" b="0">
                  <a:solidFill>
                    <a:srgbClr val="FFFFFF"/>
                  </a:solidFill>
                  <a:latin typeface="Play"/>
                </a:rPr>
                <a:t> повторяющиеся вопросы.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Специалисты снова тратят время на поиск одного и того же ответа.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12" name="BrandDeck Text 812"/>
          <p:cNvSpPr txBox="1"/>
          <p:nvPr>
            <p:ph type="title"/>
          </p:nvPr>
        </p:nvSpPr>
        <p:spPr>
          <a:xfrm>
            <a:off x="429253" y="424691"/>
            <a:ext cx="2341359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600"/>
              <a:t>Сотруднику нужен источник ответа, специалисту — контекст вопроса</a:t>
            </a:r>
            <a:endParaRPr/>
          </a:p>
        </p:txBody>
      </p:sp>
      <p:pic>
        <p:nvPicPr>
          <p:cNvPr id="835" name="BrandDeck Image" descr="02 сотрудник специалист поддержки"/>
          <p:cNvPicPr>
            <a:picLocks noChangeAspect="1"/>
          </p:cNvPicPr>
          <p:nvPr/>
        </p:nvPicPr>
        <p:blipFill>
          <a:blip r:embed="rId4"/>
          <a:srcRect l="20599" r="20599"/>
          <a:stretch>
            <a:fillRect/>
          </a:stretch>
        </p:blipFill>
        <p:spPr>
          <a:xfrm>
            <a:off x="5362697" y="324571"/>
            <a:ext cx="6826255" cy="6533429"/>
          </a:xfrm>
          <a:prstGeom prst="rect">
            <a:avLst/>
          </a:prstGeom>
        </p:spPr>
      </p:pic>
      <p:sp>
        <p:nvSpPr>
          <p:cNvPr id="834" name="BrandDeck Body"/>
          <p:cNvSpPr txBox="1"/>
          <p:nvPr/>
        </p:nvSpPr>
        <p:spPr>
          <a:xfrm>
            <a:off x="1036774" y="1729423"/>
            <a:ext cx="4143042" cy="4717097"/>
          </a:xfrm>
          <a:prstGeom prst="rect">
            <a:avLst/>
          </a:prstGeom>
          <a:noFill/>
        </p:spPr>
        <p:txBody>
          <a:bodyPr wrap="square" anchor="t" lIns="36576" rIns="36576" tIns="18288" bIns="18288">
            <a:norm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Сотруднику нужен понятный ответ со ссылкой на документ-источник.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Специалисту нужен контекст вопроса, если автоматического ответа недостаточно.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</a:pPr>
            <a:r>
              <a:rPr sz="1600">
                <a:solidFill>
                  <a:srgbClr val="FFFFFF"/>
                </a:solidFill>
                <a:latin typeface="Play"/>
              </a:rPr>
              <a:t>• Передача вопроса вместе с контекстом избавляет сотрудника от повторного объяснения.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ИИ-помощник отвечает по регламентам и передаёт сложные вопросы специалисту</a:t>
            </a:r>
            <a:endParaRPr/>
          </a:p>
        </p:txBody>
      </p:sp>
      <p:grpSp>
        <p:nvGrpSpPr>
          <p:cNvPr id="2" name="BrandDeck Diagram icon_grid" descr="icon_grid: ИИ-помощник работает во внутреннем портале компании.; Он принимает вопрос сотрудника и ищет подходящий регламент.; Ответ сопровождается ссылкой на документ-источник.; Если подтверждённого ответа нет, вопрос принимает специалист поддержки."/>
          <p:cNvGrpSpPr/>
          <p:nvPr/>
        </p:nvGrpSpPr>
        <p:grpSpPr>
          <a:xfrm>
            <a:off x="5383513" y="2710690"/>
            <a:ext cx="5917557" cy="3556255"/>
            <a:chOff x="5383513" y="2710690"/>
            <a:chExt cx="5917557" cy="3556255"/>
          </a:xfrm>
        </p:grpSpPr>
        <p:sp>
          <p:nvSpPr>
            <p:cNvPr id="454" name="BrandDeck Diagram Card 1"/>
            <p:cNvSpPr/>
            <p:nvPr/>
          </p:nvSpPr>
          <p:spPr>
            <a:xfrm>
              <a:off x="5383513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5" name="BrandDeck Diagram Icon 1 Badge"/>
            <p:cNvSpPr/>
            <p:nvPr/>
          </p:nvSpPr>
          <p:spPr>
            <a:xfrm>
              <a:off x="5586485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6" name="BrandDeck Icon building"/>
            <p:cNvSpPr/>
            <p:nvPr/>
          </p:nvSpPr>
          <p:spPr>
            <a:xfrm>
              <a:off x="5692372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6000" y="2000"/>
                  </a:moveTo>
                  <a:lnTo>
                    <a:pt x="18000" y="2000"/>
                  </a:lnTo>
                  <a:cubicBezTo>
                    <a:pt x="19105" y="2000"/>
                    <a:pt x="20000" y="2895"/>
                    <a:pt x="20000" y="4000"/>
                  </a:cubicBezTo>
                  <a:lnTo>
                    <a:pt x="20000" y="20000"/>
                  </a:lnTo>
                  <a:cubicBezTo>
                    <a:pt x="20000" y="21105"/>
                    <a:pt x="19105" y="22000"/>
                    <a:pt x="18000" y="22000"/>
                  </a:cubicBezTo>
                  <a:lnTo>
                    <a:pt x="6000" y="22000"/>
                  </a:lnTo>
                  <a:cubicBezTo>
                    <a:pt x="4895" y="22000"/>
                    <a:pt x="4000" y="21105"/>
                    <a:pt x="4000" y="20000"/>
                  </a:cubicBezTo>
                  <a:lnTo>
                    <a:pt x="4000" y="4000"/>
                  </a:lnTo>
                  <a:cubicBezTo>
                    <a:pt x="4000" y="2895"/>
                    <a:pt x="4895" y="2000"/>
                    <a:pt x="6000" y="2000"/>
                  </a:cubicBezTo>
                  <a:close/>
                </a:path>
                <a:path w="24000" h="24000" fill="none">
                  <a:moveTo>
                    <a:pt x="9000" y="22000"/>
                  </a:moveTo>
                  <a:lnTo>
                    <a:pt x="9000" y="18000"/>
                  </a:lnTo>
                  <a:lnTo>
                    <a:pt x="15000" y="18000"/>
                  </a:lnTo>
                  <a:lnTo>
                    <a:pt x="15000" y="22000"/>
                  </a:lnTo>
                </a:path>
                <a:path w="24000" h="24000" fill="none">
                  <a:moveTo>
                    <a:pt x="8000" y="6000"/>
                  </a:moveTo>
                  <a:lnTo>
                    <a:pt x="8010" y="6000"/>
                  </a:lnTo>
                </a:path>
                <a:path w="24000" h="24000" fill="none">
                  <a:moveTo>
                    <a:pt x="16000" y="6000"/>
                  </a:moveTo>
                  <a:lnTo>
                    <a:pt x="16010" y="6000"/>
                  </a:lnTo>
                </a:path>
                <a:path w="24000" h="24000" fill="none">
                  <a:moveTo>
                    <a:pt x="12000" y="6000"/>
                  </a:moveTo>
                  <a:lnTo>
                    <a:pt x="12010" y="6000"/>
                  </a:lnTo>
                </a:path>
                <a:path w="24000" h="24000" fill="none">
                  <a:moveTo>
                    <a:pt x="12000" y="10000"/>
                  </a:moveTo>
                  <a:lnTo>
                    <a:pt x="12010" y="10000"/>
                  </a:lnTo>
                </a:path>
                <a:path w="24000" h="24000" fill="none">
                  <a:moveTo>
                    <a:pt x="12000" y="14000"/>
                  </a:moveTo>
                  <a:lnTo>
                    <a:pt x="12010" y="14000"/>
                  </a:lnTo>
                </a:path>
                <a:path w="24000" h="24000" fill="none">
                  <a:moveTo>
                    <a:pt x="16000" y="10000"/>
                  </a:moveTo>
                  <a:lnTo>
                    <a:pt x="16010" y="10000"/>
                  </a:lnTo>
                </a:path>
                <a:path w="24000" h="24000" fill="none">
                  <a:moveTo>
                    <a:pt x="16000" y="14000"/>
                  </a:moveTo>
                  <a:lnTo>
                    <a:pt x="16010" y="14000"/>
                  </a:lnTo>
                </a:path>
                <a:path w="24000" h="24000" fill="none">
                  <a:moveTo>
                    <a:pt x="8000" y="10000"/>
                  </a:moveTo>
                  <a:lnTo>
                    <a:pt x="8010" y="10000"/>
                  </a:lnTo>
                </a:path>
                <a:path w="24000" h="24000" fill="none">
                  <a:moveTo>
                    <a:pt x="8000" y="14000"/>
                  </a:moveTo>
                  <a:lnTo>
                    <a:pt x="8010" y="14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7" name="BrandDeck Diagram Text 1"/>
            <p:cNvSpPr txBox="1"/>
            <p:nvPr/>
          </p:nvSpPr>
          <p:spPr>
            <a:xfrm>
              <a:off x="5525593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ИИ-помощник работает во внутреннем портале компании.</a:t>
              </a:r>
            </a:p>
          </p:txBody>
        </p:sp>
        <p:sp>
          <p:nvSpPr>
            <p:cNvPr id="458" name="BrandDeck Diagram Card 2"/>
            <p:cNvSpPr/>
            <p:nvPr/>
          </p:nvSpPr>
          <p:spPr>
            <a:xfrm>
              <a:off x="8401467" y="2710690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9" name="BrandDeck Diagram Icon 2 Badge"/>
            <p:cNvSpPr/>
            <p:nvPr/>
          </p:nvSpPr>
          <p:spPr>
            <a:xfrm>
              <a:off x="8604439" y="2913662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0" name="BrandDeck Icon circle-help"/>
            <p:cNvSpPr/>
            <p:nvPr/>
          </p:nvSpPr>
          <p:spPr>
            <a:xfrm>
              <a:off x="8710327" y="3019549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90" y="9000"/>
                  </a:moveTo>
                  <a:cubicBezTo>
                    <a:pt x="9575" y="7620"/>
                    <a:pt x="10985" y="6791"/>
                    <a:pt x="12427" y="7039"/>
                  </a:cubicBezTo>
                  <a:cubicBezTo>
                    <a:pt x="13869" y="7286"/>
                    <a:pt x="14922" y="8537"/>
                    <a:pt x="14920" y="10000"/>
                  </a:cubicBezTo>
                  <a:cubicBezTo>
                    <a:pt x="14920" y="12000"/>
                    <a:pt x="11920" y="13000"/>
                    <a:pt x="11920" y="13000"/>
                  </a:cubicBezTo>
                </a:path>
                <a:path w="24000" h="24000" fill="none">
                  <a:moveTo>
                    <a:pt x="12000" y="17000"/>
                  </a:moveTo>
                  <a:lnTo>
                    <a:pt x="1201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1" name="BrandDeck Diagram Text 2"/>
            <p:cNvSpPr txBox="1"/>
            <p:nvPr/>
          </p:nvSpPr>
          <p:spPr>
            <a:xfrm>
              <a:off x="8543548" y="3537049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Он принимает вопрос сотрудника и ищет подходящий регламент.</a:t>
              </a:r>
            </a:p>
          </p:txBody>
        </p:sp>
        <p:sp>
          <p:nvSpPr>
            <p:cNvPr id="462" name="BrandDeck Diagram Card 3"/>
            <p:cNvSpPr/>
            <p:nvPr/>
          </p:nvSpPr>
          <p:spPr>
            <a:xfrm>
              <a:off x="5383513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3" name="BrandDeck Diagram Icon 3 Badge"/>
            <p:cNvSpPr/>
            <p:nvPr/>
          </p:nvSpPr>
          <p:spPr>
            <a:xfrm>
              <a:off x="5586485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4" name="BrandDeck Icon file-text"/>
            <p:cNvSpPr/>
            <p:nvPr/>
          </p:nvSpPr>
          <p:spPr>
            <a:xfrm>
              <a:off x="5692372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5" name="BrandDeck Diagram Text 3"/>
            <p:cNvSpPr txBox="1"/>
            <p:nvPr/>
          </p:nvSpPr>
          <p:spPr>
            <a:xfrm>
              <a:off x="5525593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Ответ сопровождается ссылкой на документ-источник.</a:t>
              </a:r>
            </a:p>
          </p:txBody>
        </p:sp>
        <p:sp>
          <p:nvSpPr>
            <p:cNvPr id="466" name="BrandDeck Diagram Card 4"/>
            <p:cNvSpPr/>
            <p:nvPr/>
          </p:nvSpPr>
          <p:spPr>
            <a:xfrm>
              <a:off x="8401467" y="4547993"/>
              <a:ext cx="2899603" cy="1718952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7" name="BrandDeck Diagram Icon 4 Badge"/>
            <p:cNvSpPr/>
            <p:nvPr/>
          </p:nvSpPr>
          <p:spPr>
            <a:xfrm>
              <a:off x="8604439" y="4750965"/>
              <a:ext cx="481306" cy="481306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8" name="BrandDeck Icon circle-check"/>
            <p:cNvSpPr/>
            <p:nvPr/>
          </p:nvSpPr>
          <p:spPr>
            <a:xfrm>
              <a:off x="8710327" y="4856853"/>
              <a:ext cx="269531" cy="269531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2460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Text 4"/>
            <p:cNvSpPr txBox="1"/>
            <p:nvPr/>
          </p:nvSpPr>
          <p:spPr>
            <a:xfrm>
              <a:off x="8543548" y="5374353"/>
              <a:ext cx="2615442" cy="791106"/>
            </a:xfrm>
            <a:prstGeom prst="rect">
              <a:avLst/>
            </a:prstGeom>
            <a:noFill/>
          </p:spPr>
          <p:txBody>
            <a:bodyPr wrap="square" anchor="t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200" b="0">
                  <a:solidFill>
                    <a:srgbClr val="FFFFFF"/>
                  </a:solidFill>
                  <a:latin typeface="Play"/>
                </a:rPr>
                <a:t>Если подтверждённого ответа нет, вопрос принимает специалист поддержки.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Вопрос проходит путь от портала до ответа со ссылкой или эскалации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Сотрудник задаёт вопрос во внутреннем портале.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Помощник ищет ответ в регламентах и показывает источник.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>
                <a:latin typeface="Play"/>
                <a:solidFill>
                  <a:schemeClr val="lt1"/>
                </a:solidFill>
              </a:rPr>
              <a:t>При отсутствии подтверждённого ответа вопрос передаётся специалисту.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10"/>
              </a:spcAft>
              <a:buNone/>
            </a:pPr>
            <a:r>
              <a:rPr sz="1400">
                <a:latin typeface="Play"/>
                <a:solidFill>
                  <a:schemeClr val="lt1"/>
                </a:solidFill>
              </a:rPr>
              <a:t>Специалист получает контекст исходного обращения.</a:t>
            </a:r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Документы остаются внутри контура, неподтверждённый ответ проверяет специалист</a:t>
            </a:r>
            <a:endParaRPr/>
          </a:p>
        </p:txBody>
      </p:sp>
      <p:grpSp>
        <p:nvGrpSpPr>
          <p:cNvPr id="2" name="BrandDeck Diagram icon_grid" descr="icon_grid: Модель с открытыми весами работает внутри контура компании.; Документы не уходят наружу при обработке запроса.; Инструкция может устареть или не дать подтверждённого ответа.; В таком случае вопрос передаётся специалисту; ссылку на источник можно проверить."/>
          <p:cNvGrpSpPr/>
          <p:nvPr/>
        </p:nvGrpSpPr>
        <p:grpSpPr>
          <a:xfrm>
            <a:off x="415687" y="1949416"/>
            <a:ext cx="10733793" cy="2780482"/>
            <a:chOff x="415687" y="1949416"/>
            <a:chExt cx="10733793" cy="2780482"/>
          </a:xfrm>
        </p:grpSpPr>
        <p:sp>
          <p:nvSpPr>
            <p:cNvPr id="468" name="BrandDeck Diagram Card 1"/>
            <p:cNvSpPr/>
            <p:nvPr/>
          </p:nvSpPr>
          <p:spPr>
            <a:xfrm>
              <a:off x="415687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9" name="BrandDeck Diagram Icon 1 Badge"/>
            <p:cNvSpPr/>
            <p:nvPr/>
          </p:nvSpPr>
          <p:spPr>
            <a:xfrm>
              <a:off x="635143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0" name="BrandDeck Icon brain"/>
            <p:cNvSpPr/>
            <p:nvPr/>
          </p:nvSpPr>
          <p:spPr>
            <a:xfrm>
              <a:off x="737101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2000" y="5000"/>
                  </a:moveTo>
                  <a:cubicBezTo>
                    <a:pt x="12003" y="3911"/>
                    <a:pt x="11416" y="2906"/>
                    <a:pt x="10466" y="2374"/>
                  </a:cubicBezTo>
                  <a:cubicBezTo>
                    <a:pt x="9516" y="1842"/>
                    <a:pt x="8353" y="1866"/>
                    <a:pt x="7426" y="2437"/>
                  </a:cubicBezTo>
                  <a:cubicBezTo>
                    <a:pt x="6499" y="3009"/>
                    <a:pt x="5954" y="4037"/>
                    <a:pt x="6003" y="5125"/>
                  </a:cubicBezTo>
                  <a:cubicBezTo>
                    <a:pt x="4812" y="5431"/>
                    <a:pt x="3828" y="6268"/>
                    <a:pt x="3335" y="7395"/>
                  </a:cubicBezTo>
                  <a:cubicBezTo>
                    <a:pt x="2842" y="8521"/>
                    <a:pt x="2894" y="9812"/>
                    <a:pt x="3477" y="10895"/>
                  </a:cubicBezTo>
                  <a:cubicBezTo>
                    <a:pt x="2450" y="11729"/>
                    <a:pt x="1902" y="13018"/>
                    <a:pt x="2013" y="14336"/>
                  </a:cubicBezTo>
                  <a:cubicBezTo>
                    <a:pt x="2125" y="15654"/>
                    <a:pt x="2881" y="16833"/>
                    <a:pt x="4033" y="17483"/>
                  </a:cubicBezTo>
                  <a:cubicBezTo>
                    <a:pt x="3842" y="18961"/>
                    <a:pt x="4488" y="20422"/>
                    <a:pt x="5710" y="21275"/>
                  </a:cubicBezTo>
                  <a:cubicBezTo>
                    <a:pt x="6931" y="22128"/>
                    <a:pt x="8526" y="22232"/>
                    <a:pt x="9847" y="21544"/>
                  </a:cubicBezTo>
                  <a:cubicBezTo>
                    <a:pt x="11169" y="20856"/>
                    <a:pt x="11998" y="19490"/>
                    <a:pt x="12000" y="18000"/>
                  </a:cubicBezTo>
                  <a:close/>
                </a:path>
                <a:path w="24000" h="24000" fill="none">
                  <a:moveTo>
                    <a:pt x="12000" y="5000"/>
                  </a:moveTo>
                  <a:cubicBezTo>
                    <a:pt x="11997" y="3911"/>
                    <a:pt x="12584" y="2906"/>
                    <a:pt x="13534" y="2374"/>
                  </a:cubicBezTo>
                  <a:cubicBezTo>
                    <a:pt x="14484" y="1842"/>
                    <a:pt x="15647" y="1866"/>
                    <a:pt x="16574" y="2437"/>
                  </a:cubicBezTo>
                  <a:cubicBezTo>
                    <a:pt x="17501" y="3009"/>
                    <a:pt x="18046" y="4037"/>
                    <a:pt x="17997" y="5125"/>
                  </a:cubicBezTo>
                  <a:cubicBezTo>
                    <a:pt x="19188" y="5431"/>
                    <a:pt x="20172" y="6268"/>
                    <a:pt x="20665" y="7395"/>
                  </a:cubicBezTo>
                  <a:cubicBezTo>
                    <a:pt x="21158" y="8521"/>
                    <a:pt x="21106" y="9812"/>
                    <a:pt x="20523" y="10895"/>
                  </a:cubicBezTo>
                  <a:cubicBezTo>
                    <a:pt x="21550" y="11729"/>
                    <a:pt x="22098" y="13018"/>
                    <a:pt x="21987" y="14336"/>
                  </a:cubicBezTo>
                  <a:cubicBezTo>
                    <a:pt x="21875" y="15654"/>
                    <a:pt x="21119" y="16833"/>
                    <a:pt x="19967" y="17483"/>
                  </a:cubicBezTo>
                  <a:cubicBezTo>
                    <a:pt x="20158" y="18961"/>
                    <a:pt x="19512" y="20422"/>
                    <a:pt x="18290" y="21275"/>
                  </a:cubicBezTo>
                  <a:cubicBezTo>
                    <a:pt x="17069" y="22128"/>
                    <a:pt x="15474" y="22232"/>
                    <a:pt x="14153" y="21544"/>
                  </a:cubicBezTo>
                  <a:cubicBezTo>
                    <a:pt x="12831" y="20856"/>
                    <a:pt x="12002" y="19490"/>
                    <a:pt x="12000" y="18000"/>
                  </a:cubicBezTo>
                  <a:close/>
                </a:path>
                <a:path w="24000" h="24000" fill="none">
                  <a:moveTo>
                    <a:pt x="15000" y="13000"/>
                  </a:moveTo>
                  <a:cubicBezTo>
                    <a:pt x="13283" y="12396"/>
                    <a:pt x="12099" y="10817"/>
                    <a:pt x="12000" y="9000"/>
                  </a:cubicBezTo>
                  <a:cubicBezTo>
                    <a:pt x="11901" y="10817"/>
                    <a:pt x="10717" y="12396"/>
                    <a:pt x="9000" y="13000"/>
                  </a:cubicBezTo>
                </a:path>
                <a:path w="24000" h="24000" fill="none">
                  <a:moveTo>
                    <a:pt x="17599" y="6500"/>
                  </a:moveTo>
                  <a:cubicBezTo>
                    <a:pt x="17841" y="6081"/>
                    <a:pt x="17978" y="5609"/>
                    <a:pt x="17998" y="5125"/>
                  </a:cubicBezTo>
                </a:path>
                <a:path w="24000" h="24000" fill="none">
                  <a:moveTo>
                    <a:pt x="6003" y="5125"/>
                  </a:moveTo>
                  <a:cubicBezTo>
                    <a:pt x="6023" y="5609"/>
                    <a:pt x="6159" y="6080"/>
                    <a:pt x="6401" y="6500"/>
                  </a:cubicBezTo>
                </a:path>
                <a:path w="24000" h="24000" fill="none">
                  <a:moveTo>
                    <a:pt x="3477" y="10896"/>
                  </a:moveTo>
                  <a:cubicBezTo>
                    <a:pt x="3660" y="10747"/>
                    <a:pt x="3856" y="10614"/>
                    <a:pt x="4062" y="10500"/>
                  </a:cubicBezTo>
                </a:path>
                <a:path w="24000" h="24000" fill="none">
                  <a:moveTo>
                    <a:pt x="19938" y="10500"/>
                  </a:moveTo>
                  <a:cubicBezTo>
                    <a:pt x="20144" y="10614"/>
                    <a:pt x="20340" y="10747"/>
                    <a:pt x="20523" y="10896"/>
                  </a:cubicBezTo>
                </a:path>
                <a:path w="24000" h="24000" fill="none">
                  <a:moveTo>
                    <a:pt x="6000" y="18000"/>
                  </a:moveTo>
                  <a:cubicBezTo>
                    <a:pt x="5311" y="18000"/>
                    <a:pt x="4633" y="17823"/>
                    <a:pt x="4033" y="17484"/>
                  </a:cubicBezTo>
                </a:path>
                <a:path w="24000" h="24000" fill="none">
                  <a:moveTo>
                    <a:pt x="19967" y="17484"/>
                  </a:moveTo>
                  <a:cubicBezTo>
                    <a:pt x="19367" y="17823"/>
                    <a:pt x="18689" y="18000"/>
                    <a:pt x="18000" y="18000"/>
                  </a:cubicBez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1" name="BrandDeck Diagram Text 1"/>
            <p:cNvSpPr txBox="1"/>
            <p:nvPr/>
          </p:nvSpPr>
          <p:spPr>
            <a:xfrm>
              <a:off x="1230262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Модель с открытыми весами работает внутри контура компании.</a:t>
              </a:r>
            </a:p>
          </p:txBody>
        </p:sp>
        <p:sp>
          <p:nvSpPr>
            <p:cNvPr id="472" name="BrandDeck Diagram Card 2"/>
            <p:cNvSpPr/>
            <p:nvPr/>
          </p:nvSpPr>
          <p:spPr>
            <a:xfrm>
              <a:off x="5889921" y="1949416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3" name="BrandDeck Diagram Icon 2 Badge"/>
            <p:cNvSpPr/>
            <p:nvPr/>
          </p:nvSpPr>
          <p:spPr>
            <a:xfrm>
              <a:off x="6109377" y="2359145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4" name="BrandDeck Icon file-text"/>
            <p:cNvSpPr/>
            <p:nvPr/>
          </p:nvSpPr>
          <p:spPr>
            <a:xfrm>
              <a:off x="6211335" y="2461103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5000" y="2000"/>
                  </a:moveTo>
                  <a:lnTo>
                    <a:pt x="6000" y="2000"/>
                  </a:lnTo>
                  <a:cubicBezTo>
                    <a:pt x="4895" y="2000"/>
                    <a:pt x="4000" y="2895"/>
                    <a:pt x="4000" y="4000"/>
                  </a:cubicBezTo>
                  <a:lnTo>
                    <a:pt x="4000" y="20000"/>
                  </a:lnTo>
                  <a:cubicBezTo>
                    <a:pt x="4000" y="21105"/>
                    <a:pt x="4895" y="22000"/>
                    <a:pt x="6000" y="22000"/>
                  </a:cubicBezTo>
                  <a:lnTo>
                    <a:pt x="18000" y="22000"/>
                  </a:lnTo>
                  <a:cubicBezTo>
                    <a:pt x="19105" y="22000"/>
                    <a:pt x="20000" y="21105"/>
                    <a:pt x="20000" y="20000"/>
                  </a:cubicBezTo>
                  <a:lnTo>
                    <a:pt x="20000" y="7000"/>
                  </a:lnTo>
                  <a:close/>
                </a:path>
                <a:path w="24000" h="24000" fill="none">
                  <a:moveTo>
                    <a:pt x="14000" y="2000"/>
                  </a:moveTo>
                  <a:lnTo>
                    <a:pt x="14000" y="6000"/>
                  </a:lnTo>
                  <a:cubicBezTo>
                    <a:pt x="14000" y="7105"/>
                    <a:pt x="14895" y="8000"/>
                    <a:pt x="16000" y="8000"/>
                  </a:cubicBezTo>
                  <a:lnTo>
                    <a:pt x="20000" y="8000"/>
                  </a:lnTo>
                </a:path>
                <a:path w="24000" h="24000" fill="none">
                  <a:moveTo>
                    <a:pt x="10000" y="9000"/>
                  </a:moveTo>
                  <a:lnTo>
                    <a:pt x="8000" y="9000"/>
                  </a:lnTo>
                </a:path>
                <a:path w="24000" h="24000" fill="none">
                  <a:moveTo>
                    <a:pt x="16000" y="13000"/>
                  </a:moveTo>
                  <a:lnTo>
                    <a:pt x="8000" y="13000"/>
                  </a:lnTo>
                </a:path>
                <a:path w="24000" h="24000" fill="none">
                  <a:moveTo>
                    <a:pt x="16000" y="17000"/>
                  </a:moveTo>
                  <a:lnTo>
                    <a:pt x="8000" y="17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5" name="BrandDeck Diagram Text 2"/>
            <p:cNvSpPr txBox="1"/>
            <p:nvPr/>
          </p:nvSpPr>
          <p:spPr>
            <a:xfrm>
              <a:off x="6704497" y="2081090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Документы не уходят наружу при обработке запроса.</a:t>
              </a:r>
            </a:p>
          </p:txBody>
        </p:sp>
        <p:sp>
          <p:nvSpPr>
            <p:cNvPr id="476" name="BrandDeck Diagram Card 3"/>
            <p:cNvSpPr/>
            <p:nvPr/>
          </p:nvSpPr>
          <p:spPr>
            <a:xfrm>
              <a:off x="415687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7" name="BrandDeck Diagram Icon 3 Badge"/>
            <p:cNvSpPr/>
            <p:nvPr/>
          </p:nvSpPr>
          <p:spPr>
            <a:xfrm>
              <a:off x="635143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8" name="BrandDeck Icon circle-check"/>
            <p:cNvSpPr/>
            <p:nvPr/>
          </p:nvSpPr>
          <p:spPr>
            <a:xfrm>
              <a:off x="737101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22000" y="12000"/>
                  </a:moveTo>
                  <a:cubicBezTo>
                    <a:pt x="22000" y="17523"/>
                    <a:pt x="17523" y="22000"/>
                    <a:pt x="12000" y="22000"/>
                  </a:cubicBezTo>
                  <a:cubicBezTo>
                    <a:pt x="6477" y="22000"/>
                    <a:pt x="2000" y="17523"/>
                    <a:pt x="2000" y="12000"/>
                  </a:cubicBezTo>
                  <a:cubicBezTo>
                    <a:pt x="2000" y="6477"/>
                    <a:pt x="6477" y="2000"/>
                    <a:pt x="12000" y="2000"/>
                  </a:cubicBezTo>
                  <a:cubicBezTo>
                    <a:pt x="17523" y="2000"/>
                    <a:pt x="22000" y="6477"/>
                    <a:pt x="22000" y="12000"/>
                  </a:cubicBezTo>
                  <a:close/>
                </a:path>
                <a:path w="24000" h="24000" fill="none">
                  <a:moveTo>
                    <a:pt x="9000" y="12000"/>
                  </a:moveTo>
                  <a:lnTo>
                    <a:pt x="11000" y="14000"/>
                  </a:lnTo>
                  <a:lnTo>
                    <a:pt x="15000" y="10000"/>
                  </a:lnTo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9" name="BrandDeck Diagram Text 3"/>
            <p:cNvSpPr txBox="1"/>
            <p:nvPr/>
          </p:nvSpPr>
          <p:spPr>
            <a:xfrm>
              <a:off x="1230262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Инструкция может устареть или не дать подтверждённого ответа.</a:t>
              </a:r>
            </a:p>
          </p:txBody>
        </p:sp>
        <p:sp>
          <p:nvSpPr>
            <p:cNvPr id="480" name="BrandDeck Diagram Card 4"/>
            <p:cNvSpPr/>
            <p:nvPr/>
          </p:nvSpPr>
          <p:spPr>
            <a:xfrm>
              <a:off x="5889921" y="3446995"/>
              <a:ext cx="5259559" cy="1282903"/>
            </a:xfrm>
            <a:prstGeom prst="roundRect">
              <a:avLst>
                <a:gd name="adj" fmla="val 8000"/>
              </a:avLst>
            </a:prstGeom>
            <a:solidFill>
              <a:srgbClr val="1A1A1A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1" name="BrandDeck Diagram Icon 4 Badge"/>
            <p:cNvSpPr/>
            <p:nvPr/>
          </p:nvSpPr>
          <p:spPr>
            <a:xfrm>
              <a:off x="6109377" y="3856724"/>
              <a:ext cx="463445" cy="463445"/>
            </a:xfrm>
            <a:prstGeom prst="ellipse">
              <a:avLst/>
            </a:prstGeom>
            <a:solidFill>
              <a:srgbClr val="006DE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2" name="BrandDeck Icon user"/>
            <p:cNvSpPr/>
            <p:nvPr/>
          </p:nvSpPr>
          <p:spPr>
            <a:xfrm>
              <a:off x="6211335" y="3958682"/>
              <a:ext cx="259529" cy="259529"/>
            </a:xfrm>
            <a:custGeom>
              <a:avLst/>
              <a:gdLst/>
              <a:ahLst/>
              <a:cxnLst/>
              <a:rect l="l" t="t" r="r" b="b"/>
              <a:pathLst>
                <a:path w="24000" h="24000" fill="none">
                  <a:moveTo>
                    <a:pt x="19000" y="21000"/>
                  </a:moveTo>
                  <a:lnTo>
                    <a:pt x="19000" y="19000"/>
                  </a:lnTo>
                  <a:cubicBezTo>
                    <a:pt x="19000" y="16791"/>
                    <a:pt x="17209" y="15000"/>
                    <a:pt x="15000" y="15000"/>
                  </a:cubicBezTo>
                  <a:lnTo>
                    <a:pt x="9000" y="15000"/>
                  </a:lnTo>
                  <a:cubicBezTo>
                    <a:pt x="6791" y="15000"/>
                    <a:pt x="5000" y="16791"/>
                    <a:pt x="5000" y="19000"/>
                  </a:cubicBezTo>
                  <a:lnTo>
                    <a:pt x="5000" y="21000"/>
                  </a:lnTo>
                </a:path>
                <a:path w="24000" h="24000" fill="none">
                  <a:moveTo>
                    <a:pt x="16000" y="7000"/>
                  </a:moveTo>
                  <a:cubicBezTo>
                    <a:pt x="16000" y="9209"/>
                    <a:pt x="14209" y="11000"/>
                    <a:pt x="12000" y="11000"/>
                  </a:cubicBezTo>
                  <a:cubicBezTo>
                    <a:pt x="9791" y="11000"/>
                    <a:pt x="8000" y="9209"/>
                    <a:pt x="8000" y="7000"/>
                  </a:cubicBezTo>
                  <a:cubicBezTo>
                    <a:pt x="8000" y="4791"/>
                    <a:pt x="9791" y="3000"/>
                    <a:pt x="12000" y="3000"/>
                  </a:cubicBezTo>
                  <a:cubicBezTo>
                    <a:pt x="14209" y="3000"/>
                    <a:pt x="16000" y="4791"/>
                    <a:pt x="16000" y="7000"/>
                  </a:cubicBezTo>
                  <a:close/>
                </a:path>
              </a:pathLst>
            </a:custGeom>
            <a:noFill/>
            <a:ln w="21627" cap="rnd">
              <a:solidFill>
                <a:srgbClr val="FFFFFF"/>
              </a:solidFill>
              <a:round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3" name="BrandDeck Diagram Text 4"/>
            <p:cNvSpPr txBox="1"/>
            <p:nvPr/>
          </p:nvSpPr>
          <p:spPr>
            <a:xfrm>
              <a:off x="6704497" y="3578669"/>
              <a:ext cx="4225527" cy="1019556"/>
            </a:xfrm>
            <a:prstGeom prst="rect">
              <a:avLst/>
            </a:prstGeom>
            <a:noFill/>
          </p:spPr>
          <p:txBody>
            <a:bodyPr wrap="square" anchor="ctr" lIns="36576" tIns="18288" rIns="36576" bIns="18288">
              <a:noAutofit/>
            </a:bodyPr>
            <a:lstStyle/>
            <a:p>
              <a:pPr algn="l">
                <a:lnSpc>
                  <a:spcPct val="110000"/>
                </a:lnSpc>
              </a:pPr>
              <a:r>
                <a:rPr sz="1800" b="0">
                  <a:solidFill>
                    <a:srgbClr val="FFFFFF"/>
                  </a:solidFill>
                  <a:latin typeface="Play"/>
                </a:rPr>
                <a:t>В таком случае вопрос передаётся специалисту; ссылку на источник можно проверить.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BrandDeck Text 44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1800"/>
              <a:t>Пилот охватит 150 сотрудников двух подразделений за 6 недель</a:t>
            </a:r>
            <a:endParaRPr/>
          </a:p>
        </p:txBody>
      </p:sp>
      <p:sp>
        <p:nvSpPr>
          <p:cNvPr id="442" name="BrandDeck Text 442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Пилот охватывает 2 подразделения и 150 сотрудников.</a:t>
            </a:r>
            <a:endParaRPr/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BrandDeck Text 446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Продолжительность пилота — 6 недель.</a:t>
            </a:r>
            <a:endParaRPr/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BrandDeck Text 450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 b="0">
                <a:solidFill>
                  <a:srgbClr val="FFFFFF"/>
                </a:solidFill>
                <a:latin typeface="Play"/>
              </a:rPr>
              <a:t>В пилоте проверяются ответы по регламентам и передача вопросов специалисту.</a:t>
            </a:r>
            <a:endParaRPr/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BrandDeck Text 45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48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3200"/>
              <a:t>Успех измерят временем поиска и долей обращений без специалиста</a:t>
            </a:r>
            <a:endParaRPr/>
          </a:p>
        </p:txBody>
      </p:sp>
      <p:sp>
        <p:nvSpPr>
          <p:cNvPr id="460" name="BrandDeck Text 460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 b="0">
                <a:solidFill>
                  <a:srgbClr val="FFFFFF"/>
                </a:solidFill>
                <a:latin typeface="Play"/>
              </a:rPr>
              <a:t>Фактических результатов пилота пока нет.</a:t>
            </a:r>
            <a:endParaRPr/>
          </a:p>
        </p:txBody>
      </p:sp>
      <p:sp>
        <p:nvSpPr>
          <p:cNvPr id="461" name="BrandDeck Text 461"/>
          <p:cNvSpPr/>
          <p:nvPr/>
        </p:nvSpPr>
        <p:spPr>
          <a:xfrm>
            <a:off x="4056891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Целевые значения согласуются до запуска.</a:t>
            </a:r>
            <a:endParaRPr/>
          </a:p>
        </p:txBody>
      </p:sp>
      <p:sp>
        <p:nvSpPr>
          <p:cNvPr id="462" name="BrandDeck Text 46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Команда измеряет время поиска ответа.</a:t>
            </a:r>
            <a:endParaRPr/>
          </a:p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sz="2000">
                <a:solidFill>
                  <a:srgbClr val="FFFFFF"/>
                </a:solidFill>
                <a:latin typeface="Play"/>
              </a:rPr>
              <a:t>Также измеряется доля обращений, закрытых без специалиста.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BrandDeck Text 547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sz="2000"/>
              <a:t>Команда из 3 человек подготовит и проверит пилот</a:t>
            </a:r>
            <a:endParaRPr/>
          </a:p>
        </p:txBody>
      </p:sp>
      <p:sp>
        <p:nvSpPr>
          <p:cNvPr id="548" name="BrandDeck Text 548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Просим одобрить пилот и выделить команду из 3 человек.</a:t>
            </a:r>
            <a:endParaRPr/>
          </a:p>
        </p:txBody>
      </p:sp>
      <p:grpSp>
        <p:nvGrpSpPr>
          <p:cNvPr id="549" name="Google Shape;549;p26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550" name="Google Shape;550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1" name="Google Shape;551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2" name="BrandDeck Text 552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Команда готовит инструкции, проверяет ответы и сопровождает запуск.</a:t>
            </a:r>
            <a:endParaRPr/>
          </a:p>
        </p:txBody>
      </p:sp>
      <p:grpSp>
        <p:nvGrpSpPr>
          <p:cNvPr id="553" name="Google Shape;553;p26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554" name="Google Shape;554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5" name="Google Shape;555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56" name="BrandDeck Text 556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0077FF">
              <a:alpha val="30196"/>
            </a:srgbClr>
          </a:solidFill>
          <a:ln>
            <a:noFill/>
          </a:ln>
        </p:spPr>
        <p:txBody>
          <a:bodyPr anchorCtr="0" anchor="t" bIns="0" lIns="108000" spcFirstLastPara="1" rIns="0" wrap="square" tIns="75600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70"/>
              </a:spcAft>
              <a:buNone/>
            </a:pPr>
            <a:r>
              <a:rPr sz="1800">
                <a:latin typeface="Play"/>
                <a:solidFill>
                  <a:schemeClr val="lt1"/>
                </a:solidFill>
              </a:rPr>
              <a:t>Дальнейшее использование решается после измерения результатов и обратной связи.</a:t>
            </a:r>
            <a:endParaRPr/>
          </a:p>
        </p:txBody>
      </p:sp>
      <p:grpSp>
        <p:nvGrpSpPr>
          <p:cNvPr id="557" name="Google Shape;557;p26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558" name="Google Shape;558;p26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59" name="Google Shape;559;p2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80" name="BrandDeck Text 880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0"/>
              </a:spcBef>
              <a:spcAft>
                <a:spcPts val="810"/>
              </a:spcAft>
              <a:buClr>
                <a:schemeClr val="lt1"/>
              </a:buClr>
              <a:buSzPts val="5400"/>
              <a:buFont typeface="Play"/>
              <a:buNone/>
            </a:pPr>
            <a:r>
              <a:rPr sz="5400"/>
              <a:t>Спасибо</a:t>
            </a:r>
            <a:endParaRPr/>
          </a:p>
        </p:txBody>
      </p:sp>
      <p:sp>
        <p:nvSpPr>
          <p:cNvPr id="882" name="BrandDeck Text 882"/>
          <p:cNvSpPr txBox="1"/>
          <p:nvPr/>
        </p:nvSpPr>
        <p:spPr>
          <a:xfrm>
            <a:off x="1510259" y="4567906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marL="0" marR="0" rtl="0" algn="l">
              <a:lnSpc>
                <a:spcPct val="115000"/>
              </a:lnSpc>
              <a:spcBef>
                <a:spcPts val="0"/>
              </a:spcBef>
              <a:spcAft>
                <a:spcPts val="24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sz="1600" b="0">
                <a:solidFill>
                  <a:srgbClr val="AFB8C2"/>
                </a:solidFill>
                <a:latin typeface="Play"/>
              </a:rPr>
              <a:t>Вопросы?</a:t>
            </a:r>
            <a:endParaRPr b="0" i="0" sz="1600">
              <a:solidFill>
                <a:srgbClr val="AFB8C2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Пилот ИИ-помощника по внутренним регламентам</dc:title>
  <cp:lastModifiedBy/>
  <cp:revision>1</cp:revision>
  <dcterms:modified xsi:type="dcterms:W3CDTF">2026-09-27T17:11:44Z</dcterms:modified>
  <dc:subject>Template-adaptive presentation</dc:subject>
  <cp:keywords>BrandDeck, template-adaptive, presentation</cp:keywords>
  <dc:creator/>
  <dc:description/>
</cp:coreProperties>
</file>